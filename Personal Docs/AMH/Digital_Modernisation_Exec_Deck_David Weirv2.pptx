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9945688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5767" autoAdjust="0"/>
  </p:normalViewPr>
  <p:slideViewPr>
    <p:cSldViewPr snapToGrid="0" snapToObjects="1">
      <p:cViewPr varScale="1">
        <p:scale>
          <a:sx n="49" d="100"/>
          <a:sy n="49" d="100"/>
        </p:scale>
        <p:origin x="13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311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Slide 1: Own it without stalling it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Pathway agreed, date fixed: own it, don’t stall it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Publishing model → digital product platform; pivot agreed, shape and ways of working not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Understand 1–30 (two baselines) · Stabilise 31–60 (keep running, assess proposal, confirm/re-scope/stop) · Accelerate 61–90→ (first assured delivery, plan to date)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Rule 1: nothing that works stops until replacement proven. Rule 2: nothing starts without owner and gate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Say it: everything after this is a hypothesis; Gates 1 and 2 test it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AU" b="1" dirty="0"/>
              <a:t>Story</a:t>
            </a:r>
            <a:r>
              <a:rPr lang="en-AU" dirty="0"/>
              <a:t>: inherited mid-flight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AU" b="1" dirty="0"/>
              <a:t>Bridge</a:t>
            </a:r>
            <a:r>
              <a:rPr lang="en-AU" dirty="0"/>
              <a:t>: “Here’s that on the calendar.”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Slide 2: 90 days vs 27 April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December start; break eats 3 of first 4 weeks; Gate 1 mid-Jan; baselines = a fortnight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Day 90 early March; about 8 working weeks to go-live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G1 day 30: two baselines → one-page baseline, in-flight list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Why two: proposal = technology and products, not how we work; savings live there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G2 day 60: fit test (supports how we work? right tier, right rule?) → the plan we’re held to. Builds on Phase 1 assurance review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G3 day 90: first assured delivery (identity and entitlement, or content pipeline)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Not in 90 days: commit to architecture, migrate data, extra hires, refined date or cost, AI platform before governance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Scope is the only lever; trade-off to board at G2, late Jan, in writing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AU" b="1" dirty="0"/>
              <a:t>Story</a:t>
            </a:r>
            <a:r>
              <a:rPr lang="en-AU" dirty="0"/>
              <a:t>: fixed date</a:t>
            </a:r>
          </a:p>
          <a:p>
            <a:pPr lvl="0"/>
            <a:r>
              <a:rPr lang="en-AU" b="1" dirty="0"/>
              <a:t>Bridge</a:t>
            </a:r>
            <a:r>
              <a:rPr lang="en-AU" dirty="0"/>
              <a:t>: “Next three slides: one credible shape the assessment would weigh, not the answer.”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Slide 3: Four tiers, four questions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Four questions: what kind of thing / spending judged on / how resilient / build or buy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A product (AMH Online): moat · commercials · bullet-proof · build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B content tooling (Quark, </a:t>
            </a:r>
            <a:r>
              <a:rPr lang="en-AU" dirty="0" err="1"/>
              <a:t>PriXM</a:t>
            </a:r>
            <a:r>
              <a:rPr lang="en-AU" dirty="0"/>
              <a:t>): content is the asset · fit, portability, cost · business hours, never only copy · buy and configure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C commodity (D365, shop, </a:t>
            </a:r>
            <a:r>
              <a:rPr lang="en-AU" dirty="0" err="1"/>
              <a:t>Wiise</a:t>
            </a:r>
            <a:r>
              <a:rPr lang="en-AU" dirty="0"/>
              <a:t>, Power BI): cost vs efficiency · standard, no shared fate · buy, exceptions only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X cross-cutting (identity, bus, monitoring, ISMS): inherits A’s posture · buy, bend to 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AI: A accelerates · B assists, human sign-off · C woven in (Excel pricing step) · X triage and runbooks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Guardrail: no AI output to content or production without a human gate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AU" b="1" dirty="0"/>
              <a:t>Story</a:t>
            </a:r>
            <a:r>
              <a:rPr lang="en-AU" dirty="0"/>
              <a:t>: commodity over build (CRM)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Slide 4: Resilience toolkit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Five nines ≈ 5 minutes a year; argued from content; board’s risk appetite; no SLA in source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No single mechanism gets you there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1 Isolate · 2 Replicate · 3 Release safely · 4 Detect and respond · 5 Protect content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Hub and spoke: sync spokes (authoring, identity, third-party APIs); async behind the bus (CRM, shop, finance, reporting)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Proportion: B and C get the set that stops a slow week, not a lost minute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Cost sits where the risk is</a:t>
            </a:r>
          </a:p>
          <a:p>
            <a:pPr lvl="0"/>
            <a:r>
              <a:rPr lang="en-AU" b="1" dirty="0"/>
              <a:t>Story</a:t>
            </a:r>
            <a:r>
              <a:rPr lang="en-AU" dirty="0"/>
              <a:t>: life-critical availability (EMIS)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Slide 5: Publishing and rollback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Second hub and spoke: inside the product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Hub → manifest (content </a:t>
            </a:r>
            <a:r>
              <a:rPr lang="en-AU" dirty="0" err="1"/>
              <a:t>vN</a:t>
            </a:r>
            <a:r>
              <a:rPr lang="en-AU" dirty="0"/>
              <a:t> + code </a:t>
            </a:r>
            <a:r>
              <a:rPr lang="en-AU" dirty="0" err="1"/>
              <a:t>vN</a:t>
            </a:r>
            <a:r>
              <a:rPr lang="en-AU" dirty="0"/>
              <a:t>) → event log → nodes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Log: immutable, ordered, retained, </a:t>
            </a:r>
            <a:r>
              <a:rPr lang="en-AU" dirty="0" err="1"/>
              <a:t>replayable</a:t>
            </a:r>
            <a:r>
              <a:rPr lang="en-AU" dirty="0"/>
              <a:t>; requirements not a product choice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Nodes serve alone; Region 3 rebuilt from log; multi-CDN edge, health-based routing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Rollback = re-point to vN-1, seconds, no redeploy</a:t>
            </a:r>
          </a:p>
          <a:p>
            <a:pPr lvl="0"/>
            <a:r>
              <a:rPr lang="en-AU" b="1" dirty="0"/>
              <a:t>Consideration</a:t>
            </a:r>
            <a:r>
              <a:rPr lang="en-AU" dirty="0"/>
              <a:t>, not a decision: managed Kafka-class 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Slide 6: The team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Worked backwards from tiers and CTO remit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Six: CTO · Technical Lead · Developer (replaces 0.6 PM) · Platform Engineer (</a:t>
            </a:r>
            <a:r>
              <a:rPr lang="en-AU" dirty="0" err="1"/>
              <a:t>DevSecOps</a:t>
            </a:r>
            <a:r>
              <a:rPr lang="en-AU" dirty="0"/>
              <a:t>) · Digital Product Owner · QA/BA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Why: Tier A needs two pairs of hands; key-person risk; PM sits with CTO; QA evidence for gates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Now = the six · Over time = second developer or vendor 0.6 PM; AI budget and AI-DLC instead of headcount · Source = MSP, specialist partners, vendor experts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Content operations outside remit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Own judgement, not headcount; partners decide how</a:t>
            </a:r>
          </a:p>
          <a:p>
            <a:pPr lvl="0"/>
            <a:r>
              <a:rPr lang="en-AU" b="1" dirty="0"/>
              <a:t>Story</a:t>
            </a:r>
            <a:r>
              <a:rPr lang="en-AU" dirty="0"/>
              <a:t>: partner or MSP; thin team (EMIS India, </a:t>
            </a:r>
            <a:r>
              <a:rPr lang="en-AU" dirty="0" err="1"/>
              <a:t>CallCredit</a:t>
            </a:r>
            <a:r>
              <a:rPr lang="en-AU" dirty="0"/>
              <a:t> Lithuania)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Slide 7: Governance and six months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Board/Risk quarterly + monthly pack · weekly Delivery and Partner Review, CEO invited · architecture decisions written down · no separate steering layer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Five gates: security/payments/ISMS · data/privacy · content integrity/clinical governance · integration/operability · release readiness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Inward: cycle time, change failure, rework, recovery. Upward: date confidence, availability vs appetite, risks, spend, decisions pending. AI on cycle time and quality, not tokens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Months 1–2 baselines, fit test, scope to board · 3–4 first assured delivery · 5–6 build waves, rehearsal, go-live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Tell the Board: fixed date so scope flexes · team of six · budget to confirm · vendor dependency · content ops capacity · availability and payments across every channel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Slide 8 and close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Don’t walk the wall: “what the proposal doesn’t show yet; judged by tier; no commitments”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Day 1.5: analytics, consent, status page, integration standards, content versioning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Day 2: assistant over authoritative content, citations, no generated clinical text; governance first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Close: customers, revenue, content integrity intact · core live and bullet-proof · commodity cheap and quiet · decisions written down · Day 2 ready with guardrails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019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019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02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TAKING OWNERSHIP OF THE AGREED PATHWAY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1556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agreed pathway without stalling it: understand, stabilise, accelerate</a:t>
            </a:r>
            <a:endParaRPr lang="en-US" sz="2250" dirty="0"/>
          </a:p>
        </p:txBody>
      </p:sp>
      <p:sp>
        <p:nvSpPr>
          <p:cNvPr id="4" name="line-0"/>
          <p:cNvSpPr/>
          <p:nvPr/>
        </p:nvSpPr>
        <p:spPr>
          <a:xfrm>
            <a:off x="1005840" y="1737360"/>
            <a:ext cx="0" cy="3474720"/>
          </a:xfrm>
          <a:prstGeom prst="line">
            <a:avLst/>
          </a:prstGeom>
          <a:noFill/>
          <a:ln w="1905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line-1"/>
          <p:cNvSpPr/>
          <p:nvPr/>
        </p:nvSpPr>
        <p:spPr>
          <a:xfrm>
            <a:off x="1005840" y="5212080"/>
            <a:ext cx="5669280" cy="0"/>
          </a:xfrm>
          <a:prstGeom prst="line">
            <a:avLst/>
          </a:prstGeom>
          <a:noFill/>
          <a:ln w="1905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-2"/>
          <p:cNvSpPr txBox="1"/>
          <p:nvPr/>
        </p:nvSpPr>
        <p:spPr>
          <a:xfrm rot="16200000">
            <a:off x="585216" y="3383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kern="0" spc="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7" name="text-3"/>
          <p:cNvSpPr txBox="1"/>
          <p:nvPr/>
        </p:nvSpPr>
        <p:spPr>
          <a:xfrm>
            <a:off x="6126480" y="5303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kern="0" spc="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8" name="line-4"/>
          <p:cNvSpPr/>
          <p:nvPr/>
        </p:nvSpPr>
        <p:spPr>
          <a:xfrm flipV="1">
            <a:off x="1005840" y="5102546"/>
            <a:ext cx="104215" cy="18094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line-5"/>
          <p:cNvSpPr/>
          <p:nvPr/>
        </p:nvSpPr>
        <p:spPr>
          <a:xfrm flipV="1">
            <a:off x="1110055" y="5076013"/>
            <a:ext cx="100212" cy="26533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line-6"/>
          <p:cNvSpPr/>
          <p:nvPr/>
        </p:nvSpPr>
        <p:spPr>
          <a:xfrm flipV="1">
            <a:off x="1210267" y="5041518"/>
            <a:ext cx="96460" cy="34495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line-7"/>
          <p:cNvSpPr/>
          <p:nvPr/>
        </p:nvSpPr>
        <p:spPr>
          <a:xfrm flipV="1">
            <a:off x="1306727" y="4999537"/>
            <a:ext cx="92958" cy="41981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ine-8"/>
          <p:cNvSpPr/>
          <p:nvPr/>
        </p:nvSpPr>
        <p:spPr>
          <a:xfrm flipV="1">
            <a:off x="1399685" y="4950547"/>
            <a:ext cx="89705" cy="48990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line-9"/>
          <p:cNvSpPr/>
          <p:nvPr/>
        </p:nvSpPr>
        <p:spPr>
          <a:xfrm flipV="1">
            <a:off x="1489390" y="4895026"/>
            <a:ext cx="86702" cy="55522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line-10"/>
          <p:cNvSpPr/>
          <p:nvPr/>
        </p:nvSpPr>
        <p:spPr>
          <a:xfrm flipV="1">
            <a:off x="1576092" y="4833448"/>
            <a:ext cx="83949" cy="61577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line-11"/>
          <p:cNvSpPr/>
          <p:nvPr/>
        </p:nvSpPr>
        <p:spPr>
          <a:xfrm flipV="1">
            <a:off x="1660040" y="4766292"/>
            <a:ext cx="81445" cy="67156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line-12"/>
          <p:cNvSpPr/>
          <p:nvPr/>
        </p:nvSpPr>
        <p:spPr>
          <a:xfrm flipV="1">
            <a:off x="1741486" y="4694033"/>
            <a:ext cx="79192" cy="72259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line-13"/>
          <p:cNvSpPr/>
          <p:nvPr/>
        </p:nvSpPr>
        <p:spPr>
          <a:xfrm flipV="1">
            <a:off x="1820678" y="4617149"/>
            <a:ext cx="77188" cy="76884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line-14"/>
          <p:cNvSpPr/>
          <p:nvPr/>
        </p:nvSpPr>
        <p:spPr>
          <a:xfrm flipV="1">
            <a:off x="1897866" y="4536115"/>
            <a:ext cx="75434" cy="81034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line-15"/>
          <p:cNvSpPr/>
          <p:nvPr/>
        </p:nvSpPr>
        <p:spPr>
          <a:xfrm flipV="1">
            <a:off x="1973300" y="4451409"/>
            <a:ext cx="73930" cy="84706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line-16"/>
          <p:cNvSpPr/>
          <p:nvPr/>
        </p:nvSpPr>
        <p:spPr>
          <a:xfrm flipV="1">
            <a:off x="2047230" y="4363507"/>
            <a:ext cx="72676" cy="87902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line-17"/>
          <p:cNvSpPr/>
          <p:nvPr/>
        </p:nvSpPr>
        <p:spPr>
          <a:xfrm flipV="1">
            <a:off x="2119906" y="4272886"/>
            <a:ext cx="71671" cy="90621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line-18"/>
          <p:cNvSpPr/>
          <p:nvPr/>
        </p:nvSpPr>
        <p:spPr>
          <a:xfrm flipV="1">
            <a:off x="2191577" y="4180022"/>
            <a:ext cx="70916" cy="92864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line-19"/>
          <p:cNvSpPr/>
          <p:nvPr/>
        </p:nvSpPr>
        <p:spPr>
          <a:xfrm flipV="1">
            <a:off x="2262493" y="4085393"/>
            <a:ext cx="70412" cy="94630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line-20"/>
          <p:cNvSpPr/>
          <p:nvPr/>
        </p:nvSpPr>
        <p:spPr>
          <a:xfrm flipV="1">
            <a:off x="2332905" y="3989474"/>
            <a:ext cx="70156" cy="95919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line-21"/>
          <p:cNvSpPr/>
          <p:nvPr/>
        </p:nvSpPr>
        <p:spPr>
          <a:xfrm flipV="1">
            <a:off x="2403062" y="3892743"/>
            <a:ext cx="70151" cy="96732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line-22"/>
          <p:cNvSpPr/>
          <p:nvPr/>
        </p:nvSpPr>
        <p:spPr>
          <a:xfrm flipV="1">
            <a:off x="2473213" y="3795675"/>
            <a:ext cx="70396" cy="97068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line-23"/>
          <p:cNvSpPr/>
          <p:nvPr/>
        </p:nvSpPr>
        <p:spPr>
          <a:xfrm flipV="1">
            <a:off x="2543608" y="3698748"/>
            <a:ext cx="70890" cy="96927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line-24"/>
          <p:cNvSpPr/>
          <p:nvPr/>
        </p:nvSpPr>
        <p:spPr>
          <a:xfrm flipV="1">
            <a:off x="2614498" y="3602438"/>
            <a:ext cx="71634" cy="96310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line-25"/>
          <p:cNvSpPr/>
          <p:nvPr/>
        </p:nvSpPr>
        <p:spPr>
          <a:xfrm flipV="1">
            <a:off x="2686132" y="3507222"/>
            <a:ext cx="72628" cy="95216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line-26"/>
          <p:cNvSpPr/>
          <p:nvPr/>
        </p:nvSpPr>
        <p:spPr>
          <a:xfrm flipV="1">
            <a:off x="2758760" y="3413577"/>
            <a:ext cx="73872" cy="93645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line-27"/>
          <p:cNvSpPr/>
          <p:nvPr/>
        </p:nvSpPr>
        <p:spPr>
          <a:xfrm flipV="1">
            <a:off x="2832632" y="3321979"/>
            <a:ext cx="75365" cy="91598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line-28"/>
          <p:cNvSpPr/>
          <p:nvPr/>
        </p:nvSpPr>
        <p:spPr>
          <a:xfrm flipV="1">
            <a:off x="2907997" y="3232904"/>
            <a:ext cx="77108" cy="89075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line-29"/>
          <p:cNvSpPr/>
          <p:nvPr/>
        </p:nvSpPr>
        <p:spPr>
          <a:xfrm flipV="1">
            <a:off x="2985105" y="3146830"/>
            <a:ext cx="79102" cy="86074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line-30"/>
          <p:cNvSpPr/>
          <p:nvPr/>
        </p:nvSpPr>
        <p:spPr>
          <a:xfrm flipV="1">
            <a:off x="3064207" y="3064233"/>
            <a:ext cx="81344" cy="82597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line-31"/>
          <p:cNvSpPr/>
          <p:nvPr/>
        </p:nvSpPr>
        <p:spPr>
          <a:xfrm flipV="1">
            <a:off x="3145551" y="2985589"/>
            <a:ext cx="83837" cy="78644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line-32"/>
          <p:cNvSpPr/>
          <p:nvPr/>
        </p:nvSpPr>
        <p:spPr>
          <a:xfrm flipV="1">
            <a:off x="3229388" y="2911376"/>
            <a:ext cx="86580" cy="74213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line-33"/>
          <p:cNvSpPr/>
          <p:nvPr/>
        </p:nvSpPr>
        <p:spPr>
          <a:xfrm flipV="1">
            <a:off x="3315968" y="2842070"/>
            <a:ext cx="89572" cy="69306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line-34"/>
          <p:cNvSpPr/>
          <p:nvPr/>
        </p:nvSpPr>
        <p:spPr>
          <a:xfrm flipV="1">
            <a:off x="3405540" y="2778147"/>
            <a:ext cx="92814" cy="63923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line-35"/>
          <p:cNvSpPr/>
          <p:nvPr/>
        </p:nvSpPr>
        <p:spPr>
          <a:xfrm flipV="1">
            <a:off x="3498354" y="2720084"/>
            <a:ext cx="96306" cy="58063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line-36"/>
          <p:cNvSpPr/>
          <p:nvPr/>
        </p:nvSpPr>
        <p:spPr>
          <a:xfrm flipV="1">
            <a:off x="3594660" y="2668358"/>
            <a:ext cx="100048" cy="51726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line-37"/>
          <p:cNvSpPr/>
          <p:nvPr/>
        </p:nvSpPr>
        <p:spPr>
          <a:xfrm flipV="1">
            <a:off x="3694708" y="2623446"/>
            <a:ext cx="104039" cy="44912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line-38"/>
          <p:cNvSpPr/>
          <p:nvPr/>
        </p:nvSpPr>
        <p:spPr>
          <a:xfrm flipV="1">
            <a:off x="3798747" y="2585823"/>
            <a:ext cx="108281" cy="37622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line-39"/>
          <p:cNvSpPr/>
          <p:nvPr/>
        </p:nvSpPr>
        <p:spPr>
          <a:xfrm flipV="1">
            <a:off x="3907028" y="2555967"/>
            <a:ext cx="112772" cy="29856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line-40"/>
          <p:cNvSpPr/>
          <p:nvPr/>
        </p:nvSpPr>
        <p:spPr>
          <a:xfrm flipV="1">
            <a:off x="4019799" y="2534355"/>
            <a:ext cx="117513" cy="21612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line-41"/>
          <p:cNvSpPr/>
          <p:nvPr/>
        </p:nvSpPr>
        <p:spPr>
          <a:xfrm flipV="1">
            <a:off x="4137312" y="2521463"/>
            <a:ext cx="122503" cy="12892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line-42"/>
          <p:cNvSpPr/>
          <p:nvPr/>
        </p:nvSpPr>
        <p:spPr>
          <a:xfrm flipV="1">
            <a:off x="4259815" y="2517767"/>
            <a:ext cx="127744" cy="3696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line-43"/>
          <p:cNvSpPr/>
          <p:nvPr/>
        </p:nvSpPr>
        <p:spPr>
          <a:xfrm>
            <a:off x="4387559" y="2517767"/>
            <a:ext cx="133234" cy="5977"/>
          </a:xfrm>
          <a:prstGeom prst="line">
            <a:avLst/>
          </a:prstGeom>
          <a:noFill/>
          <a:ln w="508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line-44"/>
          <p:cNvSpPr/>
          <p:nvPr/>
        </p:nvSpPr>
        <p:spPr>
          <a:xfrm flipV="1">
            <a:off x="3386938" y="5145060"/>
            <a:ext cx="83794" cy="12156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line-45"/>
          <p:cNvSpPr/>
          <p:nvPr/>
        </p:nvSpPr>
        <p:spPr>
          <a:xfrm flipV="1">
            <a:off x="3470731" y="5122654"/>
            <a:ext cx="81423" cy="22407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line-46"/>
          <p:cNvSpPr/>
          <p:nvPr/>
        </p:nvSpPr>
        <p:spPr>
          <a:xfrm flipV="1">
            <a:off x="3552155" y="5090513"/>
            <a:ext cx="79234" cy="32141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line-47"/>
          <p:cNvSpPr/>
          <p:nvPr/>
        </p:nvSpPr>
        <p:spPr>
          <a:xfrm flipV="1">
            <a:off x="3631388" y="5049152"/>
            <a:ext cx="77224" cy="41360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line-48"/>
          <p:cNvSpPr/>
          <p:nvPr/>
        </p:nvSpPr>
        <p:spPr>
          <a:xfrm flipV="1">
            <a:off x="3708613" y="4999089"/>
            <a:ext cx="75396" cy="50063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line-49"/>
          <p:cNvSpPr/>
          <p:nvPr/>
        </p:nvSpPr>
        <p:spPr>
          <a:xfrm flipV="1">
            <a:off x="3784009" y="4940839"/>
            <a:ext cx="73748" cy="58250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line-50"/>
          <p:cNvSpPr/>
          <p:nvPr/>
        </p:nvSpPr>
        <p:spPr>
          <a:xfrm flipV="1">
            <a:off x="3857757" y="4874919"/>
            <a:ext cx="72282" cy="65921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line-51"/>
          <p:cNvSpPr/>
          <p:nvPr/>
        </p:nvSpPr>
        <p:spPr>
          <a:xfrm flipV="1">
            <a:off x="3930039" y="4801844"/>
            <a:ext cx="70995" cy="73075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6" name="line-52"/>
          <p:cNvSpPr/>
          <p:nvPr/>
        </p:nvSpPr>
        <p:spPr>
          <a:xfrm flipV="1">
            <a:off x="4001034" y="4722130"/>
            <a:ext cx="69890" cy="79714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line-53"/>
          <p:cNvSpPr/>
          <p:nvPr/>
        </p:nvSpPr>
        <p:spPr>
          <a:xfrm flipV="1">
            <a:off x="4070924" y="4636294"/>
            <a:ext cx="68965" cy="85836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line-54"/>
          <p:cNvSpPr/>
          <p:nvPr/>
        </p:nvSpPr>
        <p:spPr>
          <a:xfrm flipV="1">
            <a:off x="4139889" y="4544851"/>
            <a:ext cx="68221" cy="91443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line-55"/>
          <p:cNvSpPr/>
          <p:nvPr/>
        </p:nvSpPr>
        <p:spPr>
          <a:xfrm flipV="1">
            <a:off x="4208110" y="4448318"/>
            <a:ext cx="67658" cy="96533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line-56"/>
          <p:cNvSpPr/>
          <p:nvPr/>
        </p:nvSpPr>
        <p:spPr>
          <a:xfrm flipV="1">
            <a:off x="4275767" y="4347211"/>
            <a:ext cx="67275" cy="101107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1" name="line-57"/>
          <p:cNvSpPr/>
          <p:nvPr/>
        </p:nvSpPr>
        <p:spPr>
          <a:xfrm flipV="1">
            <a:off x="4343042" y="4242046"/>
            <a:ext cx="67073" cy="105165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line-58"/>
          <p:cNvSpPr/>
          <p:nvPr/>
        </p:nvSpPr>
        <p:spPr>
          <a:xfrm flipV="1">
            <a:off x="4410115" y="4133338"/>
            <a:ext cx="67052" cy="108708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line-59"/>
          <p:cNvSpPr/>
          <p:nvPr/>
        </p:nvSpPr>
        <p:spPr>
          <a:xfrm flipV="1">
            <a:off x="4477167" y="4021604"/>
            <a:ext cx="67211" cy="111734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4" name="line-60"/>
          <p:cNvSpPr/>
          <p:nvPr/>
        </p:nvSpPr>
        <p:spPr>
          <a:xfrm flipV="1">
            <a:off x="4544378" y="3907361"/>
            <a:ext cx="67551" cy="114244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5" name="line-61"/>
          <p:cNvSpPr/>
          <p:nvPr/>
        </p:nvSpPr>
        <p:spPr>
          <a:xfrm flipV="1">
            <a:off x="4611929" y="3791123"/>
            <a:ext cx="68072" cy="116238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6" name="line-62"/>
          <p:cNvSpPr/>
          <p:nvPr/>
        </p:nvSpPr>
        <p:spPr>
          <a:xfrm flipV="1">
            <a:off x="4680001" y="3673407"/>
            <a:ext cx="68774" cy="117716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7" name="line-63"/>
          <p:cNvSpPr/>
          <p:nvPr/>
        </p:nvSpPr>
        <p:spPr>
          <a:xfrm flipV="1">
            <a:off x="4748775" y="3554730"/>
            <a:ext cx="69656" cy="118677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8" name="line-64"/>
          <p:cNvSpPr/>
          <p:nvPr/>
        </p:nvSpPr>
        <p:spPr>
          <a:xfrm flipV="1">
            <a:off x="4818431" y="3435607"/>
            <a:ext cx="70719" cy="119123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line-65"/>
          <p:cNvSpPr/>
          <p:nvPr/>
        </p:nvSpPr>
        <p:spPr>
          <a:xfrm flipV="1">
            <a:off x="4889150" y="3316554"/>
            <a:ext cx="71963" cy="119053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0" name="line-66"/>
          <p:cNvSpPr/>
          <p:nvPr/>
        </p:nvSpPr>
        <p:spPr>
          <a:xfrm flipV="1">
            <a:off x="4961112" y="3198087"/>
            <a:ext cx="73387" cy="118467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1" name="line-67"/>
          <p:cNvSpPr/>
          <p:nvPr/>
        </p:nvSpPr>
        <p:spPr>
          <a:xfrm flipV="1">
            <a:off x="5034499" y="3080723"/>
            <a:ext cx="74992" cy="117364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line-68"/>
          <p:cNvSpPr/>
          <p:nvPr/>
        </p:nvSpPr>
        <p:spPr>
          <a:xfrm flipV="1">
            <a:off x="5109492" y="2964978"/>
            <a:ext cx="76778" cy="115746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line-69"/>
          <p:cNvSpPr/>
          <p:nvPr/>
        </p:nvSpPr>
        <p:spPr>
          <a:xfrm flipV="1">
            <a:off x="5186270" y="2851367"/>
            <a:ext cx="78745" cy="113611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4" name="line-70"/>
          <p:cNvSpPr/>
          <p:nvPr/>
        </p:nvSpPr>
        <p:spPr>
          <a:xfrm flipV="1">
            <a:off x="5265014" y="2740406"/>
            <a:ext cx="80892" cy="110960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5" name="line-71"/>
          <p:cNvSpPr/>
          <p:nvPr/>
        </p:nvSpPr>
        <p:spPr>
          <a:xfrm flipV="1">
            <a:off x="5345906" y="2632612"/>
            <a:ext cx="83220" cy="107794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6" name="line-72"/>
          <p:cNvSpPr/>
          <p:nvPr/>
        </p:nvSpPr>
        <p:spPr>
          <a:xfrm flipV="1">
            <a:off x="5429126" y="2528501"/>
            <a:ext cx="85728" cy="104111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7" name="line-73"/>
          <p:cNvSpPr/>
          <p:nvPr/>
        </p:nvSpPr>
        <p:spPr>
          <a:xfrm flipV="1">
            <a:off x="5514854" y="2428589"/>
            <a:ext cx="88418" cy="99912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8" name="line-74"/>
          <p:cNvSpPr/>
          <p:nvPr/>
        </p:nvSpPr>
        <p:spPr>
          <a:xfrm flipV="1">
            <a:off x="5603272" y="2333392"/>
            <a:ext cx="91288" cy="95197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9" name="line-75"/>
          <p:cNvSpPr/>
          <p:nvPr/>
        </p:nvSpPr>
        <p:spPr>
          <a:xfrm flipV="1">
            <a:off x="5694560" y="2243426"/>
            <a:ext cx="94339" cy="89966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0" name="line-76"/>
          <p:cNvSpPr/>
          <p:nvPr/>
        </p:nvSpPr>
        <p:spPr>
          <a:xfrm flipV="1">
            <a:off x="5788898" y="2159206"/>
            <a:ext cx="97570" cy="84219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1" name="line-77"/>
          <p:cNvSpPr/>
          <p:nvPr/>
        </p:nvSpPr>
        <p:spPr>
          <a:xfrm flipV="1">
            <a:off x="5886468" y="2081250"/>
            <a:ext cx="100982" cy="77956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2" name="line-78"/>
          <p:cNvSpPr/>
          <p:nvPr/>
        </p:nvSpPr>
        <p:spPr>
          <a:xfrm flipV="1">
            <a:off x="5987451" y="2010073"/>
            <a:ext cx="104575" cy="71177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3" name="line-79"/>
          <p:cNvSpPr/>
          <p:nvPr/>
        </p:nvSpPr>
        <p:spPr>
          <a:xfrm flipV="1">
            <a:off x="6092026" y="1946191"/>
            <a:ext cx="108349" cy="63882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4" name="line-80"/>
          <p:cNvSpPr/>
          <p:nvPr/>
        </p:nvSpPr>
        <p:spPr>
          <a:xfrm flipV="1">
            <a:off x="6200374" y="1890120"/>
            <a:ext cx="112303" cy="56071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5" name="line-81"/>
          <p:cNvSpPr/>
          <p:nvPr/>
        </p:nvSpPr>
        <p:spPr>
          <a:xfrm flipV="1">
            <a:off x="6312678" y="1842377"/>
            <a:ext cx="116438" cy="47743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6" name="line-82"/>
          <p:cNvSpPr/>
          <p:nvPr/>
        </p:nvSpPr>
        <p:spPr>
          <a:xfrm flipV="1">
            <a:off x="6429116" y="1803477"/>
            <a:ext cx="120754" cy="38900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7" name="line-83"/>
          <p:cNvSpPr/>
          <p:nvPr/>
        </p:nvSpPr>
        <p:spPr>
          <a:xfrm flipV="1">
            <a:off x="6549870" y="1773936"/>
            <a:ext cx="125250" cy="29541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8" name="text-84"/>
          <p:cNvSpPr txBox="1"/>
          <p:nvPr/>
        </p:nvSpPr>
        <p:spPr>
          <a:xfrm>
            <a:off x="1152144" y="45171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model</a:t>
            </a:r>
            <a:endParaRPr lang="en-US" sz="1350" dirty="0"/>
          </a:p>
        </p:txBody>
      </p:sp>
      <p:sp>
        <p:nvSpPr>
          <p:cNvPr id="89" name="text-85"/>
          <p:cNvSpPr txBox="1"/>
          <p:nvPr/>
        </p:nvSpPr>
        <p:spPr>
          <a:xfrm>
            <a:off x="1152144" y="47365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90" name="text-86"/>
          <p:cNvSpPr txBox="1"/>
          <p:nvPr/>
        </p:nvSpPr>
        <p:spPr>
          <a:xfrm>
            <a:off x="4297680" y="2596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 platform</a:t>
            </a:r>
            <a:endParaRPr lang="en-US" sz="1350" dirty="0"/>
          </a:p>
        </p:txBody>
      </p:sp>
      <p:sp>
        <p:nvSpPr>
          <p:cNvPr id="91" name="text-87"/>
          <p:cNvSpPr txBox="1"/>
          <p:nvPr/>
        </p:nvSpPr>
        <p:spPr>
          <a:xfrm>
            <a:off x="4297680" y="28163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agreed direction</a:t>
            </a:r>
            <a:endParaRPr lang="en-US" sz="1100" dirty="0"/>
          </a:p>
        </p:txBody>
      </p:sp>
      <p:sp>
        <p:nvSpPr>
          <p:cNvPr id="92" name="oval-88"/>
          <p:cNvSpPr/>
          <p:nvPr/>
        </p:nvSpPr>
        <p:spPr>
          <a:xfrm>
            <a:off x="2268897" y="4021385"/>
            <a:ext cx="128016" cy="128016"/>
          </a:xfrm>
          <a:prstGeom prst="ellipse">
            <a:avLst/>
          </a:prstGeom>
          <a:solidFill>
            <a:srgbClr val="1C2B33"/>
          </a:solidFill>
          <a:ln w="12700">
            <a:solidFill>
              <a:srgbClr val="1C2B3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3" name="text-89"/>
          <p:cNvSpPr txBox="1"/>
          <p:nvPr/>
        </p:nvSpPr>
        <p:spPr>
          <a:xfrm>
            <a:off x="2442633" y="3865937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 point</a:t>
            </a:r>
            <a:endParaRPr lang="en-US" sz="1100" dirty="0"/>
          </a:p>
        </p:txBody>
      </p:sp>
      <p:sp>
        <p:nvSpPr>
          <p:cNvPr id="94" name="line-90"/>
          <p:cNvSpPr/>
          <p:nvPr/>
        </p:nvSpPr>
        <p:spPr>
          <a:xfrm flipV="1">
            <a:off x="3694708" y="2635987"/>
            <a:ext cx="92637" cy="32372"/>
          </a:xfrm>
          <a:prstGeom prst="line">
            <a:avLst/>
          </a:prstGeom>
          <a:noFill/>
          <a:ln w="31750">
            <a:solidFill>
              <a:srgbClr val="B45309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95" name="line-91"/>
          <p:cNvSpPr/>
          <p:nvPr/>
        </p:nvSpPr>
        <p:spPr>
          <a:xfrm flipV="1">
            <a:off x="3787345" y="2630312"/>
            <a:ext cx="86541" cy="5675"/>
          </a:xfrm>
          <a:prstGeom prst="line">
            <a:avLst/>
          </a:prstGeom>
          <a:noFill/>
          <a:ln w="31750">
            <a:solidFill>
              <a:srgbClr val="B45309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96" name="line-92"/>
          <p:cNvSpPr/>
          <p:nvPr/>
        </p:nvSpPr>
        <p:spPr>
          <a:xfrm>
            <a:off x="3873886" y="2630312"/>
            <a:ext cx="80445" cy="21022"/>
          </a:xfrm>
          <a:prstGeom prst="line">
            <a:avLst/>
          </a:prstGeom>
          <a:noFill/>
          <a:ln w="31750">
            <a:solidFill>
              <a:srgbClr val="B45309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97" name="line-93"/>
          <p:cNvSpPr/>
          <p:nvPr/>
        </p:nvSpPr>
        <p:spPr>
          <a:xfrm>
            <a:off x="3954330" y="2651334"/>
            <a:ext cx="74349" cy="47719"/>
          </a:xfrm>
          <a:prstGeom prst="line">
            <a:avLst/>
          </a:prstGeom>
          <a:noFill/>
          <a:ln w="31750">
            <a:solidFill>
              <a:srgbClr val="B45309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98" name="line-94"/>
          <p:cNvSpPr/>
          <p:nvPr/>
        </p:nvSpPr>
        <p:spPr>
          <a:xfrm>
            <a:off x="4028679" y="2699054"/>
            <a:ext cx="68253" cy="74416"/>
          </a:xfrm>
          <a:prstGeom prst="line">
            <a:avLst/>
          </a:prstGeom>
          <a:noFill/>
          <a:ln w="31750">
            <a:solidFill>
              <a:srgbClr val="B45309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99" name="line-95"/>
          <p:cNvSpPr/>
          <p:nvPr/>
        </p:nvSpPr>
        <p:spPr>
          <a:xfrm>
            <a:off x="4096932" y="2773470"/>
            <a:ext cx="62157" cy="101113"/>
          </a:xfrm>
          <a:prstGeom prst="line">
            <a:avLst/>
          </a:prstGeom>
          <a:noFill/>
          <a:ln w="31750">
            <a:solidFill>
              <a:srgbClr val="B45309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100" name="line-96"/>
          <p:cNvSpPr/>
          <p:nvPr/>
        </p:nvSpPr>
        <p:spPr>
          <a:xfrm>
            <a:off x="4159089" y="2874583"/>
            <a:ext cx="56061" cy="127810"/>
          </a:xfrm>
          <a:prstGeom prst="line">
            <a:avLst/>
          </a:prstGeom>
          <a:noFill/>
          <a:ln w="31750">
            <a:solidFill>
              <a:srgbClr val="B45309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101" name="line-97"/>
          <p:cNvSpPr/>
          <p:nvPr/>
        </p:nvSpPr>
        <p:spPr>
          <a:xfrm>
            <a:off x="4215150" y="3002393"/>
            <a:ext cx="49965" cy="154507"/>
          </a:xfrm>
          <a:prstGeom prst="line">
            <a:avLst/>
          </a:prstGeom>
          <a:noFill/>
          <a:ln w="31750">
            <a:solidFill>
              <a:srgbClr val="B45309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102" name="line-98"/>
          <p:cNvSpPr/>
          <p:nvPr/>
        </p:nvSpPr>
        <p:spPr>
          <a:xfrm>
            <a:off x="4265115" y="3156900"/>
            <a:ext cx="43869" cy="181204"/>
          </a:xfrm>
          <a:prstGeom prst="line">
            <a:avLst/>
          </a:prstGeom>
          <a:noFill/>
          <a:ln w="31750">
            <a:solidFill>
              <a:srgbClr val="B45309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103" name="line-99"/>
          <p:cNvSpPr/>
          <p:nvPr/>
        </p:nvSpPr>
        <p:spPr>
          <a:xfrm>
            <a:off x="4308984" y="3338104"/>
            <a:ext cx="37773" cy="207901"/>
          </a:xfrm>
          <a:prstGeom prst="line">
            <a:avLst/>
          </a:prstGeom>
          <a:noFill/>
          <a:ln w="31750">
            <a:solidFill>
              <a:srgbClr val="B45309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104" name="line-100"/>
          <p:cNvSpPr/>
          <p:nvPr/>
        </p:nvSpPr>
        <p:spPr>
          <a:xfrm>
            <a:off x="4346757" y="3546005"/>
            <a:ext cx="31677" cy="234598"/>
          </a:xfrm>
          <a:prstGeom prst="line">
            <a:avLst/>
          </a:prstGeom>
          <a:noFill/>
          <a:ln w="31750">
            <a:solidFill>
              <a:srgbClr val="B45309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105" name="line-101"/>
          <p:cNvSpPr/>
          <p:nvPr/>
        </p:nvSpPr>
        <p:spPr>
          <a:xfrm>
            <a:off x="4378434" y="3780603"/>
            <a:ext cx="25581" cy="261295"/>
          </a:xfrm>
          <a:prstGeom prst="line">
            <a:avLst/>
          </a:prstGeom>
          <a:noFill/>
          <a:ln w="31750">
            <a:solidFill>
              <a:srgbClr val="B45309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106" name="tri-102"/>
          <p:cNvSpPr/>
          <p:nvPr/>
        </p:nvSpPr>
        <p:spPr>
          <a:xfrm rot="8100000">
            <a:off x="4312575" y="3968746"/>
            <a:ext cx="146304" cy="146304"/>
          </a:xfrm>
          <a:prstGeom prst="triangl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7" name="text-103"/>
          <p:cNvSpPr txBox="1"/>
          <p:nvPr/>
        </p:nvSpPr>
        <p:spPr>
          <a:xfrm>
            <a:off x="1774468" y="226602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 — agreed</a:t>
            </a:r>
            <a:endParaRPr lang="en-US" sz="1200" dirty="0"/>
          </a:p>
        </p:txBody>
      </p:sp>
      <p:sp>
        <p:nvSpPr>
          <p:cNvPr id="108" name="line-104"/>
          <p:cNvSpPr/>
          <p:nvPr/>
        </p:nvSpPr>
        <p:spPr>
          <a:xfrm>
            <a:off x="6400800" y="3108960"/>
            <a:ext cx="0" cy="2103120"/>
          </a:xfrm>
          <a:prstGeom prst="line">
            <a:avLst/>
          </a:prstGeom>
          <a:noFill/>
          <a:ln w="19050">
            <a:solidFill>
              <a:srgbClr val="B45309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109" name="text-105"/>
          <p:cNvSpPr txBox="1"/>
          <p:nvPr/>
        </p:nvSpPr>
        <p:spPr>
          <a:xfrm>
            <a:off x="5669280" y="54864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target date</a:t>
            </a:r>
            <a:endParaRPr lang="en-US" sz="1100" dirty="0"/>
          </a:p>
        </p:txBody>
      </p:sp>
      <p:sp>
        <p:nvSpPr>
          <p:cNvPr id="110" name="shape-106"/>
          <p:cNvSpPr/>
          <p:nvPr/>
        </p:nvSpPr>
        <p:spPr>
          <a:xfrm>
            <a:off x="7315200" y="1463040"/>
            <a:ext cx="4297680" cy="1078992"/>
          </a:xfrm>
          <a:prstGeom prst="roundRect">
            <a:avLst>
              <a:gd name="adj" fmla="val 6780"/>
            </a:avLst>
          </a:prstGeom>
          <a:solidFill>
            <a:srgbClr val="D6ECE9"/>
          </a:solidFill>
          <a:ln w="12700">
            <a:solidFill>
              <a:srgbClr val="D6ECE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11" name="icon-10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6" y="1682496"/>
            <a:ext cx="274320" cy="274320"/>
          </a:xfrm>
          <a:prstGeom prst="rect">
            <a:avLst/>
          </a:prstGeom>
        </p:spPr>
      </p:pic>
      <p:sp>
        <p:nvSpPr>
          <p:cNvPr id="112" name="text-108"/>
          <p:cNvSpPr txBox="1"/>
          <p:nvPr/>
        </p:nvSpPr>
        <p:spPr>
          <a:xfrm>
            <a:off x="795528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900" dirty="0"/>
          </a:p>
        </p:txBody>
      </p:sp>
      <p:sp>
        <p:nvSpPr>
          <p:cNvPr id="113" name="text-109"/>
          <p:cNvSpPr txBox="1"/>
          <p:nvPr/>
        </p:nvSpPr>
        <p:spPr>
          <a:xfrm>
            <a:off x="7955280" y="192024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100" dirty="0"/>
          </a:p>
        </p:txBody>
      </p:sp>
      <p:sp>
        <p:nvSpPr>
          <p:cNvPr id="114" name="text-110"/>
          <p:cNvSpPr txBox="1"/>
          <p:nvPr/>
        </p:nvSpPr>
        <p:spPr>
          <a:xfrm>
            <a:off x="7955280" y="21214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baselines: the technology and the ways of working</a:t>
            </a:r>
            <a:endParaRPr lang="en-US" sz="1300" dirty="0"/>
          </a:p>
        </p:txBody>
      </p:sp>
      <p:sp>
        <p:nvSpPr>
          <p:cNvPr id="115" name="shape-111"/>
          <p:cNvSpPr/>
          <p:nvPr/>
        </p:nvSpPr>
        <p:spPr>
          <a:xfrm>
            <a:off x="7315200" y="2743200"/>
            <a:ext cx="4297680" cy="1078992"/>
          </a:xfrm>
          <a:prstGeom prst="roundRect">
            <a:avLst>
              <a:gd name="adj" fmla="val 678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16" name="icon-1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2962656"/>
            <a:ext cx="274320" cy="274320"/>
          </a:xfrm>
          <a:prstGeom prst="rect">
            <a:avLst/>
          </a:prstGeom>
        </p:spPr>
      </p:pic>
      <p:sp>
        <p:nvSpPr>
          <p:cNvPr id="117" name="text-113"/>
          <p:cNvSpPr txBox="1"/>
          <p:nvPr/>
        </p:nvSpPr>
        <p:spPr>
          <a:xfrm>
            <a:off x="7955280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</a:t>
            </a:r>
            <a:endParaRPr lang="en-US" sz="1900" dirty="0"/>
          </a:p>
        </p:txBody>
      </p:sp>
      <p:sp>
        <p:nvSpPr>
          <p:cNvPr id="118" name="text-114"/>
          <p:cNvSpPr txBox="1"/>
          <p:nvPr/>
        </p:nvSpPr>
        <p:spPr>
          <a:xfrm>
            <a:off x="7955280" y="320040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100" dirty="0"/>
          </a:p>
        </p:txBody>
      </p:sp>
      <p:sp>
        <p:nvSpPr>
          <p:cNvPr id="119" name="text-115"/>
          <p:cNvSpPr txBox="1"/>
          <p:nvPr/>
        </p:nvSpPr>
        <p:spPr>
          <a:xfrm>
            <a:off x="7955280" y="3401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today running; assess the proposal; confirm, re-scope or stop</a:t>
            </a:r>
            <a:endParaRPr lang="en-US" sz="1300" dirty="0"/>
          </a:p>
        </p:txBody>
      </p:sp>
      <p:sp>
        <p:nvSpPr>
          <p:cNvPr id="120" name="shape-116"/>
          <p:cNvSpPr/>
          <p:nvPr/>
        </p:nvSpPr>
        <p:spPr>
          <a:xfrm>
            <a:off x="7315200" y="4023360"/>
            <a:ext cx="4297680" cy="1078992"/>
          </a:xfrm>
          <a:prstGeom prst="roundRect">
            <a:avLst>
              <a:gd name="adj" fmla="val 678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21" name="icon-1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56" y="4242816"/>
            <a:ext cx="274320" cy="274320"/>
          </a:xfrm>
          <a:prstGeom prst="rect">
            <a:avLst/>
          </a:prstGeom>
        </p:spPr>
      </p:pic>
      <p:sp>
        <p:nvSpPr>
          <p:cNvPr id="122" name="text-118"/>
          <p:cNvSpPr txBox="1"/>
          <p:nvPr/>
        </p:nvSpPr>
        <p:spPr>
          <a:xfrm>
            <a:off x="7955280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</a:t>
            </a:r>
            <a:endParaRPr lang="en-US" sz="1900" dirty="0"/>
          </a:p>
        </p:txBody>
      </p:sp>
      <p:sp>
        <p:nvSpPr>
          <p:cNvPr id="123" name="text-119"/>
          <p:cNvSpPr txBox="1"/>
          <p:nvPr/>
        </p:nvSpPr>
        <p:spPr>
          <a:xfrm>
            <a:off x="7955280" y="448056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 →</a:t>
            </a:r>
            <a:endParaRPr lang="en-US" sz="1100" dirty="0"/>
          </a:p>
        </p:txBody>
      </p:sp>
      <p:sp>
        <p:nvSpPr>
          <p:cNvPr id="124" name="text-120"/>
          <p:cNvSpPr txBox="1"/>
          <p:nvPr/>
        </p:nvSpPr>
        <p:spPr>
          <a:xfrm>
            <a:off x="7955280" y="4681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assured delivery; the plan to the date</a:t>
            </a:r>
            <a:endParaRPr lang="en-US" sz="1300" dirty="0"/>
          </a:p>
        </p:txBody>
      </p:sp>
      <p:sp>
        <p:nvSpPr>
          <p:cNvPr id="125" name="shape-121"/>
          <p:cNvSpPr/>
          <p:nvPr/>
        </p:nvSpPr>
        <p:spPr>
          <a:xfrm>
            <a:off x="7315200" y="5248656"/>
            <a:ext cx="4297680" cy="768096"/>
          </a:xfrm>
          <a:prstGeom prst="roundRect">
            <a:avLst>
              <a:gd name="adj" fmla="val 9524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6" name="text-122"/>
          <p:cNvSpPr txBox="1"/>
          <p:nvPr/>
        </p:nvSpPr>
        <p:spPr>
          <a:xfrm>
            <a:off x="7498080" y="53035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and staffing statement that follows is a hypothesis. Gates 1 and 2 test it before anything is built.</a:t>
            </a:r>
            <a:endParaRPr lang="en-US" sz="1200" dirty="0"/>
          </a:p>
        </p:txBody>
      </p:sp>
      <p:sp>
        <p:nvSpPr>
          <p:cNvPr id="127" name="text-123"/>
          <p:cNvSpPr txBox="1"/>
          <p:nvPr/>
        </p:nvSpPr>
        <p:spPr>
          <a:xfrm>
            <a:off x="7315200" y="61081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that works today stops until its replacement is proven.</a:t>
            </a:r>
            <a:endParaRPr lang="en-US" sz="1100" dirty="0"/>
          </a:p>
        </p:txBody>
      </p:sp>
      <p:sp>
        <p:nvSpPr>
          <p:cNvPr id="1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019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02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THE FIRST 90 DAYS AGAINST THE 27 APRIL DATE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1556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December start leaves little room: three gates by early March, then eight weeks to go live</a:t>
            </a:r>
            <a:endParaRPr lang="en-US" sz="2250" dirty="0"/>
          </a:p>
        </p:txBody>
      </p:sp>
      <p:sp>
        <p:nvSpPr>
          <p:cNvPr id="4" name="shape-0"/>
          <p:cNvSpPr/>
          <p:nvPr/>
        </p:nvSpPr>
        <p:spPr>
          <a:xfrm>
            <a:off x="1931437" y="1280160"/>
            <a:ext cx="1601133" cy="1335024"/>
          </a:xfrm>
          <a:prstGeom prst="roundRect">
            <a:avLst>
              <a:gd name="adj" fmla="val 4110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-1"/>
          <p:cNvSpPr txBox="1"/>
          <p:nvPr/>
        </p:nvSpPr>
        <p:spPr>
          <a:xfrm>
            <a:off x="1657117" y="2432304"/>
            <a:ext cx="21497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break</a:t>
            </a:r>
            <a:endParaRPr lang="en-US" sz="1100" dirty="0"/>
          </a:p>
        </p:txBody>
      </p:sp>
      <p:sp>
        <p:nvSpPr>
          <p:cNvPr id="6" name="line-2"/>
          <p:cNvSpPr/>
          <p:nvPr/>
        </p:nvSpPr>
        <p:spPr>
          <a:xfrm>
            <a:off x="548640" y="1828800"/>
            <a:ext cx="10698480" cy="0"/>
          </a:xfrm>
          <a:prstGeom prst="line">
            <a:avLst/>
          </a:prstGeom>
          <a:noFill/>
          <a:ln w="508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ri-3"/>
          <p:cNvSpPr/>
          <p:nvPr/>
        </p:nvSpPr>
        <p:spPr>
          <a:xfrm rot="5400000">
            <a:off x="11228832" y="1719072"/>
            <a:ext cx="219456" cy="219456"/>
          </a:xfrm>
          <a:prstGeom prst="triangle">
            <a:avLst/>
          </a:prstGeom>
          <a:solidFill>
            <a:srgbClr val="D4DBE0"/>
          </a:solidFill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-4"/>
          <p:cNvSpPr/>
          <p:nvPr/>
        </p:nvSpPr>
        <p:spPr>
          <a:xfrm>
            <a:off x="548640" y="1805940"/>
            <a:ext cx="655009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line-5"/>
          <p:cNvSpPr/>
          <p:nvPr/>
        </p:nvSpPr>
        <p:spPr>
          <a:xfrm>
            <a:off x="548640" y="1956816"/>
            <a:ext cx="0" cy="73152"/>
          </a:xfrm>
          <a:prstGeom prst="line">
            <a:avLst/>
          </a:prstGeom>
          <a:noFill/>
          <a:ln w="127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-6"/>
          <p:cNvSpPr txBox="1"/>
          <p:nvPr/>
        </p:nvSpPr>
        <p:spPr>
          <a:xfrm>
            <a:off x="365760" y="20482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 dirty="0"/>
          </a:p>
        </p:txBody>
      </p:sp>
      <p:sp>
        <p:nvSpPr>
          <p:cNvPr id="11" name="line-7"/>
          <p:cNvSpPr/>
          <p:nvPr/>
        </p:nvSpPr>
        <p:spPr>
          <a:xfrm>
            <a:off x="2804782" y="1956816"/>
            <a:ext cx="0" cy="73152"/>
          </a:xfrm>
          <a:prstGeom prst="line">
            <a:avLst/>
          </a:prstGeom>
          <a:noFill/>
          <a:ln w="127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-8"/>
          <p:cNvSpPr txBox="1"/>
          <p:nvPr/>
        </p:nvSpPr>
        <p:spPr>
          <a:xfrm>
            <a:off x="2621902" y="20482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13" name="line-9"/>
          <p:cNvSpPr/>
          <p:nvPr/>
        </p:nvSpPr>
        <p:spPr>
          <a:xfrm>
            <a:off x="5060924" y="1956816"/>
            <a:ext cx="0" cy="73152"/>
          </a:xfrm>
          <a:prstGeom prst="line">
            <a:avLst/>
          </a:prstGeom>
          <a:noFill/>
          <a:ln w="127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-10"/>
          <p:cNvSpPr txBox="1"/>
          <p:nvPr/>
        </p:nvSpPr>
        <p:spPr>
          <a:xfrm>
            <a:off x="4878044" y="20482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15" name="line-11"/>
          <p:cNvSpPr/>
          <p:nvPr/>
        </p:nvSpPr>
        <p:spPr>
          <a:xfrm>
            <a:off x="7098730" y="1956816"/>
            <a:ext cx="0" cy="73152"/>
          </a:xfrm>
          <a:prstGeom prst="line">
            <a:avLst/>
          </a:prstGeom>
          <a:noFill/>
          <a:ln w="127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-12"/>
          <p:cNvSpPr txBox="1"/>
          <p:nvPr/>
        </p:nvSpPr>
        <p:spPr>
          <a:xfrm>
            <a:off x="6915850" y="20482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7" name="line-13"/>
          <p:cNvSpPr/>
          <p:nvPr/>
        </p:nvSpPr>
        <p:spPr>
          <a:xfrm>
            <a:off x="9354872" y="1956816"/>
            <a:ext cx="0" cy="73152"/>
          </a:xfrm>
          <a:prstGeom prst="line">
            <a:avLst/>
          </a:prstGeom>
          <a:noFill/>
          <a:ln w="127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-14"/>
          <p:cNvSpPr txBox="1"/>
          <p:nvPr/>
        </p:nvSpPr>
        <p:spPr>
          <a:xfrm>
            <a:off x="9171992" y="20482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9" name="oval-15"/>
          <p:cNvSpPr/>
          <p:nvPr/>
        </p:nvSpPr>
        <p:spPr>
          <a:xfrm>
            <a:off x="466344" y="1746504"/>
            <a:ext cx="164592" cy="164592"/>
          </a:xfrm>
          <a:prstGeom prst="ellipse">
            <a:avLst/>
          </a:prstGeom>
          <a:solidFill>
            <a:srgbClr val="5A6B75"/>
          </a:solidFill>
          <a:ln w="127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-16"/>
          <p:cNvSpPr txBox="1"/>
          <p:nvPr/>
        </p:nvSpPr>
        <p:spPr>
          <a:xfrm>
            <a:off x="0" y="1389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21" name="oval-17"/>
          <p:cNvSpPr/>
          <p:nvPr/>
        </p:nvSpPr>
        <p:spPr>
          <a:xfrm>
            <a:off x="2549123" y="16459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-18"/>
          <p:cNvSpPr txBox="1"/>
          <p:nvPr/>
        </p:nvSpPr>
        <p:spPr>
          <a:xfrm>
            <a:off x="2549123" y="17190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300" dirty="0"/>
          </a:p>
        </p:txBody>
      </p:sp>
      <p:sp>
        <p:nvSpPr>
          <p:cNvPr id="23" name="text-19"/>
          <p:cNvSpPr txBox="1"/>
          <p:nvPr/>
        </p:nvSpPr>
        <p:spPr>
          <a:xfrm>
            <a:off x="2183363" y="1389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100" dirty="0"/>
          </a:p>
        </p:txBody>
      </p:sp>
      <p:sp>
        <p:nvSpPr>
          <p:cNvPr id="24" name="text-20"/>
          <p:cNvSpPr txBox="1"/>
          <p:nvPr/>
        </p:nvSpPr>
        <p:spPr>
          <a:xfrm>
            <a:off x="1909043" y="22311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baselines</a:t>
            </a:r>
            <a:endParaRPr lang="en-US" sz="1100" dirty="0"/>
          </a:p>
        </p:txBody>
      </p:sp>
      <p:sp>
        <p:nvSpPr>
          <p:cNvPr id="25" name="oval-21"/>
          <p:cNvSpPr/>
          <p:nvPr/>
        </p:nvSpPr>
        <p:spPr>
          <a:xfrm>
            <a:off x="4732487" y="16459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-22"/>
          <p:cNvSpPr txBox="1"/>
          <p:nvPr/>
        </p:nvSpPr>
        <p:spPr>
          <a:xfrm>
            <a:off x="4732487" y="17190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300" dirty="0"/>
          </a:p>
        </p:txBody>
      </p:sp>
      <p:sp>
        <p:nvSpPr>
          <p:cNvPr id="27" name="text-23"/>
          <p:cNvSpPr txBox="1"/>
          <p:nvPr/>
        </p:nvSpPr>
        <p:spPr>
          <a:xfrm>
            <a:off x="4366727" y="1389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1100" dirty="0"/>
          </a:p>
        </p:txBody>
      </p:sp>
      <p:sp>
        <p:nvSpPr>
          <p:cNvPr id="28" name="text-24"/>
          <p:cNvSpPr txBox="1"/>
          <p:nvPr/>
        </p:nvSpPr>
        <p:spPr>
          <a:xfrm>
            <a:off x="4092407" y="22311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test, decisions</a:t>
            </a:r>
            <a:endParaRPr lang="en-US" sz="1100" dirty="0"/>
          </a:p>
        </p:txBody>
      </p:sp>
      <p:sp>
        <p:nvSpPr>
          <p:cNvPr id="29" name="oval-25"/>
          <p:cNvSpPr/>
          <p:nvPr/>
        </p:nvSpPr>
        <p:spPr>
          <a:xfrm>
            <a:off x="6915850" y="1645920"/>
            <a:ext cx="365760" cy="365760"/>
          </a:xfrm>
          <a:prstGeom prst="ellipse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-26"/>
          <p:cNvSpPr txBox="1"/>
          <p:nvPr/>
        </p:nvSpPr>
        <p:spPr>
          <a:xfrm>
            <a:off x="6915850" y="17190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300" dirty="0"/>
          </a:p>
        </p:txBody>
      </p:sp>
      <p:sp>
        <p:nvSpPr>
          <p:cNvPr id="31" name="text-27"/>
          <p:cNvSpPr txBox="1"/>
          <p:nvPr/>
        </p:nvSpPr>
        <p:spPr>
          <a:xfrm>
            <a:off x="6550090" y="1389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1100" dirty="0"/>
          </a:p>
        </p:txBody>
      </p:sp>
      <p:sp>
        <p:nvSpPr>
          <p:cNvPr id="32" name="text-28"/>
          <p:cNvSpPr txBox="1"/>
          <p:nvPr/>
        </p:nvSpPr>
        <p:spPr>
          <a:xfrm>
            <a:off x="6275770" y="22311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assured delivery</a:t>
            </a:r>
            <a:endParaRPr lang="en-US" sz="1100" dirty="0"/>
          </a:p>
        </p:txBody>
      </p:sp>
      <p:sp>
        <p:nvSpPr>
          <p:cNvPr id="33" name="oval-29"/>
          <p:cNvSpPr/>
          <p:nvPr/>
        </p:nvSpPr>
        <p:spPr>
          <a:xfrm>
            <a:off x="11137392" y="1719072"/>
            <a:ext cx="219456" cy="21945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-30"/>
          <p:cNvSpPr txBox="1"/>
          <p:nvPr/>
        </p:nvSpPr>
        <p:spPr>
          <a:xfrm>
            <a:off x="10698480" y="1389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April</a:t>
            </a:r>
            <a:endParaRPr lang="en-US" sz="1100" dirty="0"/>
          </a:p>
        </p:txBody>
      </p:sp>
      <p:sp>
        <p:nvSpPr>
          <p:cNvPr id="35" name="text-31"/>
          <p:cNvSpPr txBox="1"/>
          <p:nvPr/>
        </p:nvSpPr>
        <p:spPr>
          <a:xfrm>
            <a:off x="10424160" y="22311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36" name="text-32"/>
          <p:cNvSpPr txBox="1"/>
          <p:nvPr/>
        </p:nvSpPr>
        <p:spPr>
          <a:xfrm>
            <a:off x="7373050" y="1389888"/>
            <a:ext cx="35997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 working weeks after day 90: build waves, rehearsal, go-live</a:t>
            </a:r>
            <a:endParaRPr lang="en-US" sz="1100" dirty="0"/>
          </a:p>
        </p:txBody>
      </p:sp>
      <p:sp>
        <p:nvSpPr>
          <p:cNvPr id="37" name="shape-33"/>
          <p:cNvSpPr/>
          <p:nvPr/>
        </p:nvSpPr>
        <p:spPr>
          <a:xfrm>
            <a:off x="548640" y="2779776"/>
            <a:ext cx="3383280" cy="1024128"/>
          </a:xfrm>
          <a:prstGeom prst="roundRect">
            <a:avLst>
              <a:gd name="adj" fmla="val 714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38" name="icon-3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944368"/>
            <a:ext cx="201168" cy="201168"/>
          </a:xfrm>
          <a:prstGeom prst="rect">
            <a:avLst/>
          </a:prstGeom>
        </p:spPr>
      </p:pic>
      <p:sp>
        <p:nvSpPr>
          <p:cNvPr id="39" name="text-35"/>
          <p:cNvSpPr txBox="1"/>
          <p:nvPr/>
        </p:nvSpPr>
        <p:spPr>
          <a:xfrm>
            <a:off x="1005840" y="29077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 product baseline</a:t>
            </a:r>
            <a:endParaRPr lang="en-US" sz="1300" dirty="0"/>
          </a:p>
        </p:txBody>
      </p:sp>
      <p:sp>
        <p:nvSpPr>
          <p:cNvPr id="40" name="text-36"/>
          <p:cNvSpPr txBox="1"/>
          <p:nvPr/>
        </p:nvSpPr>
        <p:spPr>
          <a:xfrm>
            <a:off x="713232" y="320040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integrations, contracts, partners, run cost; licence model; what is in flight</a:t>
            </a:r>
            <a:endParaRPr lang="en-US" sz="1100" dirty="0"/>
          </a:p>
        </p:txBody>
      </p:sp>
      <p:sp>
        <p:nvSpPr>
          <p:cNvPr id="41" name="shape-37"/>
          <p:cNvSpPr/>
          <p:nvPr/>
        </p:nvSpPr>
        <p:spPr>
          <a:xfrm>
            <a:off x="4078224" y="2779776"/>
            <a:ext cx="3383280" cy="1024128"/>
          </a:xfrm>
          <a:prstGeom prst="roundRect">
            <a:avLst>
              <a:gd name="adj" fmla="val 7143"/>
            </a:avLst>
          </a:prstGeom>
          <a:solidFill>
            <a:srgbClr val="D6ECE9"/>
          </a:solidFill>
          <a:ln w="12700">
            <a:solidFill>
              <a:srgbClr val="D6ECE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42" name="icon-3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2944368"/>
            <a:ext cx="201168" cy="201168"/>
          </a:xfrm>
          <a:prstGeom prst="rect">
            <a:avLst/>
          </a:prstGeom>
        </p:spPr>
      </p:pic>
      <p:sp>
        <p:nvSpPr>
          <p:cNvPr id="43" name="text-39"/>
          <p:cNvSpPr txBox="1"/>
          <p:nvPr/>
        </p:nvSpPr>
        <p:spPr>
          <a:xfrm>
            <a:off x="4535424" y="29077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Ways-of-working baseline</a:t>
            </a:r>
            <a:endParaRPr lang="en-US" sz="1300" dirty="0"/>
          </a:p>
        </p:txBody>
      </p:sp>
      <p:sp>
        <p:nvSpPr>
          <p:cNvPr id="44" name="text-40"/>
          <p:cNvSpPr txBox="1"/>
          <p:nvPr/>
        </p:nvSpPr>
        <p:spPr>
          <a:xfrm>
            <a:off x="4242816" y="320040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Processes, SOPs, SLAs, mandated requirements; hand-offs; what each ceremony produces</a:t>
            </a:r>
            <a:endParaRPr lang="en-US" sz="1100" dirty="0"/>
          </a:p>
        </p:txBody>
      </p:sp>
      <p:sp>
        <p:nvSpPr>
          <p:cNvPr id="45" name="tri-41"/>
          <p:cNvSpPr/>
          <p:nvPr/>
        </p:nvSpPr>
        <p:spPr>
          <a:xfrm rot="5400000">
            <a:off x="7598664" y="3209544"/>
            <a:ext cx="164592" cy="164592"/>
          </a:xfrm>
          <a:prstGeom prst="triangle">
            <a:avLst/>
          </a:prstGeom>
          <a:solidFill>
            <a:srgbClr val="5A6B75"/>
          </a:solidFill>
          <a:ln w="127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shape-42"/>
          <p:cNvSpPr/>
          <p:nvPr/>
        </p:nvSpPr>
        <p:spPr>
          <a:xfrm>
            <a:off x="7790688" y="2779776"/>
            <a:ext cx="3822192" cy="1024128"/>
          </a:xfrm>
          <a:prstGeom prst="roundRect">
            <a:avLst>
              <a:gd name="adj" fmla="val 7143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-43"/>
          <p:cNvSpPr txBox="1"/>
          <p:nvPr/>
        </p:nvSpPr>
        <p:spPr>
          <a:xfrm>
            <a:off x="7973568" y="290779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 test — at Gate 2</a:t>
            </a:r>
            <a:endParaRPr lang="en-US" sz="1300" dirty="0"/>
          </a:p>
        </p:txBody>
      </p:sp>
      <p:sp>
        <p:nvSpPr>
          <p:cNvPr id="48" name="text-44"/>
          <p:cNvSpPr txBox="1"/>
          <p:nvPr/>
        </p:nvSpPr>
        <p:spPr>
          <a:xfrm>
            <a:off x="7973568" y="320040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proposal support the way we want to work?</a:t>
            </a:r>
            <a:endParaRPr lang="en-US" sz="1100" dirty="0"/>
          </a:p>
        </p:txBody>
      </p:sp>
      <p:sp>
        <p:nvSpPr>
          <p:cNvPr id="49" name="text-45"/>
          <p:cNvSpPr txBox="1"/>
          <p:nvPr/>
        </p:nvSpPr>
        <p:spPr>
          <a:xfrm>
            <a:off x="7973568" y="345643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each component in the right tier, under the right rule?</a:t>
            </a:r>
            <a:endParaRPr lang="en-US" sz="1100" dirty="0"/>
          </a:p>
        </p:txBody>
      </p:sp>
      <p:sp>
        <p:nvSpPr>
          <p:cNvPr id="50" name="shape-46"/>
          <p:cNvSpPr/>
          <p:nvPr/>
        </p:nvSpPr>
        <p:spPr>
          <a:xfrm>
            <a:off x="548640" y="4096512"/>
            <a:ext cx="11064240" cy="2322576"/>
          </a:xfrm>
          <a:prstGeom prst="roundRect">
            <a:avLst>
              <a:gd name="adj" fmla="val 3150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1" name="icon-4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279392"/>
            <a:ext cx="219456" cy="219456"/>
          </a:xfrm>
          <a:prstGeom prst="rect">
            <a:avLst/>
          </a:prstGeom>
        </p:spPr>
      </p:pic>
      <p:sp>
        <p:nvSpPr>
          <p:cNvPr id="52" name="text-48"/>
          <p:cNvSpPr txBox="1"/>
          <p:nvPr/>
        </p:nvSpPr>
        <p:spPr>
          <a:xfrm>
            <a:off x="1078992" y="42976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REALITY: PROTECT WHAT WORKS, AND HOLD THE SCOPE</a:t>
            </a:r>
            <a:endParaRPr lang="en-US" sz="1100" dirty="0"/>
          </a:p>
        </p:txBody>
      </p:sp>
      <p:sp>
        <p:nvSpPr>
          <p:cNvPr id="53" name="oval-49"/>
          <p:cNvSpPr/>
          <p:nvPr/>
        </p:nvSpPr>
        <p:spPr>
          <a:xfrm>
            <a:off x="768096" y="4645152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text-50"/>
          <p:cNvSpPr txBox="1"/>
          <p:nvPr/>
        </p:nvSpPr>
        <p:spPr>
          <a:xfrm>
            <a:off x="932688" y="45720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December</a:t>
            </a:r>
            <a:endParaRPr lang="en-US" sz="1250" dirty="0"/>
          </a:p>
        </p:txBody>
      </p:sp>
      <p:sp>
        <p:nvSpPr>
          <p:cNvPr id="55" name="text-51"/>
          <p:cNvSpPr txBox="1"/>
          <p:nvPr/>
        </p:nvSpPr>
        <p:spPr>
          <a:xfrm>
            <a:off x="932688" y="47914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 takes three of the first four weeks; Gate 1 lands mid-January in practice, so the baselines are a fortnight of work, not a month</a:t>
            </a:r>
            <a:endParaRPr lang="en-US" sz="1100" dirty="0"/>
          </a:p>
        </p:txBody>
      </p:sp>
      <p:sp>
        <p:nvSpPr>
          <p:cNvPr id="56" name="oval-52"/>
          <p:cNvSpPr/>
          <p:nvPr/>
        </p:nvSpPr>
        <p:spPr>
          <a:xfrm>
            <a:off x="768096" y="5285232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text-53"/>
          <p:cNvSpPr txBox="1"/>
          <p:nvPr/>
        </p:nvSpPr>
        <p:spPr>
          <a:xfrm>
            <a:off x="932688" y="52120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 is early March</a:t>
            </a:r>
            <a:endParaRPr lang="en-US" sz="1250" dirty="0"/>
          </a:p>
        </p:txBody>
      </p:sp>
      <p:sp>
        <p:nvSpPr>
          <p:cNvPr id="58" name="text-54"/>
          <p:cNvSpPr txBox="1"/>
          <p:nvPr/>
        </p:nvSpPr>
        <p:spPr>
          <a:xfrm>
            <a:off x="932688" y="543153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eight working weeks remain for build waves, a cutover rehearsal and go-live before 27 April</a:t>
            </a:r>
            <a:endParaRPr lang="en-US" sz="1100" dirty="0"/>
          </a:p>
        </p:txBody>
      </p:sp>
      <p:sp>
        <p:nvSpPr>
          <p:cNvPr id="59" name="oval-55"/>
          <p:cNvSpPr/>
          <p:nvPr/>
        </p:nvSpPr>
        <p:spPr>
          <a:xfrm>
            <a:off x="768096" y="5925312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text-56"/>
          <p:cNvSpPr txBox="1"/>
          <p:nvPr/>
        </p:nvSpPr>
        <p:spPr>
          <a:xfrm>
            <a:off x="932688" y="585216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break what is working</a:t>
            </a:r>
            <a:endParaRPr lang="en-US" sz="1250" dirty="0"/>
          </a:p>
        </p:txBody>
      </p:sp>
      <p:sp>
        <p:nvSpPr>
          <p:cNvPr id="61" name="text-57"/>
          <p:cNvSpPr txBox="1"/>
          <p:nvPr/>
        </p:nvSpPr>
        <p:spPr>
          <a:xfrm>
            <a:off x="932688" y="60716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that works today stops until its replacement is proven; in-flight work is confirmed or stopped by Gate 1</a:t>
            </a:r>
            <a:endParaRPr lang="en-US" sz="1100" dirty="0"/>
          </a:p>
        </p:txBody>
      </p:sp>
      <p:sp>
        <p:nvSpPr>
          <p:cNvPr id="62" name="oval-58"/>
          <p:cNvSpPr/>
          <p:nvPr/>
        </p:nvSpPr>
        <p:spPr>
          <a:xfrm>
            <a:off x="6254496" y="4645152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text-59"/>
          <p:cNvSpPr txBox="1"/>
          <p:nvPr/>
        </p:nvSpPr>
        <p:spPr>
          <a:xfrm>
            <a:off x="6419088" y="45720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the team in place</a:t>
            </a:r>
            <a:endParaRPr lang="en-US" sz="1250" dirty="0"/>
          </a:p>
        </p:txBody>
      </p:sp>
      <p:sp>
        <p:nvSpPr>
          <p:cNvPr id="64" name="text-60"/>
          <p:cNvSpPr txBox="1"/>
          <p:nvPr/>
        </p:nvSpPr>
        <p:spPr>
          <a:xfrm>
            <a:off x="6419088" y="47914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assumes the people and partners we have; new hires or proposals are not baked into it</a:t>
            </a:r>
            <a:endParaRPr lang="en-US" sz="1100" dirty="0"/>
          </a:p>
        </p:txBody>
      </p:sp>
      <p:sp>
        <p:nvSpPr>
          <p:cNvPr id="65" name="oval-61"/>
          <p:cNvSpPr/>
          <p:nvPr/>
        </p:nvSpPr>
        <p:spPr>
          <a:xfrm>
            <a:off x="6254496" y="5285232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6" name="text-62"/>
          <p:cNvSpPr txBox="1"/>
          <p:nvPr/>
        </p:nvSpPr>
        <p:spPr>
          <a:xfrm>
            <a:off x="6419088" y="52120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the only lever</a:t>
            </a:r>
            <a:endParaRPr lang="en-US" sz="1250" dirty="0"/>
          </a:p>
        </p:txBody>
      </p:sp>
      <p:sp>
        <p:nvSpPr>
          <p:cNvPr id="67" name="text-63"/>
          <p:cNvSpPr txBox="1"/>
          <p:nvPr/>
        </p:nvSpPr>
        <p:spPr>
          <a:xfrm>
            <a:off x="6419088" y="543153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growth on hoped-for AI or efficiency gains, no slippage on quality or risk; what does not fit moves to Day 1.5</a:t>
            </a:r>
            <a:endParaRPr lang="en-US" sz="1100" dirty="0"/>
          </a:p>
        </p:txBody>
      </p:sp>
      <p:sp>
        <p:nvSpPr>
          <p:cNvPr id="68" name="oval-64"/>
          <p:cNvSpPr/>
          <p:nvPr/>
        </p:nvSpPr>
        <p:spPr>
          <a:xfrm>
            <a:off x="6254496" y="5925312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text-65"/>
          <p:cNvSpPr txBox="1"/>
          <p:nvPr/>
        </p:nvSpPr>
        <p:spPr>
          <a:xfrm>
            <a:off x="6419088" y="585216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early, in writing</a:t>
            </a:r>
            <a:endParaRPr lang="en-US" sz="1250" dirty="0"/>
          </a:p>
        </p:txBody>
      </p:sp>
      <p:sp>
        <p:nvSpPr>
          <p:cNvPr id="70" name="text-66"/>
          <p:cNvSpPr txBox="1"/>
          <p:nvPr/>
        </p:nvSpPr>
        <p:spPr>
          <a:xfrm>
            <a:off x="6419088" y="60716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scope-versus-date trade-off goes to the board at Gate 2, in late January — not in April</a:t>
            </a:r>
            <a:endParaRPr lang="en-US" sz="1100" dirty="0"/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019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02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HOW GATE 2 ASSESSES EACH COMPONENT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1556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per component: what it is decides where time, money and concern go</a:t>
            </a:r>
            <a:endParaRPr lang="en-US" sz="2250" dirty="0"/>
          </a:p>
        </p:txBody>
      </p:sp>
      <p:sp>
        <p:nvSpPr>
          <p:cNvPr id="4" name="shape-0"/>
          <p:cNvSpPr/>
          <p:nvPr/>
        </p:nvSpPr>
        <p:spPr>
          <a:xfrm>
            <a:off x="9052560" y="347472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FDF1E3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-1"/>
          <p:cNvSpPr txBox="1"/>
          <p:nvPr/>
        </p:nvSpPr>
        <p:spPr>
          <a:xfrm>
            <a:off x="9089136" y="347472"/>
            <a:ext cx="248716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NOT A DECISION</a:t>
            </a:r>
            <a:endParaRPr lang="en-US" sz="1100" dirty="0"/>
          </a:p>
        </p:txBody>
      </p:sp>
      <p:sp>
        <p:nvSpPr>
          <p:cNvPr id="6" name="shape-2"/>
          <p:cNvSpPr/>
          <p:nvPr/>
        </p:nvSpPr>
        <p:spPr>
          <a:xfrm>
            <a:off x="548640" y="1554480"/>
            <a:ext cx="2743200" cy="603504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-3"/>
          <p:cNvSpPr txBox="1"/>
          <p:nvPr/>
        </p:nvSpPr>
        <p:spPr>
          <a:xfrm>
            <a:off x="768096" y="155448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-4"/>
          <p:cNvSpPr txBox="1"/>
          <p:nvPr/>
        </p:nvSpPr>
        <p:spPr>
          <a:xfrm>
            <a:off x="1024128" y="1554480"/>
            <a:ext cx="2194560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thing is it?</a:t>
            </a:r>
            <a:endParaRPr lang="en-US" sz="1250" dirty="0"/>
          </a:p>
        </p:txBody>
      </p:sp>
      <p:sp>
        <p:nvSpPr>
          <p:cNvPr id="9" name="tri-5"/>
          <p:cNvSpPr/>
          <p:nvPr/>
        </p:nvSpPr>
        <p:spPr>
          <a:xfrm rot="5400000">
            <a:off x="3337560" y="1792224"/>
            <a:ext cx="128016" cy="128016"/>
          </a:xfrm>
          <a:prstGeom prst="triangle">
            <a:avLst/>
          </a:prstGeom>
          <a:solidFill>
            <a:srgbClr val="5A6B75"/>
          </a:solidFill>
          <a:ln w="127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-6"/>
          <p:cNvSpPr/>
          <p:nvPr/>
        </p:nvSpPr>
        <p:spPr>
          <a:xfrm>
            <a:off x="3493008" y="1554480"/>
            <a:ext cx="1874520" cy="603504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-7"/>
          <p:cNvSpPr txBox="1"/>
          <p:nvPr/>
        </p:nvSpPr>
        <p:spPr>
          <a:xfrm>
            <a:off x="3712464" y="155448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-8"/>
          <p:cNvSpPr txBox="1"/>
          <p:nvPr/>
        </p:nvSpPr>
        <p:spPr>
          <a:xfrm>
            <a:off x="3968496" y="1554480"/>
            <a:ext cx="1325880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judged on?</a:t>
            </a:r>
            <a:endParaRPr lang="en-US" sz="1150" dirty="0"/>
          </a:p>
        </p:txBody>
      </p:sp>
      <p:sp>
        <p:nvSpPr>
          <p:cNvPr id="13" name="tri-9"/>
          <p:cNvSpPr/>
          <p:nvPr/>
        </p:nvSpPr>
        <p:spPr>
          <a:xfrm rot="5400000">
            <a:off x="5413248" y="1792224"/>
            <a:ext cx="128016" cy="128016"/>
          </a:xfrm>
          <a:prstGeom prst="triangle">
            <a:avLst/>
          </a:prstGeom>
          <a:solidFill>
            <a:srgbClr val="5A6B75"/>
          </a:solidFill>
          <a:ln w="127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-10"/>
          <p:cNvSpPr/>
          <p:nvPr/>
        </p:nvSpPr>
        <p:spPr>
          <a:xfrm>
            <a:off x="5568696" y="1554480"/>
            <a:ext cx="1874520" cy="603504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-11"/>
          <p:cNvSpPr txBox="1"/>
          <p:nvPr/>
        </p:nvSpPr>
        <p:spPr>
          <a:xfrm>
            <a:off x="5788152" y="155448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-12"/>
          <p:cNvSpPr txBox="1"/>
          <p:nvPr/>
        </p:nvSpPr>
        <p:spPr>
          <a:xfrm>
            <a:off x="6044184" y="1554480"/>
            <a:ext cx="1325880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resilient?</a:t>
            </a:r>
            <a:endParaRPr lang="en-US" sz="1150" dirty="0"/>
          </a:p>
        </p:txBody>
      </p:sp>
      <p:sp>
        <p:nvSpPr>
          <p:cNvPr id="17" name="tri-13"/>
          <p:cNvSpPr/>
          <p:nvPr/>
        </p:nvSpPr>
        <p:spPr>
          <a:xfrm rot="5400000">
            <a:off x="7488936" y="1792224"/>
            <a:ext cx="128016" cy="128016"/>
          </a:xfrm>
          <a:prstGeom prst="triangle">
            <a:avLst/>
          </a:prstGeom>
          <a:solidFill>
            <a:srgbClr val="5A6B75"/>
          </a:solidFill>
          <a:ln w="127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-14"/>
          <p:cNvSpPr/>
          <p:nvPr/>
        </p:nvSpPr>
        <p:spPr>
          <a:xfrm>
            <a:off x="7644384" y="1554480"/>
            <a:ext cx="2194560" cy="603504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-15"/>
          <p:cNvSpPr txBox="1"/>
          <p:nvPr/>
        </p:nvSpPr>
        <p:spPr>
          <a:xfrm>
            <a:off x="7863840" y="155448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-16"/>
          <p:cNvSpPr txBox="1"/>
          <p:nvPr/>
        </p:nvSpPr>
        <p:spPr>
          <a:xfrm>
            <a:off x="8119872" y="1554480"/>
            <a:ext cx="1645920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 buy?</a:t>
            </a:r>
            <a:endParaRPr lang="en-US" sz="1150" dirty="0"/>
          </a:p>
        </p:txBody>
      </p:sp>
      <p:sp>
        <p:nvSpPr>
          <p:cNvPr id="21" name="shape-17"/>
          <p:cNvSpPr/>
          <p:nvPr/>
        </p:nvSpPr>
        <p:spPr>
          <a:xfrm>
            <a:off x="10076688" y="1554480"/>
            <a:ext cx="1737360" cy="603504"/>
          </a:xfrm>
          <a:prstGeom prst="roundRect">
            <a:avLst>
              <a:gd name="adj" fmla="val 50000"/>
            </a:avLst>
          </a:prstGeom>
          <a:ln w="19050">
            <a:solidFill>
              <a:srgbClr val="0F766E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-18"/>
          <p:cNvSpPr txBox="1"/>
          <p:nvPr/>
        </p:nvSpPr>
        <p:spPr>
          <a:xfrm>
            <a:off x="10076688" y="1645920"/>
            <a:ext cx="17373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UPLIFT</a:t>
            </a:r>
            <a:endParaRPr lang="en-US" sz="1100" dirty="0"/>
          </a:p>
        </p:txBody>
      </p:sp>
      <p:sp>
        <p:nvSpPr>
          <p:cNvPr id="23" name="text-19"/>
          <p:cNvSpPr txBox="1"/>
          <p:nvPr/>
        </p:nvSpPr>
        <p:spPr>
          <a:xfrm>
            <a:off x="10076688" y="1828800"/>
            <a:ext cx="173736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helps</a:t>
            </a:r>
            <a:endParaRPr lang="en-US" sz="1200" dirty="0"/>
          </a:p>
        </p:txBody>
      </p:sp>
      <p:sp>
        <p:nvSpPr>
          <p:cNvPr id="24" name="shape-20"/>
          <p:cNvSpPr/>
          <p:nvPr/>
        </p:nvSpPr>
        <p:spPr>
          <a:xfrm>
            <a:off x="548640" y="2432304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-21"/>
          <p:cNvSpPr/>
          <p:nvPr/>
        </p:nvSpPr>
        <p:spPr>
          <a:xfrm>
            <a:off x="548640" y="2432304"/>
            <a:ext cx="402336" cy="914400"/>
          </a:xfrm>
          <a:prstGeom prst="roundRect">
            <a:avLst>
              <a:gd name="adj" fmla="val 18182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-22"/>
          <p:cNvSpPr/>
          <p:nvPr/>
        </p:nvSpPr>
        <p:spPr>
          <a:xfrm>
            <a:off x="877824" y="2432304"/>
            <a:ext cx="73152" cy="91440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-23"/>
          <p:cNvSpPr txBox="1"/>
          <p:nvPr/>
        </p:nvSpPr>
        <p:spPr>
          <a:xfrm>
            <a:off x="548640" y="2432304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50" dirty="0"/>
          </a:p>
        </p:txBody>
      </p:sp>
      <p:sp>
        <p:nvSpPr>
          <p:cNvPr id="28" name="text-24"/>
          <p:cNvSpPr txBox="1"/>
          <p:nvPr/>
        </p:nvSpPr>
        <p:spPr>
          <a:xfrm>
            <a:off x="1042416" y="2432304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 Online — web, desktop, mobile, and the APIs into third-party systems</a:t>
            </a:r>
            <a:endParaRPr lang="en-US" sz="1100" dirty="0"/>
          </a:p>
        </p:txBody>
      </p:sp>
      <p:sp>
        <p:nvSpPr>
          <p:cNvPr id="29" name="shape-25"/>
          <p:cNvSpPr/>
          <p:nvPr/>
        </p:nvSpPr>
        <p:spPr>
          <a:xfrm>
            <a:off x="3493008" y="2432304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-26"/>
          <p:cNvSpPr txBox="1"/>
          <p:nvPr/>
        </p:nvSpPr>
        <p:spPr>
          <a:xfrm>
            <a:off x="3566160" y="2432304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Commercials, opportunity, strategy</a:t>
            </a:r>
            <a:endParaRPr lang="en-US" sz="1100" dirty="0"/>
          </a:p>
        </p:txBody>
      </p:sp>
      <p:sp>
        <p:nvSpPr>
          <p:cNvPr id="31" name="shape-27"/>
          <p:cNvSpPr/>
          <p:nvPr/>
        </p:nvSpPr>
        <p:spPr>
          <a:xfrm>
            <a:off x="5568696" y="2432304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-28"/>
          <p:cNvSpPr txBox="1"/>
          <p:nvPr/>
        </p:nvSpPr>
        <p:spPr>
          <a:xfrm>
            <a:off x="5641848" y="2432304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Bullet-proof: life-critical content</a:t>
            </a:r>
            <a:endParaRPr lang="en-US" sz="1100" dirty="0"/>
          </a:p>
        </p:txBody>
      </p:sp>
      <p:sp>
        <p:nvSpPr>
          <p:cNvPr id="33" name="shape-29"/>
          <p:cNvSpPr/>
          <p:nvPr/>
        </p:nvSpPr>
        <p:spPr>
          <a:xfrm>
            <a:off x="7644384" y="2432304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D6ECE9"/>
          </a:solidFill>
          <a:ln w="15875">
            <a:solidFill>
              <a:srgbClr val="D6ECE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-30"/>
          <p:cNvSpPr txBox="1"/>
          <p:nvPr/>
        </p:nvSpPr>
        <p:spPr>
          <a:xfrm>
            <a:off x="7717536" y="2432304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strong appetite to wrap our own technical solutions</a:t>
            </a:r>
            <a:endParaRPr lang="en-US" sz="1100" dirty="0"/>
          </a:p>
        </p:txBody>
      </p:sp>
      <p:sp>
        <p:nvSpPr>
          <p:cNvPr id="35" name="tri-31"/>
          <p:cNvSpPr/>
          <p:nvPr/>
        </p:nvSpPr>
        <p:spPr>
          <a:xfrm rot="5400000">
            <a:off x="3337560" y="2834640"/>
            <a:ext cx="109728" cy="109728"/>
          </a:xfrm>
          <a:prstGeom prst="triangle">
            <a:avLst/>
          </a:prstGeom>
          <a:solidFill>
            <a:srgbClr val="D4DBE0"/>
          </a:solidFill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ri-32"/>
          <p:cNvSpPr/>
          <p:nvPr/>
        </p:nvSpPr>
        <p:spPr>
          <a:xfrm rot="5400000">
            <a:off x="5413248" y="2834640"/>
            <a:ext cx="109728" cy="109728"/>
          </a:xfrm>
          <a:prstGeom prst="triangle">
            <a:avLst/>
          </a:prstGeom>
          <a:solidFill>
            <a:srgbClr val="D4DBE0"/>
          </a:solidFill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ri-33"/>
          <p:cNvSpPr/>
          <p:nvPr/>
        </p:nvSpPr>
        <p:spPr>
          <a:xfrm rot="5400000">
            <a:off x="7488936" y="2834640"/>
            <a:ext cx="109728" cy="109728"/>
          </a:xfrm>
          <a:prstGeom prst="triangle">
            <a:avLst/>
          </a:prstGeom>
          <a:solidFill>
            <a:srgbClr val="D4DBE0"/>
          </a:solidFill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shape-34"/>
          <p:cNvSpPr/>
          <p:nvPr/>
        </p:nvSpPr>
        <p:spPr>
          <a:xfrm>
            <a:off x="10076688" y="2432304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D6ECE9"/>
          </a:solidFill>
          <a:ln w="15875">
            <a:solidFill>
              <a:srgbClr val="0F766E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39" name="oval-35"/>
          <p:cNvSpPr/>
          <p:nvPr/>
        </p:nvSpPr>
        <p:spPr>
          <a:xfrm>
            <a:off x="10149840" y="2798064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-36"/>
          <p:cNvSpPr txBox="1"/>
          <p:nvPr/>
        </p:nvSpPr>
        <p:spPr>
          <a:xfrm>
            <a:off x="10149840" y="2798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41" name="text-37"/>
          <p:cNvSpPr txBox="1"/>
          <p:nvPr/>
        </p:nvSpPr>
        <p:spPr>
          <a:xfrm>
            <a:off x="10405872" y="2432304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and de-risk product work</a:t>
            </a:r>
            <a:endParaRPr lang="en-US" sz="1100" dirty="0"/>
          </a:p>
        </p:txBody>
      </p:sp>
      <p:sp>
        <p:nvSpPr>
          <p:cNvPr id="42" name="shape-38"/>
          <p:cNvSpPr/>
          <p:nvPr/>
        </p:nvSpPr>
        <p:spPr>
          <a:xfrm>
            <a:off x="548640" y="3438144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shape-39"/>
          <p:cNvSpPr/>
          <p:nvPr/>
        </p:nvSpPr>
        <p:spPr>
          <a:xfrm>
            <a:off x="548640" y="3438144"/>
            <a:ext cx="402336" cy="914400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shape-40"/>
          <p:cNvSpPr/>
          <p:nvPr/>
        </p:nvSpPr>
        <p:spPr>
          <a:xfrm>
            <a:off x="877824" y="3438144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-41"/>
          <p:cNvSpPr txBox="1"/>
          <p:nvPr/>
        </p:nvSpPr>
        <p:spPr>
          <a:xfrm>
            <a:off x="548640" y="3438144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50" dirty="0"/>
          </a:p>
        </p:txBody>
      </p:sp>
      <p:sp>
        <p:nvSpPr>
          <p:cNvPr id="46" name="text-42"/>
          <p:cNvSpPr txBox="1"/>
          <p:nvPr/>
        </p:nvSpPr>
        <p:spPr>
          <a:xfrm>
            <a:off x="1042416" y="3438144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 Content and PriXM — authoring and publishing</a:t>
            </a:r>
            <a:endParaRPr lang="en-US" sz="1100" dirty="0"/>
          </a:p>
        </p:txBody>
      </p:sp>
      <p:sp>
        <p:nvSpPr>
          <p:cNvPr id="47" name="shape-43"/>
          <p:cNvSpPr/>
          <p:nvPr/>
        </p:nvSpPr>
        <p:spPr>
          <a:xfrm>
            <a:off x="3493008" y="3438144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-44"/>
          <p:cNvSpPr txBox="1"/>
          <p:nvPr/>
        </p:nvSpPr>
        <p:spPr>
          <a:xfrm>
            <a:off x="3566160" y="3438144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for authors, portability, cost</a:t>
            </a:r>
            <a:endParaRPr lang="en-US" sz="1100" dirty="0"/>
          </a:p>
        </p:txBody>
      </p:sp>
      <p:sp>
        <p:nvSpPr>
          <p:cNvPr id="49" name="shape-45"/>
          <p:cNvSpPr/>
          <p:nvPr/>
        </p:nvSpPr>
        <p:spPr>
          <a:xfrm>
            <a:off x="5568696" y="3438144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text-46"/>
          <p:cNvSpPr txBox="1"/>
          <p:nvPr/>
        </p:nvSpPr>
        <p:spPr>
          <a:xfrm>
            <a:off x="5641848" y="3438144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hours; never the only copy</a:t>
            </a:r>
            <a:endParaRPr lang="en-US" sz="1100" dirty="0"/>
          </a:p>
        </p:txBody>
      </p:sp>
      <p:sp>
        <p:nvSpPr>
          <p:cNvPr id="51" name="shape-47"/>
          <p:cNvSpPr/>
          <p:nvPr/>
        </p:nvSpPr>
        <p:spPr>
          <a:xfrm>
            <a:off x="7644384" y="3438144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text-48"/>
          <p:cNvSpPr txBox="1"/>
          <p:nvPr/>
        </p:nvSpPr>
        <p:spPr>
          <a:xfrm>
            <a:off x="7717536" y="3438144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and configure: plugins, paid features, small code where it pays</a:t>
            </a:r>
            <a:endParaRPr lang="en-US" sz="1100" dirty="0"/>
          </a:p>
        </p:txBody>
      </p:sp>
      <p:sp>
        <p:nvSpPr>
          <p:cNvPr id="53" name="tri-49"/>
          <p:cNvSpPr/>
          <p:nvPr/>
        </p:nvSpPr>
        <p:spPr>
          <a:xfrm rot="5400000">
            <a:off x="3337560" y="3840480"/>
            <a:ext cx="109728" cy="109728"/>
          </a:xfrm>
          <a:prstGeom prst="triangle">
            <a:avLst/>
          </a:prstGeom>
          <a:solidFill>
            <a:srgbClr val="D4DBE0"/>
          </a:solidFill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tri-50"/>
          <p:cNvSpPr/>
          <p:nvPr/>
        </p:nvSpPr>
        <p:spPr>
          <a:xfrm rot="5400000">
            <a:off x="5413248" y="3840480"/>
            <a:ext cx="109728" cy="109728"/>
          </a:xfrm>
          <a:prstGeom prst="triangle">
            <a:avLst/>
          </a:prstGeom>
          <a:solidFill>
            <a:srgbClr val="D4DBE0"/>
          </a:solidFill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tri-51"/>
          <p:cNvSpPr/>
          <p:nvPr/>
        </p:nvSpPr>
        <p:spPr>
          <a:xfrm rot="5400000">
            <a:off x="7488936" y="3840480"/>
            <a:ext cx="109728" cy="109728"/>
          </a:xfrm>
          <a:prstGeom prst="triangle">
            <a:avLst/>
          </a:prstGeom>
          <a:solidFill>
            <a:srgbClr val="D4DBE0"/>
          </a:solidFill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6" name="shape-52"/>
          <p:cNvSpPr/>
          <p:nvPr/>
        </p:nvSpPr>
        <p:spPr>
          <a:xfrm>
            <a:off x="10076688" y="3438144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D6ECE9"/>
          </a:solidFill>
          <a:ln w="15875">
            <a:solidFill>
              <a:srgbClr val="0F766E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57" name="oval-53"/>
          <p:cNvSpPr/>
          <p:nvPr/>
        </p:nvSpPr>
        <p:spPr>
          <a:xfrm>
            <a:off x="10149840" y="3803904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text-54"/>
          <p:cNvSpPr txBox="1"/>
          <p:nvPr/>
        </p:nvSpPr>
        <p:spPr>
          <a:xfrm>
            <a:off x="10149840" y="38039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59" name="text-55"/>
          <p:cNvSpPr txBox="1"/>
          <p:nvPr/>
        </p:nvSpPr>
        <p:spPr>
          <a:xfrm>
            <a:off x="10405872" y="3438144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assistance; human sign-off</a:t>
            </a:r>
            <a:endParaRPr lang="en-US" sz="1100" dirty="0"/>
          </a:p>
        </p:txBody>
      </p:sp>
      <p:sp>
        <p:nvSpPr>
          <p:cNvPr id="60" name="shape-56"/>
          <p:cNvSpPr/>
          <p:nvPr/>
        </p:nvSpPr>
        <p:spPr>
          <a:xfrm>
            <a:off x="548640" y="4443984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1" name="shape-57"/>
          <p:cNvSpPr/>
          <p:nvPr/>
        </p:nvSpPr>
        <p:spPr>
          <a:xfrm>
            <a:off x="548640" y="4443984"/>
            <a:ext cx="402336" cy="914400"/>
          </a:xfrm>
          <a:prstGeom prst="roundRect">
            <a:avLst>
              <a:gd name="adj" fmla="val 18182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shape-58"/>
          <p:cNvSpPr/>
          <p:nvPr/>
        </p:nvSpPr>
        <p:spPr>
          <a:xfrm>
            <a:off x="877824" y="4443984"/>
            <a:ext cx="73152" cy="914400"/>
          </a:xfrm>
          <a:prstGeom prst="rect">
            <a:avLst/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text-59"/>
          <p:cNvSpPr txBox="1"/>
          <p:nvPr/>
        </p:nvSpPr>
        <p:spPr>
          <a:xfrm>
            <a:off x="548640" y="4443984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50" dirty="0"/>
          </a:p>
        </p:txBody>
      </p:sp>
      <p:sp>
        <p:nvSpPr>
          <p:cNvPr id="64" name="text-60"/>
          <p:cNvSpPr txBox="1"/>
          <p:nvPr/>
        </p:nvSpPr>
        <p:spPr>
          <a:xfrm>
            <a:off x="1042416" y="4443984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/ Dataverse, WooCommerce shop, D365 internal shop, Wiise, Power BI</a:t>
            </a:r>
            <a:endParaRPr lang="en-US" sz="1100" dirty="0"/>
          </a:p>
        </p:txBody>
      </p:sp>
      <p:sp>
        <p:nvSpPr>
          <p:cNvPr id="65" name="shape-61"/>
          <p:cNvSpPr/>
          <p:nvPr/>
        </p:nvSpPr>
        <p:spPr>
          <a:xfrm>
            <a:off x="3493008" y="4443984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6" name="text-62"/>
          <p:cNvSpPr txBox="1"/>
          <p:nvPr/>
        </p:nvSpPr>
        <p:spPr>
          <a:xfrm>
            <a:off x="3566160" y="4443984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effort vs efficiency gained</a:t>
            </a:r>
            <a:endParaRPr lang="en-US" sz="1100" dirty="0"/>
          </a:p>
        </p:txBody>
      </p:sp>
      <p:sp>
        <p:nvSpPr>
          <p:cNvPr id="67" name="shape-63"/>
          <p:cNvSpPr/>
          <p:nvPr/>
        </p:nvSpPr>
        <p:spPr>
          <a:xfrm>
            <a:off x="5568696" y="4443984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8" name="text-64"/>
          <p:cNvSpPr txBox="1"/>
          <p:nvPr/>
        </p:nvSpPr>
        <p:spPr>
          <a:xfrm>
            <a:off x="5641848" y="4443984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Standard; no shared fate</a:t>
            </a:r>
            <a:endParaRPr lang="en-US" sz="1100" dirty="0"/>
          </a:p>
        </p:txBody>
      </p:sp>
      <p:sp>
        <p:nvSpPr>
          <p:cNvPr id="69" name="shape-65"/>
          <p:cNvSpPr/>
          <p:nvPr/>
        </p:nvSpPr>
        <p:spPr>
          <a:xfrm>
            <a:off x="7644384" y="4443984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0" name="text-66"/>
          <p:cNvSpPr txBox="1"/>
          <p:nvPr/>
        </p:nvSpPr>
        <p:spPr>
          <a:xfrm>
            <a:off x="7717536" y="4443984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Buy: standard set-up; deviate by exception only</a:t>
            </a:r>
            <a:endParaRPr lang="en-US" sz="1100" dirty="0"/>
          </a:p>
        </p:txBody>
      </p:sp>
      <p:sp>
        <p:nvSpPr>
          <p:cNvPr id="71" name="tri-67"/>
          <p:cNvSpPr/>
          <p:nvPr/>
        </p:nvSpPr>
        <p:spPr>
          <a:xfrm rot="5400000">
            <a:off x="3337560" y="4846320"/>
            <a:ext cx="109728" cy="109728"/>
          </a:xfrm>
          <a:prstGeom prst="triangle">
            <a:avLst/>
          </a:prstGeom>
          <a:solidFill>
            <a:srgbClr val="D4DBE0"/>
          </a:solidFill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tri-68"/>
          <p:cNvSpPr/>
          <p:nvPr/>
        </p:nvSpPr>
        <p:spPr>
          <a:xfrm rot="5400000">
            <a:off x="5413248" y="4846320"/>
            <a:ext cx="109728" cy="109728"/>
          </a:xfrm>
          <a:prstGeom prst="triangle">
            <a:avLst/>
          </a:prstGeom>
          <a:solidFill>
            <a:srgbClr val="D4DBE0"/>
          </a:solidFill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ri-69"/>
          <p:cNvSpPr/>
          <p:nvPr/>
        </p:nvSpPr>
        <p:spPr>
          <a:xfrm rot="5400000">
            <a:off x="7488936" y="4846320"/>
            <a:ext cx="109728" cy="109728"/>
          </a:xfrm>
          <a:prstGeom prst="triangle">
            <a:avLst/>
          </a:prstGeom>
          <a:solidFill>
            <a:srgbClr val="D4DBE0"/>
          </a:solidFill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4" name="shape-70"/>
          <p:cNvSpPr/>
          <p:nvPr/>
        </p:nvSpPr>
        <p:spPr>
          <a:xfrm>
            <a:off x="10076688" y="4443984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D6ECE9"/>
          </a:solidFill>
          <a:ln w="15875">
            <a:solidFill>
              <a:srgbClr val="0F766E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75" name="oval-71"/>
          <p:cNvSpPr/>
          <p:nvPr/>
        </p:nvSpPr>
        <p:spPr>
          <a:xfrm>
            <a:off x="10149840" y="4809744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6" name="text-72"/>
          <p:cNvSpPr txBox="1"/>
          <p:nvPr/>
        </p:nvSpPr>
        <p:spPr>
          <a:xfrm>
            <a:off x="10149840" y="4809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77" name="text-73"/>
          <p:cNvSpPr txBox="1"/>
          <p:nvPr/>
        </p:nvSpPr>
        <p:spPr>
          <a:xfrm>
            <a:off x="10405872" y="4443984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Woven into process; must-haves shrink</a:t>
            </a:r>
            <a:endParaRPr lang="en-US" sz="1100" dirty="0"/>
          </a:p>
        </p:txBody>
      </p:sp>
      <p:sp>
        <p:nvSpPr>
          <p:cNvPr id="78" name="shape-74"/>
          <p:cNvSpPr/>
          <p:nvPr/>
        </p:nvSpPr>
        <p:spPr>
          <a:xfrm>
            <a:off x="548640" y="5449824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9" name="shape-75"/>
          <p:cNvSpPr/>
          <p:nvPr/>
        </p:nvSpPr>
        <p:spPr>
          <a:xfrm>
            <a:off x="548640" y="5449824"/>
            <a:ext cx="402336" cy="914400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0" name="shape-76"/>
          <p:cNvSpPr/>
          <p:nvPr/>
        </p:nvSpPr>
        <p:spPr>
          <a:xfrm>
            <a:off x="877824" y="5449824"/>
            <a:ext cx="73152" cy="914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1" name="text-77"/>
          <p:cNvSpPr txBox="1"/>
          <p:nvPr/>
        </p:nvSpPr>
        <p:spPr>
          <a:xfrm>
            <a:off x="548640" y="5449824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750" dirty="0"/>
          </a:p>
        </p:txBody>
      </p:sp>
      <p:sp>
        <p:nvSpPr>
          <p:cNvPr id="82" name="text-78"/>
          <p:cNvSpPr txBox="1"/>
          <p:nvPr/>
        </p:nvSpPr>
        <p:spPr>
          <a:xfrm>
            <a:off x="1042416" y="5449824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identity and access plane, API gateway / service bus, monitoring, ISMS and standards</a:t>
            </a:r>
            <a:endParaRPr lang="en-US" sz="1100" dirty="0"/>
          </a:p>
        </p:txBody>
      </p:sp>
      <p:sp>
        <p:nvSpPr>
          <p:cNvPr id="83" name="shape-79"/>
          <p:cNvSpPr/>
          <p:nvPr/>
        </p:nvSpPr>
        <p:spPr>
          <a:xfrm>
            <a:off x="3493008" y="5449824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4" name="text-80"/>
          <p:cNvSpPr txBox="1"/>
          <p:nvPr/>
        </p:nvSpPr>
        <p:spPr>
          <a:xfrm>
            <a:off x="3566160" y="5449824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Inherits, plus risk and reputation</a:t>
            </a:r>
            <a:endParaRPr lang="en-US" sz="1100" dirty="0"/>
          </a:p>
        </p:txBody>
      </p:sp>
      <p:sp>
        <p:nvSpPr>
          <p:cNvPr id="85" name="shape-81"/>
          <p:cNvSpPr/>
          <p:nvPr/>
        </p:nvSpPr>
        <p:spPr>
          <a:xfrm>
            <a:off x="5568696" y="5449824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6" name="text-82"/>
          <p:cNvSpPr txBox="1"/>
          <p:nvPr/>
        </p:nvSpPr>
        <p:spPr>
          <a:xfrm>
            <a:off x="5641848" y="5449824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A wherever it sits in A’s path</a:t>
            </a:r>
            <a:endParaRPr lang="en-US" sz="1100" dirty="0"/>
          </a:p>
        </p:txBody>
      </p:sp>
      <p:sp>
        <p:nvSpPr>
          <p:cNvPr id="87" name="shape-83"/>
          <p:cNvSpPr/>
          <p:nvPr/>
        </p:nvSpPr>
        <p:spPr>
          <a:xfrm>
            <a:off x="7644384" y="5449824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8" name="text-84"/>
          <p:cNvSpPr txBox="1"/>
          <p:nvPr/>
        </p:nvSpPr>
        <p:spPr>
          <a:xfrm>
            <a:off x="7717536" y="5449824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Buy, but bend to accommodate A and third parties</a:t>
            </a:r>
            <a:endParaRPr lang="en-US" sz="1100" dirty="0"/>
          </a:p>
        </p:txBody>
      </p:sp>
      <p:sp>
        <p:nvSpPr>
          <p:cNvPr id="89" name="tri-85"/>
          <p:cNvSpPr/>
          <p:nvPr/>
        </p:nvSpPr>
        <p:spPr>
          <a:xfrm rot="5400000">
            <a:off x="3337560" y="5852160"/>
            <a:ext cx="109728" cy="109728"/>
          </a:xfrm>
          <a:prstGeom prst="triangle">
            <a:avLst/>
          </a:prstGeom>
          <a:solidFill>
            <a:srgbClr val="D4DBE0"/>
          </a:solidFill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0" name="tri-86"/>
          <p:cNvSpPr/>
          <p:nvPr/>
        </p:nvSpPr>
        <p:spPr>
          <a:xfrm rot="5400000">
            <a:off x="5413248" y="5852160"/>
            <a:ext cx="109728" cy="109728"/>
          </a:xfrm>
          <a:prstGeom prst="triangle">
            <a:avLst/>
          </a:prstGeom>
          <a:solidFill>
            <a:srgbClr val="D4DBE0"/>
          </a:solidFill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1" name="tri-87"/>
          <p:cNvSpPr/>
          <p:nvPr/>
        </p:nvSpPr>
        <p:spPr>
          <a:xfrm rot="5400000">
            <a:off x="7488936" y="5852160"/>
            <a:ext cx="109728" cy="109728"/>
          </a:xfrm>
          <a:prstGeom prst="triangle">
            <a:avLst/>
          </a:prstGeom>
          <a:solidFill>
            <a:srgbClr val="D4DBE0"/>
          </a:solidFill>
          <a:ln w="12700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2" name="shape-88"/>
          <p:cNvSpPr/>
          <p:nvPr/>
        </p:nvSpPr>
        <p:spPr>
          <a:xfrm>
            <a:off x="10076688" y="5449824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D6ECE9"/>
          </a:solidFill>
          <a:ln w="15875">
            <a:solidFill>
              <a:srgbClr val="0F766E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93" name="oval-89"/>
          <p:cNvSpPr/>
          <p:nvPr/>
        </p:nvSpPr>
        <p:spPr>
          <a:xfrm>
            <a:off x="10149840" y="5815584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4" name="text-90"/>
          <p:cNvSpPr txBox="1"/>
          <p:nvPr/>
        </p:nvSpPr>
        <p:spPr>
          <a:xfrm>
            <a:off x="10149840" y="5815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95" name="text-91"/>
          <p:cNvSpPr txBox="1"/>
          <p:nvPr/>
        </p:nvSpPr>
        <p:spPr>
          <a:xfrm>
            <a:off x="10405872" y="5449824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triage, runbooks</a:t>
            </a:r>
            <a:endParaRPr lang="en-US" sz="1100" dirty="0"/>
          </a:p>
        </p:txBody>
      </p:sp>
      <p:sp>
        <p:nvSpPr>
          <p:cNvPr id="9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019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02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·  THE RESILIENCE TOOLKIT, BY TIER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1556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kinds of protection: in full for the five-nines product, proportionate for the rest</a:t>
            </a:r>
            <a:endParaRPr lang="en-US" sz="2250" dirty="0"/>
          </a:p>
        </p:txBody>
      </p:sp>
      <p:sp>
        <p:nvSpPr>
          <p:cNvPr id="4" name="shape-0"/>
          <p:cNvSpPr/>
          <p:nvPr/>
        </p:nvSpPr>
        <p:spPr>
          <a:xfrm>
            <a:off x="9052560" y="347472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FDF1E3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-1"/>
          <p:cNvSpPr txBox="1"/>
          <p:nvPr/>
        </p:nvSpPr>
        <p:spPr>
          <a:xfrm>
            <a:off x="9089136" y="347472"/>
            <a:ext cx="248716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NOT A DECISION</a:t>
            </a:r>
            <a:endParaRPr lang="en-US" sz="1100" dirty="0"/>
          </a:p>
        </p:txBody>
      </p:sp>
      <p:sp>
        <p:nvSpPr>
          <p:cNvPr id="6" name="shape-2"/>
          <p:cNvSpPr/>
          <p:nvPr/>
        </p:nvSpPr>
        <p:spPr>
          <a:xfrm>
            <a:off x="548640" y="1463040"/>
            <a:ext cx="2125066" cy="3840480"/>
          </a:xfrm>
          <a:prstGeom prst="roundRect">
            <a:avLst>
              <a:gd name="adj" fmla="val 3442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7" name="icon-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27632"/>
            <a:ext cx="219456" cy="219456"/>
          </a:xfrm>
          <a:prstGeom prst="rect">
            <a:avLst/>
          </a:prstGeom>
        </p:spPr>
      </p:pic>
      <p:sp>
        <p:nvSpPr>
          <p:cNvPr id="8" name="text-4"/>
          <p:cNvSpPr txBox="1"/>
          <p:nvPr/>
        </p:nvSpPr>
        <p:spPr>
          <a:xfrm>
            <a:off x="1005840" y="1627632"/>
            <a:ext cx="1576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Isolate</a:t>
            </a:r>
            <a:endParaRPr lang="en-US" sz="1300" dirty="0"/>
          </a:p>
        </p:txBody>
      </p:sp>
      <p:sp>
        <p:nvSpPr>
          <p:cNvPr id="9" name="text-5"/>
          <p:cNvSpPr txBox="1"/>
          <p:nvPr/>
        </p:nvSpPr>
        <p:spPr>
          <a:xfrm>
            <a:off x="694944" y="1901952"/>
            <a:ext cx="1850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fate</a:t>
            </a:r>
            <a:endParaRPr lang="en-US" sz="1100" dirty="0"/>
          </a:p>
        </p:txBody>
      </p:sp>
      <p:sp>
        <p:nvSpPr>
          <p:cNvPr id="10" name="shape-6"/>
          <p:cNvSpPr/>
          <p:nvPr/>
        </p:nvSpPr>
        <p:spPr>
          <a:xfrm>
            <a:off x="658368" y="2286000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2A6660"/>
          </a:solidFill>
          <a:ln w="12700">
            <a:solidFill>
              <a:srgbClr val="2A666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-7"/>
          <p:cNvSpPr txBox="1"/>
          <p:nvPr/>
        </p:nvSpPr>
        <p:spPr>
          <a:xfrm>
            <a:off x="731520" y="2304288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and spoke; commodity behind the bus</a:t>
            </a:r>
            <a:endParaRPr lang="en-US" sz="1100" dirty="0"/>
          </a:p>
        </p:txBody>
      </p:sp>
      <p:sp>
        <p:nvSpPr>
          <p:cNvPr id="12" name="shape-8"/>
          <p:cNvSpPr/>
          <p:nvPr/>
        </p:nvSpPr>
        <p:spPr>
          <a:xfrm>
            <a:off x="1960474" y="2615184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-9"/>
          <p:cNvSpPr txBox="1"/>
          <p:nvPr/>
        </p:nvSpPr>
        <p:spPr>
          <a:xfrm>
            <a:off x="1960474" y="2615184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4" name="shape-10"/>
          <p:cNvSpPr/>
          <p:nvPr/>
        </p:nvSpPr>
        <p:spPr>
          <a:xfrm>
            <a:off x="2161642" y="2615184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-11"/>
          <p:cNvSpPr txBox="1"/>
          <p:nvPr/>
        </p:nvSpPr>
        <p:spPr>
          <a:xfrm>
            <a:off x="2161642" y="2615184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16" name="shape-12"/>
          <p:cNvSpPr/>
          <p:nvPr/>
        </p:nvSpPr>
        <p:spPr>
          <a:xfrm>
            <a:off x="2362810" y="2615184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-13"/>
          <p:cNvSpPr txBox="1"/>
          <p:nvPr/>
        </p:nvSpPr>
        <p:spPr>
          <a:xfrm>
            <a:off x="2362810" y="2615184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8" name="shape-14"/>
          <p:cNvSpPr/>
          <p:nvPr/>
        </p:nvSpPr>
        <p:spPr>
          <a:xfrm>
            <a:off x="658368" y="2871216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2A6660"/>
          </a:solidFill>
          <a:ln w="12700">
            <a:solidFill>
              <a:srgbClr val="2A666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-15"/>
          <p:cNvSpPr txBox="1"/>
          <p:nvPr/>
        </p:nvSpPr>
        <p:spPr>
          <a:xfrm>
            <a:off x="731520" y="2889504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content at the edge (CDN)</a:t>
            </a:r>
            <a:endParaRPr lang="en-US" sz="1100" dirty="0"/>
          </a:p>
        </p:txBody>
      </p:sp>
      <p:sp>
        <p:nvSpPr>
          <p:cNvPr id="20" name="shape-16"/>
          <p:cNvSpPr/>
          <p:nvPr/>
        </p:nvSpPr>
        <p:spPr>
          <a:xfrm>
            <a:off x="2362810" y="3200400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-17"/>
          <p:cNvSpPr txBox="1"/>
          <p:nvPr/>
        </p:nvSpPr>
        <p:spPr>
          <a:xfrm>
            <a:off x="2362810" y="3200400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shape-18"/>
          <p:cNvSpPr/>
          <p:nvPr/>
        </p:nvSpPr>
        <p:spPr>
          <a:xfrm>
            <a:off x="658368" y="3456432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2A6660"/>
          </a:solidFill>
          <a:ln w="12700">
            <a:solidFill>
              <a:srgbClr val="2A666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-19"/>
          <p:cNvSpPr txBox="1"/>
          <p:nvPr/>
        </p:nvSpPr>
        <p:spPr>
          <a:xfrm>
            <a:off x="731520" y="3474720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Entitlements cached, with grace</a:t>
            </a:r>
            <a:endParaRPr lang="en-US" sz="1100" dirty="0"/>
          </a:p>
        </p:txBody>
      </p:sp>
      <p:sp>
        <p:nvSpPr>
          <p:cNvPr id="24" name="shape-20"/>
          <p:cNvSpPr/>
          <p:nvPr/>
        </p:nvSpPr>
        <p:spPr>
          <a:xfrm>
            <a:off x="2161642" y="3785616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-21"/>
          <p:cNvSpPr txBox="1"/>
          <p:nvPr/>
        </p:nvSpPr>
        <p:spPr>
          <a:xfrm>
            <a:off x="2161642" y="3785616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6" name="shape-22"/>
          <p:cNvSpPr/>
          <p:nvPr/>
        </p:nvSpPr>
        <p:spPr>
          <a:xfrm>
            <a:off x="2362810" y="3785616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-23"/>
          <p:cNvSpPr txBox="1"/>
          <p:nvPr/>
        </p:nvSpPr>
        <p:spPr>
          <a:xfrm>
            <a:off x="2362810" y="3785616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28" name="shape-24"/>
          <p:cNvSpPr/>
          <p:nvPr/>
        </p:nvSpPr>
        <p:spPr>
          <a:xfrm>
            <a:off x="658368" y="4041648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2A6660"/>
          </a:solidFill>
          <a:ln w="12700">
            <a:solidFill>
              <a:srgbClr val="2A666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-25"/>
          <p:cNvSpPr txBox="1"/>
          <p:nvPr/>
        </p:nvSpPr>
        <p:spPr>
          <a:xfrm>
            <a:off x="731520" y="4059936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degraded mode</a:t>
            </a:r>
            <a:endParaRPr lang="en-US" sz="1100" dirty="0"/>
          </a:p>
        </p:txBody>
      </p:sp>
      <p:sp>
        <p:nvSpPr>
          <p:cNvPr id="30" name="shape-26"/>
          <p:cNvSpPr/>
          <p:nvPr/>
        </p:nvSpPr>
        <p:spPr>
          <a:xfrm>
            <a:off x="2362810" y="4370832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-27"/>
          <p:cNvSpPr txBox="1"/>
          <p:nvPr/>
        </p:nvSpPr>
        <p:spPr>
          <a:xfrm>
            <a:off x="2362810" y="4370832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2" name="shape-28"/>
          <p:cNvSpPr/>
          <p:nvPr/>
        </p:nvSpPr>
        <p:spPr>
          <a:xfrm>
            <a:off x="658368" y="4626864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2A6660"/>
          </a:solidFill>
          <a:ln w="12700">
            <a:solidFill>
              <a:srgbClr val="2A666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-29"/>
          <p:cNvSpPr txBox="1"/>
          <p:nvPr/>
        </p:nvSpPr>
        <p:spPr>
          <a:xfrm>
            <a:off x="731520" y="4645152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Bulkheads, circuit breakers, back-pressure</a:t>
            </a:r>
            <a:endParaRPr lang="en-US" sz="1100" dirty="0"/>
          </a:p>
        </p:txBody>
      </p:sp>
      <p:sp>
        <p:nvSpPr>
          <p:cNvPr id="34" name="shape-30"/>
          <p:cNvSpPr/>
          <p:nvPr/>
        </p:nvSpPr>
        <p:spPr>
          <a:xfrm>
            <a:off x="2161642" y="4956048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-31"/>
          <p:cNvSpPr txBox="1"/>
          <p:nvPr/>
        </p:nvSpPr>
        <p:spPr>
          <a:xfrm>
            <a:off x="2161642" y="4956048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6" name="shape-32"/>
          <p:cNvSpPr/>
          <p:nvPr/>
        </p:nvSpPr>
        <p:spPr>
          <a:xfrm>
            <a:off x="2362810" y="4956048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-33"/>
          <p:cNvSpPr txBox="1"/>
          <p:nvPr/>
        </p:nvSpPr>
        <p:spPr>
          <a:xfrm>
            <a:off x="2362810" y="4956048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38" name="shape-34"/>
          <p:cNvSpPr/>
          <p:nvPr/>
        </p:nvSpPr>
        <p:spPr>
          <a:xfrm>
            <a:off x="2783434" y="1463040"/>
            <a:ext cx="2125066" cy="3840480"/>
          </a:xfrm>
          <a:prstGeom prst="roundRect">
            <a:avLst>
              <a:gd name="adj" fmla="val 34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39" name="icon-3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9738" y="1627632"/>
            <a:ext cx="219456" cy="219456"/>
          </a:xfrm>
          <a:prstGeom prst="rect">
            <a:avLst/>
          </a:prstGeom>
        </p:spPr>
      </p:pic>
      <p:sp>
        <p:nvSpPr>
          <p:cNvPr id="40" name="text-36"/>
          <p:cNvSpPr txBox="1"/>
          <p:nvPr/>
        </p:nvSpPr>
        <p:spPr>
          <a:xfrm>
            <a:off x="3240634" y="1627632"/>
            <a:ext cx="1576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Replicate</a:t>
            </a:r>
            <a:endParaRPr lang="en-US" sz="1300" dirty="0"/>
          </a:p>
        </p:txBody>
      </p:sp>
      <p:sp>
        <p:nvSpPr>
          <p:cNvPr id="41" name="text-37"/>
          <p:cNvSpPr txBox="1"/>
          <p:nvPr/>
        </p:nvSpPr>
        <p:spPr>
          <a:xfrm>
            <a:off x="2929738" y="1901952"/>
            <a:ext cx="1850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</a:t>
            </a:r>
            <a:endParaRPr lang="en-US" sz="1100" dirty="0"/>
          </a:p>
        </p:txBody>
      </p:sp>
      <p:sp>
        <p:nvSpPr>
          <p:cNvPr id="42" name="shape-38"/>
          <p:cNvSpPr/>
          <p:nvPr/>
        </p:nvSpPr>
        <p:spPr>
          <a:xfrm>
            <a:off x="2893162" y="2286000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-39"/>
          <p:cNvSpPr txBox="1"/>
          <p:nvPr/>
        </p:nvSpPr>
        <p:spPr>
          <a:xfrm>
            <a:off x="2966314" y="2304288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 across regions</a:t>
            </a:r>
            <a:endParaRPr lang="en-US" sz="1100" dirty="0"/>
          </a:p>
        </p:txBody>
      </p:sp>
      <p:sp>
        <p:nvSpPr>
          <p:cNvPr id="44" name="shape-40"/>
          <p:cNvSpPr/>
          <p:nvPr/>
        </p:nvSpPr>
        <p:spPr>
          <a:xfrm>
            <a:off x="4396435" y="2615184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-41"/>
          <p:cNvSpPr txBox="1"/>
          <p:nvPr/>
        </p:nvSpPr>
        <p:spPr>
          <a:xfrm>
            <a:off x="4396435" y="2615184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shape-42"/>
          <p:cNvSpPr/>
          <p:nvPr/>
        </p:nvSpPr>
        <p:spPr>
          <a:xfrm>
            <a:off x="4597603" y="2615184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-43"/>
          <p:cNvSpPr txBox="1"/>
          <p:nvPr/>
        </p:nvSpPr>
        <p:spPr>
          <a:xfrm>
            <a:off x="4597603" y="2615184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48" name="shape-44"/>
          <p:cNvSpPr/>
          <p:nvPr/>
        </p:nvSpPr>
        <p:spPr>
          <a:xfrm>
            <a:off x="2893162" y="2871216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-45"/>
          <p:cNvSpPr txBox="1"/>
          <p:nvPr/>
        </p:nvSpPr>
        <p:spPr>
          <a:xfrm>
            <a:off x="2966314" y="2889504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services, replicated data</a:t>
            </a:r>
            <a:endParaRPr lang="en-US" sz="1100" dirty="0"/>
          </a:p>
        </p:txBody>
      </p:sp>
      <p:sp>
        <p:nvSpPr>
          <p:cNvPr id="50" name="shape-46"/>
          <p:cNvSpPr/>
          <p:nvPr/>
        </p:nvSpPr>
        <p:spPr>
          <a:xfrm>
            <a:off x="4396435" y="3200400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text-47"/>
          <p:cNvSpPr txBox="1"/>
          <p:nvPr/>
        </p:nvSpPr>
        <p:spPr>
          <a:xfrm>
            <a:off x="4396435" y="3200400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52" name="shape-48"/>
          <p:cNvSpPr/>
          <p:nvPr/>
        </p:nvSpPr>
        <p:spPr>
          <a:xfrm>
            <a:off x="4597603" y="3200400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text-49"/>
          <p:cNvSpPr txBox="1"/>
          <p:nvPr/>
        </p:nvSpPr>
        <p:spPr>
          <a:xfrm>
            <a:off x="4597603" y="3200400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54" name="shape-50"/>
          <p:cNvSpPr/>
          <p:nvPr/>
        </p:nvSpPr>
        <p:spPr>
          <a:xfrm>
            <a:off x="2893162" y="3456432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text-51"/>
          <p:cNvSpPr txBox="1"/>
          <p:nvPr/>
        </p:nvSpPr>
        <p:spPr>
          <a:xfrm>
            <a:off x="2966314" y="3474720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Identity-provider outage plan</a:t>
            </a:r>
            <a:endParaRPr lang="en-US" sz="1100" dirty="0"/>
          </a:p>
        </p:txBody>
      </p:sp>
      <p:sp>
        <p:nvSpPr>
          <p:cNvPr id="56" name="shape-52"/>
          <p:cNvSpPr/>
          <p:nvPr/>
        </p:nvSpPr>
        <p:spPr>
          <a:xfrm>
            <a:off x="4396435" y="3785616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text-53"/>
          <p:cNvSpPr txBox="1"/>
          <p:nvPr/>
        </p:nvSpPr>
        <p:spPr>
          <a:xfrm>
            <a:off x="4396435" y="3785616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58" name="shape-54"/>
          <p:cNvSpPr/>
          <p:nvPr/>
        </p:nvSpPr>
        <p:spPr>
          <a:xfrm>
            <a:off x="4597603" y="3785616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text-55"/>
          <p:cNvSpPr txBox="1"/>
          <p:nvPr/>
        </p:nvSpPr>
        <p:spPr>
          <a:xfrm>
            <a:off x="4597603" y="3785616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60" name="shape-56"/>
          <p:cNvSpPr/>
          <p:nvPr/>
        </p:nvSpPr>
        <p:spPr>
          <a:xfrm>
            <a:off x="2893162" y="4041648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1" name="text-57"/>
          <p:cNvSpPr txBox="1"/>
          <p:nvPr/>
        </p:nvSpPr>
        <p:spPr>
          <a:xfrm>
            <a:off x="2966314" y="4059936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and vendor failover plans</a:t>
            </a:r>
            <a:endParaRPr lang="en-US" sz="1100" dirty="0"/>
          </a:p>
        </p:txBody>
      </p:sp>
      <p:sp>
        <p:nvSpPr>
          <p:cNvPr id="62" name="shape-58"/>
          <p:cNvSpPr/>
          <p:nvPr/>
        </p:nvSpPr>
        <p:spPr>
          <a:xfrm>
            <a:off x="4195267" y="4370832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text-59"/>
          <p:cNvSpPr txBox="1"/>
          <p:nvPr/>
        </p:nvSpPr>
        <p:spPr>
          <a:xfrm>
            <a:off x="4195267" y="4370832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64" name="shape-60"/>
          <p:cNvSpPr/>
          <p:nvPr/>
        </p:nvSpPr>
        <p:spPr>
          <a:xfrm>
            <a:off x="4396435" y="4370832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5" name="text-61"/>
          <p:cNvSpPr txBox="1"/>
          <p:nvPr/>
        </p:nvSpPr>
        <p:spPr>
          <a:xfrm>
            <a:off x="4396435" y="4370832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66" name="shape-62"/>
          <p:cNvSpPr/>
          <p:nvPr/>
        </p:nvSpPr>
        <p:spPr>
          <a:xfrm>
            <a:off x="4597603" y="4370832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7" name="text-63"/>
          <p:cNvSpPr txBox="1"/>
          <p:nvPr/>
        </p:nvSpPr>
        <p:spPr>
          <a:xfrm>
            <a:off x="4597603" y="4370832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68" name="shape-64"/>
          <p:cNvSpPr/>
          <p:nvPr/>
        </p:nvSpPr>
        <p:spPr>
          <a:xfrm>
            <a:off x="2893162" y="4626864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text-65"/>
          <p:cNvSpPr txBox="1"/>
          <p:nvPr/>
        </p:nvSpPr>
        <p:spPr>
          <a:xfrm>
            <a:off x="2966314" y="4645152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headroom and load testing</a:t>
            </a:r>
            <a:endParaRPr lang="en-US" sz="1100" dirty="0"/>
          </a:p>
        </p:txBody>
      </p:sp>
      <p:sp>
        <p:nvSpPr>
          <p:cNvPr id="70" name="shape-66"/>
          <p:cNvSpPr/>
          <p:nvPr/>
        </p:nvSpPr>
        <p:spPr>
          <a:xfrm>
            <a:off x="4396435" y="4956048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1" name="text-67"/>
          <p:cNvSpPr txBox="1"/>
          <p:nvPr/>
        </p:nvSpPr>
        <p:spPr>
          <a:xfrm>
            <a:off x="4396435" y="4956048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72" name="shape-68"/>
          <p:cNvSpPr/>
          <p:nvPr/>
        </p:nvSpPr>
        <p:spPr>
          <a:xfrm>
            <a:off x="4597603" y="4956048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-69"/>
          <p:cNvSpPr txBox="1"/>
          <p:nvPr/>
        </p:nvSpPr>
        <p:spPr>
          <a:xfrm>
            <a:off x="4597603" y="4956048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74" name="shape-70"/>
          <p:cNvSpPr/>
          <p:nvPr/>
        </p:nvSpPr>
        <p:spPr>
          <a:xfrm>
            <a:off x="5018227" y="1463040"/>
            <a:ext cx="2125066" cy="3840480"/>
          </a:xfrm>
          <a:prstGeom prst="roundRect">
            <a:avLst>
              <a:gd name="adj" fmla="val 34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75" name="icon-7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531" y="1627632"/>
            <a:ext cx="219456" cy="219456"/>
          </a:xfrm>
          <a:prstGeom prst="rect">
            <a:avLst/>
          </a:prstGeom>
        </p:spPr>
      </p:pic>
      <p:sp>
        <p:nvSpPr>
          <p:cNvPr id="76" name="text-72"/>
          <p:cNvSpPr txBox="1"/>
          <p:nvPr/>
        </p:nvSpPr>
        <p:spPr>
          <a:xfrm>
            <a:off x="5475427" y="1627632"/>
            <a:ext cx="1576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Release safely</a:t>
            </a:r>
            <a:endParaRPr lang="en-US" sz="1300" dirty="0"/>
          </a:p>
        </p:txBody>
      </p:sp>
      <p:sp>
        <p:nvSpPr>
          <p:cNvPr id="77" name="text-73"/>
          <p:cNvSpPr txBox="1"/>
          <p:nvPr/>
        </p:nvSpPr>
        <p:spPr>
          <a:xfrm>
            <a:off x="5164531" y="1901952"/>
            <a:ext cx="1850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big-bang change</a:t>
            </a:r>
            <a:endParaRPr lang="en-US" sz="1100" dirty="0"/>
          </a:p>
        </p:txBody>
      </p:sp>
      <p:sp>
        <p:nvSpPr>
          <p:cNvPr id="78" name="shape-74"/>
          <p:cNvSpPr/>
          <p:nvPr/>
        </p:nvSpPr>
        <p:spPr>
          <a:xfrm>
            <a:off x="5127955" y="2286000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9" name="text-75"/>
          <p:cNvSpPr txBox="1"/>
          <p:nvPr/>
        </p:nvSpPr>
        <p:spPr>
          <a:xfrm>
            <a:off x="5201107" y="2304288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switches — ship dark, release deliberately</a:t>
            </a:r>
            <a:endParaRPr lang="en-US" sz="1100" dirty="0"/>
          </a:p>
        </p:txBody>
      </p:sp>
      <p:sp>
        <p:nvSpPr>
          <p:cNvPr id="80" name="shape-76"/>
          <p:cNvSpPr/>
          <p:nvPr/>
        </p:nvSpPr>
        <p:spPr>
          <a:xfrm>
            <a:off x="6832397" y="2615184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1" name="text-77"/>
          <p:cNvSpPr txBox="1"/>
          <p:nvPr/>
        </p:nvSpPr>
        <p:spPr>
          <a:xfrm>
            <a:off x="6832397" y="2615184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82" name="shape-78"/>
          <p:cNvSpPr/>
          <p:nvPr/>
        </p:nvSpPr>
        <p:spPr>
          <a:xfrm>
            <a:off x="5127955" y="2871216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3" name="text-79"/>
          <p:cNvSpPr txBox="1"/>
          <p:nvPr/>
        </p:nvSpPr>
        <p:spPr>
          <a:xfrm>
            <a:off x="5201107" y="2889504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deployment</a:t>
            </a:r>
            <a:endParaRPr lang="en-US" sz="1100" dirty="0"/>
          </a:p>
        </p:txBody>
      </p:sp>
      <p:sp>
        <p:nvSpPr>
          <p:cNvPr id="84" name="shape-80"/>
          <p:cNvSpPr/>
          <p:nvPr/>
        </p:nvSpPr>
        <p:spPr>
          <a:xfrm>
            <a:off x="6832397" y="3200400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5" name="text-81"/>
          <p:cNvSpPr txBox="1"/>
          <p:nvPr/>
        </p:nvSpPr>
        <p:spPr>
          <a:xfrm>
            <a:off x="6832397" y="3200400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86" name="shape-82"/>
          <p:cNvSpPr/>
          <p:nvPr/>
        </p:nvSpPr>
        <p:spPr>
          <a:xfrm>
            <a:off x="5127955" y="3456432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7" name="text-83"/>
          <p:cNvSpPr txBox="1"/>
          <p:nvPr/>
        </p:nvSpPr>
        <p:spPr>
          <a:xfrm>
            <a:off x="5201107" y="3474720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by cohort, automated rollback</a:t>
            </a:r>
            <a:endParaRPr lang="en-US" sz="1100" dirty="0"/>
          </a:p>
        </p:txBody>
      </p:sp>
      <p:sp>
        <p:nvSpPr>
          <p:cNvPr id="88" name="shape-84"/>
          <p:cNvSpPr/>
          <p:nvPr/>
        </p:nvSpPr>
        <p:spPr>
          <a:xfrm>
            <a:off x="6832397" y="3785616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9" name="text-85"/>
          <p:cNvSpPr txBox="1"/>
          <p:nvPr/>
        </p:nvSpPr>
        <p:spPr>
          <a:xfrm>
            <a:off x="6832397" y="3785616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90" name="shape-86"/>
          <p:cNvSpPr/>
          <p:nvPr/>
        </p:nvSpPr>
        <p:spPr>
          <a:xfrm>
            <a:off x="5127955" y="4041648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1" name="text-87"/>
          <p:cNvSpPr txBox="1"/>
          <p:nvPr/>
        </p:nvSpPr>
        <p:spPr>
          <a:xfrm>
            <a:off x="5201107" y="4059936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changes versioned and staged</a:t>
            </a:r>
            <a:endParaRPr lang="en-US" sz="1100" dirty="0"/>
          </a:p>
        </p:txBody>
      </p:sp>
      <p:sp>
        <p:nvSpPr>
          <p:cNvPr id="92" name="shape-88"/>
          <p:cNvSpPr/>
          <p:nvPr/>
        </p:nvSpPr>
        <p:spPr>
          <a:xfrm>
            <a:off x="6430061" y="4370832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3" name="text-89"/>
          <p:cNvSpPr txBox="1"/>
          <p:nvPr/>
        </p:nvSpPr>
        <p:spPr>
          <a:xfrm>
            <a:off x="6430061" y="4370832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94" name="shape-90"/>
          <p:cNvSpPr/>
          <p:nvPr/>
        </p:nvSpPr>
        <p:spPr>
          <a:xfrm>
            <a:off x="6631229" y="4370832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5" name="text-91"/>
          <p:cNvSpPr txBox="1"/>
          <p:nvPr/>
        </p:nvSpPr>
        <p:spPr>
          <a:xfrm>
            <a:off x="6631229" y="4370832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96" name="shape-92"/>
          <p:cNvSpPr/>
          <p:nvPr/>
        </p:nvSpPr>
        <p:spPr>
          <a:xfrm>
            <a:off x="6832397" y="4370832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7" name="text-93"/>
          <p:cNvSpPr txBox="1"/>
          <p:nvPr/>
        </p:nvSpPr>
        <p:spPr>
          <a:xfrm>
            <a:off x="6832397" y="4370832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98" name="shape-94"/>
          <p:cNvSpPr/>
          <p:nvPr/>
        </p:nvSpPr>
        <p:spPr>
          <a:xfrm>
            <a:off x="5127955" y="4626864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9" name="text-95"/>
          <p:cNvSpPr txBox="1"/>
          <p:nvPr/>
        </p:nvSpPr>
        <p:spPr>
          <a:xfrm>
            <a:off x="5201107" y="4645152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versioned content releases</a:t>
            </a:r>
            <a:endParaRPr lang="en-US" sz="1100" dirty="0"/>
          </a:p>
        </p:txBody>
      </p:sp>
      <p:sp>
        <p:nvSpPr>
          <p:cNvPr id="100" name="shape-96"/>
          <p:cNvSpPr/>
          <p:nvPr/>
        </p:nvSpPr>
        <p:spPr>
          <a:xfrm>
            <a:off x="6631229" y="4956048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text-97"/>
          <p:cNvSpPr txBox="1"/>
          <p:nvPr/>
        </p:nvSpPr>
        <p:spPr>
          <a:xfrm>
            <a:off x="6631229" y="4956048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02" name="shape-98"/>
          <p:cNvSpPr/>
          <p:nvPr/>
        </p:nvSpPr>
        <p:spPr>
          <a:xfrm>
            <a:off x="6832397" y="4956048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3" name="text-99"/>
          <p:cNvSpPr txBox="1"/>
          <p:nvPr/>
        </p:nvSpPr>
        <p:spPr>
          <a:xfrm>
            <a:off x="6832397" y="4956048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04" name="shape-100"/>
          <p:cNvSpPr/>
          <p:nvPr/>
        </p:nvSpPr>
        <p:spPr>
          <a:xfrm>
            <a:off x="7253021" y="1463040"/>
            <a:ext cx="2125066" cy="3840480"/>
          </a:xfrm>
          <a:prstGeom prst="roundRect">
            <a:avLst>
              <a:gd name="adj" fmla="val 34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05" name="icon-10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325" y="1627632"/>
            <a:ext cx="219456" cy="219456"/>
          </a:xfrm>
          <a:prstGeom prst="rect">
            <a:avLst/>
          </a:prstGeom>
        </p:spPr>
      </p:pic>
      <p:sp>
        <p:nvSpPr>
          <p:cNvPr id="106" name="text-102"/>
          <p:cNvSpPr txBox="1"/>
          <p:nvPr/>
        </p:nvSpPr>
        <p:spPr>
          <a:xfrm>
            <a:off x="7710221" y="1627632"/>
            <a:ext cx="1576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Detect and respond</a:t>
            </a:r>
            <a:endParaRPr lang="en-US" sz="1300" dirty="0"/>
          </a:p>
        </p:txBody>
      </p:sp>
      <p:sp>
        <p:nvSpPr>
          <p:cNvPr id="107" name="text-103"/>
          <p:cNvSpPr txBox="1"/>
          <p:nvPr/>
        </p:nvSpPr>
        <p:spPr>
          <a:xfrm>
            <a:off x="7399325" y="1901952"/>
            <a:ext cx="1850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hours</a:t>
            </a:r>
            <a:endParaRPr lang="en-US" sz="1100" dirty="0"/>
          </a:p>
        </p:txBody>
      </p:sp>
      <p:sp>
        <p:nvSpPr>
          <p:cNvPr id="108" name="shape-104"/>
          <p:cNvSpPr/>
          <p:nvPr/>
        </p:nvSpPr>
        <p:spPr>
          <a:xfrm>
            <a:off x="7362749" y="2286000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9" name="text-105"/>
          <p:cNvSpPr txBox="1"/>
          <p:nvPr/>
        </p:nvSpPr>
        <p:spPr>
          <a:xfrm>
            <a:off x="7435901" y="2304288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 and error budgets</a:t>
            </a:r>
            <a:endParaRPr lang="en-US" sz="1100" dirty="0"/>
          </a:p>
        </p:txBody>
      </p:sp>
      <p:sp>
        <p:nvSpPr>
          <p:cNvPr id="110" name="shape-106"/>
          <p:cNvSpPr/>
          <p:nvPr/>
        </p:nvSpPr>
        <p:spPr>
          <a:xfrm>
            <a:off x="9067190" y="2615184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1" name="text-107"/>
          <p:cNvSpPr txBox="1"/>
          <p:nvPr/>
        </p:nvSpPr>
        <p:spPr>
          <a:xfrm>
            <a:off x="9067190" y="2615184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12" name="shape-108"/>
          <p:cNvSpPr/>
          <p:nvPr/>
        </p:nvSpPr>
        <p:spPr>
          <a:xfrm>
            <a:off x="7362749" y="2871216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3" name="text-109"/>
          <p:cNvSpPr txBox="1"/>
          <p:nvPr/>
        </p:nvSpPr>
        <p:spPr>
          <a:xfrm>
            <a:off x="7435901" y="2889504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checks from customer locations</a:t>
            </a:r>
            <a:endParaRPr lang="en-US" sz="1100" dirty="0"/>
          </a:p>
        </p:txBody>
      </p:sp>
      <p:sp>
        <p:nvSpPr>
          <p:cNvPr id="114" name="shape-110"/>
          <p:cNvSpPr/>
          <p:nvPr/>
        </p:nvSpPr>
        <p:spPr>
          <a:xfrm>
            <a:off x="8866022" y="3200400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5" name="text-111"/>
          <p:cNvSpPr txBox="1"/>
          <p:nvPr/>
        </p:nvSpPr>
        <p:spPr>
          <a:xfrm>
            <a:off x="8866022" y="3200400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16" name="shape-112"/>
          <p:cNvSpPr/>
          <p:nvPr/>
        </p:nvSpPr>
        <p:spPr>
          <a:xfrm>
            <a:off x="9067190" y="3200400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7" name="text-113"/>
          <p:cNvSpPr txBox="1"/>
          <p:nvPr/>
        </p:nvSpPr>
        <p:spPr>
          <a:xfrm>
            <a:off x="9067190" y="3200400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118" name="shape-114"/>
          <p:cNvSpPr/>
          <p:nvPr/>
        </p:nvSpPr>
        <p:spPr>
          <a:xfrm>
            <a:off x="7362749" y="3456432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9" name="text-115"/>
          <p:cNvSpPr txBox="1"/>
          <p:nvPr/>
        </p:nvSpPr>
        <p:spPr>
          <a:xfrm>
            <a:off x="7435901" y="3474720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Runbooks; 24×7 on-call via MSP</a:t>
            </a:r>
            <a:endParaRPr lang="en-US" sz="1100" dirty="0"/>
          </a:p>
        </p:txBody>
      </p:sp>
      <p:sp>
        <p:nvSpPr>
          <p:cNvPr id="120" name="shape-116"/>
          <p:cNvSpPr/>
          <p:nvPr/>
        </p:nvSpPr>
        <p:spPr>
          <a:xfrm>
            <a:off x="8664854" y="3785616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1" name="text-117"/>
          <p:cNvSpPr txBox="1"/>
          <p:nvPr/>
        </p:nvSpPr>
        <p:spPr>
          <a:xfrm>
            <a:off x="8664854" y="3785616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22" name="shape-118"/>
          <p:cNvSpPr/>
          <p:nvPr/>
        </p:nvSpPr>
        <p:spPr>
          <a:xfrm>
            <a:off x="8866022" y="3785616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3" name="text-119"/>
          <p:cNvSpPr txBox="1"/>
          <p:nvPr/>
        </p:nvSpPr>
        <p:spPr>
          <a:xfrm>
            <a:off x="8866022" y="3785616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124" name="shape-120"/>
          <p:cNvSpPr/>
          <p:nvPr/>
        </p:nvSpPr>
        <p:spPr>
          <a:xfrm>
            <a:off x="9067190" y="3785616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5" name="text-121"/>
          <p:cNvSpPr txBox="1"/>
          <p:nvPr/>
        </p:nvSpPr>
        <p:spPr>
          <a:xfrm>
            <a:off x="9067190" y="3785616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26" name="shape-122"/>
          <p:cNvSpPr/>
          <p:nvPr/>
        </p:nvSpPr>
        <p:spPr>
          <a:xfrm>
            <a:off x="7362749" y="4041648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7" name="text-123"/>
          <p:cNvSpPr txBox="1"/>
          <p:nvPr/>
        </p:nvSpPr>
        <p:spPr>
          <a:xfrm>
            <a:off x="7435901" y="4059936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page and incident comms</a:t>
            </a:r>
            <a:endParaRPr lang="en-US" sz="1100" dirty="0"/>
          </a:p>
        </p:txBody>
      </p:sp>
      <p:sp>
        <p:nvSpPr>
          <p:cNvPr id="128" name="shape-124"/>
          <p:cNvSpPr/>
          <p:nvPr/>
        </p:nvSpPr>
        <p:spPr>
          <a:xfrm>
            <a:off x="8463686" y="4370832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9" name="text-125"/>
          <p:cNvSpPr txBox="1"/>
          <p:nvPr/>
        </p:nvSpPr>
        <p:spPr>
          <a:xfrm>
            <a:off x="8463686" y="4370832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0" name="shape-126"/>
          <p:cNvSpPr/>
          <p:nvPr/>
        </p:nvSpPr>
        <p:spPr>
          <a:xfrm>
            <a:off x="8664854" y="4370832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1" name="text-127"/>
          <p:cNvSpPr txBox="1"/>
          <p:nvPr/>
        </p:nvSpPr>
        <p:spPr>
          <a:xfrm>
            <a:off x="8664854" y="4370832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132" name="shape-128"/>
          <p:cNvSpPr/>
          <p:nvPr/>
        </p:nvSpPr>
        <p:spPr>
          <a:xfrm>
            <a:off x="8866022" y="4370832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3" name="text-129"/>
          <p:cNvSpPr txBox="1"/>
          <p:nvPr/>
        </p:nvSpPr>
        <p:spPr>
          <a:xfrm>
            <a:off x="8866022" y="4370832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34" name="shape-130"/>
          <p:cNvSpPr/>
          <p:nvPr/>
        </p:nvSpPr>
        <p:spPr>
          <a:xfrm>
            <a:off x="9067190" y="4370832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5" name="text-131"/>
          <p:cNvSpPr txBox="1"/>
          <p:nvPr/>
        </p:nvSpPr>
        <p:spPr>
          <a:xfrm>
            <a:off x="9067190" y="4370832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36" name="shape-132"/>
          <p:cNvSpPr/>
          <p:nvPr/>
        </p:nvSpPr>
        <p:spPr>
          <a:xfrm>
            <a:off x="7362749" y="4626864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7" name="text-133"/>
          <p:cNvSpPr txBox="1"/>
          <p:nvPr/>
        </p:nvSpPr>
        <p:spPr>
          <a:xfrm>
            <a:off x="7435901" y="4645152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days and DR drills (RTO/RPO)</a:t>
            </a:r>
            <a:endParaRPr lang="en-US" sz="1100" dirty="0"/>
          </a:p>
        </p:txBody>
      </p:sp>
      <p:sp>
        <p:nvSpPr>
          <p:cNvPr id="138" name="shape-134"/>
          <p:cNvSpPr/>
          <p:nvPr/>
        </p:nvSpPr>
        <p:spPr>
          <a:xfrm>
            <a:off x="8664854" y="4956048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9" name="text-135"/>
          <p:cNvSpPr txBox="1"/>
          <p:nvPr/>
        </p:nvSpPr>
        <p:spPr>
          <a:xfrm>
            <a:off x="8664854" y="4956048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40" name="shape-136"/>
          <p:cNvSpPr/>
          <p:nvPr/>
        </p:nvSpPr>
        <p:spPr>
          <a:xfrm>
            <a:off x="8866022" y="4956048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1" name="text-137"/>
          <p:cNvSpPr txBox="1"/>
          <p:nvPr/>
        </p:nvSpPr>
        <p:spPr>
          <a:xfrm>
            <a:off x="8866022" y="4956048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142" name="shape-138"/>
          <p:cNvSpPr/>
          <p:nvPr/>
        </p:nvSpPr>
        <p:spPr>
          <a:xfrm>
            <a:off x="9067190" y="4956048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3" name="text-139"/>
          <p:cNvSpPr txBox="1"/>
          <p:nvPr/>
        </p:nvSpPr>
        <p:spPr>
          <a:xfrm>
            <a:off x="9067190" y="4956048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44" name="shape-140"/>
          <p:cNvSpPr/>
          <p:nvPr/>
        </p:nvSpPr>
        <p:spPr>
          <a:xfrm>
            <a:off x="9487814" y="1463040"/>
            <a:ext cx="2125066" cy="3840480"/>
          </a:xfrm>
          <a:prstGeom prst="roundRect">
            <a:avLst>
              <a:gd name="adj" fmla="val 34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45" name="icon-14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4118" y="1627632"/>
            <a:ext cx="219456" cy="219456"/>
          </a:xfrm>
          <a:prstGeom prst="rect">
            <a:avLst/>
          </a:prstGeom>
        </p:spPr>
      </p:pic>
      <p:sp>
        <p:nvSpPr>
          <p:cNvPr id="146" name="text-142"/>
          <p:cNvSpPr txBox="1"/>
          <p:nvPr/>
        </p:nvSpPr>
        <p:spPr>
          <a:xfrm>
            <a:off x="9945014" y="1627632"/>
            <a:ext cx="1576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Protect content</a:t>
            </a:r>
            <a:endParaRPr lang="en-US" sz="1300" dirty="0"/>
          </a:p>
        </p:txBody>
      </p:sp>
      <p:sp>
        <p:nvSpPr>
          <p:cNvPr id="147" name="text-143"/>
          <p:cNvSpPr txBox="1"/>
          <p:nvPr/>
        </p:nvSpPr>
        <p:spPr>
          <a:xfrm>
            <a:off x="9634118" y="1901952"/>
            <a:ext cx="18507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above all</a:t>
            </a:r>
            <a:endParaRPr lang="en-US" sz="1100" dirty="0"/>
          </a:p>
        </p:txBody>
      </p:sp>
      <p:sp>
        <p:nvSpPr>
          <p:cNvPr id="148" name="shape-144"/>
          <p:cNvSpPr/>
          <p:nvPr/>
        </p:nvSpPr>
        <p:spPr>
          <a:xfrm>
            <a:off x="9597542" y="2286000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9" name="text-145"/>
          <p:cNvSpPr txBox="1"/>
          <p:nvPr/>
        </p:nvSpPr>
        <p:spPr>
          <a:xfrm>
            <a:off x="9670694" y="2304288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checksums and integrity checks</a:t>
            </a:r>
            <a:endParaRPr lang="en-US" sz="1100" dirty="0"/>
          </a:p>
        </p:txBody>
      </p:sp>
      <p:sp>
        <p:nvSpPr>
          <p:cNvPr id="150" name="shape-146"/>
          <p:cNvSpPr/>
          <p:nvPr/>
        </p:nvSpPr>
        <p:spPr>
          <a:xfrm>
            <a:off x="11100816" y="2615184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1" name="text-147"/>
          <p:cNvSpPr txBox="1"/>
          <p:nvPr/>
        </p:nvSpPr>
        <p:spPr>
          <a:xfrm>
            <a:off x="11100816" y="2615184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52" name="shape-148"/>
          <p:cNvSpPr/>
          <p:nvPr/>
        </p:nvSpPr>
        <p:spPr>
          <a:xfrm>
            <a:off x="11301984" y="2615184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3" name="text-149"/>
          <p:cNvSpPr txBox="1"/>
          <p:nvPr/>
        </p:nvSpPr>
        <p:spPr>
          <a:xfrm>
            <a:off x="11301984" y="2615184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54" name="shape-150"/>
          <p:cNvSpPr/>
          <p:nvPr/>
        </p:nvSpPr>
        <p:spPr>
          <a:xfrm>
            <a:off x="9597542" y="2871216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5" name="text-151"/>
          <p:cNvSpPr txBox="1"/>
          <p:nvPr/>
        </p:nvSpPr>
        <p:spPr>
          <a:xfrm>
            <a:off x="9670694" y="2889504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held outside the authoring tool</a:t>
            </a:r>
            <a:endParaRPr lang="en-US" sz="1100" dirty="0"/>
          </a:p>
        </p:txBody>
      </p:sp>
      <p:sp>
        <p:nvSpPr>
          <p:cNvPr id="156" name="shape-152"/>
          <p:cNvSpPr/>
          <p:nvPr/>
        </p:nvSpPr>
        <p:spPr>
          <a:xfrm>
            <a:off x="11100816" y="3200400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7" name="text-153"/>
          <p:cNvSpPr txBox="1"/>
          <p:nvPr/>
        </p:nvSpPr>
        <p:spPr>
          <a:xfrm>
            <a:off x="11100816" y="3200400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58" name="shape-154"/>
          <p:cNvSpPr/>
          <p:nvPr/>
        </p:nvSpPr>
        <p:spPr>
          <a:xfrm>
            <a:off x="11301984" y="3200400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9" name="text-155"/>
          <p:cNvSpPr txBox="1"/>
          <p:nvPr/>
        </p:nvSpPr>
        <p:spPr>
          <a:xfrm>
            <a:off x="11301984" y="3200400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60" name="shape-156"/>
          <p:cNvSpPr/>
          <p:nvPr/>
        </p:nvSpPr>
        <p:spPr>
          <a:xfrm>
            <a:off x="9597542" y="3456432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1" name="text-157"/>
          <p:cNvSpPr txBox="1"/>
          <p:nvPr/>
        </p:nvSpPr>
        <p:spPr>
          <a:xfrm>
            <a:off x="9670694" y="3474720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from the bus after outages</a:t>
            </a:r>
            <a:endParaRPr lang="en-US" sz="1100" dirty="0"/>
          </a:p>
        </p:txBody>
      </p:sp>
      <p:sp>
        <p:nvSpPr>
          <p:cNvPr id="162" name="shape-158"/>
          <p:cNvSpPr/>
          <p:nvPr/>
        </p:nvSpPr>
        <p:spPr>
          <a:xfrm>
            <a:off x="11100816" y="3785616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3" name="text-159"/>
          <p:cNvSpPr txBox="1"/>
          <p:nvPr/>
        </p:nvSpPr>
        <p:spPr>
          <a:xfrm>
            <a:off x="11100816" y="3785616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64" name="shape-160"/>
          <p:cNvSpPr/>
          <p:nvPr/>
        </p:nvSpPr>
        <p:spPr>
          <a:xfrm>
            <a:off x="11301984" y="3785616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5" name="text-161"/>
          <p:cNvSpPr txBox="1"/>
          <p:nvPr/>
        </p:nvSpPr>
        <p:spPr>
          <a:xfrm>
            <a:off x="11301984" y="3785616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66" name="shape-162"/>
          <p:cNvSpPr/>
          <p:nvPr/>
        </p:nvSpPr>
        <p:spPr>
          <a:xfrm>
            <a:off x="9597542" y="4041648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7" name="text-163"/>
          <p:cNvSpPr txBox="1"/>
          <p:nvPr/>
        </p:nvSpPr>
        <p:spPr>
          <a:xfrm>
            <a:off x="9670694" y="4059936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and restore drills for CRM, shop, finance</a:t>
            </a:r>
            <a:endParaRPr lang="en-US" sz="1100" dirty="0"/>
          </a:p>
        </p:txBody>
      </p:sp>
      <p:sp>
        <p:nvSpPr>
          <p:cNvPr id="168" name="shape-164"/>
          <p:cNvSpPr/>
          <p:nvPr/>
        </p:nvSpPr>
        <p:spPr>
          <a:xfrm>
            <a:off x="11100816" y="4370832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9" name="text-165"/>
          <p:cNvSpPr txBox="1"/>
          <p:nvPr/>
        </p:nvSpPr>
        <p:spPr>
          <a:xfrm>
            <a:off x="11100816" y="4370832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70" name="shape-166"/>
          <p:cNvSpPr/>
          <p:nvPr/>
        </p:nvSpPr>
        <p:spPr>
          <a:xfrm>
            <a:off x="11301984" y="4370832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1" name="text-167"/>
          <p:cNvSpPr txBox="1"/>
          <p:nvPr/>
        </p:nvSpPr>
        <p:spPr>
          <a:xfrm>
            <a:off x="11301984" y="4370832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72" name="shape-168"/>
          <p:cNvSpPr/>
          <p:nvPr/>
        </p:nvSpPr>
        <p:spPr>
          <a:xfrm>
            <a:off x="9597542" y="4626864"/>
            <a:ext cx="190561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3" name="text-169"/>
          <p:cNvSpPr txBox="1"/>
          <p:nvPr/>
        </p:nvSpPr>
        <p:spPr>
          <a:xfrm>
            <a:off x="9670694" y="4645152"/>
            <a:ext cx="1722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what changed, when, who</a:t>
            </a:r>
            <a:endParaRPr lang="en-US" sz="1100" dirty="0"/>
          </a:p>
        </p:txBody>
      </p:sp>
      <p:sp>
        <p:nvSpPr>
          <p:cNvPr id="174" name="shape-170"/>
          <p:cNvSpPr/>
          <p:nvPr/>
        </p:nvSpPr>
        <p:spPr>
          <a:xfrm>
            <a:off x="10899648" y="4956048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5" name="text-171"/>
          <p:cNvSpPr txBox="1"/>
          <p:nvPr/>
        </p:nvSpPr>
        <p:spPr>
          <a:xfrm>
            <a:off x="10899648" y="4956048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76" name="shape-172"/>
          <p:cNvSpPr/>
          <p:nvPr/>
        </p:nvSpPr>
        <p:spPr>
          <a:xfrm>
            <a:off x="11100816" y="4956048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7" name="text-173"/>
          <p:cNvSpPr txBox="1"/>
          <p:nvPr/>
        </p:nvSpPr>
        <p:spPr>
          <a:xfrm>
            <a:off x="11100816" y="4956048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8" name="shape-174"/>
          <p:cNvSpPr/>
          <p:nvPr/>
        </p:nvSpPr>
        <p:spPr>
          <a:xfrm>
            <a:off x="11301984" y="4956048"/>
            <a:ext cx="164592" cy="128016"/>
          </a:xfrm>
          <a:prstGeom prst="roundRect">
            <a:avLst>
              <a:gd name="adj" fmla="val 500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9" name="text-175"/>
          <p:cNvSpPr txBox="1"/>
          <p:nvPr/>
        </p:nvSpPr>
        <p:spPr>
          <a:xfrm>
            <a:off x="11301984" y="4956048"/>
            <a:ext cx="1645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80" name="text-176"/>
          <p:cNvSpPr txBox="1"/>
          <p:nvPr/>
        </p:nvSpPr>
        <p:spPr>
          <a:xfrm>
            <a:off x="548640" y="543153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show which tiers each mechanism applies to. The product (A) gets all of them; B and C get the proportionate set that avoids a slow week, not a lost minute; X carries the product’s mechanisms where it sits in the product’s path.</a:t>
            </a:r>
            <a:endParaRPr lang="en-US" sz="1100" dirty="0"/>
          </a:p>
        </p:txBody>
      </p:sp>
      <p:sp>
        <p:nvSpPr>
          <p:cNvPr id="18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019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02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PUBLISHING AND ROLLBACK INSIDE THE PRODUCT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1556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publishing hub, regional nodes that serve alone, rollback by re-pointing</a:t>
            </a:r>
            <a:endParaRPr lang="en-US" sz="2250" dirty="0"/>
          </a:p>
        </p:txBody>
      </p:sp>
      <p:sp>
        <p:nvSpPr>
          <p:cNvPr id="4" name="shape-0"/>
          <p:cNvSpPr/>
          <p:nvPr/>
        </p:nvSpPr>
        <p:spPr>
          <a:xfrm>
            <a:off x="9052560" y="347472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FDF1E3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-1"/>
          <p:cNvSpPr txBox="1"/>
          <p:nvPr/>
        </p:nvSpPr>
        <p:spPr>
          <a:xfrm>
            <a:off x="9089136" y="347472"/>
            <a:ext cx="248716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NOT A DECISION</a:t>
            </a:r>
            <a:endParaRPr lang="en-US" sz="1100" dirty="0"/>
          </a:p>
        </p:txBody>
      </p:sp>
      <p:sp>
        <p:nvSpPr>
          <p:cNvPr id="6" name="shape-2"/>
          <p:cNvSpPr/>
          <p:nvPr/>
        </p:nvSpPr>
        <p:spPr>
          <a:xfrm>
            <a:off x="548640" y="22860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7" name="icon-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432304"/>
            <a:ext cx="256032" cy="256032"/>
          </a:xfrm>
          <a:prstGeom prst="rect">
            <a:avLst/>
          </a:prstGeom>
        </p:spPr>
      </p:pic>
      <p:sp>
        <p:nvSpPr>
          <p:cNvPr id="8" name="text-4"/>
          <p:cNvSpPr txBox="1"/>
          <p:nvPr/>
        </p:nvSpPr>
        <p:spPr>
          <a:xfrm>
            <a:off x="1060704" y="24140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hub</a:t>
            </a:r>
            <a:endParaRPr lang="en-US" sz="1500" dirty="0"/>
          </a:p>
        </p:txBody>
      </p:sp>
      <p:sp>
        <p:nvSpPr>
          <p:cNvPr id="9" name="text-5"/>
          <p:cNvSpPr txBox="1"/>
          <p:nvPr/>
        </p:nvSpPr>
        <p:spPr>
          <a:xfrm>
            <a:off x="713232" y="2798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→ review → approve</a:t>
            </a:r>
            <a:endParaRPr lang="en-US" sz="1100" dirty="0"/>
          </a:p>
        </p:txBody>
      </p:sp>
      <p:sp>
        <p:nvSpPr>
          <p:cNvPr id="10" name="text-6"/>
          <p:cNvSpPr txBox="1"/>
          <p:nvPr/>
        </p:nvSpPr>
        <p:spPr>
          <a:xfrm>
            <a:off x="713232" y="29809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test evidence → sign</a:t>
            </a:r>
            <a:endParaRPr lang="en-US" sz="1100" dirty="0"/>
          </a:p>
        </p:txBody>
      </p:sp>
      <p:sp>
        <p:nvSpPr>
          <p:cNvPr id="11" name="shape-7"/>
          <p:cNvSpPr/>
          <p:nvPr/>
        </p:nvSpPr>
        <p:spPr>
          <a:xfrm>
            <a:off x="694944" y="3218688"/>
            <a:ext cx="1901952" cy="347472"/>
          </a:xfrm>
          <a:prstGeom prst="roundRect">
            <a:avLst>
              <a:gd name="adj" fmla="val 1052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-8"/>
          <p:cNvSpPr txBox="1"/>
          <p:nvPr/>
        </p:nvSpPr>
        <p:spPr>
          <a:xfrm>
            <a:off x="694944" y="32186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manifest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{content vN, code vN}</a:t>
            </a:r>
            <a:endParaRPr lang="en-US" sz="1100" dirty="0"/>
          </a:p>
        </p:txBody>
      </p:sp>
      <p:sp>
        <p:nvSpPr>
          <p:cNvPr id="13" name="shape-9"/>
          <p:cNvSpPr/>
          <p:nvPr/>
        </p:nvSpPr>
        <p:spPr>
          <a:xfrm>
            <a:off x="3383280" y="22860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DF1E3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4" name="icon-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2450592"/>
            <a:ext cx="237744" cy="237744"/>
          </a:xfrm>
          <a:prstGeom prst="rect">
            <a:avLst/>
          </a:prstGeom>
        </p:spPr>
      </p:pic>
      <p:sp>
        <p:nvSpPr>
          <p:cNvPr id="15" name="text-11"/>
          <p:cNvSpPr txBox="1"/>
          <p:nvPr/>
        </p:nvSpPr>
        <p:spPr>
          <a:xfrm>
            <a:off x="3858768" y="24323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</a:t>
            </a:r>
            <a:endParaRPr lang="en-US" sz="1350" dirty="0"/>
          </a:p>
        </p:txBody>
      </p:sp>
      <p:sp>
        <p:nvSpPr>
          <p:cNvPr id="16" name="text-12"/>
          <p:cNvSpPr txBox="1"/>
          <p:nvPr/>
        </p:nvSpPr>
        <p:spPr>
          <a:xfrm>
            <a:off x="3511296" y="2798064"/>
            <a:ext cx="1371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proposed: the bus</a:t>
            </a:r>
            <a:endParaRPr lang="en-US" sz="1100" dirty="0"/>
          </a:p>
        </p:txBody>
      </p:sp>
      <p:sp>
        <p:nvSpPr>
          <p:cNvPr id="17" name="text-13"/>
          <p:cNvSpPr txBox="1"/>
          <p:nvPr/>
        </p:nvSpPr>
        <p:spPr>
          <a:xfrm>
            <a:off x="3511296" y="2980944"/>
            <a:ext cx="1371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ordered,</a:t>
            </a:r>
            <a:endParaRPr lang="en-US" sz="1100" dirty="0"/>
          </a:p>
        </p:txBody>
      </p:sp>
      <p:sp>
        <p:nvSpPr>
          <p:cNvPr id="18" name="text-14"/>
          <p:cNvSpPr txBox="1"/>
          <p:nvPr/>
        </p:nvSpPr>
        <p:spPr>
          <a:xfrm>
            <a:off x="3511296" y="3163824"/>
            <a:ext cx="1371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retained, replayable</a:t>
            </a:r>
            <a:endParaRPr lang="en-US" sz="1100" dirty="0"/>
          </a:p>
        </p:txBody>
      </p:sp>
      <p:sp>
        <p:nvSpPr>
          <p:cNvPr id="19" name="text-15"/>
          <p:cNvSpPr txBox="1"/>
          <p:nvPr/>
        </p:nvSpPr>
        <p:spPr>
          <a:xfrm>
            <a:off x="3511296" y="3346704"/>
            <a:ext cx="1371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to every node</a:t>
            </a:r>
            <a:endParaRPr lang="en-US" sz="1100" dirty="0"/>
          </a:p>
        </p:txBody>
      </p:sp>
      <p:sp>
        <p:nvSpPr>
          <p:cNvPr id="20" name="line-16"/>
          <p:cNvSpPr/>
          <p:nvPr/>
        </p:nvSpPr>
        <p:spPr>
          <a:xfrm>
            <a:off x="2743200" y="2971800"/>
            <a:ext cx="585216" cy="0"/>
          </a:xfrm>
          <a:prstGeom prst="line">
            <a:avLst/>
          </a:prstGeom>
          <a:noFill/>
          <a:ln w="31750">
            <a:solidFill>
              <a:srgbClr val="134E4A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-17"/>
          <p:cNvSpPr txBox="1"/>
          <p:nvPr/>
        </p:nvSpPr>
        <p:spPr>
          <a:xfrm>
            <a:off x="2743200" y="27432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00" dirty="0"/>
          </a:p>
        </p:txBody>
      </p:sp>
      <p:sp>
        <p:nvSpPr>
          <p:cNvPr id="22" name="shape-18"/>
          <p:cNvSpPr/>
          <p:nvPr/>
        </p:nvSpPr>
        <p:spPr>
          <a:xfrm>
            <a:off x="5303520" y="1408176"/>
            <a:ext cx="2286000" cy="950976"/>
          </a:xfrm>
          <a:prstGeom prst="roundRect">
            <a:avLst>
              <a:gd name="adj" fmla="val 961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3" name="icon-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824" y="1536192"/>
            <a:ext cx="237744" cy="237744"/>
          </a:xfrm>
          <a:prstGeom prst="rect">
            <a:avLst/>
          </a:prstGeom>
        </p:spPr>
      </p:pic>
      <p:sp>
        <p:nvSpPr>
          <p:cNvPr id="24" name="text-20"/>
          <p:cNvSpPr txBox="1"/>
          <p:nvPr/>
        </p:nvSpPr>
        <p:spPr>
          <a:xfrm>
            <a:off x="5760720" y="1517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1</a:t>
            </a:r>
            <a:endParaRPr lang="en-US" sz="1350" dirty="0"/>
          </a:p>
        </p:txBody>
      </p:sp>
      <p:sp>
        <p:nvSpPr>
          <p:cNvPr id="25" name="text-21"/>
          <p:cNvSpPr txBox="1"/>
          <p:nvPr/>
        </p:nvSpPr>
        <p:spPr>
          <a:xfrm>
            <a:off x="5449824" y="1810512"/>
            <a:ext cx="19933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for its users</a:t>
            </a:r>
            <a:endParaRPr lang="en-US" sz="1100" dirty="0"/>
          </a:p>
        </p:txBody>
      </p:sp>
      <p:sp>
        <p:nvSpPr>
          <p:cNvPr id="26" name="text-22"/>
          <p:cNvSpPr txBox="1"/>
          <p:nvPr/>
        </p:nvSpPr>
        <p:spPr>
          <a:xfrm>
            <a:off x="5449824" y="1993392"/>
            <a:ext cx="19933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vN · app · entitlement cache</a:t>
            </a:r>
            <a:endParaRPr lang="en-US" sz="1100" dirty="0"/>
          </a:p>
        </p:txBody>
      </p:sp>
      <p:sp>
        <p:nvSpPr>
          <p:cNvPr id="27" name="text-23"/>
          <p:cNvSpPr txBox="1"/>
          <p:nvPr/>
        </p:nvSpPr>
        <p:spPr>
          <a:xfrm>
            <a:off x="5449824" y="2157984"/>
            <a:ext cx="19933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alone if the hub is down</a:t>
            </a:r>
            <a:endParaRPr lang="en-US" sz="1100" dirty="0"/>
          </a:p>
        </p:txBody>
      </p:sp>
      <p:sp>
        <p:nvSpPr>
          <p:cNvPr id="28" name="line-24"/>
          <p:cNvSpPr/>
          <p:nvPr/>
        </p:nvSpPr>
        <p:spPr>
          <a:xfrm>
            <a:off x="5065776" y="1883664"/>
            <a:ext cx="18288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ysDash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-25"/>
          <p:cNvSpPr/>
          <p:nvPr/>
        </p:nvSpPr>
        <p:spPr>
          <a:xfrm>
            <a:off x="5303520" y="2487168"/>
            <a:ext cx="2286000" cy="950976"/>
          </a:xfrm>
          <a:prstGeom prst="roundRect">
            <a:avLst>
              <a:gd name="adj" fmla="val 961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30" name="icon-2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824" y="2615184"/>
            <a:ext cx="237744" cy="237744"/>
          </a:xfrm>
          <a:prstGeom prst="rect">
            <a:avLst/>
          </a:prstGeom>
        </p:spPr>
      </p:pic>
      <p:sp>
        <p:nvSpPr>
          <p:cNvPr id="31" name="text-27"/>
          <p:cNvSpPr txBox="1"/>
          <p:nvPr/>
        </p:nvSpPr>
        <p:spPr>
          <a:xfrm>
            <a:off x="5760720" y="25968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2</a:t>
            </a:r>
            <a:endParaRPr lang="en-US" sz="1350" dirty="0"/>
          </a:p>
        </p:txBody>
      </p:sp>
      <p:sp>
        <p:nvSpPr>
          <p:cNvPr id="32" name="text-28"/>
          <p:cNvSpPr txBox="1"/>
          <p:nvPr/>
        </p:nvSpPr>
        <p:spPr>
          <a:xfrm>
            <a:off x="5449824" y="2889504"/>
            <a:ext cx="19933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for its users</a:t>
            </a:r>
            <a:endParaRPr lang="en-US" sz="1100" dirty="0"/>
          </a:p>
        </p:txBody>
      </p:sp>
      <p:sp>
        <p:nvSpPr>
          <p:cNvPr id="33" name="text-29"/>
          <p:cNvSpPr txBox="1"/>
          <p:nvPr/>
        </p:nvSpPr>
        <p:spPr>
          <a:xfrm>
            <a:off x="5449824" y="3072384"/>
            <a:ext cx="19933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vN · app · entitlement cache</a:t>
            </a:r>
            <a:endParaRPr lang="en-US" sz="1100" dirty="0"/>
          </a:p>
        </p:txBody>
      </p:sp>
      <p:sp>
        <p:nvSpPr>
          <p:cNvPr id="34" name="text-30"/>
          <p:cNvSpPr txBox="1"/>
          <p:nvPr/>
        </p:nvSpPr>
        <p:spPr>
          <a:xfrm>
            <a:off x="5449824" y="3236976"/>
            <a:ext cx="19933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alone if the hub is down</a:t>
            </a:r>
            <a:endParaRPr lang="en-US" sz="1100" dirty="0"/>
          </a:p>
        </p:txBody>
      </p:sp>
      <p:sp>
        <p:nvSpPr>
          <p:cNvPr id="35" name="line-31"/>
          <p:cNvSpPr/>
          <p:nvPr/>
        </p:nvSpPr>
        <p:spPr>
          <a:xfrm>
            <a:off x="5065776" y="2962656"/>
            <a:ext cx="18288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ysDash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6" name="shape-32"/>
          <p:cNvSpPr/>
          <p:nvPr/>
        </p:nvSpPr>
        <p:spPr>
          <a:xfrm>
            <a:off x="5303520" y="3566160"/>
            <a:ext cx="2286000" cy="950976"/>
          </a:xfrm>
          <a:prstGeom prst="roundRect">
            <a:avLst>
              <a:gd name="adj" fmla="val 9615"/>
            </a:avLst>
          </a:prstGeom>
          <a:solidFill>
            <a:srgbClr val="D6ECE9"/>
          </a:solidFill>
          <a:ln w="12700">
            <a:solidFill>
              <a:srgbClr val="D6ECE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37" name="icon-3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9824" y="3694176"/>
            <a:ext cx="237744" cy="237744"/>
          </a:xfrm>
          <a:prstGeom prst="rect">
            <a:avLst/>
          </a:prstGeom>
        </p:spPr>
      </p:pic>
      <p:sp>
        <p:nvSpPr>
          <p:cNvPr id="38" name="text-34"/>
          <p:cNvSpPr txBox="1"/>
          <p:nvPr/>
        </p:nvSpPr>
        <p:spPr>
          <a:xfrm>
            <a:off x="5760720" y="3675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3</a:t>
            </a:r>
            <a:endParaRPr lang="en-US" sz="1350" dirty="0"/>
          </a:p>
        </p:txBody>
      </p:sp>
      <p:sp>
        <p:nvSpPr>
          <p:cNvPr id="39" name="text-35"/>
          <p:cNvSpPr txBox="1"/>
          <p:nvPr/>
        </p:nvSpPr>
        <p:spPr>
          <a:xfrm>
            <a:off x="5449824" y="3968496"/>
            <a:ext cx="19933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standby; rebuilt from the log</a:t>
            </a:r>
            <a:endParaRPr lang="en-US" sz="1100" dirty="0"/>
          </a:p>
        </p:txBody>
      </p:sp>
      <p:sp>
        <p:nvSpPr>
          <p:cNvPr id="40" name="text-36"/>
          <p:cNvSpPr txBox="1"/>
          <p:nvPr/>
        </p:nvSpPr>
        <p:spPr>
          <a:xfrm>
            <a:off x="5449824" y="4151376"/>
            <a:ext cx="19933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vN · app · entitlement cache</a:t>
            </a:r>
            <a:endParaRPr lang="en-US" sz="1100" dirty="0"/>
          </a:p>
        </p:txBody>
      </p:sp>
      <p:sp>
        <p:nvSpPr>
          <p:cNvPr id="41" name="text-37"/>
          <p:cNvSpPr txBox="1"/>
          <p:nvPr/>
        </p:nvSpPr>
        <p:spPr>
          <a:xfrm>
            <a:off x="5449824" y="4315968"/>
            <a:ext cx="19933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alone if the hub is down</a:t>
            </a:r>
            <a:endParaRPr lang="en-US" sz="1100" dirty="0"/>
          </a:p>
        </p:txBody>
      </p:sp>
      <p:sp>
        <p:nvSpPr>
          <p:cNvPr id="42" name="line-38"/>
          <p:cNvSpPr/>
          <p:nvPr/>
        </p:nvSpPr>
        <p:spPr>
          <a:xfrm>
            <a:off x="5065776" y="4041648"/>
            <a:ext cx="18288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ysDash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43" name="line-39"/>
          <p:cNvSpPr/>
          <p:nvPr/>
        </p:nvSpPr>
        <p:spPr>
          <a:xfrm>
            <a:off x="4937760" y="2971800"/>
            <a:ext cx="128016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44" name="line-40"/>
          <p:cNvSpPr/>
          <p:nvPr/>
        </p:nvSpPr>
        <p:spPr>
          <a:xfrm>
            <a:off x="5065776" y="1883664"/>
            <a:ext cx="0" cy="2157984"/>
          </a:xfrm>
          <a:prstGeom prst="line">
            <a:avLst/>
          </a:prstGeom>
          <a:noFill/>
          <a:ln w="19050">
            <a:solidFill>
              <a:srgbClr val="B45309"/>
            </a:solidFill>
            <a:prstDash val="sysDash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-41"/>
          <p:cNvSpPr txBox="1"/>
          <p:nvPr/>
        </p:nvSpPr>
        <p:spPr>
          <a:xfrm>
            <a:off x="7662672" y="4114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backups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other</a:t>
            </a:r>
            <a:endParaRPr lang="en-US" sz="1100" dirty="0"/>
          </a:p>
        </p:txBody>
      </p:sp>
      <p:sp>
        <p:nvSpPr>
          <p:cNvPr id="46" name="shape-42"/>
          <p:cNvSpPr/>
          <p:nvPr/>
        </p:nvSpPr>
        <p:spPr>
          <a:xfrm>
            <a:off x="8595360" y="1645920"/>
            <a:ext cx="1280160" cy="2651760"/>
          </a:xfrm>
          <a:prstGeom prst="roundRect">
            <a:avLst>
              <a:gd name="adj" fmla="val 714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-43"/>
          <p:cNvSpPr txBox="1"/>
          <p:nvPr/>
        </p:nvSpPr>
        <p:spPr>
          <a:xfrm>
            <a:off x="8595360" y="18105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Multi-CDN edge</a:t>
            </a:r>
            <a:endParaRPr lang="en-US" sz="1150" dirty="0"/>
          </a:p>
        </p:txBody>
      </p:sp>
      <p:sp>
        <p:nvSpPr>
          <p:cNvPr id="48" name="text-44"/>
          <p:cNvSpPr txBox="1"/>
          <p:nvPr/>
        </p:nvSpPr>
        <p:spPr>
          <a:xfrm>
            <a:off x="8686800" y="2084832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content cached at the edge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anycast DNS and health-based routing to the nearest healthy node</a:t>
            </a:r>
            <a:endParaRPr lang="en-US" sz="1100" dirty="0"/>
          </a:p>
        </p:txBody>
      </p:sp>
      <p:pic>
        <p:nvPicPr>
          <p:cNvPr id="49" name="icon-4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7424" y="3767328"/>
            <a:ext cx="256032" cy="256032"/>
          </a:xfrm>
          <a:prstGeom prst="rect">
            <a:avLst/>
          </a:prstGeom>
        </p:spPr>
      </p:pic>
      <p:sp>
        <p:nvSpPr>
          <p:cNvPr id="50" name="line-46"/>
          <p:cNvSpPr/>
          <p:nvPr/>
        </p:nvSpPr>
        <p:spPr>
          <a:xfrm>
            <a:off x="7589520" y="1883664"/>
            <a:ext cx="1005840" cy="1088136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line-47"/>
          <p:cNvSpPr/>
          <p:nvPr/>
        </p:nvSpPr>
        <p:spPr>
          <a:xfrm>
            <a:off x="7589520" y="2962656"/>
            <a:ext cx="1005840" cy="9144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line-48"/>
          <p:cNvSpPr/>
          <p:nvPr/>
        </p:nvSpPr>
        <p:spPr>
          <a:xfrm flipV="1">
            <a:off x="7589520" y="2971800"/>
            <a:ext cx="1005840" cy="1069848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oval-49"/>
          <p:cNvSpPr/>
          <p:nvPr/>
        </p:nvSpPr>
        <p:spPr>
          <a:xfrm>
            <a:off x="10195560" y="2606040"/>
            <a:ext cx="731520" cy="731520"/>
          </a:xfrm>
          <a:prstGeom prst="ellipse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4" name="icon-5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5016" y="2825496"/>
            <a:ext cx="292608" cy="292608"/>
          </a:xfrm>
          <a:prstGeom prst="rect">
            <a:avLst/>
          </a:prstGeom>
        </p:spPr>
      </p:pic>
      <p:sp>
        <p:nvSpPr>
          <p:cNvPr id="55" name="text-51"/>
          <p:cNvSpPr txBox="1"/>
          <p:nvPr/>
        </p:nvSpPr>
        <p:spPr>
          <a:xfrm>
            <a:off x="9464040" y="34198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clinicians, institutions,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systems</a:t>
            </a:r>
            <a:endParaRPr lang="en-US" sz="1100" dirty="0"/>
          </a:p>
        </p:txBody>
      </p:sp>
      <p:sp>
        <p:nvSpPr>
          <p:cNvPr id="56" name="line-52"/>
          <p:cNvSpPr/>
          <p:nvPr/>
        </p:nvSpPr>
        <p:spPr>
          <a:xfrm>
            <a:off x="9875520" y="2971800"/>
            <a:ext cx="301752" cy="0"/>
          </a:xfrm>
          <a:prstGeom prst="line">
            <a:avLst/>
          </a:prstGeom>
          <a:noFill/>
          <a:ln w="3175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shape-53"/>
          <p:cNvSpPr/>
          <p:nvPr/>
        </p:nvSpPr>
        <p:spPr>
          <a:xfrm>
            <a:off x="548640" y="4681728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text-54"/>
          <p:cNvSpPr txBox="1"/>
          <p:nvPr/>
        </p:nvSpPr>
        <p:spPr>
          <a:xfrm>
            <a:off x="749808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IN THIS WORLD</a:t>
            </a:r>
            <a:endParaRPr lang="en-US" sz="1100" dirty="0"/>
          </a:p>
        </p:txBody>
      </p:sp>
      <p:sp>
        <p:nvSpPr>
          <p:cNvPr id="59" name="oval-55"/>
          <p:cNvSpPr/>
          <p:nvPr/>
        </p:nvSpPr>
        <p:spPr>
          <a:xfrm>
            <a:off x="768096" y="524865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text-56"/>
          <p:cNvSpPr txBox="1"/>
          <p:nvPr/>
        </p:nvSpPr>
        <p:spPr>
          <a:xfrm>
            <a:off x="932688" y="51572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back is re-pointing to vN-1 — seconds, no redeploy</a:t>
            </a:r>
            <a:endParaRPr lang="en-US" sz="1150" dirty="0"/>
          </a:p>
        </p:txBody>
      </p:sp>
      <p:sp>
        <p:nvSpPr>
          <p:cNvPr id="61" name="oval-57"/>
          <p:cNvSpPr/>
          <p:nvPr/>
        </p:nvSpPr>
        <p:spPr>
          <a:xfrm>
            <a:off x="768096" y="552297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text-58"/>
          <p:cNvSpPr txBox="1"/>
          <p:nvPr/>
        </p:nvSpPr>
        <p:spPr>
          <a:xfrm>
            <a:off x="932688" y="54315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code roll back together: the manifest binds them</a:t>
            </a:r>
            <a:endParaRPr lang="en-US" sz="1150" dirty="0"/>
          </a:p>
        </p:txBody>
      </p:sp>
      <p:sp>
        <p:nvSpPr>
          <p:cNvPr id="63" name="oval-59"/>
          <p:cNvSpPr/>
          <p:nvPr/>
        </p:nvSpPr>
        <p:spPr>
          <a:xfrm>
            <a:off x="768096" y="579729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4" name="text-60"/>
          <p:cNvSpPr txBox="1"/>
          <p:nvPr/>
        </p:nvSpPr>
        <p:spPr>
          <a:xfrm>
            <a:off x="932688" y="57058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lost node is rebuilt by replaying the log — no restore from backup</a:t>
            </a:r>
            <a:endParaRPr lang="en-US" sz="1150" dirty="0"/>
          </a:p>
        </p:txBody>
      </p:sp>
      <p:sp>
        <p:nvSpPr>
          <p:cNvPr id="65" name="oval-61"/>
          <p:cNvSpPr/>
          <p:nvPr/>
        </p:nvSpPr>
        <p:spPr>
          <a:xfrm>
            <a:off x="768096" y="607161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6" name="text-62"/>
          <p:cNvSpPr txBox="1"/>
          <p:nvPr/>
        </p:nvSpPr>
        <p:spPr>
          <a:xfrm>
            <a:off x="932688" y="59801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Canary: publish to one node or cohort, watch the SLO, then fan out</a:t>
            </a:r>
            <a:endParaRPr lang="en-US" sz="1150" dirty="0"/>
          </a:p>
        </p:txBody>
      </p:sp>
      <p:sp>
        <p:nvSpPr>
          <p:cNvPr id="67" name="shape-63"/>
          <p:cNvSpPr/>
          <p:nvPr/>
        </p:nvSpPr>
        <p:spPr>
          <a:xfrm>
            <a:off x="6126480" y="4681728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8" name="text-64"/>
          <p:cNvSpPr txBox="1"/>
          <p:nvPr/>
        </p:nvSpPr>
        <p:spPr>
          <a:xfrm>
            <a:off x="6327648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CONSIDERATIONS — TO EVALUATE, NOT CHANGES</a:t>
            </a:r>
            <a:endParaRPr lang="en-US" sz="1100" dirty="0"/>
          </a:p>
        </p:txBody>
      </p:sp>
      <p:sp>
        <p:nvSpPr>
          <p:cNvPr id="69" name="text-65"/>
          <p:cNvSpPr txBox="1"/>
          <p:nvPr/>
        </p:nvSpPr>
        <p:spPr>
          <a:xfrm>
            <a:off x="6327648" y="5138928"/>
            <a:ext cx="36576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backbone: replay and ordering</a:t>
            </a:r>
            <a:endParaRPr lang="en-US" sz="1100" dirty="0"/>
          </a:p>
        </p:txBody>
      </p:sp>
      <p:sp>
        <p:nvSpPr>
          <p:cNvPr id="70" name="shape-66"/>
          <p:cNvSpPr/>
          <p:nvPr/>
        </p:nvSpPr>
        <p:spPr>
          <a:xfrm>
            <a:off x="10058400" y="5157216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1" name="text-67"/>
          <p:cNvSpPr txBox="1"/>
          <p:nvPr/>
        </p:nvSpPr>
        <p:spPr>
          <a:xfrm>
            <a:off x="10058400" y="5157216"/>
            <a:ext cx="1371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Kafka-class log</a:t>
            </a:r>
            <a:endParaRPr lang="en-US" sz="1100" dirty="0"/>
          </a:p>
        </p:txBody>
      </p:sp>
      <p:sp>
        <p:nvSpPr>
          <p:cNvPr id="72" name="text-68"/>
          <p:cNvSpPr txBox="1"/>
          <p:nvPr/>
        </p:nvSpPr>
        <p:spPr>
          <a:xfrm>
            <a:off x="6327648" y="5367528"/>
            <a:ext cx="36576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single sign-on</a:t>
            </a:r>
            <a:endParaRPr lang="en-US" sz="1100" dirty="0"/>
          </a:p>
        </p:txBody>
      </p:sp>
      <p:sp>
        <p:nvSpPr>
          <p:cNvPr id="73" name="shape-69"/>
          <p:cNvSpPr/>
          <p:nvPr/>
        </p:nvSpPr>
        <p:spPr>
          <a:xfrm>
            <a:off x="10058400" y="5385816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4" name="text-70"/>
          <p:cNvSpPr txBox="1"/>
          <p:nvPr/>
        </p:nvSpPr>
        <p:spPr>
          <a:xfrm>
            <a:off x="10058400" y="5385816"/>
            <a:ext cx="1371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Shibboleth / SAML</a:t>
            </a:r>
            <a:endParaRPr lang="en-US" sz="1100" dirty="0"/>
          </a:p>
        </p:txBody>
      </p:sp>
      <p:sp>
        <p:nvSpPr>
          <p:cNvPr id="75" name="text-71"/>
          <p:cNvSpPr txBox="1"/>
          <p:nvPr/>
        </p:nvSpPr>
        <p:spPr>
          <a:xfrm>
            <a:off x="6327648" y="5596128"/>
            <a:ext cx="36576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Learning-platform integration</a:t>
            </a:r>
            <a:endParaRPr lang="en-US" sz="1100" dirty="0"/>
          </a:p>
        </p:txBody>
      </p:sp>
      <p:sp>
        <p:nvSpPr>
          <p:cNvPr id="76" name="shape-72"/>
          <p:cNvSpPr/>
          <p:nvPr/>
        </p:nvSpPr>
        <p:spPr>
          <a:xfrm>
            <a:off x="10058400" y="5614416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7" name="text-73"/>
          <p:cNvSpPr txBox="1"/>
          <p:nvPr/>
        </p:nvSpPr>
        <p:spPr>
          <a:xfrm>
            <a:off x="10058400" y="5614416"/>
            <a:ext cx="1371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LTI / LIS</a:t>
            </a:r>
            <a:endParaRPr lang="en-US" sz="1100" dirty="0"/>
          </a:p>
        </p:txBody>
      </p:sp>
      <p:sp>
        <p:nvSpPr>
          <p:cNvPr id="78" name="text-74"/>
          <p:cNvSpPr txBox="1"/>
          <p:nvPr/>
        </p:nvSpPr>
        <p:spPr>
          <a:xfrm>
            <a:off x="6327648" y="5824728"/>
            <a:ext cx="36576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and prescribing systems</a:t>
            </a:r>
            <a:endParaRPr lang="en-US" sz="1100" dirty="0"/>
          </a:p>
        </p:txBody>
      </p:sp>
      <p:sp>
        <p:nvSpPr>
          <p:cNvPr id="79" name="shape-75"/>
          <p:cNvSpPr/>
          <p:nvPr/>
        </p:nvSpPr>
        <p:spPr>
          <a:xfrm>
            <a:off x="10058400" y="5843016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0" name="text-76"/>
          <p:cNvSpPr txBox="1"/>
          <p:nvPr/>
        </p:nvSpPr>
        <p:spPr>
          <a:xfrm>
            <a:off x="10058400" y="5843016"/>
            <a:ext cx="1371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standards</a:t>
            </a:r>
            <a:endParaRPr lang="en-US" sz="1100" dirty="0"/>
          </a:p>
        </p:txBody>
      </p:sp>
      <p:sp>
        <p:nvSpPr>
          <p:cNvPr id="81" name="text-77"/>
          <p:cNvSpPr txBox="1"/>
          <p:nvPr/>
        </p:nvSpPr>
        <p:spPr>
          <a:xfrm>
            <a:off x="6327648" y="6053328"/>
            <a:ext cx="36576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management</a:t>
            </a:r>
            <a:endParaRPr lang="en-US" sz="1100" dirty="0"/>
          </a:p>
        </p:txBody>
      </p:sp>
      <p:sp>
        <p:nvSpPr>
          <p:cNvPr id="82" name="shape-78"/>
          <p:cNvSpPr/>
          <p:nvPr/>
        </p:nvSpPr>
        <p:spPr>
          <a:xfrm>
            <a:off x="10058400" y="6071616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3" name="text-79"/>
          <p:cNvSpPr txBox="1"/>
          <p:nvPr/>
        </p:nvSpPr>
        <p:spPr>
          <a:xfrm>
            <a:off x="10058400" y="6071616"/>
            <a:ext cx="1371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ISMS / ISO 27001</a:t>
            </a:r>
            <a:endParaRPr lang="en-US" sz="1100" dirty="0"/>
          </a:p>
        </p:txBody>
      </p:sp>
      <p:sp>
        <p:nvSpPr>
          <p:cNvPr id="84" name="text-80"/>
          <p:cNvSpPr txBox="1"/>
          <p:nvPr/>
        </p:nvSpPr>
        <p:spPr>
          <a:xfrm>
            <a:off x="6327648" y="6281928"/>
            <a:ext cx="36576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publishing governance</a:t>
            </a:r>
            <a:endParaRPr lang="en-US" sz="1100" dirty="0"/>
          </a:p>
        </p:txBody>
      </p:sp>
      <p:sp>
        <p:nvSpPr>
          <p:cNvPr id="85" name="shape-81"/>
          <p:cNvSpPr/>
          <p:nvPr/>
        </p:nvSpPr>
        <p:spPr>
          <a:xfrm>
            <a:off x="10058400" y="6300216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6" name="text-82"/>
          <p:cNvSpPr txBox="1"/>
          <p:nvPr/>
        </p:nvSpPr>
        <p:spPr>
          <a:xfrm>
            <a:off x="10058400" y="6300216"/>
            <a:ext cx="1371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provenance, errata</a:t>
            </a:r>
            <a:endParaRPr lang="en-US" sz="1100" dirty="0"/>
          </a:p>
        </p:txBody>
      </p:sp>
      <p:sp>
        <p:nvSpPr>
          <p:cNvPr id="8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019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02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·  THE TEAM THE NEXT STAGE NEEDS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1556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minimum viable team of six</a:t>
            </a:r>
            <a:endParaRPr lang="en-US" sz="2250" dirty="0"/>
          </a:p>
        </p:txBody>
      </p:sp>
      <p:sp>
        <p:nvSpPr>
          <p:cNvPr id="4" name="shape-0"/>
          <p:cNvSpPr/>
          <p:nvPr/>
        </p:nvSpPr>
        <p:spPr>
          <a:xfrm>
            <a:off x="9052560" y="347472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FDF1E3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-1"/>
          <p:cNvSpPr txBox="1"/>
          <p:nvPr/>
        </p:nvSpPr>
        <p:spPr>
          <a:xfrm>
            <a:off x="9089136" y="347472"/>
            <a:ext cx="248716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NOT A DECISION</a:t>
            </a:r>
            <a:endParaRPr lang="en-US" sz="1100" dirty="0"/>
          </a:p>
        </p:txBody>
      </p:sp>
      <p:sp>
        <p:nvSpPr>
          <p:cNvPr id="6" name="text-2"/>
          <p:cNvSpPr txBox="1"/>
          <p:nvPr/>
        </p:nvSpPr>
        <p:spPr>
          <a:xfrm>
            <a:off x="548640" y="14264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TEAM — WHO OWNS WHAT</a:t>
            </a:r>
            <a:endParaRPr lang="en-US" sz="1100" dirty="0"/>
          </a:p>
        </p:txBody>
      </p:sp>
      <p:sp>
        <p:nvSpPr>
          <p:cNvPr id="7" name="shape-3"/>
          <p:cNvSpPr/>
          <p:nvPr/>
        </p:nvSpPr>
        <p:spPr>
          <a:xfrm>
            <a:off x="548640" y="1773936"/>
            <a:ext cx="6949440" cy="676656"/>
          </a:xfrm>
          <a:prstGeom prst="roundRect">
            <a:avLst>
              <a:gd name="adj" fmla="val 10811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-4"/>
          <p:cNvSpPr txBox="1"/>
          <p:nvPr/>
        </p:nvSpPr>
        <p:spPr>
          <a:xfrm>
            <a:off x="731520" y="1773936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750" dirty="0"/>
          </a:p>
        </p:txBody>
      </p:sp>
      <p:sp>
        <p:nvSpPr>
          <p:cNvPr id="9" name="text-5"/>
          <p:cNvSpPr txBox="1"/>
          <p:nvPr/>
        </p:nvSpPr>
        <p:spPr>
          <a:xfrm>
            <a:off x="3383280" y="1828800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architecture, transformation, project management, roadmap</a:t>
            </a:r>
            <a:endParaRPr lang="en-US" sz="1300" dirty="0"/>
          </a:p>
        </p:txBody>
      </p:sp>
      <p:sp>
        <p:nvSpPr>
          <p:cNvPr id="10" name="text-6"/>
          <p:cNvSpPr txBox="1"/>
          <p:nvPr/>
        </p:nvSpPr>
        <p:spPr>
          <a:xfrm>
            <a:off x="3383280" y="2176272"/>
            <a:ext cx="31089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proposal: tweaked responsibilities</a:t>
            </a:r>
            <a:endParaRPr lang="en-US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shape-7"/>
          <p:cNvSpPr/>
          <p:nvPr/>
        </p:nvSpPr>
        <p:spPr>
          <a:xfrm>
            <a:off x="6364224" y="2048256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-8"/>
          <p:cNvSpPr txBox="1"/>
          <p:nvPr/>
        </p:nvSpPr>
        <p:spPr>
          <a:xfrm>
            <a:off x="6364224" y="204825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shape-9"/>
          <p:cNvSpPr/>
          <p:nvPr/>
        </p:nvSpPr>
        <p:spPr>
          <a:xfrm>
            <a:off x="6638544" y="2048256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-10"/>
          <p:cNvSpPr txBox="1"/>
          <p:nvPr/>
        </p:nvSpPr>
        <p:spPr>
          <a:xfrm>
            <a:off x="6638544" y="204825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shape-11"/>
          <p:cNvSpPr/>
          <p:nvPr/>
        </p:nvSpPr>
        <p:spPr>
          <a:xfrm>
            <a:off x="6912864" y="2048256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-12"/>
          <p:cNvSpPr txBox="1"/>
          <p:nvPr/>
        </p:nvSpPr>
        <p:spPr>
          <a:xfrm>
            <a:off x="6912864" y="204825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shape-13"/>
          <p:cNvSpPr/>
          <p:nvPr/>
        </p:nvSpPr>
        <p:spPr>
          <a:xfrm>
            <a:off x="7187184" y="2048256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-14"/>
          <p:cNvSpPr txBox="1"/>
          <p:nvPr/>
        </p:nvSpPr>
        <p:spPr>
          <a:xfrm>
            <a:off x="7187184" y="204825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19" name="shape-15"/>
          <p:cNvSpPr/>
          <p:nvPr/>
        </p:nvSpPr>
        <p:spPr>
          <a:xfrm>
            <a:off x="548640" y="2542032"/>
            <a:ext cx="6949440" cy="676656"/>
          </a:xfrm>
          <a:prstGeom prst="roundRect">
            <a:avLst>
              <a:gd name="adj" fmla="val 108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-16"/>
          <p:cNvSpPr txBox="1"/>
          <p:nvPr/>
        </p:nvSpPr>
        <p:spPr>
          <a:xfrm>
            <a:off x="731520" y="2542032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</a:t>
            </a:r>
            <a:endParaRPr lang="en-US" sz="1750" dirty="0"/>
          </a:p>
        </p:txBody>
      </p:sp>
      <p:sp>
        <p:nvSpPr>
          <p:cNvPr id="21" name="text-17"/>
          <p:cNvSpPr txBox="1"/>
          <p:nvPr/>
        </p:nvSpPr>
        <p:spPr>
          <a:xfrm>
            <a:off x="3383280" y="25968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build, maintain, technical QA</a:t>
            </a:r>
            <a:endParaRPr lang="en-US" sz="1300" dirty="0"/>
          </a:p>
        </p:txBody>
      </p:sp>
      <p:sp>
        <p:nvSpPr>
          <p:cNvPr id="23" name="shape-19"/>
          <p:cNvSpPr/>
          <p:nvPr/>
        </p:nvSpPr>
        <p:spPr>
          <a:xfrm>
            <a:off x="6638544" y="28163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-20"/>
          <p:cNvSpPr txBox="1"/>
          <p:nvPr/>
        </p:nvSpPr>
        <p:spPr>
          <a:xfrm>
            <a:off x="6638544" y="28163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5" name="shape-21"/>
          <p:cNvSpPr/>
          <p:nvPr/>
        </p:nvSpPr>
        <p:spPr>
          <a:xfrm>
            <a:off x="6912864" y="28163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-22"/>
          <p:cNvSpPr txBox="1"/>
          <p:nvPr/>
        </p:nvSpPr>
        <p:spPr>
          <a:xfrm>
            <a:off x="6912864" y="28163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shape-23"/>
          <p:cNvSpPr/>
          <p:nvPr/>
        </p:nvSpPr>
        <p:spPr>
          <a:xfrm>
            <a:off x="7187184" y="28163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-24"/>
          <p:cNvSpPr txBox="1"/>
          <p:nvPr/>
        </p:nvSpPr>
        <p:spPr>
          <a:xfrm>
            <a:off x="7187184" y="28163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9" name="shape-25"/>
          <p:cNvSpPr/>
          <p:nvPr/>
        </p:nvSpPr>
        <p:spPr>
          <a:xfrm>
            <a:off x="548640" y="3310128"/>
            <a:ext cx="6949440" cy="676656"/>
          </a:xfrm>
          <a:prstGeom prst="roundRect">
            <a:avLst>
              <a:gd name="adj" fmla="val 108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-26"/>
          <p:cNvSpPr txBox="1"/>
          <p:nvPr/>
        </p:nvSpPr>
        <p:spPr>
          <a:xfrm>
            <a:off x="731520" y="3310128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750" dirty="0"/>
          </a:p>
        </p:txBody>
      </p:sp>
      <p:sp>
        <p:nvSpPr>
          <p:cNvPr id="31" name="text-27"/>
          <p:cNvSpPr txBox="1"/>
          <p:nvPr/>
        </p:nvSpPr>
        <p:spPr>
          <a:xfrm>
            <a:off x="3383280" y="33649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maintain, technical QA</a:t>
            </a:r>
            <a:endParaRPr lang="en-US" sz="1300" dirty="0"/>
          </a:p>
        </p:txBody>
      </p:sp>
      <p:sp>
        <p:nvSpPr>
          <p:cNvPr id="32" name="text-28"/>
          <p:cNvSpPr txBox="1"/>
          <p:nvPr/>
        </p:nvSpPr>
        <p:spPr>
          <a:xfrm>
            <a:off x="3383280" y="3712464"/>
            <a:ext cx="31089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proposal: new — replaces the 0.6 PM</a:t>
            </a:r>
            <a:endParaRPr lang="en-US" sz="1100" dirty="0"/>
          </a:p>
        </p:txBody>
      </p:sp>
      <p:sp>
        <p:nvSpPr>
          <p:cNvPr id="33" name="shape-29"/>
          <p:cNvSpPr/>
          <p:nvPr/>
        </p:nvSpPr>
        <p:spPr>
          <a:xfrm>
            <a:off x="6912864" y="3584448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-30"/>
          <p:cNvSpPr txBox="1"/>
          <p:nvPr/>
        </p:nvSpPr>
        <p:spPr>
          <a:xfrm>
            <a:off x="6912864" y="358444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shape-31"/>
          <p:cNvSpPr/>
          <p:nvPr/>
        </p:nvSpPr>
        <p:spPr>
          <a:xfrm>
            <a:off x="7187184" y="3584448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-32"/>
          <p:cNvSpPr txBox="1"/>
          <p:nvPr/>
        </p:nvSpPr>
        <p:spPr>
          <a:xfrm>
            <a:off x="7187184" y="358444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37" name="shape-33"/>
          <p:cNvSpPr/>
          <p:nvPr/>
        </p:nvSpPr>
        <p:spPr>
          <a:xfrm>
            <a:off x="548640" y="4078224"/>
            <a:ext cx="6949440" cy="676656"/>
          </a:xfrm>
          <a:prstGeom prst="roundRect">
            <a:avLst>
              <a:gd name="adj" fmla="val 108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-34"/>
          <p:cNvSpPr txBox="1"/>
          <p:nvPr/>
        </p:nvSpPr>
        <p:spPr>
          <a:xfrm>
            <a:off x="731520" y="4078224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 (</a:t>
            </a:r>
            <a:r>
              <a:rPr lang="en-US" sz="1750" b="1" dirty="0" err="1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r>
              <a:rPr lang="en-US" sz="17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50" dirty="0"/>
          </a:p>
        </p:txBody>
      </p:sp>
      <p:sp>
        <p:nvSpPr>
          <p:cNvPr id="39" name="text-35"/>
          <p:cNvSpPr txBox="1"/>
          <p:nvPr/>
        </p:nvSpPr>
        <p:spPr>
          <a:xfrm>
            <a:off x="3383280" y="41330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ISMS, platform, pipeline</a:t>
            </a:r>
            <a:endParaRPr lang="en-US" sz="1300" dirty="0"/>
          </a:p>
        </p:txBody>
      </p:sp>
      <p:sp>
        <p:nvSpPr>
          <p:cNvPr id="40" name="text-36"/>
          <p:cNvSpPr txBox="1"/>
          <p:nvPr/>
        </p:nvSpPr>
        <p:spPr>
          <a:xfrm>
            <a:off x="3383280" y="4480560"/>
            <a:ext cx="31089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proposal was DevOps Engineer; </a:t>
            </a:r>
            <a:endParaRPr lang="en-US" sz="1100" dirty="0"/>
          </a:p>
        </p:txBody>
      </p:sp>
      <p:sp>
        <p:nvSpPr>
          <p:cNvPr id="41" name="shape-37"/>
          <p:cNvSpPr/>
          <p:nvPr/>
        </p:nvSpPr>
        <p:spPr>
          <a:xfrm>
            <a:off x="6638544" y="4352544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-38"/>
          <p:cNvSpPr txBox="1"/>
          <p:nvPr/>
        </p:nvSpPr>
        <p:spPr>
          <a:xfrm>
            <a:off x="6638544" y="435254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43" name="shape-39"/>
          <p:cNvSpPr/>
          <p:nvPr/>
        </p:nvSpPr>
        <p:spPr>
          <a:xfrm>
            <a:off x="6912864" y="4352544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-40"/>
          <p:cNvSpPr txBox="1"/>
          <p:nvPr/>
        </p:nvSpPr>
        <p:spPr>
          <a:xfrm>
            <a:off x="6912864" y="435254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5" name="shape-41"/>
          <p:cNvSpPr/>
          <p:nvPr/>
        </p:nvSpPr>
        <p:spPr>
          <a:xfrm>
            <a:off x="7187184" y="4352544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text-42"/>
          <p:cNvSpPr txBox="1"/>
          <p:nvPr/>
        </p:nvSpPr>
        <p:spPr>
          <a:xfrm>
            <a:off x="7187184" y="435254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47" name="shape-43"/>
          <p:cNvSpPr/>
          <p:nvPr/>
        </p:nvSpPr>
        <p:spPr>
          <a:xfrm>
            <a:off x="548640" y="4846320"/>
            <a:ext cx="6949440" cy="676656"/>
          </a:xfrm>
          <a:prstGeom prst="roundRect">
            <a:avLst>
              <a:gd name="adj" fmla="val 108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-44"/>
          <p:cNvSpPr txBox="1"/>
          <p:nvPr/>
        </p:nvSpPr>
        <p:spPr>
          <a:xfrm>
            <a:off x="731520" y="4846320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 Owner</a:t>
            </a:r>
            <a:endParaRPr lang="en-US" sz="1750" dirty="0"/>
          </a:p>
        </p:txBody>
      </p:sp>
      <p:sp>
        <p:nvSpPr>
          <p:cNvPr id="49" name="text-45"/>
          <p:cNvSpPr txBox="1"/>
          <p:nvPr/>
        </p:nvSpPr>
        <p:spPr>
          <a:xfrm>
            <a:off x="3383280" y="49011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Project, research, design</a:t>
            </a:r>
            <a:endParaRPr lang="en-US" sz="1300" dirty="0"/>
          </a:p>
        </p:txBody>
      </p:sp>
      <p:sp>
        <p:nvSpPr>
          <p:cNvPr id="50" name="text-46"/>
          <p:cNvSpPr txBox="1"/>
          <p:nvPr/>
        </p:nvSpPr>
        <p:spPr>
          <a:xfrm>
            <a:off x="3383280" y="5248656"/>
            <a:ext cx="31089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proposal research, design added</a:t>
            </a:r>
            <a:endParaRPr lang="en-US" sz="1100" dirty="0"/>
          </a:p>
        </p:txBody>
      </p:sp>
      <p:sp>
        <p:nvSpPr>
          <p:cNvPr id="51" name="shape-47"/>
          <p:cNvSpPr/>
          <p:nvPr/>
        </p:nvSpPr>
        <p:spPr>
          <a:xfrm>
            <a:off x="6638544" y="5120640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text-48"/>
          <p:cNvSpPr txBox="1"/>
          <p:nvPr/>
        </p:nvSpPr>
        <p:spPr>
          <a:xfrm>
            <a:off x="6638544" y="512064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53" name="shape-49"/>
          <p:cNvSpPr/>
          <p:nvPr/>
        </p:nvSpPr>
        <p:spPr>
          <a:xfrm>
            <a:off x="6912864" y="5120640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text-50"/>
          <p:cNvSpPr txBox="1"/>
          <p:nvPr/>
        </p:nvSpPr>
        <p:spPr>
          <a:xfrm>
            <a:off x="6912864" y="512064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55" name="shape-51"/>
          <p:cNvSpPr/>
          <p:nvPr/>
        </p:nvSpPr>
        <p:spPr>
          <a:xfrm>
            <a:off x="7187184" y="5120640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6" name="text-52"/>
          <p:cNvSpPr txBox="1"/>
          <p:nvPr/>
        </p:nvSpPr>
        <p:spPr>
          <a:xfrm>
            <a:off x="7187184" y="512064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57" name="shape-53"/>
          <p:cNvSpPr/>
          <p:nvPr/>
        </p:nvSpPr>
        <p:spPr>
          <a:xfrm>
            <a:off x="548640" y="5614416"/>
            <a:ext cx="6949440" cy="676656"/>
          </a:xfrm>
          <a:prstGeom prst="roundRect">
            <a:avLst>
              <a:gd name="adj" fmla="val 108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text-54"/>
          <p:cNvSpPr txBox="1"/>
          <p:nvPr/>
        </p:nvSpPr>
        <p:spPr>
          <a:xfrm>
            <a:off x="731520" y="5614416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BA</a:t>
            </a:r>
            <a:endParaRPr lang="en-US" sz="1750" dirty="0"/>
          </a:p>
        </p:txBody>
      </p:sp>
      <p:sp>
        <p:nvSpPr>
          <p:cNvPr id="59" name="text-55"/>
          <p:cNvSpPr txBox="1"/>
          <p:nvPr/>
        </p:nvSpPr>
        <p:spPr>
          <a:xfrm>
            <a:off x="3383280" y="56692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testing, QA, product assistance</a:t>
            </a:r>
            <a:endParaRPr lang="en-US" sz="1300" dirty="0"/>
          </a:p>
        </p:txBody>
      </p:sp>
      <p:sp>
        <p:nvSpPr>
          <p:cNvPr id="60" name="text-56"/>
          <p:cNvSpPr txBox="1"/>
          <p:nvPr/>
        </p:nvSpPr>
        <p:spPr>
          <a:xfrm>
            <a:off x="3383280" y="6016752"/>
            <a:ext cx="31089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proposal was part-time BA; QA made focus </a:t>
            </a:r>
            <a:endParaRPr lang="en-US" sz="1100" dirty="0"/>
          </a:p>
        </p:txBody>
      </p:sp>
      <p:sp>
        <p:nvSpPr>
          <p:cNvPr id="61" name="shape-57"/>
          <p:cNvSpPr/>
          <p:nvPr/>
        </p:nvSpPr>
        <p:spPr>
          <a:xfrm>
            <a:off x="6912864" y="5888736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text-58"/>
          <p:cNvSpPr txBox="1"/>
          <p:nvPr/>
        </p:nvSpPr>
        <p:spPr>
          <a:xfrm>
            <a:off x="6912864" y="588873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63" name="shape-59"/>
          <p:cNvSpPr/>
          <p:nvPr/>
        </p:nvSpPr>
        <p:spPr>
          <a:xfrm>
            <a:off x="7187184" y="5888736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4" name="text-60"/>
          <p:cNvSpPr txBox="1"/>
          <p:nvPr/>
        </p:nvSpPr>
        <p:spPr>
          <a:xfrm>
            <a:off x="7187184" y="588873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65" name="text-61"/>
          <p:cNvSpPr txBox="1"/>
          <p:nvPr/>
        </p:nvSpPr>
        <p:spPr>
          <a:xfrm>
            <a:off x="7772400" y="14264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GATE 2 WOULD CHOOSE BETWEEN</a:t>
            </a:r>
            <a:endParaRPr lang="en-US" sz="1100" dirty="0"/>
          </a:p>
        </p:txBody>
      </p:sp>
      <p:sp>
        <p:nvSpPr>
          <p:cNvPr id="66" name="shape-62"/>
          <p:cNvSpPr/>
          <p:nvPr/>
        </p:nvSpPr>
        <p:spPr>
          <a:xfrm>
            <a:off x="7772400" y="1773936"/>
            <a:ext cx="38404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5875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67" name="icon-6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4" y="1956816"/>
            <a:ext cx="219456" cy="219456"/>
          </a:xfrm>
          <a:prstGeom prst="rect">
            <a:avLst/>
          </a:prstGeom>
        </p:spPr>
      </p:pic>
      <p:sp>
        <p:nvSpPr>
          <p:cNvPr id="68" name="text-64"/>
          <p:cNvSpPr txBox="1"/>
          <p:nvPr/>
        </p:nvSpPr>
        <p:spPr>
          <a:xfrm>
            <a:off x="8247888" y="1883664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Developer, or the vendor’s 0.6 PM</a:t>
            </a:r>
            <a:endParaRPr lang="en-US" sz="1350" dirty="0"/>
          </a:p>
        </p:txBody>
      </p:sp>
      <p:sp>
        <p:nvSpPr>
          <p:cNvPr id="69" name="text-65"/>
          <p:cNvSpPr txBox="1"/>
          <p:nvPr/>
        </p:nvSpPr>
        <p:spPr>
          <a:xfrm>
            <a:off x="7918704" y="230336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product is built in-house</a:t>
            </a:r>
            <a:endParaRPr lang="en-US" sz="1150" dirty="0"/>
          </a:p>
        </p:txBody>
      </p:sp>
      <p:sp>
        <p:nvSpPr>
          <p:cNvPr id="70" name="shape-66"/>
          <p:cNvSpPr/>
          <p:nvPr/>
        </p:nvSpPr>
        <p:spPr>
          <a:xfrm>
            <a:off x="7772400" y="2852928"/>
            <a:ext cx="38404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5875">
            <a:solidFill>
              <a:srgbClr val="D4DB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71" name="icon-6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3035808"/>
            <a:ext cx="219456" cy="219456"/>
          </a:xfrm>
          <a:prstGeom prst="rect">
            <a:avLst/>
          </a:prstGeom>
        </p:spPr>
      </p:pic>
      <p:sp>
        <p:nvSpPr>
          <p:cNvPr id="72" name="text-68"/>
          <p:cNvSpPr txBox="1"/>
          <p:nvPr/>
        </p:nvSpPr>
        <p:spPr>
          <a:xfrm>
            <a:off x="8247888" y="2962656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budget and AI-DLC adoption instead of more headcount</a:t>
            </a:r>
            <a:endParaRPr lang="en-US" sz="1350" dirty="0"/>
          </a:p>
        </p:txBody>
      </p:sp>
      <p:sp>
        <p:nvSpPr>
          <p:cNvPr id="73" name="text-69"/>
          <p:cNvSpPr txBox="1"/>
          <p:nvPr/>
        </p:nvSpPr>
        <p:spPr>
          <a:xfrm>
            <a:off x="7918704" y="347472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assist, accelerate and de-risk product work</a:t>
            </a:r>
            <a:endParaRPr lang="en-US" sz="1150" dirty="0"/>
          </a:p>
        </p:txBody>
      </p:sp>
      <p:sp>
        <p:nvSpPr>
          <p:cNvPr id="78" name="shape-74"/>
          <p:cNvSpPr/>
          <p:nvPr/>
        </p:nvSpPr>
        <p:spPr>
          <a:xfrm>
            <a:off x="7772400" y="3968496"/>
            <a:ext cx="3840480" cy="2395728"/>
          </a:xfrm>
          <a:prstGeom prst="roundRect">
            <a:avLst>
              <a:gd name="adj" fmla="val 5405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9" name="text-75"/>
          <p:cNvSpPr txBox="1"/>
          <p:nvPr/>
        </p:nvSpPr>
        <p:spPr>
          <a:xfrm>
            <a:off x="7936992" y="4155948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TEAM — PARTNER OR MSP</a:t>
            </a:r>
            <a:endParaRPr lang="en-US" sz="1100" dirty="0"/>
          </a:p>
        </p:txBody>
      </p:sp>
      <p:sp>
        <p:nvSpPr>
          <p:cNvPr id="88" name="text-84"/>
          <p:cNvSpPr txBox="1"/>
          <p:nvPr/>
        </p:nvSpPr>
        <p:spPr>
          <a:xfrm>
            <a:off x="548640" y="641908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Responsibilities, not an approved hiring plan.</a:t>
            </a:r>
            <a:endParaRPr lang="en-US" sz="1100" dirty="0"/>
          </a:p>
        </p:txBody>
      </p:sp>
      <p:sp>
        <p:nvSpPr>
          <p:cNvPr id="8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019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90" name="text-71">
            <a:extLst>
              <a:ext uri="{FF2B5EF4-FFF2-40B4-BE49-F238E27FC236}">
                <a16:creationId xmlns:a16="http://schemas.microsoft.com/office/drawing/2014/main" id="{31892BA6-DED4-D074-F9BD-11D4AA16280D}"/>
              </a:ext>
            </a:extLst>
          </p:cNvPr>
          <p:cNvSpPr txBox="1"/>
          <p:nvPr/>
        </p:nvSpPr>
        <p:spPr>
          <a:xfrm>
            <a:off x="8004971" y="448056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provider — office IT</a:t>
            </a:r>
            <a:endParaRPr lang="en-US" sz="1200" dirty="0"/>
          </a:p>
        </p:txBody>
      </p:sp>
      <p:sp>
        <p:nvSpPr>
          <p:cNvPr id="91" name="oval-72">
            <a:extLst>
              <a:ext uri="{FF2B5EF4-FFF2-40B4-BE49-F238E27FC236}">
                <a16:creationId xmlns:a16="http://schemas.microsoft.com/office/drawing/2014/main" id="{849469B6-9A02-66CC-A4D1-C24B18F35E84}"/>
              </a:ext>
            </a:extLst>
          </p:cNvPr>
          <p:cNvSpPr/>
          <p:nvPr/>
        </p:nvSpPr>
        <p:spPr>
          <a:xfrm>
            <a:off x="8046119" y="4768596"/>
            <a:ext cx="64008" cy="6400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92" name="text-73">
            <a:extLst>
              <a:ext uri="{FF2B5EF4-FFF2-40B4-BE49-F238E27FC236}">
                <a16:creationId xmlns:a16="http://schemas.microsoft.com/office/drawing/2014/main" id="{33311372-807B-1BC2-468E-6463AEB165F8}"/>
              </a:ext>
            </a:extLst>
          </p:cNvPr>
          <p:cNvSpPr txBox="1"/>
          <p:nvPr/>
        </p:nvSpPr>
        <p:spPr>
          <a:xfrm>
            <a:off x="8187851" y="4700016"/>
            <a:ext cx="336499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Laptops, printers, phones and internet</a:t>
            </a:r>
            <a:endParaRPr lang="en-US" sz="1200" dirty="0"/>
          </a:p>
        </p:txBody>
      </p:sp>
      <p:sp>
        <p:nvSpPr>
          <p:cNvPr id="93" name="text-74">
            <a:extLst>
              <a:ext uri="{FF2B5EF4-FFF2-40B4-BE49-F238E27FC236}">
                <a16:creationId xmlns:a16="http://schemas.microsoft.com/office/drawing/2014/main" id="{AB3C6823-671D-F36C-709C-AC209895A9E1}"/>
              </a:ext>
            </a:extLst>
          </p:cNvPr>
          <p:cNvSpPr txBox="1"/>
          <p:nvPr/>
        </p:nvSpPr>
        <p:spPr>
          <a:xfrm>
            <a:off x="8004971" y="5010912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partners — bought in when needed</a:t>
            </a:r>
            <a:endParaRPr lang="en-US" sz="1200" dirty="0"/>
          </a:p>
        </p:txBody>
      </p:sp>
      <p:sp>
        <p:nvSpPr>
          <p:cNvPr id="94" name="oval-75">
            <a:extLst>
              <a:ext uri="{FF2B5EF4-FFF2-40B4-BE49-F238E27FC236}">
                <a16:creationId xmlns:a16="http://schemas.microsoft.com/office/drawing/2014/main" id="{D6E83ED9-730B-18E5-729D-1A48C5BFAE20}"/>
              </a:ext>
            </a:extLst>
          </p:cNvPr>
          <p:cNvSpPr/>
          <p:nvPr/>
        </p:nvSpPr>
        <p:spPr>
          <a:xfrm>
            <a:off x="8046119" y="5298948"/>
            <a:ext cx="64008" cy="6400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95" name="text-76">
            <a:extLst>
              <a:ext uri="{FF2B5EF4-FFF2-40B4-BE49-F238E27FC236}">
                <a16:creationId xmlns:a16="http://schemas.microsoft.com/office/drawing/2014/main" id="{E8E64984-B036-2A91-C9D3-0F21CDE72180}"/>
              </a:ext>
            </a:extLst>
          </p:cNvPr>
          <p:cNvSpPr txBox="1"/>
          <p:nvPr/>
        </p:nvSpPr>
        <p:spPr>
          <a:xfrm>
            <a:off x="8187851" y="5230368"/>
            <a:ext cx="336499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security testing and certification</a:t>
            </a:r>
            <a:endParaRPr lang="en-US" sz="1200" dirty="0"/>
          </a:p>
        </p:txBody>
      </p:sp>
      <p:sp>
        <p:nvSpPr>
          <p:cNvPr id="96" name="oval-77">
            <a:extLst>
              <a:ext uri="{FF2B5EF4-FFF2-40B4-BE49-F238E27FC236}">
                <a16:creationId xmlns:a16="http://schemas.microsoft.com/office/drawing/2014/main" id="{F21FE083-6F10-CC6A-B458-47700A4A2C39}"/>
              </a:ext>
            </a:extLst>
          </p:cNvPr>
          <p:cNvSpPr/>
          <p:nvPr/>
        </p:nvSpPr>
        <p:spPr>
          <a:xfrm>
            <a:off x="8046119" y="5518404"/>
            <a:ext cx="64008" cy="6400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97" name="text-78">
            <a:extLst>
              <a:ext uri="{FF2B5EF4-FFF2-40B4-BE49-F238E27FC236}">
                <a16:creationId xmlns:a16="http://schemas.microsoft.com/office/drawing/2014/main" id="{1D008782-8475-9DCA-553D-3F8E4AB84154}"/>
              </a:ext>
            </a:extLst>
          </p:cNvPr>
          <p:cNvSpPr txBox="1"/>
          <p:nvPr/>
        </p:nvSpPr>
        <p:spPr>
          <a:xfrm>
            <a:off x="8187851" y="5449824"/>
            <a:ext cx="336499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help on vendors’ systems (CRM, shop, finance)</a:t>
            </a:r>
            <a:endParaRPr lang="en-US" sz="1200" dirty="0"/>
          </a:p>
        </p:txBody>
      </p:sp>
      <p:sp>
        <p:nvSpPr>
          <p:cNvPr id="98" name="text-79">
            <a:extLst>
              <a:ext uri="{FF2B5EF4-FFF2-40B4-BE49-F238E27FC236}">
                <a16:creationId xmlns:a16="http://schemas.microsoft.com/office/drawing/2014/main" id="{4D3A73AE-2E91-3279-F591-9C960A20DCA1}"/>
              </a:ext>
            </a:extLst>
          </p:cNvPr>
          <p:cNvSpPr txBox="1"/>
          <p:nvPr/>
        </p:nvSpPr>
        <p:spPr>
          <a:xfrm>
            <a:off x="8004971" y="576072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team’s remit</a:t>
            </a:r>
            <a:endParaRPr lang="en-US" sz="1200" dirty="0"/>
          </a:p>
        </p:txBody>
      </p:sp>
      <p:sp>
        <p:nvSpPr>
          <p:cNvPr id="99" name="oval-80">
            <a:extLst>
              <a:ext uri="{FF2B5EF4-FFF2-40B4-BE49-F238E27FC236}">
                <a16:creationId xmlns:a16="http://schemas.microsoft.com/office/drawing/2014/main" id="{BAD9DF36-37A4-A7F4-0E28-1DC7DE69F4EE}"/>
              </a:ext>
            </a:extLst>
          </p:cNvPr>
          <p:cNvSpPr/>
          <p:nvPr/>
        </p:nvSpPr>
        <p:spPr>
          <a:xfrm>
            <a:off x="8046119" y="6048756"/>
            <a:ext cx="64008" cy="6400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100" name="text-81">
            <a:extLst>
              <a:ext uri="{FF2B5EF4-FFF2-40B4-BE49-F238E27FC236}">
                <a16:creationId xmlns:a16="http://schemas.microsoft.com/office/drawing/2014/main" id="{84A3A8B3-6C51-8282-48BC-A19EC4E7A185}"/>
              </a:ext>
            </a:extLst>
          </p:cNvPr>
          <p:cNvSpPr txBox="1"/>
          <p:nvPr/>
        </p:nvSpPr>
        <p:spPr>
          <a:xfrm>
            <a:off x="8187851" y="5980176"/>
            <a:ext cx="336499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02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GOVERNANCE, ASSURANCE GATES AND THE NEXT SIX MONTHS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1556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operating rhythm, gates sized to the tier, judged on outcomes rather than AI activity</a:t>
            </a:r>
            <a:endParaRPr lang="en-US" sz="2250" dirty="0"/>
          </a:p>
        </p:txBody>
      </p:sp>
      <p:sp>
        <p:nvSpPr>
          <p:cNvPr id="4" name="text-0"/>
          <p:cNvSpPr txBox="1"/>
          <p:nvPr/>
        </p:nvSpPr>
        <p:spPr>
          <a:xfrm>
            <a:off x="548640" y="13350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RHYTHM — WHO SEES WHAT</a:t>
            </a:r>
            <a:endParaRPr lang="en-US" sz="1100" dirty="0"/>
          </a:p>
        </p:txBody>
      </p:sp>
      <p:sp>
        <p:nvSpPr>
          <p:cNvPr id="5" name="shape-1"/>
          <p:cNvSpPr/>
          <p:nvPr/>
        </p:nvSpPr>
        <p:spPr>
          <a:xfrm>
            <a:off x="548640" y="1664208"/>
            <a:ext cx="4206240" cy="786384"/>
          </a:xfrm>
          <a:prstGeom prst="roundRect">
            <a:avLst>
              <a:gd name="adj" fmla="val 9302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-2"/>
          <p:cNvSpPr txBox="1"/>
          <p:nvPr/>
        </p:nvSpPr>
        <p:spPr>
          <a:xfrm>
            <a:off x="694944" y="17556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/ Risk Committee</a:t>
            </a:r>
            <a:endParaRPr lang="en-US" sz="1450" dirty="0"/>
          </a:p>
        </p:txBody>
      </p:sp>
      <p:sp>
        <p:nvSpPr>
          <p:cNvPr id="7" name="text-3"/>
          <p:cNvSpPr txBox="1"/>
          <p:nvPr/>
        </p:nvSpPr>
        <p:spPr>
          <a:xfrm>
            <a:off x="694944" y="20299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quarterly, with a monthly review pack · date confidence, gate sign-off, risks, spend</a:t>
            </a:r>
            <a:endParaRPr lang="en-US" sz="1100" dirty="0"/>
          </a:p>
        </p:txBody>
      </p:sp>
      <p:sp>
        <p:nvSpPr>
          <p:cNvPr id="8" name="shape-4"/>
          <p:cNvSpPr/>
          <p:nvPr/>
        </p:nvSpPr>
        <p:spPr>
          <a:xfrm>
            <a:off x="548640" y="2578608"/>
            <a:ext cx="3931920" cy="786384"/>
          </a:xfrm>
          <a:prstGeom prst="roundRect">
            <a:avLst>
              <a:gd name="adj" fmla="val 930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-5"/>
          <p:cNvSpPr txBox="1"/>
          <p:nvPr/>
        </p:nvSpPr>
        <p:spPr>
          <a:xfrm>
            <a:off x="694944" y="2670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and Partner Review</a:t>
            </a:r>
            <a:endParaRPr lang="en-US" sz="1450" dirty="0"/>
          </a:p>
        </p:txBody>
      </p:sp>
      <p:sp>
        <p:nvSpPr>
          <p:cNvPr id="10" name="text-6"/>
          <p:cNvSpPr txBox="1"/>
          <p:nvPr/>
        </p:nvSpPr>
        <p:spPr>
          <a:xfrm>
            <a:off x="694944" y="29443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weekly, CEO invited · cycle time, change failure, blockers, decisions pending</a:t>
            </a:r>
            <a:endParaRPr lang="en-US" sz="1100" dirty="0"/>
          </a:p>
        </p:txBody>
      </p:sp>
      <p:sp>
        <p:nvSpPr>
          <p:cNvPr id="11" name="shape-7"/>
          <p:cNvSpPr/>
          <p:nvPr/>
        </p:nvSpPr>
        <p:spPr>
          <a:xfrm>
            <a:off x="548640" y="3493008"/>
            <a:ext cx="3657600" cy="786384"/>
          </a:xfrm>
          <a:prstGeom prst="roundRect">
            <a:avLst>
              <a:gd name="adj" fmla="val 9302"/>
            </a:avLst>
          </a:prstGeom>
          <a:solidFill>
            <a:srgbClr val="D6ECE9"/>
          </a:solidFill>
          <a:ln w="12700">
            <a:solidFill>
              <a:srgbClr val="D6ECE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-8"/>
          <p:cNvSpPr txBox="1"/>
          <p:nvPr/>
        </p:nvSpPr>
        <p:spPr>
          <a:xfrm>
            <a:off x="694944" y="35844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</a:t>
            </a:r>
            <a:endParaRPr lang="en-US" sz="1450" dirty="0"/>
          </a:p>
        </p:txBody>
      </p:sp>
      <p:sp>
        <p:nvSpPr>
          <p:cNvPr id="13" name="text-9"/>
          <p:cNvSpPr txBox="1"/>
          <p:nvPr/>
        </p:nvSpPr>
        <p:spPr>
          <a:xfrm>
            <a:off x="694944" y="38587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down, visible to all</a:t>
            </a:r>
            <a:endParaRPr lang="en-US" sz="1100" dirty="0"/>
          </a:p>
        </p:txBody>
      </p:sp>
      <p:sp>
        <p:nvSpPr>
          <p:cNvPr id="14" name="text-10"/>
          <p:cNvSpPr txBox="1"/>
          <p:nvPr/>
        </p:nvSpPr>
        <p:spPr>
          <a:xfrm>
            <a:off x="4937760" y="13350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GATES BY TIER — EVERY INCREMENT, EVIDENCE NOT MEETINGS</a:t>
            </a:r>
            <a:endParaRPr lang="en-US" sz="1100" dirty="0"/>
          </a:p>
        </p:txBody>
      </p:sp>
      <p:sp>
        <p:nvSpPr>
          <p:cNvPr id="15" name="shape-11"/>
          <p:cNvSpPr/>
          <p:nvPr/>
        </p:nvSpPr>
        <p:spPr>
          <a:xfrm>
            <a:off x="8595360" y="158191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-12"/>
          <p:cNvSpPr txBox="1"/>
          <p:nvPr/>
        </p:nvSpPr>
        <p:spPr>
          <a:xfrm>
            <a:off x="8595360" y="15819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shape-13"/>
          <p:cNvSpPr/>
          <p:nvPr/>
        </p:nvSpPr>
        <p:spPr>
          <a:xfrm>
            <a:off x="9326880" y="158191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-14"/>
          <p:cNvSpPr txBox="1"/>
          <p:nvPr/>
        </p:nvSpPr>
        <p:spPr>
          <a:xfrm>
            <a:off x="9326880" y="15819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9" name="shape-15"/>
          <p:cNvSpPr/>
          <p:nvPr/>
        </p:nvSpPr>
        <p:spPr>
          <a:xfrm>
            <a:off x="10058400" y="158191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-16"/>
          <p:cNvSpPr txBox="1"/>
          <p:nvPr/>
        </p:nvSpPr>
        <p:spPr>
          <a:xfrm>
            <a:off x="10058400" y="15819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shape-17"/>
          <p:cNvSpPr/>
          <p:nvPr/>
        </p:nvSpPr>
        <p:spPr>
          <a:xfrm>
            <a:off x="10789920" y="158191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-18"/>
          <p:cNvSpPr txBox="1"/>
          <p:nvPr/>
        </p:nvSpPr>
        <p:spPr>
          <a:xfrm>
            <a:off x="10789920" y="15819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23" name="shape-19"/>
          <p:cNvSpPr/>
          <p:nvPr/>
        </p:nvSpPr>
        <p:spPr>
          <a:xfrm>
            <a:off x="4937760" y="1773936"/>
            <a:ext cx="6675120" cy="402336"/>
          </a:xfrm>
          <a:prstGeom prst="roundRect">
            <a:avLst>
              <a:gd name="adj" fmla="val 909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-20"/>
          <p:cNvSpPr txBox="1"/>
          <p:nvPr/>
        </p:nvSpPr>
        <p:spPr>
          <a:xfrm>
            <a:off x="5029200" y="1847088"/>
            <a:ext cx="34747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payments and ISMS</a:t>
            </a:r>
            <a:endParaRPr lang="en-US" sz="1250" dirty="0"/>
          </a:p>
        </p:txBody>
      </p:sp>
      <p:sp>
        <p:nvSpPr>
          <p:cNvPr id="25" name="oval-21"/>
          <p:cNvSpPr/>
          <p:nvPr/>
        </p:nvSpPr>
        <p:spPr>
          <a:xfrm>
            <a:off x="8613648" y="1892808"/>
            <a:ext cx="164592" cy="164592"/>
          </a:xfrm>
          <a:prstGeom prst="ellipse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oval-22"/>
          <p:cNvSpPr/>
          <p:nvPr/>
        </p:nvSpPr>
        <p:spPr>
          <a:xfrm>
            <a:off x="10076688" y="1892808"/>
            <a:ext cx="164592" cy="164592"/>
          </a:xfrm>
          <a:prstGeom prst="ellipse">
            <a:avLst/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oval-23"/>
          <p:cNvSpPr/>
          <p:nvPr/>
        </p:nvSpPr>
        <p:spPr>
          <a:xfrm>
            <a:off x="10808208" y="1892808"/>
            <a:ext cx="164592" cy="16459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-24"/>
          <p:cNvSpPr txBox="1"/>
          <p:nvPr/>
        </p:nvSpPr>
        <p:spPr>
          <a:xfrm>
            <a:off x="5029200" y="2304288"/>
            <a:ext cx="34747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privacy</a:t>
            </a:r>
            <a:endParaRPr lang="en-US" sz="1250" dirty="0"/>
          </a:p>
        </p:txBody>
      </p:sp>
      <p:sp>
        <p:nvSpPr>
          <p:cNvPr id="29" name="oval-25"/>
          <p:cNvSpPr/>
          <p:nvPr/>
        </p:nvSpPr>
        <p:spPr>
          <a:xfrm>
            <a:off x="8613648" y="2350008"/>
            <a:ext cx="164592" cy="164592"/>
          </a:xfrm>
          <a:prstGeom prst="ellipse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oval-26"/>
          <p:cNvSpPr/>
          <p:nvPr/>
        </p:nvSpPr>
        <p:spPr>
          <a:xfrm>
            <a:off x="9345168" y="2350008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oval-27"/>
          <p:cNvSpPr/>
          <p:nvPr/>
        </p:nvSpPr>
        <p:spPr>
          <a:xfrm>
            <a:off x="10076688" y="2350008"/>
            <a:ext cx="164592" cy="164592"/>
          </a:xfrm>
          <a:prstGeom prst="ellipse">
            <a:avLst/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shape-28"/>
          <p:cNvSpPr/>
          <p:nvPr/>
        </p:nvSpPr>
        <p:spPr>
          <a:xfrm>
            <a:off x="4937760" y="2688336"/>
            <a:ext cx="6675120" cy="402336"/>
          </a:xfrm>
          <a:prstGeom prst="roundRect">
            <a:avLst>
              <a:gd name="adj" fmla="val 909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-29"/>
          <p:cNvSpPr txBox="1"/>
          <p:nvPr/>
        </p:nvSpPr>
        <p:spPr>
          <a:xfrm>
            <a:off x="5029200" y="2761488"/>
            <a:ext cx="34747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integrity and clinical governance</a:t>
            </a:r>
            <a:endParaRPr lang="en-US" sz="1250" dirty="0"/>
          </a:p>
        </p:txBody>
      </p:sp>
      <p:sp>
        <p:nvSpPr>
          <p:cNvPr id="34" name="oval-30"/>
          <p:cNvSpPr/>
          <p:nvPr/>
        </p:nvSpPr>
        <p:spPr>
          <a:xfrm>
            <a:off x="8613648" y="2807208"/>
            <a:ext cx="164592" cy="164592"/>
          </a:xfrm>
          <a:prstGeom prst="ellipse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oval-31"/>
          <p:cNvSpPr/>
          <p:nvPr/>
        </p:nvSpPr>
        <p:spPr>
          <a:xfrm>
            <a:off x="9345168" y="2807208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-32"/>
          <p:cNvSpPr txBox="1"/>
          <p:nvPr/>
        </p:nvSpPr>
        <p:spPr>
          <a:xfrm>
            <a:off x="5029200" y="3218688"/>
            <a:ext cx="34747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operability</a:t>
            </a:r>
            <a:endParaRPr lang="en-US" sz="1250" dirty="0"/>
          </a:p>
        </p:txBody>
      </p:sp>
      <p:sp>
        <p:nvSpPr>
          <p:cNvPr id="37" name="oval-33"/>
          <p:cNvSpPr/>
          <p:nvPr/>
        </p:nvSpPr>
        <p:spPr>
          <a:xfrm>
            <a:off x="8613648" y="3264408"/>
            <a:ext cx="164592" cy="164592"/>
          </a:xfrm>
          <a:prstGeom prst="ellipse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oval-34"/>
          <p:cNvSpPr/>
          <p:nvPr/>
        </p:nvSpPr>
        <p:spPr>
          <a:xfrm>
            <a:off x="10076688" y="3264408"/>
            <a:ext cx="164592" cy="164592"/>
          </a:xfrm>
          <a:prstGeom prst="ellipse">
            <a:avLst/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oval-35"/>
          <p:cNvSpPr/>
          <p:nvPr/>
        </p:nvSpPr>
        <p:spPr>
          <a:xfrm>
            <a:off x="10808208" y="3264408"/>
            <a:ext cx="164592" cy="16459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shape-36"/>
          <p:cNvSpPr/>
          <p:nvPr/>
        </p:nvSpPr>
        <p:spPr>
          <a:xfrm>
            <a:off x="4937760" y="3602736"/>
            <a:ext cx="6675120" cy="402336"/>
          </a:xfrm>
          <a:prstGeom prst="roundRect">
            <a:avLst>
              <a:gd name="adj" fmla="val 909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-37"/>
          <p:cNvSpPr txBox="1"/>
          <p:nvPr/>
        </p:nvSpPr>
        <p:spPr>
          <a:xfrm>
            <a:off x="5029200" y="3675888"/>
            <a:ext cx="34747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readiness</a:t>
            </a:r>
            <a:endParaRPr lang="en-US" sz="1250" dirty="0"/>
          </a:p>
        </p:txBody>
      </p:sp>
      <p:sp>
        <p:nvSpPr>
          <p:cNvPr id="42" name="oval-38"/>
          <p:cNvSpPr/>
          <p:nvPr/>
        </p:nvSpPr>
        <p:spPr>
          <a:xfrm>
            <a:off x="8613648" y="3721608"/>
            <a:ext cx="164592" cy="164592"/>
          </a:xfrm>
          <a:prstGeom prst="ellipse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oval-39"/>
          <p:cNvSpPr/>
          <p:nvPr/>
        </p:nvSpPr>
        <p:spPr>
          <a:xfrm>
            <a:off x="9345168" y="3721608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oval-40"/>
          <p:cNvSpPr/>
          <p:nvPr/>
        </p:nvSpPr>
        <p:spPr>
          <a:xfrm>
            <a:off x="10808208" y="3721608"/>
            <a:ext cx="164592" cy="16459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-41"/>
          <p:cNvSpPr txBox="1"/>
          <p:nvPr/>
        </p:nvSpPr>
        <p:spPr>
          <a:xfrm>
            <a:off x="4937760" y="4297680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· B content tooling · C commodity · X cross-cutting</a:t>
            </a:r>
            <a:endParaRPr lang="en-US" sz="1100" dirty="0"/>
          </a:p>
        </p:txBody>
      </p:sp>
      <p:sp>
        <p:nvSpPr>
          <p:cNvPr id="46" name="text-42"/>
          <p:cNvSpPr txBox="1"/>
          <p:nvPr/>
        </p:nvSpPr>
        <p:spPr>
          <a:xfrm>
            <a:off x="54864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SIX MONTHS</a:t>
            </a:r>
            <a:endParaRPr lang="en-US" sz="1100" dirty="0"/>
          </a:p>
        </p:txBody>
      </p:sp>
      <p:sp>
        <p:nvSpPr>
          <p:cNvPr id="47" name="shape-43"/>
          <p:cNvSpPr/>
          <p:nvPr/>
        </p:nvSpPr>
        <p:spPr>
          <a:xfrm>
            <a:off x="548640" y="5120640"/>
            <a:ext cx="3590544" cy="1005840"/>
          </a:xfrm>
          <a:prstGeom prst="roundRect">
            <a:avLst>
              <a:gd name="adj" fmla="val 7273"/>
            </a:avLst>
          </a:prstGeom>
          <a:solidFill>
            <a:srgbClr val="D6ECE9"/>
          </a:solidFill>
          <a:ln w="12700">
            <a:solidFill>
              <a:srgbClr val="D6ECE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-44"/>
          <p:cNvSpPr txBox="1"/>
          <p:nvPr/>
        </p:nvSpPr>
        <p:spPr>
          <a:xfrm>
            <a:off x="731520" y="5248656"/>
            <a:ext cx="3224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1750" dirty="0"/>
          </a:p>
        </p:txBody>
      </p:sp>
      <p:sp>
        <p:nvSpPr>
          <p:cNvPr id="49" name="text-45"/>
          <p:cNvSpPr txBox="1"/>
          <p:nvPr/>
        </p:nvSpPr>
        <p:spPr>
          <a:xfrm>
            <a:off x="731520" y="5596128"/>
            <a:ext cx="3224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baselines, fit test, scope decisions to the board</a:t>
            </a:r>
            <a:endParaRPr lang="en-US" sz="1250" dirty="0"/>
          </a:p>
        </p:txBody>
      </p:sp>
      <p:sp>
        <p:nvSpPr>
          <p:cNvPr id="50" name="shape-46"/>
          <p:cNvSpPr/>
          <p:nvPr/>
        </p:nvSpPr>
        <p:spPr>
          <a:xfrm>
            <a:off x="4285488" y="5120640"/>
            <a:ext cx="3590544" cy="100584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text-47"/>
          <p:cNvSpPr txBox="1"/>
          <p:nvPr/>
        </p:nvSpPr>
        <p:spPr>
          <a:xfrm>
            <a:off x="4468368" y="5248656"/>
            <a:ext cx="3224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3–4</a:t>
            </a:r>
            <a:endParaRPr lang="en-US" sz="1750" dirty="0"/>
          </a:p>
        </p:txBody>
      </p:sp>
      <p:sp>
        <p:nvSpPr>
          <p:cNvPr id="52" name="text-48"/>
          <p:cNvSpPr txBox="1"/>
          <p:nvPr/>
        </p:nvSpPr>
        <p:spPr>
          <a:xfrm>
            <a:off x="4468368" y="5596128"/>
            <a:ext cx="3224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assured delivery on the core; partners delivering</a:t>
            </a:r>
            <a:endParaRPr lang="en-US" sz="1250" dirty="0"/>
          </a:p>
        </p:txBody>
      </p:sp>
      <p:sp>
        <p:nvSpPr>
          <p:cNvPr id="53" name="shape-49"/>
          <p:cNvSpPr/>
          <p:nvPr/>
        </p:nvSpPr>
        <p:spPr>
          <a:xfrm>
            <a:off x="8022336" y="5120640"/>
            <a:ext cx="3590544" cy="1005840"/>
          </a:xfrm>
          <a:prstGeom prst="roundRect">
            <a:avLst>
              <a:gd name="adj" fmla="val 7273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text-50"/>
          <p:cNvSpPr txBox="1"/>
          <p:nvPr/>
        </p:nvSpPr>
        <p:spPr>
          <a:xfrm>
            <a:off x="8205216" y="5248656"/>
            <a:ext cx="3224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5–6</a:t>
            </a:r>
            <a:endParaRPr lang="en-US" sz="1750" dirty="0"/>
          </a:p>
        </p:txBody>
      </p:sp>
      <p:sp>
        <p:nvSpPr>
          <p:cNvPr id="55" name="text-51"/>
          <p:cNvSpPr txBox="1"/>
          <p:nvPr/>
        </p:nvSpPr>
        <p:spPr>
          <a:xfrm>
            <a:off x="8205216" y="5596128"/>
            <a:ext cx="3224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waves, cutover rehearsal, go-live against the date</a:t>
            </a:r>
            <a:endParaRPr lang="en-US" sz="125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019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02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·  IDEAS BEYOND DAY 1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1556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commitments, not walked through today — parked until their time comes</a:t>
            </a:r>
            <a:endParaRPr lang="en-US" sz="2250" dirty="0"/>
          </a:p>
        </p:txBody>
      </p:sp>
      <p:sp>
        <p:nvSpPr>
          <p:cNvPr id="4" name="shape-0"/>
          <p:cNvSpPr/>
          <p:nvPr/>
        </p:nvSpPr>
        <p:spPr>
          <a:xfrm>
            <a:off x="548640" y="1371600"/>
            <a:ext cx="7680960" cy="4937760"/>
          </a:xfrm>
          <a:prstGeom prst="roundRect">
            <a:avLst>
              <a:gd name="adj" fmla="val 1481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-1"/>
          <p:cNvSpPr txBox="1"/>
          <p:nvPr/>
        </p:nvSpPr>
        <p:spPr>
          <a:xfrm>
            <a:off x="731520" y="1499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1.5 — IDEAS WALL: PARKED, UNSORTED, JUDGED BY TIER WHEN THEIR TIME COMES</a:t>
            </a:r>
            <a:endParaRPr lang="en-US" sz="1100" dirty="0"/>
          </a:p>
        </p:txBody>
      </p:sp>
      <p:sp>
        <p:nvSpPr>
          <p:cNvPr id="6" name="shape-2"/>
          <p:cNvSpPr/>
          <p:nvPr/>
        </p:nvSpPr>
        <p:spPr>
          <a:xfrm rot="-240000">
            <a:off x="804672" y="1920240"/>
            <a:ext cx="1572768" cy="11887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-3"/>
          <p:cNvSpPr/>
          <p:nvPr/>
        </p:nvSpPr>
        <p:spPr>
          <a:xfrm rot="-240000">
            <a:off x="768096" y="1865376"/>
            <a:ext cx="1572768" cy="1188720"/>
          </a:xfrm>
          <a:prstGeom prst="rect">
            <a:avLst/>
          </a:prstGeom>
          <a:solidFill>
            <a:srgbClr val="FFF3B0"/>
          </a:solidFill>
          <a:ln w="12700">
            <a:solidFill>
              <a:srgbClr val="FFF3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-4"/>
          <p:cNvSpPr/>
          <p:nvPr/>
        </p:nvSpPr>
        <p:spPr>
          <a:xfrm rot="-240000">
            <a:off x="1316736" y="1810512"/>
            <a:ext cx="475488" cy="128016"/>
          </a:xfrm>
          <a:prstGeom prst="rect">
            <a:avLst/>
          </a:prstGeom>
          <a:solidFill>
            <a:srgbClr val="9A9A9A">
              <a:alpha val="30000"/>
            </a:srgbClr>
          </a:solidFill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-5"/>
          <p:cNvSpPr txBox="1"/>
          <p:nvPr/>
        </p:nvSpPr>
        <p:spPr>
          <a:xfrm rot="-240000">
            <a:off x="841248" y="1956816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Unified communications</a:t>
            </a:r>
            <a:endParaRPr lang="en-US" sz="1300" dirty="0"/>
          </a:p>
        </p:txBody>
      </p:sp>
      <p:sp>
        <p:nvSpPr>
          <p:cNvPr id="10" name="shape-6"/>
          <p:cNvSpPr/>
          <p:nvPr/>
        </p:nvSpPr>
        <p:spPr>
          <a:xfrm rot="180000">
            <a:off x="2807208" y="1828800"/>
            <a:ext cx="1572768" cy="11887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-7"/>
          <p:cNvSpPr/>
          <p:nvPr/>
        </p:nvSpPr>
        <p:spPr>
          <a:xfrm rot="180000">
            <a:off x="2770632" y="1773936"/>
            <a:ext cx="1572768" cy="1188720"/>
          </a:xfrm>
          <a:prstGeom prst="rect">
            <a:avLst/>
          </a:prstGeom>
          <a:solidFill>
            <a:srgbClr val="FFF3B0"/>
          </a:solidFill>
          <a:ln w="12700">
            <a:solidFill>
              <a:srgbClr val="FFF3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-8"/>
          <p:cNvSpPr/>
          <p:nvPr/>
        </p:nvSpPr>
        <p:spPr>
          <a:xfrm rot="180000">
            <a:off x="3319272" y="1719072"/>
            <a:ext cx="475488" cy="128016"/>
          </a:xfrm>
          <a:prstGeom prst="rect">
            <a:avLst/>
          </a:prstGeom>
          <a:solidFill>
            <a:srgbClr val="9A9A9A">
              <a:alpha val="30000"/>
            </a:srgbClr>
          </a:solidFill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-9"/>
          <p:cNvSpPr txBox="1"/>
          <p:nvPr/>
        </p:nvSpPr>
        <p:spPr>
          <a:xfrm rot="180000">
            <a:off x="2843784" y="1865376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Product analytics and behaviour</a:t>
            </a:r>
            <a:endParaRPr lang="en-US" sz="1300" dirty="0"/>
          </a:p>
        </p:txBody>
      </p:sp>
      <p:sp>
        <p:nvSpPr>
          <p:cNvPr id="14" name="shape-10"/>
          <p:cNvSpPr/>
          <p:nvPr/>
        </p:nvSpPr>
        <p:spPr>
          <a:xfrm rot="-120000">
            <a:off x="4581144" y="1947672"/>
            <a:ext cx="1572768" cy="11887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-11"/>
          <p:cNvSpPr/>
          <p:nvPr/>
        </p:nvSpPr>
        <p:spPr>
          <a:xfrm rot="-120000">
            <a:off x="4544568" y="1892808"/>
            <a:ext cx="1572768" cy="1188720"/>
          </a:xfrm>
          <a:prstGeom prst="rect">
            <a:avLst/>
          </a:prstGeom>
          <a:solidFill>
            <a:srgbClr val="FFF3B0"/>
          </a:solidFill>
          <a:ln w="12700">
            <a:solidFill>
              <a:srgbClr val="FFF3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-12"/>
          <p:cNvSpPr/>
          <p:nvPr/>
        </p:nvSpPr>
        <p:spPr>
          <a:xfrm rot="-120000">
            <a:off x="5093208" y="1837944"/>
            <a:ext cx="475488" cy="128016"/>
          </a:xfrm>
          <a:prstGeom prst="rect">
            <a:avLst/>
          </a:prstGeom>
          <a:solidFill>
            <a:srgbClr val="9A9A9A">
              <a:alpha val="30000"/>
            </a:srgbClr>
          </a:solidFill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-13"/>
          <p:cNvSpPr txBox="1"/>
          <p:nvPr/>
        </p:nvSpPr>
        <p:spPr>
          <a:xfrm rot="-120000">
            <a:off x="4617720" y="1984248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In-app guidance and onboarding</a:t>
            </a:r>
            <a:endParaRPr lang="en-US" sz="1300" dirty="0"/>
          </a:p>
        </p:txBody>
      </p:sp>
      <p:sp>
        <p:nvSpPr>
          <p:cNvPr id="18" name="shape-14"/>
          <p:cNvSpPr/>
          <p:nvPr/>
        </p:nvSpPr>
        <p:spPr>
          <a:xfrm rot="240000">
            <a:off x="6528816" y="1847088"/>
            <a:ext cx="1572768" cy="11887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-15"/>
          <p:cNvSpPr/>
          <p:nvPr/>
        </p:nvSpPr>
        <p:spPr>
          <a:xfrm rot="240000">
            <a:off x="6492240" y="1792224"/>
            <a:ext cx="1572768" cy="1188720"/>
          </a:xfrm>
          <a:prstGeom prst="rect">
            <a:avLst/>
          </a:prstGeom>
          <a:solidFill>
            <a:srgbClr val="FFF3B0"/>
          </a:solidFill>
          <a:ln w="12700">
            <a:solidFill>
              <a:srgbClr val="FFF3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-16"/>
          <p:cNvSpPr/>
          <p:nvPr/>
        </p:nvSpPr>
        <p:spPr>
          <a:xfrm rot="240000">
            <a:off x="7040880" y="1737360"/>
            <a:ext cx="475488" cy="128016"/>
          </a:xfrm>
          <a:prstGeom prst="rect">
            <a:avLst/>
          </a:prstGeom>
          <a:solidFill>
            <a:srgbClr val="9A9A9A">
              <a:alpha val="30000"/>
            </a:srgbClr>
          </a:solidFill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-17"/>
          <p:cNvSpPr txBox="1"/>
          <p:nvPr/>
        </p:nvSpPr>
        <p:spPr>
          <a:xfrm rot="240000">
            <a:off x="6565392" y="1883664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Inline surveys and sentiment</a:t>
            </a:r>
            <a:endParaRPr lang="en-US" sz="1300" dirty="0"/>
          </a:p>
        </p:txBody>
      </p:sp>
      <p:sp>
        <p:nvSpPr>
          <p:cNvPr id="22" name="shape-18"/>
          <p:cNvSpPr/>
          <p:nvPr/>
        </p:nvSpPr>
        <p:spPr>
          <a:xfrm rot="120000">
            <a:off x="786384" y="3364992"/>
            <a:ext cx="1572768" cy="11887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-19"/>
          <p:cNvSpPr/>
          <p:nvPr/>
        </p:nvSpPr>
        <p:spPr>
          <a:xfrm rot="120000">
            <a:off x="749808" y="3310128"/>
            <a:ext cx="1572768" cy="1188720"/>
          </a:xfrm>
          <a:prstGeom prst="rect">
            <a:avLst/>
          </a:prstGeom>
          <a:solidFill>
            <a:srgbClr val="FFF3B0"/>
          </a:solidFill>
          <a:ln w="12700">
            <a:solidFill>
              <a:srgbClr val="FFF3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-20"/>
          <p:cNvSpPr/>
          <p:nvPr/>
        </p:nvSpPr>
        <p:spPr>
          <a:xfrm rot="120000">
            <a:off x="1298448" y="3255264"/>
            <a:ext cx="475488" cy="128016"/>
          </a:xfrm>
          <a:prstGeom prst="rect">
            <a:avLst/>
          </a:prstGeom>
          <a:solidFill>
            <a:srgbClr val="9A9A9A">
              <a:alpha val="30000"/>
            </a:srgbClr>
          </a:solidFill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-21"/>
          <p:cNvSpPr txBox="1"/>
          <p:nvPr/>
        </p:nvSpPr>
        <p:spPr>
          <a:xfrm rot="120000">
            <a:off x="822960" y="3401568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Feature switches, progressive delivery</a:t>
            </a:r>
            <a:endParaRPr lang="en-US" sz="1300" dirty="0"/>
          </a:p>
        </p:txBody>
      </p:sp>
      <p:sp>
        <p:nvSpPr>
          <p:cNvPr id="26" name="shape-22"/>
          <p:cNvSpPr/>
          <p:nvPr/>
        </p:nvSpPr>
        <p:spPr>
          <a:xfrm rot="-300000">
            <a:off x="2770632" y="3401568"/>
            <a:ext cx="1572768" cy="11887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-23"/>
          <p:cNvSpPr/>
          <p:nvPr/>
        </p:nvSpPr>
        <p:spPr>
          <a:xfrm rot="-300000">
            <a:off x="2734056" y="3346704"/>
            <a:ext cx="1572768" cy="1188720"/>
          </a:xfrm>
          <a:prstGeom prst="rect">
            <a:avLst/>
          </a:prstGeom>
          <a:solidFill>
            <a:srgbClr val="FFF3B0"/>
          </a:solidFill>
          <a:ln w="12700">
            <a:solidFill>
              <a:srgbClr val="FFF3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-24"/>
          <p:cNvSpPr/>
          <p:nvPr/>
        </p:nvSpPr>
        <p:spPr>
          <a:xfrm rot="-300000">
            <a:off x="3282696" y="3291840"/>
            <a:ext cx="475488" cy="128016"/>
          </a:xfrm>
          <a:prstGeom prst="rect">
            <a:avLst/>
          </a:prstGeom>
          <a:solidFill>
            <a:srgbClr val="9A9A9A">
              <a:alpha val="30000"/>
            </a:srgbClr>
          </a:solidFill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-25"/>
          <p:cNvSpPr txBox="1"/>
          <p:nvPr/>
        </p:nvSpPr>
        <p:spPr>
          <a:xfrm rot="-300000">
            <a:off x="2807208" y="3438144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Search as a product capability</a:t>
            </a:r>
            <a:endParaRPr lang="en-US" sz="1300" dirty="0"/>
          </a:p>
        </p:txBody>
      </p:sp>
      <p:sp>
        <p:nvSpPr>
          <p:cNvPr id="30" name="shape-26"/>
          <p:cNvSpPr/>
          <p:nvPr/>
        </p:nvSpPr>
        <p:spPr>
          <a:xfrm rot="180000">
            <a:off x="4562856" y="3319272"/>
            <a:ext cx="1572768" cy="11887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-27"/>
          <p:cNvSpPr/>
          <p:nvPr/>
        </p:nvSpPr>
        <p:spPr>
          <a:xfrm rot="180000">
            <a:off x="4526280" y="3264408"/>
            <a:ext cx="1572768" cy="1188720"/>
          </a:xfrm>
          <a:prstGeom prst="rect">
            <a:avLst/>
          </a:prstGeom>
          <a:solidFill>
            <a:srgbClr val="FFF3B0"/>
          </a:solidFill>
          <a:ln w="12700">
            <a:solidFill>
              <a:srgbClr val="FFF3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shape-28"/>
          <p:cNvSpPr/>
          <p:nvPr/>
        </p:nvSpPr>
        <p:spPr>
          <a:xfrm rot="180000">
            <a:off x="5074920" y="3209544"/>
            <a:ext cx="475488" cy="128016"/>
          </a:xfrm>
          <a:prstGeom prst="rect">
            <a:avLst/>
          </a:prstGeom>
          <a:solidFill>
            <a:srgbClr val="9A9A9A">
              <a:alpha val="30000"/>
            </a:srgbClr>
          </a:solidFill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-29"/>
          <p:cNvSpPr txBox="1"/>
          <p:nvPr/>
        </p:nvSpPr>
        <p:spPr>
          <a:xfrm rot="180000">
            <a:off x="4599432" y="3355848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Developer and API portal</a:t>
            </a:r>
            <a:endParaRPr lang="en-US" sz="1300" dirty="0"/>
          </a:p>
        </p:txBody>
      </p:sp>
      <p:sp>
        <p:nvSpPr>
          <p:cNvPr id="34" name="shape-30"/>
          <p:cNvSpPr/>
          <p:nvPr/>
        </p:nvSpPr>
        <p:spPr>
          <a:xfrm rot="-180000">
            <a:off x="6547104" y="3374136"/>
            <a:ext cx="1572768" cy="11887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-31"/>
          <p:cNvSpPr/>
          <p:nvPr/>
        </p:nvSpPr>
        <p:spPr>
          <a:xfrm rot="-180000">
            <a:off x="6510528" y="3319272"/>
            <a:ext cx="1572768" cy="1188720"/>
          </a:xfrm>
          <a:prstGeom prst="rect">
            <a:avLst/>
          </a:prstGeom>
          <a:solidFill>
            <a:srgbClr val="FFD8A8"/>
          </a:solidFill>
          <a:ln w="12700">
            <a:solidFill>
              <a:srgbClr val="FFD8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shape-32"/>
          <p:cNvSpPr/>
          <p:nvPr/>
        </p:nvSpPr>
        <p:spPr>
          <a:xfrm rot="-180000">
            <a:off x="7059168" y="3264408"/>
            <a:ext cx="475488" cy="128016"/>
          </a:xfrm>
          <a:prstGeom prst="rect">
            <a:avLst/>
          </a:prstGeom>
          <a:solidFill>
            <a:srgbClr val="9A9A9A">
              <a:alpha val="30000"/>
            </a:srgbClr>
          </a:solidFill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-33"/>
          <p:cNvSpPr txBox="1"/>
          <p:nvPr/>
        </p:nvSpPr>
        <p:spPr>
          <a:xfrm rot="-180000">
            <a:off x="6583680" y="341071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Consent and preferences</a:t>
            </a:r>
            <a:endParaRPr lang="en-US" sz="1300" dirty="0"/>
          </a:p>
        </p:txBody>
      </p:sp>
      <p:sp>
        <p:nvSpPr>
          <p:cNvPr id="38" name="shape-34"/>
          <p:cNvSpPr/>
          <p:nvPr/>
        </p:nvSpPr>
        <p:spPr>
          <a:xfrm rot="300000">
            <a:off x="877824" y="4745736"/>
            <a:ext cx="1572768" cy="11887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shape-35"/>
          <p:cNvSpPr/>
          <p:nvPr/>
        </p:nvSpPr>
        <p:spPr>
          <a:xfrm rot="300000">
            <a:off x="841248" y="4690872"/>
            <a:ext cx="1572768" cy="1188720"/>
          </a:xfrm>
          <a:prstGeom prst="rect">
            <a:avLst/>
          </a:prstGeom>
          <a:solidFill>
            <a:srgbClr val="FFD8A8"/>
          </a:solidFill>
          <a:ln w="12700">
            <a:solidFill>
              <a:srgbClr val="FFD8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shape-36"/>
          <p:cNvSpPr/>
          <p:nvPr/>
        </p:nvSpPr>
        <p:spPr>
          <a:xfrm rot="300000">
            <a:off x="1389888" y="4636008"/>
            <a:ext cx="475488" cy="128016"/>
          </a:xfrm>
          <a:prstGeom prst="rect">
            <a:avLst/>
          </a:prstGeom>
          <a:solidFill>
            <a:srgbClr val="9A9A9A">
              <a:alpha val="30000"/>
            </a:srgbClr>
          </a:solidFill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-37"/>
          <p:cNvSpPr txBox="1"/>
          <p:nvPr/>
        </p:nvSpPr>
        <p:spPr>
          <a:xfrm rot="300000">
            <a:off x="914400" y="478231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Status page and incident comms</a:t>
            </a:r>
            <a:endParaRPr lang="en-US" sz="1300" dirty="0"/>
          </a:p>
        </p:txBody>
      </p:sp>
      <p:sp>
        <p:nvSpPr>
          <p:cNvPr id="42" name="shape-38"/>
          <p:cNvSpPr/>
          <p:nvPr/>
        </p:nvSpPr>
        <p:spPr>
          <a:xfrm rot="-240000">
            <a:off x="2670048" y="4855464"/>
            <a:ext cx="1572768" cy="11887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shape-39"/>
          <p:cNvSpPr/>
          <p:nvPr/>
        </p:nvSpPr>
        <p:spPr>
          <a:xfrm rot="-240000">
            <a:off x="2633472" y="4800600"/>
            <a:ext cx="1572768" cy="1188720"/>
          </a:xfrm>
          <a:prstGeom prst="rect">
            <a:avLst/>
          </a:prstGeom>
          <a:solidFill>
            <a:srgbClr val="FFD8A8"/>
          </a:solidFill>
          <a:ln w="12700">
            <a:solidFill>
              <a:srgbClr val="FFD8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shape-40"/>
          <p:cNvSpPr/>
          <p:nvPr/>
        </p:nvSpPr>
        <p:spPr>
          <a:xfrm rot="-240000">
            <a:off x="3182112" y="4745736"/>
            <a:ext cx="475488" cy="128016"/>
          </a:xfrm>
          <a:prstGeom prst="rect">
            <a:avLst/>
          </a:prstGeom>
          <a:solidFill>
            <a:srgbClr val="9A9A9A">
              <a:alpha val="30000"/>
            </a:srgbClr>
          </a:solidFill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-41"/>
          <p:cNvSpPr txBox="1"/>
          <p:nvPr/>
        </p:nvSpPr>
        <p:spPr>
          <a:xfrm rot="-240000">
            <a:off x="2706624" y="489204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Integration standards: SSO, LTI/LIS, clinical</a:t>
            </a:r>
            <a:endParaRPr lang="en-US" sz="1300" dirty="0"/>
          </a:p>
        </p:txBody>
      </p:sp>
      <p:sp>
        <p:nvSpPr>
          <p:cNvPr id="46" name="shape-42"/>
          <p:cNvSpPr/>
          <p:nvPr/>
        </p:nvSpPr>
        <p:spPr>
          <a:xfrm rot="120000">
            <a:off x="4663440" y="4791456"/>
            <a:ext cx="1572768" cy="11887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shape-43"/>
          <p:cNvSpPr/>
          <p:nvPr/>
        </p:nvSpPr>
        <p:spPr>
          <a:xfrm rot="120000">
            <a:off x="4626864" y="4736592"/>
            <a:ext cx="1572768" cy="1188720"/>
          </a:xfrm>
          <a:prstGeom prst="rect">
            <a:avLst/>
          </a:prstGeom>
          <a:solidFill>
            <a:srgbClr val="CDEBE3"/>
          </a:solidFill>
          <a:ln w="12700">
            <a:solidFill>
              <a:srgbClr val="CDEB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shape-44"/>
          <p:cNvSpPr/>
          <p:nvPr/>
        </p:nvSpPr>
        <p:spPr>
          <a:xfrm rot="120000">
            <a:off x="5175504" y="4681728"/>
            <a:ext cx="475488" cy="128016"/>
          </a:xfrm>
          <a:prstGeom prst="rect">
            <a:avLst/>
          </a:prstGeom>
          <a:solidFill>
            <a:srgbClr val="9A9A9A">
              <a:alpha val="30000"/>
            </a:srgbClr>
          </a:solidFill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-45"/>
          <p:cNvSpPr txBox="1"/>
          <p:nvPr/>
        </p:nvSpPr>
        <p:spPr>
          <a:xfrm rot="120000">
            <a:off x="4700016" y="482803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Content versioning visible to customers</a:t>
            </a:r>
            <a:endParaRPr lang="en-US" sz="1300" dirty="0"/>
          </a:p>
        </p:txBody>
      </p:sp>
      <p:sp>
        <p:nvSpPr>
          <p:cNvPr id="50" name="shape-46"/>
          <p:cNvSpPr/>
          <p:nvPr/>
        </p:nvSpPr>
        <p:spPr>
          <a:xfrm rot="-180000">
            <a:off x="6446520" y="4864608"/>
            <a:ext cx="1572768" cy="11887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shape-47"/>
          <p:cNvSpPr/>
          <p:nvPr/>
        </p:nvSpPr>
        <p:spPr>
          <a:xfrm rot="-180000">
            <a:off x="6409944" y="4809744"/>
            <a:ext cx="1572768" cy="1188720"/>
          </a:xfrm>
          <a:prstGeom prst="rect">
            <a:avLst/>
          </a:prstGeom>
          <a:solidFill>
            <a:srgbClr val="FFF3B0"/>
          </a:solidFill>
          <a:ln w="12700">
            <a:solidFill>
              <a:srgbClr val="FFF3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shape-48"/>
          <p:cNvSpPr/>
          <p:nvPr/>
        </p:nvSpPr>
        <p:spPr>
          <a:xfrm rot="-180000">
            <a:off x="6958584" y="4754880"/>
            <a:ext cx="475488" cy="128016"/>
          </a:xfrm>
          <a:prstGeom prst="rect">
            <a:avLst/>
          </a:prstGeom>
          <a:solidFill>
            <a:srgbClr val="9A9A9A">
              <a:alpha val="30000"/>
            </a:srgbClr>
          </a:solidFill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text-49"/>
          <p:cNvSpPr txBox="1"/>
          <p:nvPr/>
        </p:nvSpPr>
        <p:spPr>
          <a:xfrm rot="-180000">
            <a:off x="6483096" y="4901184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B33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Accessibility and offline mobile</a:t>
            </a:r>
            <a:endParaRPr lang="en-US" sz="1300" dirty="0"/>
          </a:p>
        </p:txBody>
      </p:sp>
      <p:sp>
        <p:nvSpPr>
          <p:cNvPr id="54" name="shape-50"/>
          <p:cNvSpPr/>
          <p:nvPr/>
        </p:nvSpPr>
        <p:spPr>
          <a:xfrm>
            <a:off x="8412480" y="1371600"/>
            <a:ext cx="3200400" cy="4937760"/>
          </a:xfrm>
          <a:prstGeom prst="roundRect">
            <a:avLst>
              <a:gd name="adj" fmla="val 228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text-51"/>
          <p:cNvSpPr txBox="1"/>
          <p:nvPr/>
        </p:nvSpPr>
        <p:spPr>
          <a:xfrm>
            <a:off x="8595360" y="14996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ALREADY ON THE PATHWAY</a:t>
            </a:r>
            <a:endParaRPr lang="en-US" sz="1100" dirty="0"/>
          </a:p>
        </p:txBody>
      </p:sp>
      <p:sp>
        <p:nvSpPr>
          <p:cNvPr id="56" name="shape-52"/>
          <p:cNvSpPr/>
          <p:nvPr/>
        </p:nvSpPr>
        <p:spPr>
          <a:xfrm rot="-120000">
            <a:off x="8677656" y="1883664"/>
            <a:ext cx="2743200" cy="1078992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shape-53"/>
          <p:cNvSpPr/>
          <p:nvPr/>
        </p:nvSpPr>
        <p:spPr>
          <a:xfrm rot="-120000">
            <a:off x="8641080" y="1828800"/>
            <a:ext cx="2743200" cy="1078992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text-54"/>
          <p:cNvSpPr txBox="1"/>
          <p:nvPr/>
        </p:nvSpPr>
        <p:spPr>
          <a:xfrm rot="-120000">
            <a:off x="8732520" y="192024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Assistant over authoritative content — citations, no generated clinical text</a:t>
            </a:r>
            <a:endParaRPr lang="en-US" sz="1200" dirty="0"/>
          </a:p>
        </p:txBody>
      </p:sp>
      <p:sp>
        <p:nvSpPr>
          <p:cNvPr id="59" name="shape-55"/>
          <p:cNvSpPr/>
          <p:nvPr/>
        </p:nvSpPr>
        <p:spPr>
          <a:xfrm>
            <a:off x="8677656" y="3255264"/>
            <a:ext cx="2743200" cy="1078992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shape-56"/>
          <p:cNvSpPr/>
          <p:nvPr/>
        </p:nvSpPr>
        <p:spPr>
          <a:xfrm>
            <a:off x="8641080" y="3200400"/>
            <a:ext cx="2743200" cy="1078992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1" name="text-57"/>
          <p:cNvSpPr txBox="1"/>
          <p:nvPr/>
        </p:nvSpPr>
        <p:spPr>
          <a:xfrm>
            <a:off x="8732520" y="329184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Internal operational AI on the same platform</a:t>
            </a:r>
            <a:endParaRPr lang="en-US" sz="1200" dirty="0"/>
          </a:p>
        </p:txBody>
      </p:sp>
      <p:sp>
        <p:nvSpPr>
          <p:cNvPr id="62" name="shape-58"/>
          <p:cNvSpPr/>
          <p:nvPr/>
        </p:nvSpPr>
        <p:spPr>
          <a:xfrm rot="120000">
            <a:off x="8677656" y="4626864"/>
            <a:ext cx="2743200" cy="1078992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shape-59"/>
          <p:cNvSpPr/>
          <p:nvPr/>
        </p:nvSpPr>
        <p:spPr>
          <a:xfrm rot="120000">
            <a:off x="8641080" y="4572000"/>
            <a:ext cx="2743200" cy="1078992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4" name="text-60"/>
          <p:cNvSpPr txBox="1"/>
          <p:nvPr/>
        </p:nvSpPr>
        <p:spPr>
          <a:xfrm rot="120000">
            <a:off x="8732520" y="466344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Subscription and user-update integration</a:t>
            </a:r>
            <a:endParaRPr lang="en-US" sz="1200" dirty="0"/>
          </a:p>
        </p:txBody>
      </p:sp>
      <p:sp>
        <p:nvSpPr>
          <p:cNvPr id="65" name="text-61"/>
          <p:cNvSpPr txBox="1"/>
          <p:nvPr/>
        </p:nvSpPr>
        <p:spPr>
          <a:xfrm>
            <a:off x="548640" y="6400800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product · orange cross-cutting · green content tooling. Day 1.5 = after the agreed path is live, before Day 2.</a:t>
            </a:r>
            <a:endParaRPr lang="en-US" sz="1100" dirty="0"/>
          </a:p>
        </p:txBody>
      </p:sp>
      <p:sp>
        <p:nvSpPr>
          <p:cNvPr id="6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6019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B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rnisation">
  <a:themeElements>
    <a:clrScheme name="Modernisation">
      <a:dk1>
        <a:srgbClr val="1C2B33"/>
      </a:dk1>
      <a:lt1>
        <a:srgbClr val="FFFFFF"/>
      </a:lt1>
      <a:dk2>
        <a:srgbClr val="5A6B75"/>
      </a:dk2>
      <a:lt2>
        <a:srgbClr val="EEF2F4"/>
      </a:lt2>
      <a:accent1>
        <a:srgbClr val="0F766E"/>
      </a:accent1>
      <a:accent2>
        <a:srgbClr val="B45309"/>
      </a:accent2>
      <a:accent3>
        <a:srgbClr val="D6ECE9"/>
      </a:accent3>
      <a:accent4>
        <a:srgbClr val="D4DBE0"/>
      </a:accent4>
      <a:accent5>
        <a:srgbClr val="134E4A"/>
      </a:accent5>
      <a:accent6>
        <a:srgbClr val="FDF1E3"/>
      </a:accent6>
      <a:hlink>
        <a:srgbClr val="0F766E"/>
      </a:hlink>
      <a:folHlink>
        <a:srgbClr val="0F766E"/>
      </a:folHlink>
    </a:clrScheme>
    <a:fontScheme name="Modernisat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2788</Words>
  <Application>Microsoft Office PowerPoint</Application>
  <PresentationFormat>Widescreen</PresentationFormat>
  <Paragraphs>424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Print</vt:lpstr>
      <vt:lpstr>Modernisation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Weirsweb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Leading the digital modernisation programme</dc:title>
  <dc:subject>AHM Interview Question</dc:subject>
  <dc:creator>David Weir</dc:creator>
  <cp:lastModifiedBy>David Weir</cp:lastModifiedBy>
  <cp:revision>4</cp:revision>
  <cp:lastPrinted>2026-10-18T20:18:31Z</cp:lastPrinted>
  <dcterms:created xsi:type="dcterms:W3CDTF">2026-10-15T22:40:36Z</dcterms:created>
  <dcterms:modified xsi:type="dcterms:W3CDTF">2026-10-18T20:23:48Z</dcterms:modified>
</cp:coreProperties>
</file>
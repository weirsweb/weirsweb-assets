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1  ·  THE PATHWAY AND HOW I WOULD TAKE OWNERSHIP</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The pathway is agreed; the job is to own it without stalling it</a:t>
            </a:r>
            <a:endParaRPr lang="en-US" sz="200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VALUE</a:t>
            </a:r>
            <a:endParaRPr lang="en-US" sz="85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TIME</a:t>
            </a:r>
            <a:endParaRPr lang="en-US" sz="85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200" b="1" dirty="0">
                <a:solidFill>
                  <a:srgbClr val="5A6B75"/>
                </a:solidFill>
                <a:latin typeface="Calibri" pitchFamily="34" charset="0"/>
                <a:ea typeface="Calibri" pitchFamily="34" charset="-122"/>
                <a:cs typeface="Calibri" pitchFamily="34" charset="-120"/>
              </a:rPr>
              <a:t>Publishing model</a:t>
            </a:r>
            <a:endParaRPr lang="en-US" sz="120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today</a:t>
            </a:r>
            <a:endParaRPr lang="en-US" sz="95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200" b="1" dirty="0">
                <a:solidFill>
                  <a:srgbClr val="0F766E"/>
                </a:solidFill>
                <a:latin typeface="Calibri" pitchFamily="34" charset="0"/>
                <a:ea typeface="Calibri" pitchFamily="34" charset="-122"/>
                <a:cs typeface="Calibri" pitchFamily="34" charset="-120"/>
              </a:rPr>
              <a:t>Digital product platform</a:t>
            </a:r>
            <a:endParaRPr lang="en-US" sz="120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950" dirty="0">
                <a:solidFill>
                  <a:srgbClr val="0F766E"/>
                </a:solidFill>
                <a:latin typeface="Calibri" pitchFamily="34" charset="0"/>
                <a:ea typeface="Calibri" pitchFamily="34" charset="-122"/>
                <a:cs typeface="Calibri" pitchFamily="34" charset="-120"/>
              </a:rPr>
              <a:t>the agreed direction</a:t>
            </a:r>
            <a:endParaRPr lang="en-US" sz="95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Inflection point</a:t>
            </a:r>
            <a:endParaRPr lang="en-US" sz="95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100" b="1" dirty="0">
                <a:solidFill>
                  <a:srgbClr val="B45309"/>
                </a:solidFill>
                <a:latin typeface="Calibri" pitchFamily="34" charset="0"/>
                <a:ea typeface="Calibri" pitchFamily="34" charset="-122"/>
                <a:cs typeface="Calibri" pitchFamily="34" charset="-120"/>
              </a:rPr>
              <a:t>The pivot — agreed</a:t>
            </a:r>
            <a:endParaRPr lang="en-US" sz="11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950" b="1" dirty="0">
                <a:solidFill>
                  <a:srgbClr val="B45309"/>
                </a:solidFill>
                <a:latin typeface="Calibri" pitchFamily="34" charset="0"/>
                <a:ea typeface="Calibri" pitchFamily="34" charset="-122"/>
                <a:cs typeface="Calibri" pitchFamily="34" charset="-120"/>
              </a:rPr>
              <a:t>fixed target date</a:t>
            </a:r>
            <a:endParaRPr lang="en-US" sz="95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Understand</a:t>
            </a:r>
            <a:endParaRPr lang="en-US" sz="175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0F766E"/>
                </a:solidFill>
                <a:latin typeface="Calibri" pitchFamily="34" charset="0"/>
                <a:ea typeface="Calibri" pitchFamily="34" charset="-122"/>
                <a:cs typeface="Calibri" pitchFamily="34" charset="-120"/>
              </a:rPr>
              <a:t>DAYS 1–30</a:t>
            </a:r>
            <a:endParaRPr lang="en-US" sz="85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two baselines: the technology and the ways of working</a:t>
            </a:r>
            <a:endParaRPr lang="en-US" sz="115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Stabilise</a:t>
            </a:r>
            <a:endParaRPr lang="en-US" sz="175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31–60</a:t>
            </a:r>
            <a:endParaRPr lang="en-US" sz="85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15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Accelerate</a:t>
            </a:r>
            <a:endParaRPr lang="en-US" sz="175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61–90 →</a:t>
            </a:r>
            <a:endParaRPr lang="en-US" sz="85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first assured delivery; the plan to the date</a:t>
            </a:r>
            <a:endParaRPr lang="en-US" sz="115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15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15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950" dirty="0"/>
          </a:p>
        </p:txBody>
      </p:sp>
      <p:sp>
        <p:nvSpPr>
          <p:cNvPr id="12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1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2  ·  THE FIRST 90 DAYS: TWO BASELINES, THE FIT TEST, FIRST ASSURED DELIVERY</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Capture how the organisation works as carefully as what it runs — then decide what to build</a:t>
            </a:r>
            <a:endParaRPr lang="en-US" sz="2000" dirty="0"/>
          </a:p>
        </p:txBody>
      </p:sp>
      <p:sp>
        <p:nvSpPr>
          <p:cNvPr id="4" name="line-0"/>
          <p:cNvSpPr/>
          <p:nvPr/>
        </p:nvSpPr>
        <p:spPr>
          <a:xfrm>
            <a:off x="548640" y="1828800"/>
            <a:ext cx="10698480" cy="0"/>
          </a:xfrm>
          <a:prstGeom prst="line">
            <a:avLst/>
          </a:prstGeom>
          <a:noFill/>
          <a:ln w="50800">
            <a:solidFill>
              <a:srgbClr val="D4DBE0"/>
            </a:solidFill>
            <a:prstDash val="solid"/>
          </a:ln>
        </p:spPr>
      </p:sp>
      <p:sp>
        <p:nvSpPr>
          <p:cNvPr id="5" name="tri-1"/>
          <p:cNvSpPr/>
          <p:nvPr/>
        </p:nvSpPr>
        <p:spPr>
          <a:xfrm rot="5400000">
            <a:off x="11228832" y="1719072"/>
            <a:ext cx="219456" cy="219456"/>
          </a:xfrm>
          <a:prstGeom prst="triangle">
            <a:avLst/>
          </a:prstGeom>
          <a:solidFill>
            <a:srgbClr val="D4DBE0"/>
          </a:solidFill>
          <a:ln w="12700">
            <a:solidFill>
              <a:srgbClr val="D4DBE0"/>
            </a:solidFill>
            <a:prstDash val="solid"/>
          </a:ln>
        </p:spPr>
      </p:sp>
      <p:sp>
        <p:nvSpPr>
          <p:cNvPr id="6" name="shape-2"/>
          <p:cNvSpPr/>
          <p:nvPr/>
        </p:nvSpPr>
        <p:spPr>
          <a:xfrm>
            <a:off x="548640" y="1805940"/>
            <a:ext cx="5303520" cy="45720"/>
          </a:xfrm>
          <a:prstGeom prst="rect">
            <a:avLst/>
          </a:prstGeom>
          <a:solidFill>
            <a:srgbClr val="0F766E"/>
          </a:solidFill>
          <a:ln w="12700">
            <a:solidFill>
              <a:srgbClr val="0F766E"/>
            </a:solidFill>
            <a:prstDash val="solid"/>
          </a:ln>
        </p:spPr>
      </p:sp>
      <p:sp>
        <p:nvSpPr>
          <p:cNvPr id="7" name="oval-3"/>
          <p:cNvSpPr/>
          <p:nvPr/>
        </p:nvSpPr>
        <p:spPr>
          <a:xfrm>
            <a:off x="466344" y="1746504"/>
            <a:ext cx="164592" cy="164592"/>
          </a:xfrm>
          <a:prstGeom prst="ellipse">
            <a:avLst/>
          </a:prstGeom>
          <a:solidFill>
            <a:srgbClr val="5A6B75"/>
          </a:solidFill>
          <a:ln w="12700">
            <a:solidFill>
              <a:srgbClr val="5A6B75"/>
            </a:solidFill>
            <a:prstDash val="solid"/>
          </a:ln>
        </p:spPr>
      </p:sp>
      <p:sp>
        <p:nvSpPr>
          <p:cNvPr id="8" name="text-4"/>
          <p:cNvSpPr txBox="1"/>
          <p:nvPr/>
        </p:nvSpPr>
        <p:spPr>
          <a:xfrm>
            <a:off x="-27432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Today</a:t>
            </a:r>
            <a:endParaRPr lang="en-US" sz="1000" dirty="0"/>
          </a:p>
        </p:txBody>
      </p:sp>
      <p:sp>
        <p:nvSpPr>
          <p:cNvPr id="9" name="oval-5"/>
          <p:cNvSpPr/>
          <p:nvPr/>
        </p:nvSpPr>
        <p:spPr>
          <a:xfrm>
            <a:off x="2130552" y="1645920"/>
            <a:ext cx="365760" cy="365760"/>
          </a:xfrm>
          <a:prstGeom prst="ellipse">
            <a:avLst/>
          </a:prstGeom>
          <a:solidFill>
            <a:srgbClr val="0F766E"/>
          </a:solidFill>
          <a:ln w="12700">
            <a:solidFill>
              <a:srgbClr val="0F766E"/>
            </a:solidFill>
            <a:prstDash val="solid"/>
          </a:ln>
        </p:spPr>
      </p:sp>
      <p:sp>
        <p:nvSpPr>
          <p:cNvPr id="10" name="text-6"/>
          <p:cNvSpPr txBox="1"/>
          <p:nvPr/>
        </p:nvSpPr>
        <p:spPr>
          <a:xfrm>
            <a:off x="2130552"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G1</a:t>
            </a:r>
            <a:endParaRPr lang="en-US" sz="1150" dirty="0"/>
          </a:p>
        </p:txBody>
      </p:sp>
      <p:sp>
        <p:nvSpPr>
          <p:cNvPr id="11" name="text-7"/>
          <p:cNvSpPr txBox="1"/>
          <p:nvPr/>
        </p:nvSpPr>
        <p:spPr>
          <a:xfrm>
            <a:off x="1490472"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30</a:t>
            </a:r>
            <a:endParaRPr lang="en-US" sz="1000" dirty="0"/>
          </a:p>
        </p:txBody>
      </p:sp>
      <p:sp>
        <p:nvSpPr>
          <p:cNvPr id="12" name="text-8"/>
          <p:cNvSpPr txBox="1"/>
          <p:nvPr/>
        </p:nvSpPr>
        <p:spPr>
          <a:xfrm>
            <a:off x="1307592"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Two baselines</a:t>
            </a:r>
            <a:endParaRPr lang="en-US" sz="1100" dirty="0"/>
          </a:p>
        </p:txBody>
      </p:sp>
      <p:sp>
        <p:nvSpPr>
          <p:cNvPr id="13" name="oval-9"/>
          <p:cNvSpPr/>
          <p:nvPr/>
        </p:nvSpPr>
        <p:spPr>
          <a:xfrm>
            <a:off x="3895344" y="1645920"/>
            <a:ext cx="365760" cy="365760"/>
          </a:xfrm>
          <a:prstGeom prst="ellipse">
            <a:avLst/>
          </a:prstGeom>
          <a:solidFill>
            <a:srgbClr val="0F766E"/>
          </a:solidFill>
          <a:ln w="12700">
            <a:solidFill>
              <a:srgbClr val="0F766E"/>
            </a:solidFill>
            <a:prstDash val="solid"/>
          </a:ln>
        </p:spPr>
      </p:sp>
      <p:sp>
        <p:nvSpPr>
          <p:cNvPr id="14" name="text-10"/>
          <p:cNvSpPr txBox="1"/>
          <p:nvPr/>
        </p:nvSpPr>
        <p:spPr>
          <a:xfrm>
            <a:off x="3895344"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G2</a:t>
            </a:r>
            <a:endParaRPr lang="en-US" sz="1150" dirty="0"/>
          </a:p>
        </p:txBody>
      </p:sp>
      <p:sp>
        <p:nvSpPr>
          <p:cNvPr id="15" name="text-11"/>
          <p:cNvSpPr txBox="1"/>
          <p:nvPr/>
        </p:nvSpPr>
        <p:spPr>
          <a:xfrm>
            <a:off x="3255264"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60</a:t>
            </a:r>
            <a:endParaRPr lang="en-US" sz="1000" dirty="0"/>
          </a:p>
        </p:txBody>
      </p:sp>
      <p:sp>
        <p:nvSpPr>
          <p:cNvPr id="16" name="text-12"/>
          <p:cNvSpPr txBox="1"/>
          <p:nvPr/>
        </p:nvSpPr>
        <p:spPr>
          <a:xfrm>
            <a:off x="3072384"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Fit test and decisions</a:t>
            </a:r>
            <a:endParaRPr lang="en-US" sz="1100" dirty="0"/>
          </a:p>
        </p:txBody>
      </p:sp>
      <p:sp>
        <p:nvSpPr>
          <p:cNvPr id="17" name="oval-13"/>
          <p:cNvSpPr/>
          <p:nvPr/>
        </p:nvSpPr>
        <p:spPr>
          <a:xfrm>
            <a:off x="5669280" y="1645920"/>
            <a:ext cx="365760" cy="365760"/>
          </a:xfrm>
          <a:prstGeom prst="ellipse">
            <a:avLst/>
          </a:prstGeom>
          <a:solidFill>
            <a:srgbClr val="134E4A"/>
          </a:solidFill>
          <a:ln w="12700">
            <a:solidFill>
              <a:srgbClr val="134E4A"/>
            </a:solidFill>
            <a:prstDash val="solid"/>
          </a:ln>
        </p:spPr>
      </p:sp>
      <p:sp>
        <p:nvSpPr>
          <p:cNvPr id="18" name="text-14"/>
          <p:cNvSpPr txBox="1"/>
          <p:nvPr/>
        </p:nvSpPr>
        <p:spPr>
          <a:xfrm>
            <a:off x="5669280"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G3</a:t>
            </a:r>
            <a:endParaRPr lang="en-US" sz="1150" dirty="0"/>
          </a:p>
        </p:txBody>
      </p:sp>
      <p:sp>
        <p:nvSpPr>
          <p:cNvPr id="19" name="text-15"/>
          <p:cNvSpPr txBox="1"/>
          <p:nvPr/>
        </p:nvSpPr>
        <p:spPr>
          <a:xfrm>
            <a:off x="502920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34E4A"/>
                </a:solidFill>
                <a:latin typeface="Calibri" pitchFamily="34" charset="0"/>
                <a:ea typeface="Calibri" pitchFamily="34" charset="-122"/>
                <a:cs typeface="Calibri" pitchFamily="34" charset="-120"/>
              </a:rPr>
              <a:t>Day 90</a:t>
            </a:r>
            <a:endParaRPr lang="en-US" sz="1000" dirty="0"/>
          </a:p>
        </p:txBody>
      </p:sp>
      <p:sp>
        <p:nvSpPr>
          <p:cNvPr id="20" name="text-16"/>
          <p:cNvSpPr txBox="1"/>
          <p:nvPr/>
        </p:nvSpPr>
        <p:spPr>
          <a:xfrm>
            <a:off x="4846320" y="2121408"/>
            <a:ext cx="2011680" cy="182880"/>
          </a:xfrm>
          <a:prstGeom prst="rect">
            <a:avLst/>
          </a:prstGeom>
          <a:noFill/>
          <a:ln/>
        </p:spPr>
        <p:txBody>
          <a:bodyPr wrap="square" lIns="0" tIns="0" rIns="0" bIns="0" rtlCol="0" anchor="ctr"/>
          <a:lstStyle/>
          <a:p>
            <a:pPr algn="ctr" indent="0" marL="0">
              <a:lnSpc>
                <a:spcPct val="100000"/>
              </a:lnSpc>
              <a:buNone/>
            </a:pPr>
            <a:r>
              <a:rPr lang="en-US" sz="1100" b="1" dirty="0">
                <a:solidFill>
                  <a:srgbClr val="1C2B33"/>
                </a:solidFill>
                <a:latin typeface="Calibri" pitchFamily="34" charset="0"/>
                <a:ea typeface="Calibri" pitchFamily="34" charset="-122"/>
                <a:cs typeface="Calibri" pitchFamily="34" charset="-120"/>
              </a:rPr>
              <a:t>First assured delivery</a:t>
            </a:r>
            <a:endParaRPr lang="en-US" sz="1100" dirty="0"/>
          </a:p>
        </p:txBody>
      </p:sp>
      <p:sp>
        <p:nvSpPr>
          <p:cNvPr id="21" name="oval-17"/>
          <p:cNvSpPr/>
          <p:nvPr/>
        </p:nvSpPr>
        <p:spPr>
          <a:xfrm>
            <a:off x="7781544" y="1746504"/>
            <a:ext cx="164592" cy="164592"/>
          </a:xfrm>
          <a:prstGeom prst="ellipse">
            <a:avLst/>
          </a:prstGeom>
          <a:solidFill>
            <a:srgbClr val="5A6B75"/>
          </a:solidFill>
          <a:ln w="12700">
            <a:solidFill>
              <a:srgbClr val="5A6B75"/>
            </a:solidFill>
            <a:prstDash val="solid"/>
          </a:ln>
        </p:spPr>
      </p:sp>
      <p:sp>
        <p:nvSpPr>
          <p:cNvPr id="22" name="text-18"/>
          <p:cNvSpPr txBox="1"/>
          <p:nvPr/>
        </p:nvSpPr>
        <p:spPr>
          <a:xfrm>
            <a:off x="70408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Build waves</a:t>
            </a:r>
            <a:endParaRPr lang="en-US" sz="1000" dirty="0"/>
          </a:p>
        </p:txBody>
      </p:sp>
      <p:sp>
        <p:nvSpPr>
          <p:cNvPr id="23" name="oval-19"/>
          <p:cNvSpPr/>
          <p:nvPr/>
        </p:nvSpPr>
        <p:spPr>
          <a:xfrm>
            <a:off x="9518904" y="1746504"/>
            <a:ext cx="164592" cy="164592"/>
          </a:xfrm>
          <a:prstGeom prst="ellipse">
            <a:avLst/>
          </a:prstGeom>
          <a:solidFill>
            <a:srgbClr val="5A6B75"/>
          </a:solidFill>
          <a:ln w="12700">
            <a:solidFill>
              <a:srgbClr val="5A6B75"/>
            </a:solidFill>
            <a:prstDash val="solid"/>
          </a:ln>
        </p:spPr>
      </p:sp>
      <p:sp>
        <p:nvSpPr>
          <p:cNvPr id="24" name="text-20"/>
          <p:cNvSpPr txBox="1"/>
          <p:nvPr/>
        </p:nvSpPr>
        <p:spPr>
          <a:xfrm>
            <a:off x="877824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Cutover rehearsal</a:t>
            </a:r>
            <a:endParaRPr lang="en-US" sz="1000" dirty="0"/>
          </a:p>
        </p:txBody>
      </p:sp>
      <p:sp>
        <p:nvSpPr>
          <p:cNvPr id="25" name="oval-21"/>
          <p:cNvSpPr/>
          <p:nvPr/>
        </p:nvSpPr>
        <p:spPr>
          <a:xfrm>
            <a:off x="10954512" y="1719072"/>
            <a:ext cx="219456" cy="219456"/>
          </a:xfrm>
          <a:prstGeom prst="ellipse">
            <a:avLst/>
          </a:prstGeom>
          <a:solidFill>
            <a:srgbClr val="B45309"/>
          </a:solidFill>
          <a:ln w="12700">
            <a:solidFill>
              <a:srgbClr val="B45309"/>
            </a:solidFill>
            <a:prstDash val="solid"/>
          </a:ln>
        </p:spPr>
      </p:sp>
      <p:sp>
        <p:nvSpPr>
          <p:cNvPr id="26" name="text-22"/>
          <p:cNvSpPr txBox="1"/>
          <p:nvPr/>
        </p:nvSpPr>
        <p:spPr>
          <a:xfrm>
            <a:off x="102412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Target date</a:t>
            </a:r>
            <a:endParaRPr lang="en-US" sz="1000" dirty="0"/>
          </a:p>
        </p:txBody>
      </p:sp>
      <p:sp>
        <p:nvSpPr>
          <p:cNvPr id="27" name="shape-23"/>
          <p:cNvSpPr/>
          <p:nvPr/>
        </p:nvSpPr>
        <p:spPr>
          <a:xfrm>
            <a:off x="548640" y="2651760"/>
            <a:ext cx="3474720" cy="1828800"/>
          </a:xfrm>
          <a:prstGeom prst="roundRect">
            <a:avLst>
              <a:gd name="adj" fmla="val 4000"/>
            </a:avLst>
          </a:prstGeom>
          <a:solidFill>
            <a:srgbClr val="EEF2F4"/>
          </a:solidFill>
          <a:ln w="12700">
            <a:solidFill>
              <a:srgbClr val="EEF2F4"/>
            </a:solidFill>
            <a:prstDash val="solid"/>
          </a:ln>
        </p:spPr>
      </p:sp>
      <p:pic>
        <p:nvPicPr>
          <p:cNvPr id="28" name="icon-24" descr="preencoded.png">    </p:cNvPr>
          <p:cNvPicPr>
            <a:picLocks noChangeAspect="1"/>
          </p:cNvPicPr>
          <p:nvPr/>
        </p:nvPicPr>
        <p:blipFill>
          <a:blip r:embed="rId1"/>
          <a:stretch>
            <a:fillRect/>
          </a:stretch>
        </p:blipFill>
        <p:spPr>
          <a:xfrm>
            <a:off x="713232" y="2834640"/>
            <a:ext cx="201168" cy="201168"/>
          </a:xfrm>
          <a:prstGeom prst="rect">
            <a:avLst/>
          </a:prstGeom>
        </p:spPr>
      </p:pic>
      <p:sp>
        <p:nvSpPr>
          <p:cNvPr id="29" name="text-25"/>
          <p:cNvSpPr txBox="1"/>
          <p:nvPr/>
        </p:nvSpPr>
        <p:spPr>
          <a:xfrm>
            <a:off x="10058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Technology and product baseline</a:t>
            </a:r>
            <a:endParaRPr lang="en-US" sz="1150" dirty="0"/>
          </a:p>
        </p:txBody>
      </p:sp>
      <p:sp>
        <p:nvSpPr>
          <p:cNvPr id="30" name="oval-26"/>
          <p:cNvSpPr/>
          <p:nvPr/>
        </p:nvSpPr>
        <p:spPr>
          <a:xfrm>
            <a:off x="740664" y="3246120"/>
            <a:ext cx="54864" cy="54864"/>
          </a:xfrm>
          <a:prstGeom prst="ellipse">
            <a:avLst/>
          </a:prstGeom>
          <a:solidFill>
            <a:srgbClr val="0F766E"/>
          </a:solidFill>
          <a:ln w="12700">
            <a:solidFill>
              <a:srgbClr val="0F766E"/>
            </a:solidFill>
            <a:prstDash val="solid"/>
          </a:ln>
        </p:spPr>
      </p:sp>
      <p:sp>
        <p:nvSpPr>
          <p:cNvPr id="31" name="text-27"/>
          <p:cNvSpPr txBox="1"/>
          <p:nvPr/>
        </p:nvSpPr>
        <p:spPr>
          <a:xfrm>
            <a:off x="877824" y="3182112"/>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Systems, architecture, integrations</a:t>
            </a:r>
            <a:endParaRPr lang="en-US" sz="1100" dirty="0"/>
          </a:p>
        </p:txBody>
      </p:sp>
      <p:sp>
        <p:nvSpPr>
          <p:cNvPr id="32" name="oval-28"/>
          <p:cNvSpPr/>
          <p:nvPr/>
        </p:nvSpPr>
        <p:spPr>
          <a:xfrm>
            <a:off x="740664" y="3483864"/>
            <a:ext cx="54864" cy="54864"/>
          </a:xfrm>
          <a:prstGeom prst="ellipse">
            <a:avLst/>
          </a:prstGeom>
          <a:solidFill>
            <a:srgbClr val="0F766E"/>
          </a:solidFill>
          <a:ln w="12700">
            <a:solidFill>
              <a:srgbClr val="0F766E"/>
            </a:solidFill>
            <a:prstDash val="solid"/>
          </a:ln>
        </p:spPr>
      </p:sp>
      <p:sp>
        <p:nvSpPr>
          <p:cNvPr id="33" name="text-29"/>
          <p:cNvSpPr txBox="1"/>
          <p:nvPr/>
        </p:nvSpPr>
        <p:spPr>
          <a:xfrm>
            <a:off x="877824" y="3419856"/>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Contracts, partners, run cost</a:t>
            </a:r>
            <a:endParaRPr lang="en-US" sz="1100" dirty="0"/>
          </a:p>
        </p:txBody>
      </p:sp>
      <p:sp>
        <p:nvSpPr>
          <p:cNvPr id="34" name="oval-30"/>
          <p:cNvSpPr/>
          <p:nvPr/>
        </p:nvSpPr>
        <p:spPr>
          <a:xfrm>
            <a:off x="740664" y="3721608"/>
            <a:ext cx="54864" cy="54864"/>
          </a:xfrm>
          <a:prstGeom prst="ellipse">
            <a:avLst/>
          </a:prstGeom>
          <a:solidFill>
            <a:srgbClr val="0F766E"/>
          </a:solidFill>
          <a:ln w="12700">
            <a:solidFill>
              <a:srgbClr val="0F766E"/>
            </a:solidFill>
            <a:prstDash val="solid"/>
          </a:ln>
        </p:spPr>
      </p:sp>
      <p:sp>
        <p:nvSpPr>
          <p:cNvPr id="35" name="text-31"/>
          <p:cNvSpPr txBox="1"/>
          <p:nvPr/>
        </p:nvSpPr>
        <p:spPr>
          <a:xfrm>
            <a:off x="877824" y="3657600"/>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Product offerings and licence model</a:t>
            </a:r>
            <a:endParaRPr lang="en-US" sz="1100" dirty="0"/>
          </a:p>
        </p:txBody>
      </p:sp>
      <p:sp>
        <p:nvSpPr>
          <p:cNvPr id="36" name="oval-32"/>
          <p:cNvSpPr/>
          <p:nvPr/>
        </p:nvSpPr>
        <p:spPr>
          <a:xfrm>
            <a:off x="740664" y="3959352"/>
            <a:ext cx="54864" cy="54864"/>
          </a:xfrm>
          <a:prstGeom prst="ellipse">
            <a:avLst/>
          </a:prstGeom>
          <a:solidFill>
            <a:srgbClr val="0F766E"/>
          </a:solidFill>
          <a:ln w="12700">
            <a:solidFill>
              <a:srgbClr val="0F766E"/>
            </a:solidFill>
            <a:prstDash val="solid"/>
          </a:ln>
        </p:spPr>
      </p:sp>
      <p:sp>
        <p:nvSpPr>
          <p:cNvPr id="37" name="text-33"/>
          <p:cNvSpPr txBox="1"/>
          <p:nvPr/>
        </p:nvSpPr>
        <p:spPr>
          <a:xfrm>
            <a:off x="877824" y="3895344"/>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What is in flight</a:t>
            </a:r>
            <a:endParaRPr lang="en-US" sz="1100" dirty="0"/>
          </a:p>
        </p:txBody>
      </p:sp>
      <p:sp>
        <p:nvSpPr>
          <p:cNvPr id="38" name="shape-34"/>
          <p:cNvSpPr/>
          <p:nvPr/>
        </p:nvSpPr>
        <p:spPr>
          <a:xfrm>
            <a:off x="4206240" y="2651760"/>
            <a:ext cx="3474720" cy="1828800"/>
          </a:xfrm>
          <a:prstGeom prst="roundRect">
            <a:avLst>
              <a:gd name="adj" fmla="val 4000"/>
            </a:avLst>
          </a:prstGeom>
          <a:solidFill>
            <a:srgbClr val="D6ECE9"/>
          </a:solidFill>
          <a:ln w="12700">
            <a:solidFill>
              <a:srgbClr val="D6ECE9"/>
            </a:solidFill>
            <a:prstDash val="solid"/>
          </a:ln>
        </p:spPr>
      </p:sp>
      <p:pic>
        <p:nvPicPr>
          <p:cNvPr id="39" name="icon-35" descr="preencoded.png">    </p:cNvPr>
          <p:cNvPicPr>
            <a:picLocks noChangeAspect="1"/>
          </p:cNvPicPr>
          <p:nvPr/>
        </p:nvPicPr>
        <p:blipFill>
          <a:blip r:embed="rId2"/>
          <a:stretch>
            <a:fillRect/>
          </a:stretch>
        </p:blipFill>
        <p:spPr>
          <a:xfrm>
            <a:off x="4370832" y="2834640"/>
            <a:ext cx="201168" cy="201168"/>
          </a:xfrm>
          <a:prstGeom prst="rect">
            <a:avLst/>
          </a:prstGeom>
        </p:spPr>
      </p:pic>
      <p:sp>
        <p:nvSpPr>
          <p:cNvPr id="40" name="text-36"/>
          <p:cNvSpPr txBox="1"/>
          <p:nvPr/>
        </p:nvSpPr>
        <p:spPr>
          <a:xfrm>
            <a:off x="46634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Ways-of-working baseline</a:t>
            </a:r>
            <a:endParaRPr lang="en-US" sz="1150" dirty="0"/>
          </a:p>
        </p:txBody>
      </p:sp>
      <p:sp>
        <p:nvSpPr>
          <p:cNvPr id="41" name="oval-37"/>
          <p:cNvSpPr/>
          <p:nvPr/>
        </p:nvSpPr>
        <p:spPr>
          <a:xfrm>
            <a:off x="4398264" y="3246120"/>
            <a:ext cx="54864" cy="54864"/>
          </a:xfrm>
          <a:prstGeom prst="ellipse">
            <a:avLst/>
          </a:prstGeom>
          <a:solidFill>
            <a:srgbClr val="0F766E"/>
          </a:solidFill>
          <a:ln w="12700">
            <a:solidFill>
              <a:srgbClr val="0F766E"/>
            </a:solidFill>
            <a:prstDash val="solid"/>
          </a:ln>
        </p:spPr>
      </p:sp>
      <p:sp>
        <p:nvSpPr>
          <p:cNvPr id="42" name="text-38"/>
          <p:cNvSpPr txBox="1"/>
          <p:nvPr/>
        </p:nvSpPr>
        <p:spPr>
          <a:xfrm>
            <a:off x="4535424" y="3182112"/>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Business processes and SOPs</a:t>
            </a:r>
            <a:endParaRPr lang="en-US" sz="1100" dirty="0"/>
          </a:p>
        </p:txBody>
      </p:sp>
      <p:sp>
        <p:nvSpPr>
          <p:cNvPr id="43" name="oval-39"/>
          <p:cNvSpPr/>
          <p:nvPr/>
        </p:nvSpPr>
        <p:spPr>
          <a:xfrm>
            <a:off x="4398264" y="3483864"/>
            <a:ext cx="54864" cy="54864"/>
          </a:xfrm>
          <a:prstGeom prst="ellipse">
            <a:avLst/>
          </a:prstGeom>
          <a:solidFill>
            <a:srgbClr val="0F766E"/>
          </a:solidFill>
          <a:ln w="12700">
            <a:solidFill>
              <a:srgbClr val="0F766E"/>
            </a:solidFill>
            <a:prstDash val="solid"/>
          </a:ln>
        </p:spPr>
      </p:sp>
      <p:sp>
        <p:nvSpPr>
          <p:cNvPr id="44" name="text-40"/>
          <p:cNvSpPr txBox="1"/>
          <p:nvPr/>
        </p:nvSpPr>
        <p:spPr>
          <a:xfrm>
            <a:off x="4535424" y="3419856"/>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SLAs and any mandated requirements</a:t>
            </a:r>
            <a:endParaRPr lang="en-US" sz="1100" dirty="0"/>
          </a:p>
        </p:txBody>
      </p:sp>
      <p:sp>
        <p:nvSpPr>
          <p:cNvPr id="45" name="oval-41"/>
          <p:cNvSpPr/>
          <p:nvPr/>
        </p:nvSpPr>
        <p:spPr>
          <a:xfrm>
            <a:off x="4398264" y="3721608"/>
            <a:ext cx="54864" cy="54864"/>
          </a:xfrm>
          <a:prstGeom prst="ellipse">
            <a:avLst/>
          </a:prstGeom>
          <a:solidFill>
            <a:srgbClr val="0F766E"/>
          </a:solidFill>
          <a:ln w="12700">
            <a:solidFill>
              <a:srgbClr val="0F766E"/>
            </a:solidFill>
            <a:prstDash val="solid"/>
          </a:ln>
        </p:spPr>
      </p:sp>
      <p:sp>
        <p:nvSpPr>
          <p:cNvPr id="46" name="text-42"/>
          <p:cNvSpPr txBox="1"/>
          <p:nvPr/>
        </p:nvSpPr>
        <p:spPr>
          <a:xfrm>
            <a:off x="4535424" y="3657600"/>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Hand-offs and where time is spent</a:t>
            </a:r>
            <a:endParaRPr lang="en-US" sz="1100" dirty="0"/>
          </a:p>
        </p:txBody>
      </p:sp>
      <p:sp>
        <p:nvSpPr>
          <p:cNvPr id="47" name="oval-43"/>
          <p:cNvSpPr/>
          <p:nvPr/>
        </p:nvSpPr>
        <p:spPr>
          <a:xfrm>
            <a:off x="4398264" y="3959352"/>
            <a:ext cx="54864" cy="54864"/>
          </a:xfrm>
          <a:prstGeom prst="ellipse">
            <a:avLst/>
          </a:prstGeom>
          <a:solidFill>
            <a:srgbClr val="0F766E"/>
          </a:solidFill>
          <a:ln w="12700">
            <a:solidFill>
              <a:srgbClr val="0F766E"/>
            </a:solidFill>
            <a:prstDash val="solid"/>
          </a:ln>
        </p:spPr>
      </p:sp>
      <p:sp>
        <p:nvSpPr>
          <p:cNvPr id="48" name="text-44"/>
          <p:cNvSpPr txBox="1"/>
          <p:nvPr/>
        </p:nvSpPr>
        <p:spPr>
          <a:xfrm>
            <a:off x="4535424" y="3895344"/>
            <a:ext cx="301752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Today’s ceremonies — what each produces</a:t>
            </a:r>
            <a:endParaRPr lang="en-US" sz="1100" dirty="0"/>
          </a:p>
        </p:txBody>
      </p:sp>
      <p:sp>
        <p:nvSpPr>
          <p:cNvPr id="49" name="tri-45"/>
          <p:cNvSpPr/>
          <p:nvPr/>
        </p:nvSpPr>
        <p:spPr>
          <a:xfrm rot="5400000">
            <a:off x="7872984" y="3483864"/>
            <a:ext cx="164592" cy="164592"/>
          </a:xfrm>
          <a:prstGeom prst="triangle">
            <a:avLst/>
          </a:prstGeom>
          <a:solidFill>
            <a:srgbClr val="5A6B75"/>
          </a:solidFill>
          <a:ln w="12700">
            <a:solidFill>
              <a:srgbClr val="5A6B75"/>
            </a:solidFill>
            <a:prstDash val="solid"/>
          </a:ln>
        </p:spPr>
      </p:sp>
      <p:sp>
        <p:nvSpPr>
          <p:cNvPr id="50" name="shape-46"/>
          <p:cNvSpPr/>
          <p:nvPr/>
        </p:nvSpPr>
        <p:spPr>
          <a:xfrm>
            <a:off x="8138160" y="2651760"/>
            <a:ext cx="3474720" cy="1828800"/>
          </a:xfrm>
          <a:prstGeom prst="roundRect">
            <a:avLst>
              <a:gd name="adj" fmla="val 4000"/>
            </a:avLst>
          </a:prstGeom>
          <a:solidFill>
            <a:srgbClr val="134E4A"/>
          </a:solidFill>
          <a:ln w="12700">
            <a:solidFill>
              <a:srgbClr val="134E4A"/>
            </a:solidFill>
            <a:prstDash val="solid"/>
          </a:ln>
        </p:spPr>
      </p:sp>
      <p:sp>
        <p:nvSpPr>
          <p:cNvPr id="51" name="text-47"/>
          <p:cNvSpPr txBox="1"/>
          <p:nvPr/>
        </p:nvSpPr>
        <p:spPr>
          <a:xfrm>
            <a:off x="8321040" y="2834640"/>
            <a:ext cx="310896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The fit test — at Gate 2</a:t>
            </a:r>
            <a:endParaRPr lang="en-US" sz="1150" dirty="0"/>
          </a:p>
        </p:txBody>
      </p:sp>
      <p:sp>
        <p:nvSpPr>
          <p:cNvPr id="52" name="text-48"/>
          <p:cNvSpPr txBox="1"/>
          <p:nvPr/>
        </p:nvSpPr>
        <p:spPr>
          <a:xfrm>
            <a:off x="8321040" y="3182112"/>
            <a:ext cx="3108960" cy="219456"/>
          </a:xfrm>
          <a:prstGeom prst="rect">
            <a:avLst/>
          </a:prstGeom>
          <a:noFill/>
          <a:ln/>
        </p:spPr>
        <p:txBody>
          <a:bodyPr wrap="square" lIns="0" tIns="0" rIns="0" bIns="0" rtlCol="0" anchor="ctr"/>
          <a:lstStyle/>
          <a:p>
            <a:pPr algn="l" indent="0" marL="0">
              <a:lnSpc>
                <a:spcPct val="100000"/>
              </a:lnSpc>
              <a:buNone/>
            </a:pPr>
            <a:r>
              <a:rPr lang="en-US" sz="1100" dirty="0">
                <a:solidFill>
                  <a:srgbClr val="CFE8E5"/>
                </a:solidFill>
                <a:latin typeface="Calibri" pitchFamily="34" charset="0"/>
                <a:ea typeface="Calibri" pitchFamily="34" charset="-122"/>
                <a:cs typeface="Calibri" pitchFamily="34" charset="-120"/>
              </a:rPr>
              <a:t>Agree the target way of working, with AI woven in</a:t>
            </a:r>
            <a:endParaRPr lang="en-US" sz="1100" dirty="0"/>
          </a:p>
        </p:txBody>
      </p:sp>
      <p:sp>
        <p:nvSpPr>
          <p:cNvPr id="53" name="text-49"/>
          <p:cNvSpPr txBox="1"/>
          <p:nvPr/>
        </p:nvSpPr>
        <p:spPr>
          <a:xfrm>
            <a:off x="8321040" y="3438144"/>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Does the proposed architecture support it?</a:t>
            </a:r>
            <a:endParaRPr lang="en-US" sz="1100" dirty="0"/>
          </a:p>
        </p:txBody>
      </p:sp>
      <p:sp>
        <p:nvSpPr>
          <p:cNvPr id="54" name="text-50"/>
          <p:cNvSpPr txBox="1"/>
          <p:nvPr/>
        </p:nvSpPr>
        <p:spPr>
          <a:xfrm>
            <a:off x="8321040" y="3694176"/>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Where does it hinder it?</a:t>
            </a:r>
            <a:endParaRPr lang="en-US" sz="1100" dirty="0"/>
          </a:p>
        </p:txBody>
      </p:sp>
      <p:sp>
        <p:nvSpPr>
          <p:cNvPr id="55" name="text-51"/>
          <p:cNvSpPr txBox="1"/>
          <p:nvPr/>
        </p:nvSpPr>
        <p:spPr>
          <a:xfrm>
            <a:off x="8321040" y="3950208"/>
            <a:ext cx="310896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What tooling and AI help or hinder?</a:t>
            </a:r>
            <a:endParaRPr lang="en-US" sz="1100" dirty="0"/>
          </a:p>
        </p:txBody>
      </p:sp>
      <p:sp>
        <p:nvSpPr>
          <p:cNvPr id="56" name="shape-52"/>
          <p:cNvSpPr/>
          <p:nvPr/>
        </p:nvSpPr>
        <p:spPr>
          <a:xfrm>
            <a:off x="548640" y="4754880"/>
            <a:ext cx="11064240" cy="1371600"/>
          </a:xfrm>
          <a:prstGeom prst="roundRect">
            <a:avLst>
              <a:gd name="adj" fmla="val 5333"/>
            </a:avLst>
          </a:prstGeom>
          <a:solidFill>
            <a:srgbClr val="FDF1E3"/>
          </a:solidFill>
          <a:ln w="12700">
            <a:solidFill>
              <a:srgbClr val="FDF1E3"/>
            </a:solidFill>
            <a:prstDash val="solid"/>
          </a:ln>
        </p:spPr>
      </p:sp>
      <p:pic>
        <p:nvPicPr>
          <p:cNvPr id="57" name="icon-53" descr="preencoded.png">    </p:cNvPr>
          <p:cNvPicPr>
            <a:picLocks noChangeAspect="1"/>
          </p:cNvPicPr>
          <p:nvPr/>
        </p:nvPicPr>
        <p:blipFill>
          <a:blip r:embed="rId3"/>
          <a:stretch>
            <a:fillRect/>
          </a:stretch>
        </p:blipFill>
        <p:spPr>
          <a:xfrm>
            <a:off x="768096" y="4956048"/>
            <a:ext cx="201168" cy="201168"/>
          </a:xfrm>
          <a:prstGeom prst="rect">
            <a:avLst/>
          </a:prstGeom>
        </p:spPr>
      </p:pic>
      <p:sp>
        <p:nvSpPr>
          <p:cNvPr id="58" name="text-54"/>
          <p:cNvSpPr txBox="1"/>
          <p:nvPr/>
        </p:nvSpPr>
        <p:spPr>
          <a:xfrm>
            <a:off x="1060704" y="4974336"/>
            <a:ext cx="4572000" cy="182880"/>
          </a:xfrm>
          <a:prstGeom prst="rect">
            <a:avLst/>
          </a:prstGeom>
          <a:noFill/>
          <a:ln/>
        </p:spPr>
        <p:txBody>
          <a:bodyPr wrap="square" lIns="0" tIns="0" rIns="0" bIns="0" rtlCol="0" anchor="ctr"/>
          <a:lstStyle/>
          <a:p>
            <a:pPr algn="l" indent="0" marL="0">
              <a:lnSpc>
                <a:spcPct val="100000"/>
              </a:lnSpc>
              <a:buNone/>
            </a:pPr>
            <a:r>
              <a:rPr lang="en-US" sz="950" b="1" spc="200" kern="0" dirty="0">
                <a:solidFill>
                  <a:srgbClr val="B45309"/>
                </a:solidFill>
                <a:latin typeface="Calibri" pitchFamily="34" charset="0"/>
                <a:ea typeface="Calibri" pitchFamily="34" charset="-122"/>
                <a:cs typeface="Calibri" pitchFamily="34" charset="-120"/>
              </a:rPr>
              <a:t>NOT IN THE FIRST 90 DAYS</a:t>
            </a:r>
            <a:endParaRPr lang="en-US" sz="950" dirty="0"/>
          </a:p>
        </p:txBody>
      </p:sp>
      <p:sp>
        <p:nvSpPr>
          <p:cNvPr id="59" name="oval-55"/>
          <p:cNvSpPr/>
          <p:nvPr/>
        </p:nvSpPr>
        <p:spPr>
          <a:xfrm>
            <a:off x="777240" y="5367528"/>
            <a:ext cx="54864" cy="54864"/>
          </a:xfrm>
          <a:prstGeom prst="ellipse">
            <a:avLst/>
          </a:prstGeom>
          <a:solidFill>
            <a:srgbClr val="B45309"/>
          </a:solidFill>
          <a:ln w="12700">
            <a:solidFill>
              <a:srgbClr val="B45309"/>
            </a:solidFill>
            <a:prstDash val="solid"/>
          </a:ln>
        </p:spPr>
      </p:sp>
      <p:sp>
        <p:nvSpPr>
          <p:cNvPr id="60" name="text-56"/>
          <p:cNvSpPr txBox="1"/>
          <p:nvPr/>
        </p:nvSpPr>
        <p:spPr>
          <a:xfrm>
            <a:off x="914400" y="5303520"/>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Commit to the vendor architecture before the fit test</a:t>
            </a:r>
            <a:endParaRPr lang="en-US" sz="1150" dirty="0"/>
          </a:p>
        </p:txBody>
      </p:sp>
      <p:sp>
        <p:nvSpPr>
          <p:cNvPr id="61" name="oval-57"/>
          <p:cNvSpPr/>
          <p:nvPr/>
        </p:nvSpPr>
        <p:spPr>
          <a:xfrm>
            <a:off x="6263640" y="5367528"/>
            <a:ext cx="54864" cy="54864"/>
          </a:xfrm>
          <a:prstGeom prst="ellipse">
            <a:avLst/>
          </a:prstGeom>
          <a:solidFill>
            <a:srgbClr val="B45309"/>
          </a:solidFill>
          <a:ln w="12700">
            <a:solidFill>
              <a:srgbClr val="B45309"/>
            </a:solidFill>
            <a:prstDash val="solid"/>
          </a:ln>
        </p:spPr>
      </p:sp>
      <p:sp>
        <p:nvSpPr>
          <p:cNvPr id="62" name="text-58"/>
          <p:cNvSpPr txBox="1"/>
          <p:nvPr/>
        </p:nvSpPr>
        <p:spPr>
          <a:xfrm>
            <a:off x="6400800" y="5303520"/>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Migrate customer data or re-platform</a:t>
            </a:r>
            <a:endParaRPr lang="en-US" sz="1150" dirty="0"/>
          </a:p>
        </p:txBody>
      </p:sp>
      <p:sp>
        <p:nvSpPr>
          <p:cNvPr id="63" name="oval-59"/>
          <p:cNvSpPr/>
          <p:nvPr/>
        </p:nvSpPr>
        <p:spPr>
          <a:xfrm>
            <a:off x="777240" y="5605272"/>
            <a:ext cx="54864" cy="54864"/>
          </a:xfrm>
          <a:prstGeom prst="ellipse">
            <a:avLst/>
          </a:prstGeom>
          <a:solidFill>
            <a:srgbClr val="B45309"/>
          </a:solidFill>
          <a:ln w="12700">
            <a:solidFill>
              <a:srgbClr val="B45309"/>
            </a:solidFill>
            <a:prstDash val="solid"/>
          </a:ln>
        </p:spPr>
      </p:sp>
      <p:sp>
        <p:nvSpPr>
          <p:cNvPr id="64" name="text-60"/>
          <p:cNvSpPr txBox="1"/>
          <p:nvPr/>
        </p:nvSpPr>
        <p:spPr>
          <a:xfrm>
            <a:off x="914400" y="5541264"/>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Hire beyond the minimum viable team</a:t>
            </a:r>
            <a:endParaRPr lang="en-US" sz="1150" dirty="0"/>
          </a:p>
        </p:txBody>
      </p:sp>
      <p:sp>
        <p:nvSpPr>
          <p:cNvPr id="65" name="oval-61"/>
          <p:cNvSpPr/>
          <p:nvPr/>
        </p:nvSpPr>
        <p:spPr>
          <a:xfrm>
            <a:off x="6263640" y="5605272"/>
            <a:ext cx="54864" cy="54864"/>
          </a:xfrm>
          <a:prstGeom prst="ellipse">
            <a:avLst/>
          </a:prstGeom>
          <a:solidFill>
            <a:srgbClr val="B45309"/>
          </a:solidFill>
          <a:ln w="12700">
            <a:solidFill>
              <a:srgbClr val="B45309"/>
            </a:solidFill>
            <a:prstDash val="solid"/>
          </a:ln>
        </p:spPr>
      </p:sp>
      <p:sp>
        <p:nvSpPr>
          <p:cNvPr id="66" name="text-62"/>
          <p:cNvSpPr txBox="1"/>
          <p:nvPr/>
        </p:nvSpPr>
        <p:spPr>
          <a:xfrm>
            <a:off x="6400800" y="5541264"/>
            <a:ext cx="5120640" cy="182880"/>
          </a:xfrm>
          <a:prstGeom prst="rect">
            <a:avLst/>
          </a:prstGeom>
          <a:noFill/>
          <a:ln/>
        </p:spPr>
        <p:txBody>
          <a:bodyPr wrap="square" lIns="0" tIns="0" rIns="0" bIns="0" rtlCol="0" anchor="ctr"/>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Promise a refined date or cost before Gate 2</a:t>
            </a:r>
            <a:endParaRPr lang="en-US" sz="1150" dirty="0"/>
          </a:p>
        </p:txBody>
      </p:sp>
      <p:sp>
        <p:nvSpPr>
          <p:cNvPr id="67" name="text-63"/>
          <p:cNvSpPr txBox="1"/>
          <p:nvPr/>
        </p:nvSpPr>
        <p:spPr>
          <a:xfrm>
            <a:off x="768096" y="5888736"/>
            <a:ext cx="914400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slides that follow show what the assessment would weigh — one credible shape, not the answer.</a:t>
            </a:r>
            <a:endParaRPr lang="en-US" sz="850" dirty="0"/>
          </a:p>
        </p:txBody>
      </p:sp>
      <p:sp>
        <p:nvSpPr>
          <p:cNvPr id="6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2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3  ·  HOW I WOULD ASSESS THE PROPOSAL: THREE TIERS, THREE RULES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The lens for Gate 2: not one system but three kinds of thing, each judged by a different rule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1280160" y="1426464"/>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WHAT WOULD SIT HERE</a:t>
            </a:r>
            <a:endParaRPr lang="en-US" sz="800" dirty="0"/>
          </a:p>
        </p:txBody>
      </p:sp>
      <p:sp>
        <p:nvSpPr>
          <p:cNvPr id="7" name="text-3"/>
          <p:cNvSpPr txBox="1"/>
          <p:nvPr/>
        </p:nvSpPr>
        <p:spPr>
          <a:xfrm>
            <a:off x="5303520" y="1426464"/>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INVESTMENT RULE</a:t>
            </a:r>
            <a:endParaRPr lang="en-US" sz="800" dirty="0"/>
          </a:p>
        </p:txBody>
      </p:sp>
      <p:sp>
        <p:nvSpPr>
          <p:cNvPr id="8" name="text-4"/>
          <p:cNvSpPr txBox="1"/>
          <p:nvPr/>
        </p:nvSpPr>
        <p:spPr>
          <a:xfrm>
            <a:off x="8778240" y="1426464"/>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RESILIENCE RULE</a:t>
            </a:r>
            <a:endParaRPr lang="en-US" sz="800" dirty="0"/>
          </a:p>
        </p:txBody>
      </p:sp>
      <p:sp>
        <p:nvSpPr>
          <p:cNvPr id="9" name="line-5"/>
          <p:cNvSpPr/>
          <p:nvPr/>
        </p:nvSpPr>
        <p:spPr>
          <a:xfrm>
            <a:off x="548640" y="1627632"/>
            <a:ext cx="11064240" cy="0"/>
          </a:xfrm>
          <a:prstGeom prst="line">
            <a:avLst/>
          </a:prstGeom>
          <a:noFill/>
          <a:ln w="12700">
            <a:solidFill>
              <a:srgbClr val="D4DBE0"/>
            </a:solidFill>
            <a:prstDash val="solid"/>
          </a:ln>
        </p:spPr>
      </p:sp>
      <p:sp>
        <p:nvSpPr>
          <p:cNvPr id="10" name="shape-6"/>
          <p:cNvSpPr/>
          <p:nvPr/>
        </p:nvSpPr>
        <p:spPr>
          <a:xfrm>
            <a:off x="548640" y="1719072"/>
            <a:ext cx="11064240" cy="658368"/>
          </a:xfrm>
          <a:prstGeom prst="roundRect">
            <a:avLst>
              <a:gd name="adj" fmla="val 11111"/>
            </a:avLst>
          </a:prstGeom>
          <a:solidFill>
            <a:srgbClr val="EEF2F4"/>
          </a:solidFill>
          <a:ln w="12700">
            <a:solidFill>
              <a:srgbClr val="EEF2F4"/>
            </a:solidFill>
            <a:prstDash val="solid"/>
          </a:ln>
        </p:spPr>
      </p:sp>
      <p:sp>
        <p:nvSpPr>
          <p:cNvPr id="11" name="shape-7"/>
          <p:cNvSpPr/>
          <p:nvPr/>
        </p:nvSpPr>
        <p:spPr>
          <a:xfrm>
            <a:off x="548640" y="1719072"/>
            <a:ext cx="566928" cy="658368"/>
          </a:xfrm>
          <a:prstGeom prst="roundRect">
            <a:avLst>
              <a:gd name="adj" fmla="val 12903"/>
            </a:avLst>
          </a:prstGeom>
          <a:solidFill>
            <a:srgbClr val="134E4A"/>
          </a:solidFill>
          <a:ln w="12700">
            <a:solidFill>
              <a:srgbClr val="134E4A"/>
            </a:solidFill>
            <a:prstDash val="solid"/>
          </a:ln>
        </p:spPr>
      </p:sp>
      <p:sp>
        <p:nvSpPr>
          <p:cNvPr id="12" name="shape-8"/>
          <p:cNvSpPr/>
          <p:nvPr/>
        </p:nvSpPr>
        <p:spPr>
          <a:xfrm>
            <a:off x="1042416" y="1719072"/>
            <a:ext cx="73152" cy="658368"/>
          </a:xfrm>
          <a:prstGeom prst="rect">
            <a:avLst/>
          </a:prstGeom>
          <a:solidFill>
            <a:srgbClr val="134E4A"/>
          </a:solidFill>
          <a:ln w="12700">
            <a:solidFill>
              <a:srgbClr val="134E4A"/>
            </a:solidFill>
            <a:prstDash val="solid"/>
          </a:ln>
        </p:spPr>
      </p:sp>
      <p:sp>
        <p:nvSpPr>
          <p:cNvPr id="13" name="text-9"/>
          <p:cNvSpPr txBox="1"/>
          <p:nvPr/>
        </p:nvSpPr>
        <p:spPr>
          <a:xfrm>
            <a:off x="548640" y="1719072"/>
            <a:ext cx="566928" cy="658368"/>
          </a:xfrm>
          <a:prstGeom prst="rect">
            <a:avLst/>
          </a:prstGeom>
          <a:noFill/>
          <a:ln/>
        </p:spPr>
        <p:txBody>
          <a:bodyPr wrap="square" lIns="0" tIns="0" rIns="0" bIns="0" rtlCol="0" anchor="ctr"/>
          <a:lstStyle/>
          <a:p>
            <a:pPr algn="ctr" indent="0" marL="0">
              <a:lnSpc>
                <a:spcPct val="100000"/>
              </a:lnSpc>
              <a:buNone/>
            </a:pPr>
            <a:r>
              <a:rPr lang="en-US" sz="1850" b="1" dirty="0">
                <a:solidFill>
                  <a:srgbClr val="FFFFFF"/>
                </a:solidFill>
                <a:latin typeface="Calibri" pitchFamily="34" charset="0"/>
                <a:ea typeface="Calibri" pitchFamily="34" charset="-122"/>
                <a:cs typeface="Calibri" pitchFamily="34" charset="-120"/>
              </a:rPr>
              <a:t>A</a:t>
            </a:r>
            <a:endParaRPr lang="en-US" sz="1850" dirty="0"/>
          </a:p>
        </p:txBody>
      </p:sp>
      <p:sp>
        <p:nvSpPr>
          <p:cNvPr id="14" name="text-10"/>
          <p:cNvSpPr txBox="1"/>
          <p:nvPr/>
        </p:nvSpPr>
        <p:spPr>
          <a:xfrm>
            <a:off x="1280160" y="1810512"/>
            <a:ext cx="3840480" cy="219456"/>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USP product</a:t>
            </a:r>
            <a:endParaRPr lang="en-US" sz="1300" dirty="0"/>
          </a:p>
        </p:txBody>
      </p:sp>
      <p:sp>
        <p:nvSpPr>
          <p:cNvPr id="15" name="text-11"/>
          <p:cNvSpPr txBox="1"/>
          <p:nvPr/>
        </p:nvSpPr>
        <p:spPr>
          <a:xfrm>
            <a:off x="1280160" y="2048256"/>
            <a:ext cx="3840480" cy="274320"/>
          </a:xfrm>
          <a:prstGeom prst="rect">
            <a:avLst/>
          </a:prstGeom>
          <a:noFill/>
          <a:ln/>
        </p:spPr>
        <p:txBody>
          <a:bodyPr wrap="square" lIns="0" tIns="0" rIns="0" bIns="0" rtlCol="0" anchor="t"/>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the moat: online product, content delivery, third-party APIs</a:t>
            </a:r>
            <a:endParaRPr lang="en-US" sz="950" dirty="0"/>
          </a:p>
        </p:txBody>
      </p:sp>
      <p:sp>
        <p:nvSpPr>
          <p:cNvPr id="16" name="text-12"/>
          <p:cNvSpPr txBox="1"/>
          <p:nvPr/>
        </p:nvSpPr>
        <p:spPr>
          <a:xfrm>
            <a:off x="5303520" y="1719072"/>
            <a:ext cx="329184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Commercials, opportunity, strategy</a:t>
            </a:r>
            <a:endParaRPr lang="en-US" sz="1200" dirty="0"/>
          </a:p>
        </p:txBody>
      </p:sp>
      <p:sp>
        <p:nvSpPr>
          <p:cNvPr id="17" name="text-13"/>
          <p:cNvSpPr txBox="1"/>
          <p:nvPr/>
        </p:nvSpPr>
        <p:spPr>
          <a:xfrm>
            <a:off x="8778240" y="1719072"/>
            <a:ext cx="274320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34E4A"/>
                </a:solidFill>
                <a:latin typeface="Calibri" pitchFamily="34" charset="0"/>
                <a:ea typeface="Calibri" pitchFamily="34" charset="-122"/>
                <a:cs typeface="Calibri" pitchFamily="34" charset="-120"/>
              </a:rPr>
              <a:t>Bullet-proof — life-critical content</a:t>
            </a:r>
            <a:endParaRPr lang="en-US" sz="1200" dirty="0"/>
          </a:p>
        </p:txBody>
      </p:sp>
      <p:sp>
        <p:nvSpPr>
          <p:cNvPr id="18" name="shape-14"/>
          <p:cNvSpPr/>
          <p:nvPr/>
        </p:nvSpPr>
        <p:spPr>
          <a:xfrm>
            <a:off x="548640" y="2450592"/>
            <a:ext cx="11064240" cy="658368"/>
          </a:xfrm>
          <a:prstGeom prst="roundRect">
            <a:avLst>
              <a:gd name="adj" fmla="val 11111"/>
            </a:avLst>
          </a:prstGeom>
          <a:solidFill>
            <a:srgbClr val="EEF2F4"/>
          </a:solidFill>
          <a:ln w="12700">
            <a:solidFill>
              <a:srgbClr val="EEF2F4"/>
            </a:solidFill>
            <a:prstDash val="solid"/>
          </a:ln>
        </p:spPr>
      </p:sp>
      <p:sp>
        <p:nvSpPr>
          <p:cNvPr id="19" name="shape-15"/>
          <p:cNvSpPr/>
          <p:nvPr/>
        </p:nvSpPr>
        <p:spPr>
          <a:xfrm>
            <a:off x="548640" y="2450592"/>
            <a:ext cx="566928" cy="658368"/>
          </a:xfrm>
          <a:prstGeom prst="roundRect">
            <a:avLst>
              <a:gd name="adj" fmla="val 12903"/>
            </a:avLst>
          </a:prstGeom>
          <a:solidFill>
            <a:srgbClr val="0F766E"/>
          </a:solidFill>
          <a:ln w="12700">
            <a:solidFill>
              <a:srgbClr val="0F766E"/>
            </a:solidFill>
            <a:prstDash val="solid"/>
          </a:ln>
        </p:spPr>
      </p:sp>
      <p:sp>
        <p:nvSpPr>
          <p:cNvPr id="20" name="shape-16"/>
          <p:cNvSpPr/>
          <p:nvPr/>
        </p:nvSpPr>
        <p:spPr>
          <a:xfrm>
            <a:off x="1042416" y="2450592"/>
            <a:ext cx="73152" cy="658368"/>
          </a:xfrm>
          <a:prstGeom prst="rect">
            <a:avLst/>
          </a:prstGeom>
          <a:solidFill>
            <a:srgbClr val="0F766E"/>
          </a:solidFill>
          <a:ln w="12700">
            <a:solidFill>
              <a:srgbClr val="0F766E"/>
            </a:solidFill>
            <a:prstDash val="solid"/>
          </a:ln>
        </p:spPr>
      </p:sp>
      <p:sp>
        <p:nvSpPr>
          <p:cNvPr id="21" name="text-17"/>
          <p:cNvSpPr txBox="1"/>
          <p:nvPr/>
        </p:nvSpPr>
        <p:spPr>
          <a:xfrm>
            <a:off x="548640" y="2450592"/>
            <a:ext cx="566928" cy="658368"/>
          </a:xfrm>
          <a:prstGeom prst="rect">
            <a:avLst/>
          </a:prstGeom>
          <a:noFill/>
          <a:ln/>
        </p:spPr>
        <p:txBody>
          <a:bodyPr wrap="square" lIns="0" tIns="0" rIns="0" bIns="0" rtlCol="0" anchor="ctr"/>
          <a:lstStyle/>
          <a:p>
            <a:pPr algn="ctr" indent="0" marL="0">
              <a:lnSpc>
                <a:spcPct val="100000"/>
              </a:lnSpc>
              <a:buNone/>
            </a:pPr>
            <a:r>
              <a:rPr lang="en-US" sz="1850" b="1" dirty="0">
                <a:solidFill>
                  <a:srgbClr val="FFFFFF"/>
                </a:solidFill>
                <a:latin typeface="Calibri" pitchFamily="34" charset="0"/>
                <a:ea typeface="Calibri" pitchFamily="34" charset="-122"/>
                <a:cs typeface="Calibri" pitchFamily="34" charset="-120"/>
              </a:rPr>
              <a:t>B</a:t>
            </a:r>
            <a:endParaRPr lang="en-US" sz="1850" dirty="0"/>
          </a:p>
        </p:txBody>
      </p:sp>
      <p:sp>
        <p:nvSpPr>
          <p:cNvPr id="22" name="text-18"/>
          <p:cNvSpPr txBox="1"/>
          <p:nvPr/>
        </p:nvSpPr>
        <p:spPr>
          <a:xfrm>
            <a:off x="1280160" y="2542032"/>
            <a:ext cx="3840480" cy="219456"/>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Content tooling</a:t>
            </a:r>
            <a:endParaRPr lang="en-US" sz="1300" dirty="0"/>
          </a:p>
        </p:txBody>
      </p:sp>
      <p:sp>
        <p:nvSpPr>
          <p:cNvPr id="23" name="text-19"/>
          <p:cNvSpPr txBox="1"/>
          <p:nvPr/>
        </p:nvSpPr>
        <p:spPr>
          <a:xfrm>
            <a:off x="1280160" y="2779776"/>
            <a:ext cx="3840480" cy="274320"/>
          </a:xfrm>
          <a:prstGeom prst="rect">
            <a:avLst/>
          </a:prstGeom>
          <a:noFill/>
          <a:ln/>
        </p:spPr>
        <p:txBody>
          <a:bodyPr wrap="square" lIns="0" tIns="0" rIns="0" bIns="0" rtlCol="0" anchor="t"/>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authoring and publishing SaaS — the content is the asset, not the tool</a:t>
            </a:r>
            <a:endParaRPr lang="en-US" sz="950" dirty="0"/>
          </a:p>
        </p:txBody>
      </p:sp>
      <p:sp>
        <p:nvSpPr>
          <p:cNvPr id="24" name="text-20"/>
          <p:cNvSpPr txBox="1"/>
          <p:nvPr/>
        </p:nvSpPr>
        <p:spPr>
          <a:xfrm>
            <a:off x="5303520" y="2450592"/>
            <a:ext cx="329184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Fit for authors, portability, cost</a:t>
            </a:r>
            <a:endParaRPr lang="en-US" sz="1200" dirty="0"/>
          </a:p>
        </p:txBody>
      </p:sp>
      <p:sp>
        <p:nvSpPr>
          <p:cNvPr id="25" name="text-21"/>
          <p:cNvSpPr txBox="1"/>
          <p:nvPr/>
        </p:nvSpPr>
        <p:spPr>
          <a:xfrm>
            <a:off x="8778240" y="2450592"/>
            <a:ext cx="274320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Business hours</a:t>
            </a:r>
            <a:endParaRPr lang="en-US" sz="1200" dirty="0"/>
          </a:p>
        </p:txBody>
      </p:sp>
      <p:sp>
        <p:nvSpPr>
          <p:cNvPr id="26" name="shape-22"/>
          <p:cNvSpPr/>
          <p:nvPr/>
        </p:nvSpPr>
        <p:spPr>
          <a:xfrm>
            <a:off x="548640" y="3182112"/>
            <a:ext cx="11064240" cy="658368"/>
          </a:xfrm>
          <a:prstGeom prst="roundRect">
            <a:avLst>
              <a:gd name="adj" fmla="val 11111"/>
            </a:avLst>
          </a:prstGeom>
          <a:solidFill>
            <a:srgbClr val="EEF2F4"/>
          </a:solidFill>
          <a:ln w="12700">
            <a:solidFill>
              <a:srgbClr val="EEF2F4"/>
            </a:solidFill>
            <a:prstDash val="solid"/>
          </a:ln>
        </p:spPr>
      </p:sp>
      <p:sp>
        <p:nvSpPr>
          <p:cNvPr id="27" name="shape-23"/>
          <p:cNvSpPr/>
          <p:nvPr/>
        </p:nvSpPr>
        <p:spPr>
          <a:xfrm>
            <a:off x="548640" y="3182112"/>
            <a:ext cx="566928" cy="658368"/>
          </a:xfrm>
          <a:prstGeom prst="roundRect">
            <a:avLst>
              <a:gd name="adj" fmla="val 12903"/>
            </a:avLst>
          </a:prstGeom>
          <a:solidFill>
            <a:srgbClr val="8A99A3"/>
          </a:solidFill>
          <a:ln w="12700">
            <a:solidFill>
              <a:srgbClr val="8A99A3"/>
            </a:solidFill>
            <a:prstDash val="solid"/>
          </a:ln>
        </p:spPr>
      </p:sp>
      <p:sp>
        <p:nvSpPr>
          <p:cNvPr id="28" name="shape-24"/>
          <p:cNvSpPr/>
          <p:nvPr/>
        </p:nvSpPr>
        <p:spPr>
          <a:xfrm>
            <a:off x="1042416" y="3182112"/>
            <a:ext cx="73152" cy="658368"/>
          </a:xfrm>
          <a:prstGeom prst="rect">
            <a:avLst/>
          </a:prstGeom>
          <a:solidFill>
            <a:srgbClr val="8A99A3"/>
          </a:solidFill>
          <a:ln w="12700">
            <a:solidFill>
              <a:srgbClr val="8A99A3"/>
            </a:solidFill>
            <a:prstDash val="solid"/>
          </a:ln>
        </p:spPr>
      </p:sp>
      <p:sp>
        <p:nvSpPr>
          <p:cNvPr id="29" name="text-25"/>
          <p:cNvSpPr txBox="1"/>
          <p:nvPr/>
        </p:nvSpPr>
        <p:spPr>
          <a:xfrm>
            <a:off x="548640" y="3182112"/>
            <a:ext cx="566928" cy="658368"/>
          </a:xfrm>
          <a:prstGeom prst="rect">
            <a:avLst/>
          </a:prstGeom>
          <a:noFill/>
          <a:ln/>
        </p:spPr>
        <p:txBody>
          <a:bodyPr wrap="square" lIns="0" tIns="0" rIns="0" bIns="0" rtlCol="0" anchor="ctr"/>
          <a:lstStyle/>
          <a:p>
            <a:pPr algn="ctr" indent="0" marL="0">
              <a:lnSpc>
                <a:spcPct val="100000"/>
              </a:lnSpc>
              <a:buNone/>
            </a:pPr>
            <a:r>
              <a:rPr lang="en-US" sz="1850" b="1" dirty="0">
                <a:solidFill>
                  <a:srgbClr val="FFFFFF"/>
                </a:solidFill>
                <a:latin typeface="Calibri" pitchFamily="34" charset="0"/>
                <a:ea typeface="Calibri" pitchFamily="34" charset="-122"/>
                <a:cs typeface="Calibri" pitchFamily="34" charset="-120"/>
              </a:rPr>
              <a:t>C</a:t>
            </a:r>
            <a:endParaRPr lang="en-US" sz="1850" dirty="0"/>
          </a:p>
        </p:txBody>
      </p:sp>
      <p:sp>
        <p:nvSpPr>
          <p:cNvPr id="30" name="text-26"/>
          <p:cNvSpPr txBox="1"/>
          <p:nvPr/>
        </p:nvSpPr>
        <p:spPr>
          <a:xfrm>
            <a:off x="1280160" y="3273552"/>
            <a:ext cx="3840480" cy="219456"/>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Operational commodity</a:t>
            </a:r>
            <a:endParaRPr lang="en-US" sz="1300" dirty="0"/>
          </a:p>
        </p:txBody>
      </p:sp>
      <p:sp>
        <p:nvSpPr>
          <p:cNvPr id="31" name="text-27"/>
          <p:cNvSpPr txBox="1"/>
          <p:nvPr/>
        </p:nvSpPr>
        <p:spPr>
          <a:xfrm>
            <a:off x="1280160" y="3511296"/>
            <a:ext cx="3840480" cy="274320"/>
          </a:xfrm>
          <a:prstGeom prst="rect">
            <a:avLst/>
          </a:prstGeom>
          <a:noFill/>
          <a:ln/>
        </p:spPr>
        <p:txBody>
          <a:bodyPr wrap="square" lIns="0" tIns="0" rIns="0" bIns="0" rtlCol="0" anchor="t"/>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CRM, shop, ordering, finance, reporting</a:t>
            </a:r>
            <a:endParaRPr lang="en-US" sz="950" dirty="0"/>
          </a:p>
        </p:txBody>
      </p:sp>
      <p:sp>
        <p:nvSpPr>
          <p:cNvPr id="32" name="text-28"/>
          <p:cNvSpPr txBox="1"/>
          <p:nvPr/>
        </p:nvSpPr>
        <p:spPr>
          <a:xfrm>
            <a:off x="5303520" y="3182112"/>
            <a:ext cx="329184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Cost and effort vs efficiency gained</a:t>
            </a:r>
            <a:endParaRPr lang="en-US" sz="1200" dirty="0"/>
          </a:p>
        </p:txBody>
      </p:sp>
      <p:sp>
        <p:nvSpPr>
          <p:cNvPr id="33" name="text-29"/>
          <p:cNvSpPr txBox="1"/>
          <p:nvPr/>
        </p:nvSpPr>
        <p:spPr>
          <a:xfrm>
            <a:off x="8778240" y="3182112"/>
            <a:ext cx="274320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Standard; no shared fate with A</a:t>
            </a:r>
            <a:endParaRPr lang="en-US" sz="1200" dirty="0"/>
          </a:p>
        </p:txBody>
      </p:sp>
      <p:sp>
        <p:nvSpPr>
          <p:cNvPr id="34" name="shape-30"/>
          <p:cNvSpPr/>
          <p:nvPr/>
        </p:nvSpPr>
        <p:spPr>
          <a:xfrm>
            <a:off x="548640" y="3913632"/>
            <a:ext cx="11064240" cy="658368"/>
          </a:xfrm>
          <a:prstGeom prst="roundRect">
            <a:avLst>
              <a:gd name="adj" fmla="val 11111"/>
            </a:avLst>
          </a:prstGeom>
          <a:solidFill>
            <a:srgbClr val="FDF1E3"/>
          </a:solidFill>
          <a:ln w="12700">
            <a:solidFill>
              <a:srgbClr val="FDF1E3"/>
            </a:solidFill>
            <a:prstDash val="solid"/>
          </a:ln>
        </p:spPr>
      </p:sp>
      <p:sp>
        <p:nvSpPr>
          <p:cNvPr id="35" name="shape-31"/>
          <p:cNvSpPr/>
          <p:nvPr/>
        </p:nvSpPr>
        <p:spPr>
          <a:xfrm>
            <a:off x="548640" y="3913632"/>
            <a:ext cx="566928" cy="658368"/>
          </a:xfrm>
          <a:prstGeom prst="roundRect">
            <a:avLst>
              <a:gd name="adj" fmla="val 12903"/>
            </a:avLst>
          </a:prstGeom>
          <a:solidFill>
            <a:srgbClr val="B45309"/>
          </a:solidFill>
          <a:ln w="12700">
            <a:solidFill>
              <a:srgbClr val="B45309"/>
            </a:solidFill>
            <a:prstDash val="solid"/>
          </a:ln>
        </p:spPr>
      </p:sp>
      <p:sp>
        <p:nvSpPr>
          <p:cNvPr id="36" name="shape-32"/>
          <p:cNvSpPr/>
          <p:nvPr/>
        </p:nvSpPr>
        <p:spPr>
          <a:xfrm>
            <a:off x="1042416" y="3913632"/>
            <a:ext cx="73152" cy="658368"/>
          </a:xfrm>
          <a:prstGeom prst="rect">
            <a:avLst/>
          </a:prstGeom>
          <a:solidFill>
            <a:srgbClr val="B45309"/>
          </a:solidFill>
          <a:ln w="12700">
            <a:solidFill>
              <a:srgbClr val="B45309"/>
            </a:solidFill>
            <a:prstDash val="solid"/>
          </a:ln>
        </p:spPr>
      </p:sp>
      <p:sp>
        <p:nvSpPr>
          <p:cNvPr id="37" name="text-33"/>
          <p:cNvSpPr txBox="1"/>
          <p:nvPr/>
        </p:nvSpPr>
        <p:spPr>
          <a:xfrm>
            <a:off x="548640" y="3913632"/>
            <a:ext cx="566928" cy="658368"/>
          </a:xfrm>
          <a:prstGeom prst="rect">
            <a:avLst/>
          </a:prstGeom>
          <a:noFill/>
          <a:ln/>
        </p:spPr>
        <p:txBody>
          <a:bodyPr wrap="square" lIns="0" tIns="0" rIns="0" bIns="0" rtlCol="0" anchor="ctr"/>
          <a:lstStyle/>
          <a:p>
            <a:pPr algn="ctr" indent="0" marL="0">
              <a:lnSpc>
                <a:spcPct val="100000"/>
              </a:lnSpc>
              <a:buNone/>
            </a:pPr>
            <a:r>
              <a:rPr lang="en-US" sz="1850" b="1" dirty="0">
                <a:solidFill>
                  <a:srgbClr val="FFFFFF"/>
                </a:solidFill>
                <a:latin typeface="Calibri" pitchFamily="34" charset="0"/>
                <a:ea typeface="Calibri" pitchFamily="34" charset="-122"/>
                <a:cs typeface="Calibri" pitchFamily="34" charset="-120"/>
              </a:rPr>
              <a:t>X</a:t>
            </a:r>
            <a:endParaRPr lang="en-US" sz="1850" dirty="0"/>
          </a:p>
        </p:txBody>
      </p:sp>
      <p:sp>
        <p:nvSpPr>
          <p:cNvPr id="38" name="text-34"/>
          <p:cNvSpPr txBox="1"/>
          <p:nvPr/>
        </p:nvSpPr>
        <p:spPr>
          <a:xfrm>
            <a:off x="1280160" y="4005072"/>
            <a:ext cx="3840480" cy="219456"/>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Cross-cutting</a:t>
            </a:r>
            <a:endParaRPr lang="en-US" sz="1300" dirty="0"/>
          </a:p>
        </p:txBody>
      </p:sp>
      <p:sp>
        <p:nvSpPr>
          <p:cNvPr id="39" name="text-35"/>
          <p:cNvSpPr txBox="1"/>
          <p:nvPr/>
        </p:nvSpPr>
        <p:spPr>
          <a:xfrm>
            <a:off x="1280160" y="4242816"/>
            <a:ext cx="3840480" cy="274320"/>
          </a:xfrm>
          <a:prstGeom prst="rect">
            <a:avLst/>
          </a:prstGeom>
          <a:noFill/>
          <a:ln/>
        </p:spPr>
        <p:txBody>
          <a:bodyPr wrap="square" lIns="0" tIns="0" rIns="0" bIns="0" rtlCol="0" anchor="t"/>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identity, security, observability, bus, integration standards</a:t>
            </a:r>
            <a:endParaRPr lang="en-US" sz="950" dirty="0"/>
          </a:p>
        </p:txBody>
      </p:sp>
      <p:sp>
        <p:nvSpPr>
          <p:cNvPr id="40" name="text-36"/>
          <p:cNvSpPr txBox="1"/>
          <p:nvPr/>
        </p:nvSpPr>
        <p:spPr>
          <a:xfrm>
            <a:off x="5303520" y="3913632"/>
            <a:ext cx="329184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Inherits, plus risk and reputation</a:t>
            </a:r>
            <a:endParaRPr lang="en-US" sz="1200" dirty="0"/>
          </a:p>
        </p:txBody>
      </p:sp>
      <p:sp>
        <p:nvSpPr>
          <p:cNvPr id="41" name="text-37"/>
          <p:cNvSpPr txBox="1"/>
          <p:nvPr/>
        </p:nvSpPr>
        <p:spPr>
          <a:xfrm>
            <a:off x="8778240" y="3913632"/>
            <a:ext cx="2743200" cy="658368"/>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Inherits A in A’s path</a:t>
            </a:r>
            <a:endParaRPr lang="en-US" sz="1200" dirty="0"/>
          </a:p>
        </p:txBody>
      </p:sp>
      <p:sp>
        <p:nvSpPr>
          <p:cNvPr id="42" name="shape-38"/>
          <p:cNvSpPr/>
          <p:nvPr/>
        </p:nvSpPr>
        <p:spPr>
          <a:xfrm>
            <a:off x="548640" y="4809744"/>
            <a:ext cx="11064240" cy="1024128"/>
          </a:xfrm>
          <a:prstGeom prst="roundRect">
            <a:avLst>
              <a:gd name="adj" fmla="val 7143"/>
            </a:avLst>
          </a:prstGeom>
          <a:solidFill>
            <a:srgbClr val="D6ECE9"/>
          </a:solidFill>
          <a:ln w="12700">
            <a:solidFill>
              <a:srgbClr val="D6ECE9"/>
            </a:solidFill>
            <a:prstDash val="solid"/>
          </a:ln>
        </p:spPr>
      </p:sp>
      <p:pic>
        <p:nvPicPr>
          <p:cNvPr id="43" name="icon-39" descr="preencoded.png">    </p:cNvPr>
          <p:cNvPicPr>
            <a:picLocks noChangeAspect="1"/>
          </p:cNvPicPr>
          <p:nvPr/>
        </p:nvPicPr>
        <p:blipFill>
          <a:blip r:embed="rId1"/>
          <a:stretch>
            <a:fillRect/>
          </a:stretch>
        </p:blipFill>
        <p:spPr>
          <a:xfrm>
            <a:off x="749808" y="4992624"/>
            <a:ext cx="237744" cy="237744"/>
          </a:xfrm>
          <a:prstGeom prst="rect">
            <a:avLst/>
          </a:prstGeom>
        </p:spPr>
      </p:pic>
      <p:sp>
        <p:nvSpPr>
          <p:cNvPr id="44" name="text-40"/>
          <p:cNvSpPr txBox="1"/>
          <p:nvPr/>
        </p:nvSpPr>
        <p:spPr>
          <a:xfrm>
            <a:off x="1097280" y="4956048"/>
            <a:ext cx="4572000"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134E4A"/>
                </a:solidFill>
                <a:latin typeface="Calibri" pitchFamily="34" charset="0"/>
                <a:ea typeface="Calibri" pitchFamily="34" charset="-122"/>
                <a:cs typeface="Calibri" pitchFamily="34" charset="-120"/>
              </a:rPr>
              <a:t>BONUS — WHERE AI CHANGES THE RULE</a:t>
            </a:r>
            <a:endParaRPr lang="en-US" sz="850" dirty="0"/>
          </a:p>
        </p:txBody>
      </p:sp>
      <p:sp>
        <p:nvSpPr>
          <p:cNvPr id="45" name="shape-41"/>
          <p:cNvSpPr/>
          <p:nvPr/>
        </p:nvSpPr>
        <p:spPr>
          <a:xfrm>
            <a:off x="749808" y="5330952"/>
            <a:ext cx="201168" cy="146304"/>
          </a:xfrm>
          <a:prstGeom prst="roundRect">
            <a:avLst>
              <a:gd name="adj" fmla="val 50000"/>
            </a:avLst>
          </a:prstGeom>
          <a:solidFill>
            <a:srgbClr val="134E4A"/>
          </a:solidFill>
          <a:ln w="12700">
            <a:solidFill>
              <a:srgbClr val="134E4A"/>
            </a:solidFill>
            <a:prstDash val="solid"/>
          </a:ln>
        </p:spPr>
      </p:sp>
      <p:sp>
        <p:nvSpPr>
          <p:cNvPr id="46" name="text-42"/>
          <p:cNvSpPr txBox="1"/>
          <p:nvPr/>
        </p:nvSpPr>
        <p:spPr>
          <a:xfrm>
            <a:off x="749808" y="533095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7" name="text-43"/>
          <p:cNvSpPr txBox="1"/>
          <p:nvPr/>
        </p:nvSpPr>
        <p:spPr>
          <a:xfrm>
            <a:off x="1024128" y="5266944"/>
            <a:ext cx="2217420" cy="329184"/>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accelerate and de-risk product work</a:t>
            </a:r>
            <a:endParaRPr lang="en-US" sz="1050" dirty="0"/>
          </a:p>
        </p:txBody>
      </p:sp>
      <p:sp>
        <p:nvSpPr>
          <p:cNvPr id="48" name="shape-44"/>
          <p:cNvSpPr/>
          <p:nvPr/>
        </p:nvSpPr>
        <p:spPr>
          <a:xfrm>
            <a:off x="3406140" y="5330952"/>
            <a:ext cx="201168" cy="146304"/>
          </a:xfrm>
          <a:prstGeom prst="roundRect">
            <a:avLst>
              <a:gd name="adj" fmla="val 50000"/>
            </a:avLst>
          </a:prstGeom>
          <a:solidFill>
            <a:srgbClr val="0F766E"/>
          </a:solidFill>
          <a:ln w="12700">
            <a:solidFill>
              <a:srgbClr val="0F766E"/>
            </a:solidFill>
            <a:prstDash val="solid"/>
          </a:ln>
        </p:spPr>
      </p:sp>
      <p:sp>
        <p:nvSpPr>
          <p:cNvPr id="49" name="text-45"/>
          <p:cNvSpPr txBox="1"/>
          <p:nvPr/>
        </p:nvSpPr>
        <p:spPr>
          <a:xfrm>
            <a:off x="3406140" y="533095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50" name="text-46"/>
          <p:cNvSpPr txBox="1"/>
          <p:nvPr/>
        </p:nvSpPr>
        <p:spPr>
          <a:xfrm>
            <a:off x="3680460" y="5266944"/>
            <a:ext cx="2217420" cy="329184"/>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author assistance, human sign-off</a:t>
            </a:r>
            <a:endParaRPr lang="en-US" sz="1050" dirty="0"/>
          </a:p>
        </p:txBody>
      </p:sp>
      <p:sp>
        <p:nvSpPr>
          <p:cNvPr id="51" name="shape-47"/>
          <p:cNvSpPr/>
          <p:nvPr/>
        </p:nvSpPr>
        <p:spPr>
          <a:xfrm>
            <a:off x="6062472" y="5330952"/>
            <a:ext cx="201168" cy="146304"/>
          </a:xfrm>
          <a:prstGeom prst="roundRect">
            <a:avLst>
              <a:gd name="adj" fmla="val 50000"/>
            </a:avLst>
          </a:prstGeom>
          <a:solidFill>
            <a:srgbClr val="8A99A3"/>
          </a:solidFill>
          <a:ln w="12700">
            <a:solidFill>
              <a:srgbClr val="8A99A3"/>
            </a:solidFill>
            <a:prstDash val="solid"/>
          </a:ln>
        </p:spPr>
      </p:sp>
      <p:sp>
        <p:nvSpPr>
          <p:cNvPr id="52" name="text-48"/>
          <p:cNvSpPr txBox="1"/>
          <p:nvPr/>
        </p:nvSpPr>
        <p:spPr>
          <a:xfrm>
            <a:off x="6062472" y="533095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3" name="text-49"/>
          <p:cNvSpPr txBox="1"/>
          <p:nvPr/>
        </p:nvSpPr>
        <p:spPr>
          <a:xfrm>
            <a:off x="6336792" y="5266944"/>
            <a:ext cx="2217420" cy="329184"/>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woven into process — must-haves shrink</a:t>
            </a:r>
            <a:endParaRPr lang="en-US" sz="1050" dirty="0"/>
          </a:p>
        </p:txBody>
      </p:sp>
      <p:sp>
        <p:nvSpPr>
          <p:cNvPr id="54" name="shape-50"/>
          <p:cNvSpPr/>
          <p:nvPr/>
        </p:nvSpPr>
        <p:spPr>
          <a:xfrm>
            <a:off x="8718804" y="5330952"/>
            <a:ext cx="201168" cy="146304"/>
          </a:xfrm>
          <a:prstGeom prst="roundRect">
            <a:avLst>
              <a:gd name="adj" fmla="val 50000"/>
            </a:avLst>
          </a:prstGeom>
          <a:solidFill>
            <a:srgbClr val="B45309"/>
          </a:solidFill>
          <a:ln w="12700">
            <a:solidFill>
              <a:srgbClr val="B45309"/>
            </a:solidFill>
            <a:prstDash val="solid"/>
          </a:ln>
        </p:spPr>
      </p:sp>
      <p:sp>
        <p:nvSpPr>
          <p:cNvPr id="55" name="text-51"/>
          <p:cNvSpPr txBox="1"/>
          <p:nvPr/>
        </p:nvSpPr>
        <p:spPr>
          <a:xfrm>
            <a:off x="8718804" y="533095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56" name="text-52"/>
          <p:cNvSpPr txBox="1"/>
          <p:nvPr/>
        </p:nvSpPr>
        <p:spPr>
          <a:xfrm>
            <a:off x="8993124" y="5266944"/>
            <a:ext cx="2217420" cy="329184"/>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review, triage, runbooks</a:t>
            </a:r>
            <a:endParaRPr lang="en-US" sz="1050" dirty="0"/>
          </a:p>
        </p:txBody>
      </p:sp>
      <p:sp>
        <p:nvSpPr>
          <p:cNvPr id="57" name="text-53"/>
          <p:cNvSpPr txBox="1"/>
          <p:nvPr/>
        </p:nvSpPr>
        <p:spPr>
          <a:xfrm>
            <a:off x="548640" y="6309360"/>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Candidate tiers — which component lands where is a Gate 2 outcome. AI never reaches production without a human gate.</a:t>
            </a:r>
            <a:endParaRPr lang="en-US" sz="950" dirty="0"/>
          </a:p>
        </p:txBody>
      </p:sp>
      <p:sp>
        <p:nvSpPr>
          <p:cNvPr id="5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3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4  ·  WHAT BULLET-PROOF WOULD TAKE: FIVE KINDS OF PROTECTION</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If the board’s appetite for the product is five nines, this is the toolkit it would take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 Isolate</a:t>
            </a:r>
            <a:endParaRPr lang="en-US" sz="115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no shared fate</a:t>
            </a:r>
            <a:endParaRPr lang="en-US" sz="85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31520"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Hub and spoke; commodity behind the bus</a:t>
            </a:r>
            <a:endParaRPr lang="en-US" sz="95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31520"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Published content at the edge (CDN)</a:t>
            </a:r>
            <a:endParaRPr lang="en-US" sz="95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31520"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Entitlements cached, with grace</a:t>
            </a:r>
            <a:endParaRPr lang="en-US" sz="95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31520"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Read-only degraded mode</a:t>
            </a:r>
            <a:endParaRPr lang="en-US" sz="95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31520"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Bulkheads, circuit breakers, back-pressure</a:t>
            </a:r>
            <a:endParaRPr lang="en-US" sz="95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2 · Replicate</a:t>
            </a:r>
            <a:endParaRPr lang="en-US" sz="115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single point</a:t>
            </a:r>
            <a:endParaRPr lang="en-US" sz="85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6631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Active-active across regions</a:t>
            </a:r>
            <a:endParaRPr lang="en-US" sz="95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6631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Stateless services, replicated data</a:t>
            </a:r>
            <a:endParaRPr lang="en-US" sz="95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6631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Identity-provider outage plan</a:t>
            </a:r>
            <a:endParaRPr lang="en-US" sz="95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6631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SaaS and vendor failover plans</a:t>
            </a:r>
            <a:endParaRPr lang="en-US" sz="95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6631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Capacity headroom and load testing</a:t>
            </a:r>
            <a:endParaRPr lang="en-US" sz="95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3 · Release safely</a:t>
            </a:r>
            <a:endParaRPr lang="en-US" sz="115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big-bang change</a:t>
            </a:r>
            <a:endParaRPr lang="en-US" sz="85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01107"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Feature switches — ship dark, release deliberately</a:t>
            </a:r>
            <a:endParaRPr lang="en-US" sz="95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01107"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Blue/green deployment</a:t>
            </a:r>
            <a:endParaRPr lang="en-US" sz="95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01107"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by cohort, automated rollback</a:t>
            </a:r>
            <a:endParaRPr lang="en-US" sz="95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01107"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Expand/contract schema changes</a:t>
            </a:r>
            <a:endParaRPr lang="en-US" sz="95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01107"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Immutable, versioned content releases</a:t>
            </a:r>
            <a:endParaRPr lang="en-US" sz="95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4 · Detect and respond</a:t>
            </a:r>
            <a:endParaRPr lang="en-US" sz="115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minutes, not hours</a:t>
            </a:r>
            <a:endParaRPr lang="en-US" sz="85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35901"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SLOs and error budgets</a:t>
            </a:r>
            <a:endParaRPr lang="en-US" sz="95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35901"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Synthetic checks from customer locations</a:t>
            </a:r>
            <a:endParaRPr lang="en-US" sz="95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35901"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Runbooks; 24×7 on-call via MSP</a:t>
            </a:r>
            <a:endParaRPr lang="en-US" sz="95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35901"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Status page and incident comms</a:t>
            </a:r>
            <a:endParaRPr lang="en-US" sz="95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35901"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Game days and DR drills (RTO/RPO)</a:t>
            </a:r>
            <a:endParaRPr lang="en-US" sz="95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5 · Protect the content</a:t>
            </a:r>
            <a:endParaRPr lang="en-US" sz="115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integrity above all</a:t>
            </a:r>
            <a:endParaRPr lang="en-US" sz="85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7069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checksums and integrity checks</a:t>
            </a:r>
            <a:endParaRPr lang="en-US" sz="95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7069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Copies held outside the authoring tool</a:t>
            </a:r>
            <a:endParaRPr lang="en-US" sz="95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7069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Replay from the bus after outages</a:t>
            </a:r>
            <a:endParaRPr lang="en-US" sz="95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7069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Audit trail: what changed, when, who</a:t>
            </a:r>
            <a:endParaRPr lang="en-US" sz="95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7069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AI-generated test evidence, human gate</a:t>
            </a:r>
            <a:endParaRPr lang="en-US" sz="950" dirty="0"/>
          </a:p>
        </p:txBody>
      </p:sp>
      <p:sp>
        <p:nvSpPr>
          <p:cNvPr id="76" name="text-72"/>
          <p:cNvSpPr txBox="1"/>
          <p:nvPr/>
        </p:nvSpPr>
        <p:spPr>
          <a:xfrm>
            <a:off x="548640" y="519379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POSTURE BY TIER — THE TOOLKIT APPLIES IN FULL TO A, AND TO X WHEREVER IT SITS IN A’S PATH</a:t>
            </a:r>
            <a:endParaRPr lang="en-US" sz="800" dirty="0"/>
          </a:p>
        </p:txBody>
      </p:sp>
      <p:sp>
        <p:nvSpPr>
          <p:cNvPr id="77" name="shape-73"/>
          <p:cNvSpPr/>
          <p:nvPr/>
        </p:nvSpPr>
        <p:spPr>
          <a:xfrm>
            <a:off x="548640" y="5449824"/>
            <a:ext cx="2683764" cy="512064"/>
          </a:xfrm>
          <a:prstGeom prst="roundRect">
            <a:avLst>
              <a:gd name="adj" fmla="val 14286"/>
            </a:avLst>
          </a:prstGeom>
          <a:solidFill>
            <a:srgbClr val="EEF2F4"/>
          </a:solidFill>
          <a:ln w="12700">
            <a:solidFill>
              <a:srgbClr val="EEF2F4"/>
            </a:solidFill>
            <a:prstDash val="solid"/>
          </a:ln>
        </p:spPr>
      </p:sp>
      <p:sp>
        <p:nvSpPr>
          <p:cNvPr id="78" name="shape-74"/>
          <p:cNvSpPr/>
          <p:nvPr/>
        </p:nvSpPr>
        <p:spPr>
          <a:xfrm>
            <a:off x="548640" y="5449824"/>
            <a:ext cx="402336" cy="512064"/>
          </a:xfrm>
          <a:prstGeom prst="roundRect">
            <a:avLst>
              <a:gd name="adj" fmla="val 18182"/>
            </a:avLst>
          </a:prstGeom>
          <a:solidFill>
            <a:srgbClr val="134E4A"/>
          </a:solidFill>
          <a:ln w="12700">
            <a:solidFill>
              <a:srgbClr val="134E4A"/>
            </a:solidFill>
            <a:prstDash val="solid"/>
          </a:ln>
        </p:spPr>
      </p:sp>
      <p:sp>
        <p:nvSpPr>
          <p:cNvPr id="79" name="shape-75"/>
          <p:cNvSpPr/>
          <p:nvPr/>
        </p:nvSpPr>
        <p:spPr>
          <a:xfrm>
            <a:off x="877824" y="5449824"/>
            <a:ext cx="73152" cy="512064"/>
          </a:xfrm>
          <a:prstGeom prst="rect">
            <a:avLst/>
          </a:prstGeom>
          <a:solidFill>
            <a:srgbClr val="134E4A"/>
          </a:solidFill>
          <a:ln w="12700">
            <a:solidFill>
              <a:srgbClr val="134E4A"/>
            </a:solidFill>
            <a:prstDash val="solid"/>
          </a:ln>
        </p:spPr>
      </p:sp>
      <p:sp>
        <p:nvSpPr>
          <p:cNvPr id="80" name="text-76"/>
          <p:cNvSpPr txBox="1"/>
          <p:nvPr/>
        </p:nvSpPr>
        <p:spPr>
          <a:xfrm>
            <a:off x="548640"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a:t>
            </a:r>
            <a:endParaRPr lang="en-US" sz="1450" dirty="0"/>
          </a:p>
        </p:txBody>
      </p:sp>
      <p:sp>
        <p:nvSpPr>
          <p:cNvPr id="81" name="text-77"/>
          <p:cNvSpPr txBox="1"/>
          <p:nvPr/>
        </p:nvSpPr>
        <p:spPr>
          <a:xfrm>
            <a:off x="1060704"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Product</a:t>
            </a:r>
            <a:endParaRPr lang="en-US" sz="1100" dirty="0"/>
          </a:p>
        </p:txBody>
      </p:sp>
      <p:sp>
        <p:nvSpPr>
          <p:cNvPr id="82" name="text-78"/>
          <p:cNvSpPr txBox="1"/>
          <p:nvPr/>
        </p:nvSpPr>
        <p:spPr>
          <a:xfrm>
            <a:off x="1060704"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99.999% · ≈ 5 min a year · all five groups</a:t>
            </a:r>
            <a:endParaRPr lang="en-US" sz="900" dirty="0"/>
          </a:p>
        </p:txBody>
      </p:sp>
      <p:sp>
        <p:nvSpPr>
          <p:cNvPr id="83" name="shape-79"/>
          <p:cNvSpPr/>
          <p:nvPr/>
        </p:nvSpPr>
        <p:spPr>
          <a:xfrm>
            <a:off x="3342132" y="5449824"/>
            <a:ext cx="2683764" cy="512064"/>
          </a:xfrm>
          <a:prstGeom prst="roundRect">
            <a:avLst>
              <a:gd name="adj" fmla="val 14286"/>
            </a:avLst>
          </a:prstGeom>
          <a:solidFill>
            <a:srgbClr val="EEF2F4"/>
          </a:solidFill>
          <a:ln w="12700">
            <a:solidFill>
              <a:srgbClr val="EEF2F4"/>
            </a:solidFill>
            <a:prstDash val="solid"/>
          </a:ln>
        </p:spPr>
      </p:sp>
      <p:sp>
        <p:nvSpPr>
          <p:cNvPr id="84" name="shape-80"/>
          <p:cNvSpPr/>
          <p:nvPr/>
        </p:nvSpPr>
        <p:spPr>
          <a:xfrm>
            <a:off x="3342132" y="5449824"/>
            <a:ext cx="402336" cy="512064"/>
          </a:xfrm>
          <a:prstGeom prst="roundRect">
            <a:avLst>
              <a:gd name="adj" fmla="val 18182"/>
            </a:avLst>
          </a:prstGeom>
          <a:solidFill>
            <a:srgbClr val="0F766E"/>
          </a:solidFill>
          <a:ln w="12700">
            <a:solidFill>
              <a:srgbClr val="0F766E"/>
            </a:solidFill>
            <a:prstDash val="solid"/>
          </a:ln>
        </p:spPr>
      </p:sp>
      <p:sp>
        <p:nvSpPr>
          <p:cNvPr id="85" name="shape-81"/>
          <p:cNvSpPr/>
          <p:nvPr/>
        </p:nvSpPr>
        <p:spPr>
          <a:xfrm>
            <a:off x="3671316" y="5449824"/>
            <a:ext cx="73152" cy="512064"/>
          </a:xfrm>
          <a:prstGeom prst="rect">
            <a:avLst/>
          </a:prstGeom>
          <a:solidFill>
            <a:srgbClr val="0F766E"/>
          </a:solidFill>
          <a:ln w="12700">
            <a:solidFill>
              <a:srgbClr val="0F766E"/>
            </a:solidFill>
            <a:prstDash val="solid"/>
          </a:ln>
        </p:spPr>
      </p:sp>
      <p:sp>
        <p:nvSpPr>
          <p:cNvPr id="86" name="text-82"/>
          <p:cNvSpPr txBox="1"/>
          <p:nvPr/>
        </p:nvSpPr>
        <p:spPr>
          <a:xfrm>
            <a:off x="3342132"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B</a:t>
            </a:r>
            <a:endParaRPr lang="en-US" sz="1450" dirty="0"/>
          </a:p>
        </p:txBody>
      </p:sp>
      <p:sp>
        <p:nvSpPr>
          <p:cNvPr id="87" name="text-83"/>
          <p:cNvSpPr txBox="1"/>
          <p:nvPr/>
        </p:nvSpPr>
        <p:spPr>
          <a:xfrm>
            <a:off x="3854196"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tooling</a:t>
            </a:r>
            <a:endParaRPr lang="en-US" sz="1100" dirty="0"/>
          </a:p>
        </p:txBody>
      </p:sp>
      <p:sp>
        <p:nvSpPr>
          <p:cNvPr id="88" name="text-84"/>
          <p:cNvSpPr txBox="1"/>
          <p:nvPr/>
        </p:nvSpPr>
        <p:spPr>
          <a:xfrm>
            <a:off x="3854196"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business hours · groups 5 and 3 only</a:t>
            </a:r>
            <a:endParaRPr lang="en-US" sz="900" dirty="0"/>
          </a:p>
        </p:txBody>
      </p:sp>
      <p:sp>
        <p:nvSpPr>
          <p:cNvPr id="89" name="shape-85"/>
          <p:cNvSpPr/>
          <p:nvPr/>
        </p:nvSpPr>
        <p:spPr>
          <a:xfrm>
            <a:off x="6135624" y="5449824"/>
            <a:ext cx="2683764" cy="512064"/>
          </a:xfrm>
          <a:prstGeom prst="roundRect">
            <a:avLst>
              <a:gd name="adj" fmla="val 14286"/>
            </a:avLst>
          </a:prstGeom>
          <a:solidFill>
            <a:srgbClr val="EEF2F4"/>
          </a:solidFill>
          <a:ln w="12700">
            <a:solidFill>
              <a:srgbClr val="EEF2F4"/>
            </a:solidFill>
            <a:prstDash val="solid"/>
          </a:ln>
        </p:spPr>
      </p:sp>
      <p:sp>
        <p:nvSpPr>
          <p:cNvPr id="90" name="shape-86"/>
          <p:cNvSpPr/>
          <p:nvPr/>
        </p:nvSpPr>
        <p:spPr>
          <a:xfrm>
            <a:off x="6135624" y="5449824"/>
            <a:ext cx="402336" cy="512064"/>
          </a:xfrm>
          <a:prstGeom prst="roundRect">
            <a:avLst>
              <a:gd name="adj" fmla="val 18182"/>
            </a:avLst>
          </a:prstGeom>
          <a:solidFill>
            <a:srgbClr val="8A99A3"/>
          </a:solidFill>
          <a:ln w="12700">
            <a:solidFill>
              <a:srgbClr val="8A99A3"/>
            </a:solidFill>
            <a:prstDash val="solid"/>
          </a:ln>
        </p:spPr>
      </p:sp>
      <p:sp>
        <p:nvSpPr>
          <p:cNvPr id="91" name="shape-87"/>
          <p:cNvSpPr/>
          <p:nvPr/>
        </p:nvSpPr>
        <p:spPr>
          <a:xfrm>
            <a:off x="6464808" y="5449824"/>
            <a:ext cx="73152" cy="512064"/>
          </a:xfrm>
          <a:prstGeom prst="rect">
            <a:avLst/>
          </a:prstGeom>
          <a:solidFill>
            <a:srgbClr val="8A99A3"/>
          </a:solidFill>
          <a:ln w="12700">
            <a:solidFill>
              <a:srgbClr val="8A99A3"/>
            </a:solidFill>
            <a:prstDash val="solid"/>
          </a:ln>
        </p:spPr>
      </p:sp>
      <p:sp>
        <p:nvSpPr>
          <p:cNvPr id="92" name="text-88"/>
          <p:cNvSpPr txBox="1"/>
          <p:nvPr/>
        </p:nvSpPr>
        <p:spPr>
          <a:xfrm>
            <a:off x="6135624"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C</a:t>
            </a:r>
            <a:endParaRPr lang="en-US" sz="1450" dirty="0"/>
          </a:p>
        </p:txBody>
      </p:sp>
      <p:sp>
        <p:nvSpPr>
          <p:cNvPr id="93" name="text-89"/>
          <p:cNvSpPr txBox="1"/>
          <p:nvPr/>
        </p:nvSpPr>
        <p:spPr>
          <a:xfrm>
            <a:off x="6647688"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Commodity</a:t>
            </a:r>
            <a:endParaRPr lang="en-US" sz="1100" dirty="0"/>
          </a:p>
        </p:txBody>
      </p:sp>
      <p:sp>
        <p:nvSpPr>
          <p:cNvPr id="94" name="text-90"/>
          <p:cNvSpPr txBox="1"/>
          <p:nvPr/>
        </p:nvSpPr>
        <p:spPr>
          <a:xfrm>
            <a:off x="6647688"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standard · maintenance windows; bus replay</a:t>
            </a:r>
            <a:endParaRPr lang="en-US" sz="900" dirty="0"/>
          </a:p>
        </p:txBody>
      </p:sp>
      <p:sp>
        <p:nvSpPr>
          <p:cNvPr id="95" name="shape-91"/>
          <p:cNvSpPr/>
          <p:nvPr/>
        </p:nvSpPr>
        <p:spPr>
          <a:xfrm>
            <a:off x="8929116" y="5449824"/>
            <a:ext cx="2683764" cy="512064"/>
          </a:xfrm>
          <a:prstGeom prst="roundRect">
            <a:avLst>
              <a:gd name="adj" fmla="val 14286"/>
            </a:avLst>
          </a:prstGeom>
          <a:solidFill>
            <a:srgbClr val="FDF1E3"/>
          </a:solidFill>
          <a:ln w="12700">
            <a:solidFill>
              <a:srgbClr val="FDF1E3"/>
            </a:solidFill>
            <a:prstDash val="solid"/>
          </a:ln>
        </p:spPr>
      </p:sp>
      <p:sp>
        <p:nvSpPr>
          <p:cNvPr id="96" name="shape-92"/>
          <p:cNvSpPr/>
          <p:nvPr/>
        </p:nvSpPr>
        <p:spPr>
          <a:xfrm>
            <a:off x="8929116" y="5449824"/>
            <a:ext cx="402336" cy="512064"/>
          </a:xfrm>
          <a:prstGeom prst="roundRect">
            <a:avLst>
              <a:gd name="adj" fmla="val 18182"/>
            </a:avLst>
          </a:prstGeom>
          <a:solidFill>
            <a:srgbClr val="B45309"/>
          </a:solidFill>
          <a:ln w="12700">
            <a:solidFill>
              <a:srgbClr val="B45309"/>
            </a:solidFill>
            <a:prstDash val="solid"/>
          </a:ln>
        </p:spPr>
      </p:sp>
      <p:sp>
        <p:nvSpPr>
          <p:cNvPr id="97" name="shape-93"/>
          <p:cNvSpPr/>
          <p:nvPr/>
        </p:nvSpPr>
        <p:spPr>
          <a:xfrm>
            <a:off x="9258300" y="5449824"/>
            <a:ext cx="73152" cy="512064"/>
          </a:xfrm>
          <a:prstGeom prst="rect">
            <a:avLst/>
          </a:prstGeom>
          <a:solidFill>
            <a:srgbClr val="B45309"/>
          </a:solidFill>
          <a:ln w="12700">
            <a:solidFill>
              <a:srgbClr val="B45309"/>
            </a:solidFill>
            <a:prstDash val="solid"/>
          </a:ln>
        </p:spPr>
      </p:sp>
      <p:sp>
        <p:nvSpPr>
          <p:cNvPr id="98" name="text-94"/>
          <p:cNvSpPr txBox="1"/>
          <p:nvPr/>
        </p:nvSpPr>
        <p:spPr>
          <a:xfrm>
            <a:off x="8929116"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X</a:t>
            </a:r>
            <a:endParaRPr lang="en-US" sz="1450" dirty="0"/>
          </a:p>
        </p:txBody>
      </p:sp>
      <p:sp>
        <p:nvSpPr>
          <p:cNvPr id="99" name="text-95"/>
          <p:cNvSpPr txBox="1"/>
          <p:nvPr/>
        </p:nvSpPr>
        <p:spPr>
          <a:xfrm>
            <a:off x="9441180"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Cross-cutting</a:t>
            </a:r>
            <a:endParaRPr lang="en-US" sz="1100" dirty="0"/>
          </a:p>
        </p:txBody>
      </p:sp>
      <p:sp>
        <p:nvSpPr>
          <p:cNvPr id="100" name="text-96"/>
          <p:cNvSpPr txBox="1"/>
          <p:nvPr/>
        </p:nvSpPr>
        <p:spPr>
          <a:xfrm>
            <a:off x="9441180"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inherits A in A’s path · groups 1, 2, 4</a:t>
            </a:r>
            <a:endParaRPr lang="en-US" sz="900" dirty="0"/>
          </a:p>
        </p:txBody>
      </p:sp>
      <p:sp>
        <p:nvSpPr>
          <p:cNvPr id="101" name="text-97"/>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Our position on availability, argued from the nature of the content; the source states no SLA. Which mechanisms apply, and in what order, is a Gate 2 outcome.</a:t>
            </a:r>
            <a:endParaRPr lang="en-US" sz="850" dirty="0"/>
          </a:p>
        </p:txBody>
      </p:sp>
      <p:sp>
        <p:nvSpPr>
          <p:cNvPr id="102"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4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5  ·  ONE CREDIBLE SHAPE FOR PUBLISHING AND ROLLBACK</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publishing hub, regional nodes that serve alone, rollback by re-point — one shape to weigh at Gate 2</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2286000"/>
            <a:ext cx="1828800" cy="1188720"/>
          </a:xfrm>
          <a:prstGeom prst="roundRect">
            <a:avLst>
              <a:gd name="adj" fmla="val 769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2432304"/>
            <a:ext cx="237744" cy="237744"/>
          </a:xfrm>
          <a:prstGeom prst="rect">
            <a:avLst/>
          </a:prstGeom>
        </p:spPr>
      </p:pic>
      <p:sp>
        <p:nvSpPr>
          <p:cNvPr id="8" name="text-4"/>
          <p:cNvSpPr txBox="1"/>
          <p:nvPr/>
        </p:nvSpPr>
        <p:spPr>
          <a:xfrm>
            <a:off x="1024128" y="2414016"/>
            <a:ext cx="1280160" cy="237744"/>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Publishing hub</a:t>
            </a:r>
            <a:endParaRPr lang="en-US" sz="1200" dirty="0"/>
          </a:p>
        </p:txBody>
      </p:sp>
      <p:sp>
        <p:nvSpPr>
          <p:cNvPr id="9" name="text-5"/>
          <p:cNvSpPr txBox="1"/>
          <p:nvPr/>
        </p:nvSpPr>
        <p:spPr>
          <a:xfrm>
            <a:off x="694944" y="2743200"/>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authoring → review → approve</a:t>
            </a:r>
            <a:endParaRPr lang="en-US" sz="850" dirty="0"/>
          </a:p>
        </p:txBody>
      </p:sp>
      <p:sp>
        <p:nvSpPr>
          <p:cNvPr id="10" name="text-6"/>
          <p:cNvSpPr txBox="1"/>
          <p:nvPr/>
        </p:nvSpPr>
        <p:spPr>
          <a:xfrm>
            <a:off x="694944" y="2907792"/>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build → test evidence → sign</a:t>
            </a:r>
            <a:endParaRPr lang="en-US" sz="850" dirty="0"/>
          </a:p>
        </p:txBody>
      </p:sp>
      <p:sp>
        <p:nvSpPr>
          <p:cNvPr id="11" name="shape-7"/>
          <p:cNvSpPr/>
          <p:nvPr/>
        </p:nvSpPr>
        <p:spPr>
          <a:xfrm>
            <a:off x="694944" y="3163824"/>
            <a:ext cx="1536192" cy="201168"/>
          </a:xfrm>
          <a:prstGeom prst="roundRect">
            <a:avLst>
              <a:gd name="adj" fmla="val 18182"/>
            </a:avLst>
          </a:prstGeom>
          <a:solidFill>
            <a:srgbClr val="0F766E"/>
          </a:solidFill>
          <a:ln w="12700">
            <a:solidFill>
              <a:srgbClr val="0F766E"/>
            </a:solidFill>
            <a:prstDash val="solid"/>
          </a:ln>
        </p:spPr>
      </p:sp>
      <p:sp>
        <p:nvSpPr>
          <p:cNvPr id="12" name="text-8"/>
          <p:cNvSpPr txBox="1"/>
          <p:nvPr/>
        </p:nvSpPr>
        <p:spPr>
          <a:xfrm>
            <a:off x="694944" y="3163824"/>
            <a:ext cx="1536192"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release manifest  {content vN, code vN}</a:t>
            </a:r>
            <a:endParaRPr lang="en-US" sz="850" dirty="0"/>
          </a:p>
        </p:txBody>
      </p:sp>
      <p:sp>
        <p:nvSpPr>
          <p:cNvPr id="13" name="shape-9"/>
          <p:cNvSpPr/>
          <p:nvPr/>
        </p:nvSpPr>
        <p:spPr>
          <a:xfrm>
            <a:off x="3200400" y="2286000"/>
            <a:ext cx="1371600" cy="1188720"/>
          </a:xfrm>
          <a:prstGeom prst="roundRect">
            <a:avLst>
              <a:gd name="adj" fmla="val 7692"/>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346704" y="2432304"/>
            <a:ext cx="219456" cy="219456"/>
          </a:xfrm>
          <a:prstGeom prst="rect">
            <a:avLst/>
          </a:prstGeom>
        </p:spPr>
      </p:pic>
      <p:sp>
        <p:nvSpPr>
          <p:cNvPr id="15" name="text-11"/>
          <p:cNvSpPr txBox="1"/>
          <p:nvPr/>
        </p:nvSpPr>
        <p:spPr>
          <a:xfrm>
            <a:off x="3639312" y="2414016"/>
            <a:ext cx="914400" cy="237744"/>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log</a:t>
            </a:r>
            <a:endParaRPr lang="en-US" sz="1100" dirty="0"/>
          </a:p>
        </p:txBody>
      </p:sp>
      <p:sp>
        <p:nvSpPr>
          <p:cNvPr id="16" name="text-12"/>
          <p:cNvSpPr txBox="1"/>
          <p:nvPr/>
        </p:nvSpPr>
        <p:spPr>
          <a:xfrm>
            <a:off x="3310128" y="2743200"/>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as proposed: the bus</a:t>
            </a:r>
            <a:endParaRPr lang="en-US" sz="850" dirty="0"/>
          </a:p>
        </p:txBody>
      </p:sp>
      <p:sp>
        <p:nvSpPr>
          <p:cNvPr id="17" name="text-13"/>
          <p:cNvSpPr txBox="1"/>
          <p:nvPr/>
        </p:nvSpPr>
        <p:spPr>
          <a:xfrm>
            <a:off x="3310128" y="2889504"/>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needs: immutable, ordered,</a:t>
            </a:r>
            <a:endParaRPr lang="en-US" sz="850" dirty="0"/>
          </a:p>
        </p:txBody>
      </p:sp>
      <p:sp>
        <p:nvSpPr>
          <p:cNvPr id="18" name="text-14"/>
          <p:cNvSpPr txBox="1"/>
          <p:nvPr/>
        </p:nvSpPr>
        <p:spPr>
          <a:xfrm>
            <a:off x="3310128" y="3035808"/>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retained, replayable</a:t>
            </a:r>
            <a:endParaRPr lang="en-US" sz="850" dirty="0"/>
          </a:p>
        </p:txBody>
      </p:sp>
      <p:sp>
        <p:nvSpPr>
          <p:cNvPr id="19" name="text-15"/>
          <p:cNvSpPr txBox="1"/>
          <p:nvPr/>
        </p:nvSpPr>
        <p:spPr>
          <a:xfrm>
            <a:off x="3310128" y="3182112"/>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fan-out to every node</a:t>
            </a:r>
            <a:endParaRPr lang="en-US" sz="850" dirty="0"/>
          </a:p>
        </p:txBody>
      </p:sp>
      <p:sp>
        <p:nvSpPr>
          <p:cNvPr id="20" name="line-16"/>
          <p:cNvSpPr/>
          <p:nvPr/>
        </p:nvSpPr>
        <p:spPr>
          <a:xfrm>
            <a:off x="2377440" y="2880360"/>
            <a:ext cx="768096" cy="0"/>
          </a:xfrm>
          <a:prstGeom prst="line">
            <a:avLst/>
          </a:prstGeom>
          <a:noFill/>
          <a:ln w="31750">
            <a:solidFill>
              <a:srgbClr val="134E4A"/>
            </a:solidFill>
            <a:prstDash val="solid"/>
            <a:tailEnd type="triangle"/>
          </a:ln>
        </p:spPr>
      </p:sp>
      <p:sp>
        <p:nvSpPr>
          <p:cNvPr id="21" name="text-17"/>
          <p:cNvSpPr txBox="1"/>
          <p:nvPr/>
        </p:nvSpPr>
        <p:spPr>
          <a:xfrm>
            <a:off x="2377440" y="2651760"/>
            <a:ext cx="822960" cy="146304"/>
          </a:xfrm>
          <a:prstGeom prst="rect">
            <a:avLst/>
          </a:prstGeom>
          <a:noFill/>
          <a:ln/>
        </p:spPr>
        <p:txBody>
          <a:bodyPr wrap="square" lIns="0" tIns="0" rIns="0" bIns="0" rtlCol="0" anchor="ctr"/>
          <a:lstStyle/>
          <a:p>
            <a:pPr algn="ctr" indent="0" marL="0">
              <a:lnSpc>
                <a:spcPct val="100000"/>
              </a:lnSpc>
              <a:buNone/>
            </a:pPr>
            <a:r>
              <a:rPr lang="en-US" sz="800" b="1" dirty="0">
                <a:solidFill>
                  <a:srgbClr val="134E4A"/>
                </a:solidFill>
                <a:latin typeface="Calibri" pitchFamily="34" charset="0"/>
                <a:ea typeface="Calibri" pitchFamily="34" charset="-122"/>
                <a:cs typeface="Calibri" pitchFamily="34" charset="-120"/>
              </a:rPr>
              <a:t>publish</a:t>
            </a:r>
            <a:endParaRPr lang="en-US" sz="800" dirty="0"/>
          </a:p>
        </p:txBody>
      </p:sp>
      <p:sp>
        <p:nvSpPr>
          <p:cNvPr id="22" name="shape-18"/>
          <p:cNvSpPr/>
          <p:nvPr/>
        </p:nvSpPr>
        <p:spPr>
          <a:xfrm>
            <a:off x="4937760" y="1463040"/>
            <a:ext cx="1920240" cy="804672"/>
          </a:xfrm>
          <a:prstGeom prst="roundRect">
            <a:avLst>
              <a:gd name="adj" fmla="val 11364"/>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065776" y="1591056"/>
            <a:ext cx="201168" cy="201168"/>
          </a:xfrm>
          <a:prstGeom prst="rect">
            <a:avLst/>
          </a:prstGeom>
        </p:spPr>
      </p:pic>
      <p:sp>
        <p:nvSpPr>
          <p:cNvPr id="24" name="text-20"/>
          <p:cNvSpPr txBox="1"/>
          <p:nvPr/>
        </p:nvSpPr>
        <p:spPr>
          <a:xfrm>
            <a:off x="5340096" y="15727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1</a:t>
            </a:r>
            <a:endParaRPr lang="en-US" sz="1100" dirty="0"/>
          </a:p>
        </p:txBody>
      </p:sp>
      <p:sp>
        <p:nvSpPr>
          <p:cNvPr id="25" name="text-21"/>
          <p:cNvSpPr txBox="1"/>
          <p:nvPr/>
        </p:nvSpPr>
        <p:spPr>
          <a:xfrm>
            <a:off x="5065776" y="18288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26" name="text-22"/>
          <p:cNvSpPr txBox="1"/>
          <p:nvPr/>
        </p:nvSpPr>
        <p:spPr>
          <a:xfrm>
            <a:off x="5065776" y="19751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27" name="text-23"/>
          <p:cNvSpPr txBox="1"/>
          <p:nvPr/>
        </p:nvSpPr>
        <p:spPr>
          <a:xfrm>
            <a:off x="5065776" y="21031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28" name="line-24"/>
          <p:cNvSpPr/>
          <p:nvPr/>
        </p:nvSpPr>
        <p:spPr>
          <a:xfrm flipV="1">
            <a:off x="4572000" y="1865376"/>
            <a:ext cx="310896" cy="1014984"/>
          </a:xfrm>
          <a:prstGeom prst="line">
            <a:avLst/>
          </a:prstGeom>
          <a:noFill/>
          <a:ln w="19050">
            <a:solidFill>
              <a:srgbClr val="B45309"/>
            </a:solidFill>
            <a:prstDash val="sysDash"/>
            <a:tailEnd type="triangle"/>
          </a:ln>
        </p:spPr>
      </p:sp>
      <p:sp>
        <p:nvSpPr>
          <p:cNvPr id="29" name="shape-25"/>
          <p:cNvSpPr/>
          <p:nvPr/>
        </p:nvSpPr>
        <p:spPr>
          <a:xfrm>
            <a:off x="4937760" y="2377440"/>
            <a:ext cx="1920240" cy="804672"/>
          </a:xfrm>
          <a:prstGeom prst="roundRect">
            <a:avLst>
              <a:gd name="adj" fmla="val 11364"/>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065776" y="2505456"/>
            <a:ext cx="201168" cy="201168"/>
          </a:xfrm>
          <a:prstGeom prst="rect">
            <a:avLst/>
          </a:prstGeom>
        </p:spPr>
      </p:pic>
      <p:sp>
        <p:nvSpPr>
          <p:cNvPr id="31" name="text-27"/>
          <p:cNvSpPr txBox="1"/>
          <p:nvPr/>
        </p:nvSpPr>
        <p:spPr>
          <a:xfrm>
            <a:off x="5340096" y="24871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2</a:t>
            </a:r>
            <a:endParaRPr lang="en-US" sz="1100" dirty="0"/>
          </a:p>
        </p:txBody>
      </p:sp>
      <p:sp>
        <p:nvSpPr>
          <p:cNvPr id="32" name="text-28"/>
          <p:cNvSpPr txBox="1"/>
          <p:nvPr/>
        </p:nvSpPr>
        <p:spPr>
          <a:xfrm>
            <a:off x="5065776" y="27432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33" name="text-29"/>
          <p:cNvSpPr txBox="1"/>
          <p:nvPr/>
        </p:nvSpPr>
        <p:spPr>
          <a:xfrm>
            <a:off x="5065776" y="28895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34" name="text-30"/>
          <p:cNvSpPr txBox="1"/>
          <p:nvPr/>
        </p:nvSpPr>
        <p:spPr>
          <a:xfrm>
            <a:off x="5065776" y="30175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35" name="line-31"/>
          <p:cNvSpPr/>
          <p:nvPr/>
        </p:nvSpPr>
        <p:spPr>
          <a:xfrm flipV="1">
            <a:off x="4572000" y="2779776"/>
            <a:ext cx="310896" cy="100584"/>
          </a:xfrm>
          <a:prstGeom prst="line">
            <a:avLst/>
          </a:prstGeom>
          <a:noFill/>
          <a:ln w="19050">
            <a:solidFill>
              <a:srgbClr val="B45309"/>
            </a:solidFill>
            <a:prstDash val="sysDash"/>
            <a:tailEnd type="triangle"/>
          </a:ln>
        </p:spPr>
      </p:sp>
      <p:sp>
        <p:nvSpPr>
          <p:cNvPr id="36" name="shape-32"/>
          <p:cNvSpPr/>
          <p:nvPr/>
        </p:nvSpPr>
        <p:spPr>
          <a:xfrm>
            <a:off x="4937760" y="3291840"/>
            <a:ext cx="1920240" cy="804672"/>
          </a:xfrm>
          <a:prstGeom prst="roundRect">
            <a:avLst>
              <a:gd name="adj" fmla="val 11364"/>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065776" y="3419856"/>
            <a:ext cx="201168" cy="201168"/>
          </a:xfrm>
          <a:prstGeom prst="rect">
            <a:avLst/>
          </a:prstGeom>
        </p:spPr>
      </p:pic>
      <p:sp>
        <p:nvSpPr>
          <p:cNvPr id="38" name="text-34"/>
          <p:cNvSpPr txBox="1"/>
          <p:nvPr/>
        </p:nvSpPr>
        <p:spPr>
          <a:xfrm>
            <a:off x="5340096" y="34015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Region 3</a:t>
            </a:r>
            <a:endParaRPr lang="en-US" sz="1100" dirty="0"/>
          </a:p>
        </p:txBody>
      </p:sp>
      <p:sp>
        <p:nvSpPr>
          <p:cNvPr id="39" name="text-35"/>
          <p:cNvSpPr txBox="1"/>
          <p:nvPr/>
        </p:nvSpPr>
        <p:spPr>
          <a:xfrm>
            <a:off x="5065776" y="36576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5A6B75"/>
                </a:solidFill>
                <a:latin typeface="Calibri" pitchFamily="34" charset="0"/>
                <a:ea typeface="Calibri" pitchFamily="34" charset="-122"/>
                <a:cs typeface="Calibri" pitchFamily="34" charset="-120"/>
              </a:rPr>
              <a:t>standby + rebuild from log</a:t>
            </a:r>
            <a:endParaRPr lang="en-US" sz="800" dirty="0"/>
          </a:p>
        </p:txBody>
      </p:sp>
      <p:sp>
        <p:nvSpPr>
          <p:cNvPr id="40" name="text-36"/>
          <p:cNvSpPr txBox="1"/>
          <p:nvPr/>
        </p:nvSpPr>
        <p:spPr>
          <a:xfrm>
            <a:off x="5065776" y="38039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content vN · app · entitlement cache</a:t>
            </a:r>
            <a:endParaRPr lang="en-US" sz="850" dirty="0"/>
          </a:p>
        </p:txBody>
      </p:sp>
      <p:sp>
        <p:nvSpPr>
          <p:cNvPr id="41" name="text-37"/>
          <p:cNvSpPr txBox="1"/>
          <p:nvPr/>
        </p:nvSpPr>
        <p:spPr>
          <a:xfrm>
            <a:off x="5065776" y="39319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serves alone if the hub is down</a:t>
            </a:r>
            <a:endParaRPr lang="en-US" sz="850" dirty="0"/>
          </a:p>
        </p:txBody>
      </p:sp>
      <p:sp>
        <p:nvSpPr>
          <p:cNvPr id="42" name="line-38"/>
          <p:cNvSpPr/>
          <p:nvPr/>
        </p:nvSpPr>
        <p:spPr>
          <a:xfrm>
            <a:off x="4572000" y="2880360"/>
            <a:ext cx="310896" cy="813816"/>
          </a:xfrm>
          <a:prstGeom prst="line">
            <a:avLst/>
          </a:prstGeom>
          <a:noFill/>
          <a:ln w="19050">
            <a:solidFill>
              <a:srgbClr val="B45309"/>
            </a:solidFill>
            <a:prstDash val="sysDash"/>
            <a:tailEnd type="triangle"/>
          </a:ln>
        </p:spPr>
      </p:sp>
      <p:sp>
        <p:nvSpPr>
          <p:cNvPr id="43" name="text-39"/>
          <p:cNvSpPr txBox="1"/>
          <p:nvPr/>
        </p:nvSpPr>
        <p:spPr>
          <a:xfrm>
            <a:off x="4937760" y="4114800"/>
            <a:ext cx="1920240" cy="146304"/>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nodes are backups for each other</a:t>
            </a:r>
            <a:endParaRPr lang="en-US" sz="850" dirty="0"/>
          </a:p>
        </p:txBody>
      </p:sp>
      <p:sp>
        <p:nvSpPr>
          <p:cNvPr id="44" name="shape-40"/>
          <p:cNvSpPr/>
          <p:nvPr/>
        </p:nvSpPr>
        <p:spPr>
          <a:xfrm>
            <a:off x="8229600" y="1645920"/>
            <a:ext cx="1097280" cy="2286000"/>
          </a:xfrm>
          <a:prstGeom prst="roundRect">
            <a:avLst>
              <a:gd name="adj" fmla="val 8333"/>
            </a:avLst>
          </a:prstGeom>
          <a:solidFill>
            <a:srgbClr val="EEF2F4"/>
          </a:solidFill>
          <a:ln w="12700">
            <a:solidFill>
              <a:srgbClr val="EEF2F4"/>
            </a:solidFill>
            <a:prstDash val="solid"/>
          </a:ln>
        </p:spPr>
      </p:sp>
      <p:sp>
        <p:nvSpPr>
          <p:cNvPr id="45" name="text-41"/>
          <p:cNvSpPr txBox="1"/>
          <p:nvPr/>
        </p:nvSpPr>
        <p:spPr>
          <a:xfrm>
            <a:off x="8229600" y="1792224"/>
            <a:ext cx="1097280" cy="182880"/>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Multi-CDN edge</a:t>
            </a:r>
            <a:endParaRPr lang="en-US" sz="950" dirty="0"/>
          </a:p>
        </p:txBody>
      </p:sp>
      <p:sp>
        <p:nvSpPr>
          <p:cNvPr id="46" name="text-42"/>
          <p:cNvSpPr txBox="1"/>
          <p:nvPr/>
        </p:nvSpPr>
        <p:spPr>
          <a:xfrm>
            <a:off x="8302752" y="2029968"/>
            <a:ext cx="950976" cy="1188720"/>
          </a:xfrm>
          <a:prstGeom prst="rect">
            <a:avLst/>
          </a:prstGeom>
          <a:noFill/>
          <a:ln/>
        </p:spPr>
        <p:txBody>
          <a:bodyPr wrap="square" lIns="0" tIns="0" rIns="0" bIns="0" rtlCol="0" anchor="t"/>
          <a:lstStyle/>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published content cached at the edge</a:t>
            </a:r>
            <a:endParaRPr lang="en-US" sz="850" dirty="0"/>
          </a:p>
          <a:p>
            <a:pPr algn="ctr" indent="0" marL="0">
              <a:lnSpc>
                <a:spcPct val="100000"/>
              </a:lnSpc>
              <a:buNone/>
            </a:pPr>
            <a:endParaRPr lang="en-US" sz="850" dirty="0"/>
          </a:p>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850" dirty="0"/>
          </a:p>
        </p:txBody>
      </p:sp>
      <p:pic>
        <p:nvPicPr>
          <p:cNvPr id="47" name="icon-43" descr="preencoded.png">    </p:cNvPr>
          <p:cNvPicPr>
            <a:picLocks noChangeAspect="1"/>
          </p:cNvPicPr>
          <p:nvPr/>
        </p:nvPicPr>
        <p:blipFill>
          <a:blip r:embed="rId6"/>
          <a:stretch>
            <a:fillRect/>
          </a:stretch>
        </p:blipFill>
        <p:spPr>
          <a:xfrm>
            <a:off x="8668512" y="3474720"/>
            <a:ext cx="219456" cy="219456"/>
          </a:xfrm>
          <a:prstGeom prst="rect">
            <a:avLst/>
          </a:prstGeom>
        </p:spPr>
      </p:pic>
      <p:sp>
        <p:nvSpPr>
          <p:cNvPr id="48" name="line-44"/>
          <p:cNvSpPr/>
          <p:nvPr/>
        </p:nvSpPr>
        <p:spPr>
          <a:xfrm>
            <a:off x="6858000" y="1865376"/>
            <a:ext cx="1371600" cy="923544"/>
          </a:xfrm>
          <a:prstGeom prst="line">
            <a:avLst/>
          </a:prstGeom>
          <a:noFill/>
          <a:ln w="25400">
            <a:solidFill>
              <a:srgbClr val="0F766E"/>
            </a:solidFill>
            <a:prstDash val="solid"/>
          </a:ln>
        </p:spPr>
      </p:sp>
      <p:sp>
        <p:nvSpPr>
          <p:cNvPr id="49" name="line-45"/>
          <p:cNvSpPr/>
          <p:nvPr/>
        </p:nvSpPr>
        <p:spPr>
          <a:xfrm>
            <a:off x="6858000" y="2779776"/>
            <a:ext cx="1371600" cy="9144"/>
          </a:xfrm>
          <a:prstGeom prst="line">
            <a:avLst/>
          </a:prstGeom>
          <a:noFill/>
          <a:ln w="25400">
            <a:solidFill>
              <a:srgbClr val="0F766E"/>
            </a:solidFill>
            <a:prstDash val="solid"/>
          </a:ln>
        </p:spPr>
      </p:sp>
      <p:sp>
        <p:nvSpPr>
          <p:cNvPr id="50" name="line-46"/>
          <p:cNvSpPr/>
          <p:nvPr/>
        </p:nvSpPr>
        <p:spPr>
          <a:xfrm flipV="1">
            <a:off x="6858000" y="2788920"/>
            <a:ext cx="1371600" cy="905256"/>
          </a:xfrm>
          <a:prstGeom prst="line">
            <a:avLst/>
          </a:prstGeom>
          <a:noFill/>
          <a:ln w="25400">
            <a:solidFill>
              <a:srgbClr val="0F766E"/>
            </a:solidFill>
            <a:prstDash val="solid"/>
          </a:ln>
        </p:spPr>
      </p:sp>
      <p:sp>
        <p:nvSpPr>
          <p:cNvPr id="51" name="oval-47"/>
          <p:cNvSpPr/>
          <p:nvPr/>
        </p:nvSpPr>
        <p:spPr>
          <a:xfrm>
            <a:off x="9838944" y="2478024"/>
            <a:ext cx="621792" cy="621792"/>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021824" y="2660904"/>
            <a:ext cx="256032" cy="256032"/>
          </a:xfrm>
          <a:prstGeom prst="rect">
            <a:avLst/>
          </a:prstGeom>
        </p:spPr>
      </p:pic>
      <p:sp>
        <p:nvSpPr>
          <p:cNvPr id="53" name="text-49"/>
          <p:cNvSpPr txBox="1"/>
          <p:nvPr/>
        </p:nvSpPr>
        <p:spPr>
          <a:xfrm>
            <a:off x="9144000" y="3163824"/>
            <a:ext cx="2011680" cy="365760"/>
          </a:xfrm>
          <a:prstGeom prst="rect">
            <a:avLst/>
          </a:prstGeom>
          <a:noFill/>
          <a:ln/>
        </p:spPr>
        <p:txBody>
          <a:bodyPr wrap="square" lIns="0" tIns="0" rIns="0" bIns="0" rtlCol="0" anchor="t"/>
          <a:lstStyle/>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clinicians, institutions,</a:t>
            </a:r>
            <a:endParaRPr lang="en-US" sz="950" dirty="0"/>
          </a:p>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third-party systems</a:t>
            </a:r>
            <a:endParaRPr lang="en-US" sz="950" dirty="0"/>
          </a:p>
        </p:txBody>
      </p:sp>
      <p:sp>
        <p:nvSpPr>
          <p:cNvPr id="54" name="line-50"/>
          <p:cNvSpPr/>
          <p:nvPr/>
        </p:nvSpPr>
        <p:spPr>
          <a:xfrm>
            <a:off x="9326880" y="2788920"/>
            <a:ext cx="493776" cy="0"/>
          </a:xfrm>
          <a:prstGeom prst="line">
            <a:avLst/>
          </a:prstGeom>
          <a:noFill/>
          <a:ln w="31750">
            <a:solidFill>
              <a:srgbClr val="134E4A"/>
            </a:solidFill>
            <a:prstDash val="solid"/>
          </a:ln>
        </p:spPr>
      </p:sp>
      <p:sp>
        <p:nvSpPr>
          <p:cNvPr id="55" name="shape-51"/>
          <p:cNvSpPr/>
          <p:nvPr/>
        </p:nvSpPr>
        <p:spPr>
          <a:xfrm>
            <a:off x="548640" y="4297680"/>
            <a:ext cx="5394960" cy="1792224"/>
          </a:xfrm>
          <a:prstGeom prst="roundRect">
            <a:avLst>
              <a:gd name="adj" fmla="val 4082"/>
            </a:avLst>
          </a:prstGeom>
          <a:solidFill>
            <a:srgbClr val="EEF2F4"/>
          </a:solidFill>
          <a:ln w="12700">
            <a:solidFill>
              <a:srgbClr val="EEF2F4"/>
            </a:solidFill>
            <a:prstDash val="solid"/>
          </a:ln>
        </p:spPr>
      </p:sp>
      <p:sp>
        <p:nvSpPr>
          <p:cNvPr id="56" name="text-52"/>
          <p:cNvSpPr txBox="1"/>
          <p:nvPr/>
        </p:nvSpPr>
        <p:spPr>
          <a:xfrm>
            <a:off x="74980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ROLLBACK IN THIS WORLD</a:t>
            </a:r>
            <a:endParaRPr lang="en-US" sz="800" dirty="0"/>
          </a:p>
        </p:txBody>
      </p:sp>
      <p:sp>
        <p:nvSpPr>
          <p:cNvPr id="57" name="oval-53"/>
          <p:cNvSpPr/>
          <p:nvPr/>
        </p:nvSpPr>
        <p:spPr>
          <a:xfrm>
            <a:off x="754380" y="4796028"/>
            <a:ext cx="64008" cy="64008"/>
          </a:xfrm>
          <a:prstGeom prst="ellipse">
            <a:avLst/>
          </a:prstGeom>
          <a:solidFill>
            <a:srgbClr val="0F766E"/>
          </a:solidFill>
          <a:ln w="12700">
            <a:solidFill>
              <a:srgbClr val="0F766E"/>
            </a:solidFill>
            <a:prstDash val="solid"/>
          </a:ln>
        </p:spPr>
      </p:sp>
      <p:sp>
        <p:nvSpPr>
          <p:cNvPr id="58" name="text-54"/>
          <p:cNvSpPr txBox="1"/>
          <p:nvPr/>
        </p:nvSpPr>
        <p:spPr>
          <a:xfrm>
            <a:off x="914400" y="4700016"/>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Every node holds the last N manifests; rolling back is re-pointing to vN-1 — seconds, no redeploy</a:t>
            </a:r>
            <a:endParaRPr lang="en-US" sz="950" dirty="0"/>
          </a:p>
        </p:txBody>
      </p:sp>
      <p:sp>
        <p:nvSpPr>
          <p:cNvPr id="59" name="oval-55"/>
          <p:cNvSpPr/>
          <p:nvPr/>
        </p:nvSpPr>
        <p:spPr>
          <a:xfrm>
            <a:off x="754380" y="5106924"/>
            <a:ext cx="64008" cy="64008"/>
          </a:xfrm>
          <a:prstGeom prst="ellipse">
            <a:avLst/>
          </a:prstGeom>
          <a:solidFill>
            <a:srgbClr val="0F766E"/>
          </a:solidFill>
          <a:ln w="12700">
            <a:solidFill>
              <a:srgbClr val="0F766E"/>
            </a:solidFill>
            <a:prstDash val="solid"/>
          </a:ln>
        </p:spPr>
      </p:sp>
      <p:sp>
        <p:nvSpPr>
          <p:cNvPr id="60" name="text-56"/>
          <p:cNvSpPr txBox="1"/>
          <p:nvPr/>
        </p:nvSpPr>
        <p:spPr>
          <a:xfrm>
            <a:off x="914400" y="5010912"/>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and code roll back together, because the manifest binds them</a:t>
            </a:r>
            <a:endParaRPr lang="en-US" sz="950" dirty="0"/>
          </a:p>
        </p:txBody>
      </p:sp>
      <p:sp>
        <p:nvSpPr>
          <p:cNvPr id="61" name="oval-57"/>
          <p:cNvSpPr/>
          <p:nvPr/>
        </p:nvSpPr>
        <p:spPr>
          <a:xfrm>
            <a:off x="754380" y="5417820"/>
            <a:ext cx="64008" cy="64008"/>
          </a:xfrm>
          <a:prstGeom prst="ellipse">
            <a:avLst/>
          </a:prstGeom>
          <a:solidFill>
            <a:srgbClr val="0F766E"/>
          </a:solidFill>
          <a:ln w="12700">
            <a:solidFill>
              <a:srgbClr val="0F766E"/>
            </a:solidFill>
            <a:prstDash val="solid"/>
          </a:ln>
        </p:spPr>
      </p:sp>
      <p:sp>
        <p:nvSpPr>
          <p:cNvPr id="62" name="text-58"/>
          <p:cNvSpPr txBox="1"/>
          <p:nvPr/>
        </p:nvSpPr>
        <p:spPr>
          <a:xfrm>
            <a:off x="914400" y="5321808"/>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 lost node is rebuilt by replaying the log from a known offset — no backups to restore first</a:t>
            </a:r>
            <a:endParaRPr lang="en-US" sz="950" dirty="0"/>
          </a:p>
        </p:txBody>
      </p:sp>
      <p:sp>
        <p:nvSpPr>
          <p:cNvPr id="63" name="oval-59"/>
          <p:cNvSpPr/>
          <p:nvPr/>
        </p:nvSpPr>
        <p:spPr>
          <a:xfrm>
            <a:off x="754380" y="5728716"/>
            <a:ext cx="64008" cy="64008"/>
          </a:xfrm>
          <a:prstGeom prst="ellipse">
            <a:avLst/>
          </a:prstGeom>
          <a:solidFill>
            <a:srgbClr val="0F766E"/>
          </a:solidFill>
          <a:ln w="12700">
            <a:solidFill>
              <a:srgbClr val="0F766E"/>
            </a:solidFill>
            <a:prstDash val="solid"/>
          </a:ln>
        </p:spPr>
      </p:sp>
      <p:sp>
        <p:nvSpPr>
          <p:cNvPr id="64" name="text-60"/>
          <p:cNvSpPr txBox="1"/>
          <p:nvPr/>
        </p:nvSpPr>
        <p:spPr>
          <a:xfrm>
            <a:off x="914400" y="5632704"/>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 publish vN to one node or cohort, watch the SLO, then fan out</a:t>
            </a:r>
            <a:endParaRPr lang="en-US" sz="950" dirty="0"/>
          </a:p>
        </p:txBody>
      </p:sp>
      <p:sp>
        <p:nvSpPr>
          <p:cNvPr id="65" name="shape-61"/>
          <p:cNvSpPr/>
          <p:nvPr/>
        </p:nvSpPr>
        <p:spPr>
          <a:xfrm>
            <a:off x="6126480" y="4297680"/>
            <a:ext cx="5486400" cy="1792224"/>
          </a:xfrm>
          <a:prstGeom prst="roundRect">
            <a:avLst>
              <a:gd name="adj" fmla="val 4082"/>
            </a:avLst>
          </a:prstGeom>
          <a:solidFill>
            <a:srgbClr val="FDF1E3"/>
          </a:solidFill>
          <a:ln w="12700">
            <a:solidFill>
              <a:srgbClr val="FDF1E3"/>
            </a:solidFill>
            <a:prstDash val="solid"/>
          </a:ln>
        </p:spPr>
      </p:sp>
      <p:sp>
        <p:nvSpPr>
          <p:cNvPr id="66" name="text-62"/>
          <p:cNvSpPr txBox="1"/>
          <p:nvPr/>
        </p:nvSpPr>
        <p:spPr>
          <a:xfrm>
            <a:off x="632764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B45309"/>
                </a:solidFill>
                <a:latin typeface="Calibri" pitchFamily="34" charset="0"/>
                <a:ea typeface="Calibri" pitchFamily="34" charset="-122"/>
                <a:cs typeface="Calibri" pitchFamily="34" charset="-120"/>
              </a:rPr>
              <a:t>A CONSIDERATION, NOT A CHANGE: WHAT THE BACKBONE MUST DO</a:t>
            </a:r>
            <a:endParaRPr lang="en-US" sz="800" dirty="0"/>
          </a:p>
        </p:txBody>
      </p:sp>
      <p:sp>
        <p:nvSpPr>
          <p:cNvPr id="67" name="text-63"/>
          <p:cNvSpPr txBox="1"/>
          <p:nvPr/>
        </p:nvSpPr>
        <p:spPr>
          <a:xfrm>
            <a:off x="6327648" y="4736592"/>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Publish content and code to nodes; rebuild a node</a:t>
            </a:r>
            <a:endParaRPr lang="en-US" sz="950" dirty="0"/>
          </a:p>
        </p:txBody>
      </p:sp>
      <p:sp>
        <p:nvSpPr>
          <p:cNvPr id="68" name="shape-64"/>
          <p:cNvSpPr/>
          <p:nvPr/>
        </p:nvSpPr>
        <p:spPr>
          <a:xfrm>
            <a:off x="9144000" y="4736592"/>
            <a:ext cx="1024128" cy="15544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9144000" y="4736592"/>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replay</a:t>
            </a:r>
            <a:endParaRPr lang="en-US" sz="750" dirty="0"/>
          </a:p>
        </p:txBody>
      </p:sp>
      <p:sp>
        <p:nvSpPr>
          <p:cNvPr id="70" name="text-66"/>
          <p:cNvSpPr txBox="1"/>
          <p:nvPr/>
        </p:nvSpPr>
        <p:spPr>
          <a:xfrm>
            <a:off x="10259568" y="4736592"/>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re-read from an offset</a:t>
            </a:r>
            <a:endParaRPr lang="en-US" sz="800" dirty="0"/>
          </a:p>
        </p:txBody>
      </p:sp>
      <p:sp>
        <p:nvSpPr>
          <p:cNvPr id="71" name="text-67"/>
          <p:cNvSpPr txBox="1"/>
          <p:nvPr/>
        </p:nvSpPr>
        <p:spPr>
          <a:xfrm>
            <a:off x="6327648" y="5047488"/>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Entitlement and usage events; audit trail</a:t>
            </a:r>
            <a:endParaRPr lang="en-US" sz="950" dirty="0"/>
          </a:p>
        </p:txBody>
      </p:sp>
      <p:sp>
        <p:nvSpPr>
          <p:cNvPr id="72" name="shape-68"/>
          <p:cNvSpPr/>
          <p:nvPr/>
        </p:nvSpPr>
        <p:spPr>
          <a:xfrm>
            <a:off x="9144000" y="5047488"/>
            <a:ext cx="1024128" cy="155448"/>
          </a:xfrm>
          <a:prstGeom prst="roundRect">
            <a:avLst>
              <a:gd name="adj" fmla="val 50000"/>
            </a:avLst>
          </a:prstGeom>
          <a:solidFill>
            <a:srgbClr val="B45309"/>
          </a:solidFill>
          <a:ln w="12700">
            <a:solidFill>
              <a:srgbClr val="B45309"/>
            </a:solidFill>
            <a:prstDash val="solid"/>
          </a:ln>
        </p:spPr>
      </p:sp>
      <p:sp>
        <p:nvSpPr>
          <p:cNvPr id="73" name="text-69"/>
          <p:cNvSpPr txBox="1"/>
          <p:nvPr/>
        </p:nvSpPr>
        <p:spPr>
          <a:xfrm>
            <a:off x="9144000" y="5047488"/>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order</a:t>
            </a:r>
            <a:endParaRPr lang="en-US" sz="750" dirty="0"/>
          </a:p>
        </p:txBody>
      </p:sp>
      <p:sp>
        <p:nvSpPr>
          <p:cNvPr id="74" name="text-70"/>
          <p:cNvSpPr txBox="1"/>
          <p:nvPr/>
        </p:nvSpPr>
        <p:spPr>
          <a:xfrm>
            <a:off x="10259568" y="5047488"/>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immutable and ordered</a:t>
            </a:r>
            <a:endParaRPr lang="en-US" sz="800" dirty="0"/>
          </a:p>
        </p:txBody>
      </p:sp>
      <p:sp>
        <p:nvSpPr>
          <p:cNvPr id="75" name="text-71"/>
          <p:cNvSpPr txBox="1"/>
          <p:nvPr/>
        </p:nvSpPr>
        <p:spPr>
          <a:xfrm>
            <a:off x="6327648" y="5358384"/>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Orders, invoices, CRM workflows (Tier C)</a:t>
            </a:r>
            <a:endParaRPr lang="en-US" sz="950" dirty="0"/>
          </a:p>
        </p:txBody>
      </p:sp>
      <p:sp>
        <p:nvSpPr>
          <p:cNvPr id="76" name="shape-72"/>
          <p:cNvSpPr/>
          <p:nvPr/>
        </p:nvSpPr>
        <p:spPr>
          <a:xfrm>
            <a:off x="9144000" y="5358384"/>
            <a:ext cx="1024128" cy="155448"/>
          </a:xfrm>
          <a:prstGeom prst="roundRect">
            <a:avLst>
              <a:gd name="adj" fmla="val 50000"/>
            </a:avLst>
          </a:prstGeom>
          <a:solidFill>
            <a:srgbClr val="B45309"/>
          </a:solidFill>
          <a:ln w="12700">
            <a:solidFill>
              <a:srgbClr val="B45309"/>
            </a:solidFill>
            <a:prstDash val="solid"/>
          </a:ln>
        </p:spPr>
      </p:sp>
      <p:sp>
        <p:nvSpPr>
          <p:cNvPr id="77" name="text-73"/>
          <p:cNvSpPr txBox="1"/>
          <p:nvPr/>
        </p:nvSpPr>
        <p:spPr>
          <a:xfrm>
            <a:off x="9144000" y="5358384"/>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queue is fine</a:t>
            </a:r>
            <a:endParaRPr lang="en-US" sz="750" dirty="0"/>
          </a:p>
        </p:txBody>
      </p:sp>
      <p:sp>
        <p:nvSpPr>
          <p:cNvPr id="78" name="text-74"/>
          <p:cNvSpPr txBox="1"/>
          <p:nvPr/>
        </p:nvSpPr>
        <p:spPr>
          <a:xfrm>
            <a:off x="10259568" y="5358384"/>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no replay needed</a:t>
            </a:r>
            <a:endParaRPr lang="en-US" sz="800" dirty="0"/>
          </a:p>
        </p:txBody>
      </p:sp>
      <p:sp>
        <p:nvSpPr>
          <p:cNvPr id="79" name="text-75"/>
          <p:cNvSpPr txBox="1"/>
          <p:nvPr/>
        </p:nvSpPr>
        <p:spPr>
          <a:xfrm>
            <a:off x="6327648" y="5669280"/>
            <a:ext cx="2743200" cy="182880"/>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Operate it with a team of six</a:t>
            </a:r>
            <a:endParaRPr lang="en-US" sz="950" dirty="0"/>
          </a:p>
        </p:txBody>
      </p:sp>
      <p:sp>
        <p:nvSpPr>
          <p:cNvPr id="80" name="shape-76"/>
          <p:cNvSpPr/>
          <p:nvPr/>
        </p:nvSpPr>
        <p:spPr>
          <a:xfrm>
            <a:off x="9144000" y="5669280"/>
            <a:ext cx="1024128" cy="155448"/>
          </a:xfrm>
          <a:prstGeom prst="roundRect">
            <a:avLst>
              <a:gd name="adj" fmla="val 50000"/>
            </a:avLst>
          </a:prstGeom>
          <a:solidFill>
            <a:srgbClr val="B45309"/>
          </a:solidFill>
          <a:ln w="12700">
            <a:solidFill>
              <a:srgbClr val="B45309"/>
            </a:solidFill>
            <a:prstDash val="solid"/>
          </a:ln>
        </p:spPr>
      </p:sp>
      <p:sp>
        <p:nvSpPr>
          <p:cNvPr id="81" name="text-77"/>
          <p:cNvSpPr txBox="1"/>
          <p:nvPr/>
        </p:nvSpPr>
        <p:spPr>
          <a:xfrm>
            <a:off x="9144000" y="5669280"/>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managed only</a:t>
            </a:r>
            <a:endParaRPr lang="en-US" sz="750" dirty="0"/>
          </a:p>
        </p:txBody>
      </p:sp>
      <p:sp>
        <p:nvSpPr>
          <p:cNvPr id="82" name="text-78"/>
          <p:cNvSpPr txBox="1"/>
          <p:nvPr/>
        </p:nvSpPr>
        <p:spPr>
          <a:xfrm>
            <a:off x="10259568" y="5669280"/>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never self-run</a:t>
            </a:r>
            <a:endParaRPr lang="en-US" sz="800" dirty="0"/>
          </a:p>
        </p:txBody>
      </p:sp>
      <p:sp>
        <p:nvSpPr>
          <p:cNvPr id="83" name="text-79"/>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proposed service bus stays as proposed. If the Gate 2 assessment shows replay and ordering are needed for the product path, a Kafka-class log (e.g. a managed Kafka-compatible service) is one option to evaluate.</a:t>
            </a:r>
            <a:endParaRPr lang="en-US" sz="850" dirty="0"/>
          </a:p>
        </p:txBody>
      </p:sp>
      <p:sp>
        <p:nvSpPr>
          <p:cNvPr id="84"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5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6  ·  THE CAPABILITY THE NEXT STAGE NEEDS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minimum viable team of six for the assessment and first delivery; the rest are options the gates decide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MINIMUM VIABLE TEAM — WHO OWNS WHAT</a:t>
            </a:r>
            <a:endParaRPr lang="en-US" sz="800" dirty="0"/>
          </a:p>
        </p:txBody>
      </p:sp>
      <p:sp>
        <p:nvSpPr>
          <p:cNvPr id="7" name="shape-3"/>
          <p:cNvSpPr/>
          <p:nvPr/>
        </p:nvSpPr>
        <p:spPr>
          <a:xfrm>
            <a:off x="548640" y="1682496"/>
            <a:ext cx="6949440" cy="548640"/>
          </a:xfrm>
          <a:prstGeom prst="roundRect">
            <a:avLst>
              <a:gd name="adj" fmla="val 13333"/>
            </a:avLst>
          </a:prstGeom>
          <a:solidFill>
            <a:srgbClr val="134E4A"/>
          </a:solidFill>
          <a:ln w="12700">
            <a:solidFill>
              <a:srgbClr val="134E4A"/>
            </a:solidFill>
            <a:prstDash val="solid"/>
          </a:ln>
        </p:spPr>
      </p:sp>
      <p:sp>
        <p:nvSpPr>
          <p:cNvPr id="8" name="text-4"/>
          <p:cNvSpPr txBox="1"/>
          <p:nvPr/>
        </p:nvSpPr>
        <p:spPr>
          <a:xfrm>
            <a:off x="713232" y="16824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CTO</a:t>
            </a:r>
            <a:endParaRPr lang="en-US" sz="1350" dirty="0"/>
          </a:p>
        </p:txBody>
      </p:sp>
      <p:sp>
        <p:nvSpPr>
          <p:cNvPr id="9" name="text-5"/>
          <p:cNvSpPr txBox="1"/>
          <p:nvPr/>
        </p:nvSpPr>
        <p:spPr>
          <a:xfrm>
            <a:off x="3200400" y="16824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CFE8E5"/>
                </a:solidFill>
                <a:latin typeface="Calibri" pitchFamily="34" charset="0"/>
                <a:ea typeface="Calibri" pitchFamily="34" charset="-122"/>
                <a:cs typeface="Calibri" pitchFamily="34" charset="-120"/>
              </a:rPr>
              <a:t>Strategy, architecture, transformation, PM, roadmap</a:t>
            </a:r>
            <a:endParaRPr lang="en-US" sz="1050" dirty="0"/>
          </a:p>
        </p:txBody>
      </p:sp>
      <p:sp>
        <p:nvSpPr>
          <p:cNvPr id="10" name="shape-6"/>
          <p:cNvSpPr/>
          <p:nvPr/>
        </p:nvSpPr>
        <p:spPr>
          <a:xfrm>
            <a:off x="7205472" y="1892808"/>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205472"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2" name="shape-8"/>
          <p:cNvSpPr/>
          <p:nvPr/>
        </p:nvSpPr>
        <p:spPr>
          <a:xfrm>
            <a:off x="6949440" y="1892808"/>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49440"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4" name="shape-10"/>
          <p:cNvSpPr/>
          <p:nvPr/>
        </p:nvSpPr>
        <p:spPr>
          <a:xfrm>
            <a:off x="6693408" y="1892808"/>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93408"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16" name="shape-12"/>
          <p:cNvSpPr/>
          <p:nvPr/>
        </p:nvSpPr>
        <p:spPr>
          <a:xfrm>
            <a:off x="6437376" y="1892808"/>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437376"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18" name="shape-14"/>
          <p:cNvSpPr/>
          <p:nvPr/>
        </p:nvSpPr>
        <p:spPr>
          <a:xfrm>
            <a:off x="548640" y="2322576"/>
            <a:ext cx="6949440" cy="548640"/>
          </a:xfrm>
          <a:prstGeom prst="roundRect">
            <a:avLst>
              <a:gd name="adj" fmla="val 13333"/>
            </a:avLst>
          </a:prstGeom>
          <a:solidFill>
            <a:srgbClr val="EEF2F4"/>
          </a:solidFill>
          <a:ln w="12700">
            <a:solidFill>
              <a:srgbClr val="EEF2F4"/>
            </a:solidFill>
            <a:prstDash val="solid"/>
          </a:ln>
        </p:spPr>
      </p:sp>
      <p:sp>
        <p:nvSpPr>
          <p:cNvPr id="19" name="text-15"/>
          <p:cNvSpPr txBox="1"/>
          <p:nvPr/>
        </p:nvSpPr>
        <p:spPr>
          <a:xfrm>
            <a:off x="713232" y="232257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Lead Engineer</a:t>
            </a:r>
            <a:endParaRPr lang="en-US" sz="1350" dirty="0"/>
          </a:p>
        </p:txBody>
      </p:sp>
      <p:sp>
        <p:nvSpPr>
          <p:cNvPr id="20" name="text-16"/>
          <p:cNvSpPr txBox="1"/>
          <p:nvPr/>
        </p:nvSpPr>
        <p:spPr>
          <a:xfrm>
            <a:off x="3200400" y="232257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Standards, build, maintain, technical QA</a:t>
            </a:r>
            <a:endParaRPr lang="en-US" sz="1050" dirty="0"/>
          </a:p>
        </p:txBody>
      </p:sp>
      <p:sp>
        <p:nvSpPr>
          <p:cNvPr id="21" name="shape-17"/>
          <p:cNvSpPr/>
          <p:nvPr/>
        </p:nvSpPr>
        <p:spPr>
          <a:xfrm>
            <a:off x="7205472" y="2532888"/>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205472"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3" name="shape-19"/>
          <p:cNvSpPr/>
          <p:nvPr/>
        </p:nvSpPr>
        <p:spPr>
          <a:xfrm>
            <a:off x="6949440" y="2532888"/>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49440"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5" name="shape-21"/>
          <p:cNvSpPr/>
          <p:nvPr/>
        </p:nvSpPr>
        <p:spPr>
          <a:xfrm>
            <a:off x="548640" y="2962656"/>
            <a:ext cx="6949440" cy="548640"/>
          </a:xfrm>
          <a:prstGeom prst="roundRect">
            <a:avLst>
              <a:gd name="adj" fmla="val 13333"/>
            </a:avLst>
          </a:prstGeom>
          <a:solidFill>
            <a:srgbClr val="EEF2F4"/>
          </a:solidFill>
          <a:ln w="12700">
            <a:solidFill>
              <a:srgbClr val="EEF2F4"/>
            </a:solidFill>
            <a:prstDash val="solid"/>
          </a:ln>
        </p:spPr>
      </p:sp>
      <p:sp>
        <p:nvSpPr>
          <p:cNvPr id="26" name="text-22"/>
          <p:cNvSpPr txBox="1"/>
          <p:nvPr/>
        </p:nvSpPr>
        <p:spPr>
          <a:xfrm>
            <a:off x="713232" y="296265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Developer</a:t>
            </a:r>
            <a:endParaRPr lang="en-US" sz="1350" dirty="0"/>
          </a:p>
        </p:txBody>
      </p:sp>
      <p:sp>
        <p:nvSpPr>
          <p:cNvPr id="27" name="text-23"/>
          <p:cNvSpPr txBox="1"/>
          <p:nvPr/>
        </p:nvSpPr>
        <p:spPr>
          <a:xfrm>
            <a:off x="3200400" y="296265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Build, maintain, technical QA</a:t>
            </a:r>
            <a:endParaRPr lang="en-US" sz="1050" dirty="0"/>
          </a:p>
        </p:txBody>
      </p:sp>
      <p:sp>
        <p:nvSpPr>
          <p:cNvPr id="28" name="shape-24"/>
          <p:cNvSpPr/>
          <p:nvPr/>
        </p:nvSpPr>
        <p:spPr>
          <a:xfrm>
            <a:off x="7205472" y="3172968"/>
            <a:ext cx="201168" cy="146304"/>
          </a:xfrm>
          <a:prstGeom prst="roundRect">
            <a:avLst>
              <a:gd name="adj" fmla="val 50000"/>
            </a:avLst>
          </a:prstGeom>
          <a:solidFill>
            <a:srgbClr val="134E4A"/>
          </a:solidFill>
          <a:ln w="12700">
            <a:solidFill>
              <a:srgbClr val="134E4A"/>
            </a:solidFill>
            <a:prstDash val="solid"/>
          </a:ln>
        </p:spPr>
      </p:sp>
      <p:sp>
        <p:nvSpPr>
          <p:cNvPr id="29" name="text-25"/>
          <p:cNvSpPr txBox="1"/>
          <p:nvPr/>
        </p:nvSpPr>
        <p:spPr>
          <a:xfrm>
            <a:off x="7205472"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0" name="shape-26"/>
          <p:cNvSpPr/>
          <p:nvPr/>
        </p:nvSpPr>
        <p:spPr>
          <a:xfrm>
            <a:off x="548640" y="3602736"/>
            <a:ext cx="6949440" cy="548640"/>
          </a:xfrm>
          <a:prstGeom prst="roundRect">
            <a:avLst>
              <a:gd name="adj" fmla="val 13333"/>
            </a:avLst>
          </a:prstGeom>
          <a:solidFill>
            <a:srgbClr val="EEF2F4"/>
          </a:solidFill>
          <a:ln w="12700">
            <a:solidFill>
              <a:srgbClr val="EEF2F4"/>
            </a:solidFill>
            <a:prstDash val="solid"/>
          </a:ln>
        </p:spPr>
      </p:sp>
      <p:sp>
        <p:nvSpPr>
          <p:cNvPr id="31" name="text-27"/>
          <p:cNvSpPr txBox="1"/>
          <p:nvPr/>
        </p:nvSpPr>
        <p:spPr>
          <a:xfrm>
            <a:off x="713232" y="360273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DevSecOps Platform Engineer</a:t>
            </a:r>
            <a:endParaRPr lang="en-US" sz="1350" dirty="0"/>
          </a:p>
        </p:txBody>
      </p:sp>
      <p:sp>
        <p:nvSpPr>
          <p:cNvPr id="32" name="text-28"/>
          <p:cNvSpPr txBox="1"/>
          <p:nvPr/>
        </p:nvSpPr>
        <p:spPr>
          <a:xfrm>
            <a:off x="3200400" y="360273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Security, platform, pipeline</a:t>
            </a:r>
            <a:endParaRPr lang="en-US" sz="1050" dirty="0"/>
          </a:p>
        </p:txBody>
      </p:sp>
      <p:sp>
        <p:nvSpPr>
          <p:cNvPr id="33" name="shape-29"/>
          <p:cNvSpPr/>
          <p:nvPr/>
        </p:nvSpPr>
        <p:spPr>
          <a:xfrm>
            <a:off x="7205472" y="3813048"/>
            <a:ext cx="201168" cy="146304"/>
          </a:xfrm>
          <a:prstGeom prst="roundRect">
            <a:avLst>
              <a:gd name="adj" fmla="val 50000"/>
            </a:avLst>
          </a:prstGeom>
          <a:solidFill>
            <a:srgbClr val="B45309"/>
          </a:solidFill>
          <a:ln w="12700">
            <a:solidFill>
              <a:srgbClr val="B45309"/>
            </a:solidFill>
            <a:prstDash val="solid"/>
          </a:ln>
        </p:spPr>
      </p:sp>
      <p:sp>
        <p:nvSpPr>
          <p:cNvPr id="34" name="text-30"/>
          <p:cNvSpPr txBox="1"/>
          <p:nvPr/>
        </p:nvSpPr>
        <p:spPr>
          <a:xfrm>
            <a:off x="7205472"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5" name="shape-31"/>
          <p:cNvSpPr/>
          <p:nvPr/>
        </p:nvSpPr>
        <p:spPr>
          <a:xfrm>
            <a:off x="6949440" y="3813048"/>
            <a:ext cx="201168" cy="146304"/>
          </a:xfrm>
          <a:prstGeom prst="roundRect">
            <a:avLst>
              <a:gd name="adj" fmla="val 50000"/>
            </a:avLst>
          </a:prstGeom>
          <a:solidFill>
            <a:srgbClr val="134E4A"/>
          </a:solidFill>
          <a:ln w="12700">
            <a:solidFill>
              <a:srgbClr val="134E4A"/>
            </a:solidFill>
            <a:prstDash val="solid"/>
          </a:ln>
        </p:spPr>
      </p:sp>
      <p:sp>
        <p:nvSpPr>
          <p:cNvPr id="36" name="text-32"/>
          <p:cNvSpPr txBox="1"/>
          <p:nvPr/>
        </p:nvSpPr>
        <p:spPr>
          <a:xfrm>
            <a:off x="6949440"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7" name="shape-33"/>
          <p:cNvSpPr/>
          <p:nvPr/>
        </p:nvSpPr>
        <p:spPr>
          <a:xfrm>
            <a:off x="548640" y="4242816"/>
            <a:ext cx="6949440" cy="548640"/>
          </a:xfrm>
          <a:prstGeom prst="roundRect">
            <a:avLst>
              <a:gd name="adj" fmla="val 13333"/>
            </a:avLst>
          </a:prstGeom>
          <a:solidFill>
            <a:srgbClr val="EEF2F4"/>
          </a:solidFill>
          <a:ln w="12700">
            <a:solidFill>
              <a:srgbClr val="EEF2F4"/>
            </a:solidFill>
            <a:prstDash val="solid"/>
          </a:ln>
        </p:spPr>
      </p:sp>
      <p:sp>
        <p:nvSpPr>
          <p:cNvPr id="38" name="text-34"/>
          <p:cNvSpPr txBox="1"/>
          <p:nvPr/>
        </p:nvSpPr>
        <p:spPr>
          <a:xfrm>
            <a:off x="713232" y="424281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Product</a:t>
            </a:r>
            <a:endParaRPr lang="en-US" sz="1350" dirty="0"/>
          </a:p>
        </p:txBody>
      </p:sp>
      <p:sp>
        <p:nvSpPr>
          <p:cNvPr id="39" name="text-35"/>
          <p:cNvSpPr txBox="1"/>
          <p:nvPr/>
        </p:nvSpPr>
        <p:spPr>
          <a:xfrm>
            <a:off x="3200400" y="424281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Project, research, design</a:t>
            </a:r>
            <a:endParaRPr lang="en-US" sz="1050" dirty="0"/>
          </a:p>
        </p:txBody>
      </p:sp>
      <p:sp>
        <p:nvSpPr>
          <p:cNvPr id="40" name="shape-36"/>
          <p:cNvSpPr/>
          <p:nvPr/>
        </p:nvSpPr>
        <p:spPr>
          <a:xfrm>
            <a:off x="7205472" y="4453128"/>
            <a:ext cx="201168" cy="146304"/>
          </a:xfrm>
          <a:prstGeom prst="roundRect">
            <a:avLst>
              <a:gd name="adj" fmla="val 50000"/>
            </a:avLst>
          </a:prstGeom>
          <a:solidFill>
            <a:srgbClr val="134E4A"/>
          </a:solidFill>
          <a:ln w="12700">
            <a:solidFill>
              <a:srgbClr val="134E4A"/>
            </a:solidFill>
            <a:prstDash val="solid"/>
          </a:ln>
        </p:spPr>
      </p:sp>
      <p:sp>
        <p:nvSpPr>
          <p:cNvPr id="41" name="text-37"/>
          <p:cNvSpPr txBox="1"/>
          <p:nvPr/>
        </p:nvSpPr>
        <p:spPr>
          <a:xfrm>
            <a:off x="7205472"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2" name="shape-38"/>
          <p:cNvSpPr/>
          <p:nvPr/>
        </p:nvSpPr>
        <p:spPr>
          <a:xfrm>
            <a:off x="6949440" y="4453128"/>
            <a:ext cx="201168" cy="146304"/>
          </a:xfrm>
          <a:prstGeom prst="roundRect">
            <a:avLst>
              <a:gd name="adj" fmla="val 50000"/>
            </a:avLst>
          </a:prstGeom>
          <a:solidFill>
            <a:srgbClr val="0F766E"/>
          </a:solidFill>
          <a:ln w="12700">
            <a:solidFill>
              <a:srgbClr val="0F766E"/>
            </a:solidFill>
            <a:prstDash val="solid"/>
          </a:ln>
        </p:spPr>
      </p:sp>
      <p:sp>
        <p:nvSpPr>
          <p:cNvPr id="43" name="text-39"/>
          <p:cNvSpPr txBox="1"/>
          <p:nvPr/>
        </p:nvSpPr>
        <p:spPr>
          <a:xfrm>
            <a:off x="6949440"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44" name="shape-40"/>
          <p:cNvSpPr/>
          <p:nvPr/>
        </p:nvSpPr>
        <p:spPr>
          <a:xfrm>
            <a:off x="548640" y="4882896"/>
            <a:ext cx="6949440" cy="548640"/>
          </a:xfrm>
          <a:prstGeom prst="roundRect">
            <a:avLst>
              <a:gd name="adj" fmla="val 13333"/>
            </a:avLst>
          </a:prstGeom>
          <a:solidFill>
            <a:srgbClr val="EEF2F4"/>
          </a:solidFill>
          <a:ln w="12700">
            <a:solidFill>
              <a:srgbClr val="EEF2F4"/>
            </a:solidFill>
            <a:prstDash val="solid"/>
          </a:ln>
        </p:spPr>
      </p:sp>
      <p:sp>
        <p:nvSpPr>
          <p:cNvPr id="45" name="text-41"/>
          <p:cNvSpPr txBox="1"/>
          <p:nvPr/>
        </p:nvSpPr>
        <p:spPr>
          <a:xfrm>
            <a:off x="713232" y="48828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BA / QA</a:t>
            </a:r>
            <a:endParaRPr lang="en-US" sz="1350" dirty="0"/>
          </a:p>
        </p:txBody>
      </p:sp>
      <p:sp>
        <p:nvSpPr>
          <p:cNvPr id="46" name="text-42"/>
          <p:cNvSpPr txBox="1"/>
          <p:nvPr/>
        </p:nvSpPr>
        <p:spPr>
          <a:xfrm>
            <a:off x="3200400" y="48828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User testing, QA, product assistance</a:t>
            </a:r>
            <a:endParaRPr lang="en-US" sz="1050" dirty="0"/>
          </a:p>
        </p:txBody>
      </p:sp>
      <p:sp>
        <p:nvSpPr>
          <p:cNvPr id="47" name="shape-43"/>
          <p:cNvSpPr/>
          <p:nvPr/>
        </p:nvSpPr>
        <p:spPr>
          <a:xfrm>
            <a:off x="7205472" y="5093208"/>
            <a:ext cx="201168" cy="146304"/>
          </a:xfrm>
          <a:prstGeom prst="roundRect">
            <a:avLst>
              <a:gd name="adj" fmla="val 50000"/>
            </a:avLst>
          </a:prstGeom>
          <a:solidFill>
            <a:srgbClr val="134E4A"/>
          </a:solidFill>
          <a:ln w="12700">
            <a:solidFill>
              <a:srgbClr val="134E4A"/>
            </a:solidFill>
            <a:prstDash val="solid"/>
          </a:ln>
        </p:spPr>
      </p:sp>
      <p:sp>
        <p:nvSpPr>
          <p:cNvPr id="48" name="text-44"/>
          <p:cNvSpPr txBox="1"/>
          <p:nvPr/>
        </p:nvSpPr>
        <p:spPr>
          <a:xfrm>
            <a:off x="7205472"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9" name="shape-45"/>
          <p:cNvSpPr/>
          <p:nvPr/>
        </p:nvSpPr>
        <p:spPr>
          <a:xfrm>
            <a:off x="6949440" y="5093208"/>
            <a:ext cx="201168" cy="146304"/>
          </a:xfrm>
          <a:prstGeom prst="roundRect">
            <a:avLst>
              <a:gd name="adj" fmla="val 50000"/>
            </a:avLst>
          </a:prstGeom>
          <a:solidFill>
            <a:srgbClr val="8A99A3"/>
          </a:solidFill>
          <a:ln w="12700">
            <a:solidFill>
              <a:srgbClr val="8A99A3"/>
            </a:solidFill>
            <a:prstDash val="solid"/>
          </a:ln>
        </p:spPr>
      </p:sp>
      <p:sp>
        <p:nvSpPr>
          <p:cNvPr id="50" name="text-46"/>
          <p:cNvSpPr txBox="1"/>
          <p:nvPr/>
        </p:nvSpPr>
        <p:spPr>
          <a:xfrm>
            <a:off x="6949440"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1" name="text-47"/>
          <p:cNvSpPr txBox="1"/>
          <p:nvPr/>
        </p:nvSpPr>
        <p:spPr>
          <a:xfrm>
            <a:off x="777240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OPTIONS THE GATE 2 DECISION WOULD CHOOSE BETWEEN</a:t>
            </a:r>
            <a:endParaRPr lang="en-US" sz="800" dirty="0"/>
          </a:p>
        </p:txBody>
      </p:sp>
      <p:sp>
        <p:nvSpPr>
          <p:cNvPr id="52" name="shape-48"/>
          <p:cNvSpPr/>
          <p:nvPr/>
        </p:nvSpPr>
        <p:spPr>
          <a:xfrm>
            <a:off x="7772400" y="1682496"/>
            <a:ext cx="3840480" cy="694944"/>
          </a:xfrm>
          <a:prstGeom prst="roundRect">
            <a:avLst>
              <a:gd name="adj" fmla="val 10526"/>
            </a:avLst>
          </a:prstGeom>
          <a:solidFill>
            <a:srgbClr val="FFFFFF"/>
          </a:solidFill>
          <a:ln w="15875">
            <a:solidFill>
              <a:srgbClr val="D4DBE0"/>
            </a:solidFill>
            <a:prstDash val="solid"/>
          </a:ln>
        </p:spPr>
      </p:sp>
      <p:pic>
        <p:nvPicPr>
          <p:cNvPr id="53" name="icon-49" descr="preencoded.png">    </p:cNvPr>
          <p:cNvPicPr>
            <a:picLocks noChangeAspect="1"/>
          </p:cNvPicPr>
          <p:nvPr/>
        </p:nvPicPr>
        <p:blipFill>
          <a:blip r:embed="rId1"/>
          <a:stretch>
            <a:fillRect/>
          </a:stretch>
        </p:blipFill>
        <p:spPr>
          <a:xfrm>
            <a:off x="7918704" y="1828800"/>
            <a:ext cx="182880" cy="182880"/>
          </a:xfrm>
          <a:prstGeom prst="rect">
            <a:avLst/>
          </a:prstGeom>
        </p:spPr>
      </p:pic>
      <p:sp>
        <p:nvSpPr>
          <p:cNvPr id="54" name="text-50"/>
          <p:cNvSpPr txBox="1"/>
          <p:nvPr/>
        </p:nvSpPr>
        <p:spPr>
          <a:xfrm>
            <a:off x="8193024" y="1755648"/>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Second engineer, or the vendor’s 0.6 PM</a:t>
            </a:r>
            <a:endParaRPr lang="en-US" sz="1100" dirty="0"/>
          </a:p>
        </p:txBody>
      </p:sp>
      <p:sp>
        <p:nvSpPr>
          <p:cNvPr id="55" name="text-51"/>
          <p:cNvSpPr txBox="1"/>
          <p:nvPr/>
        </p:nvSpPr>
        <p:spPr>
          <a:xfrm>
            <a:off x="7918704" y="2121408"/>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how much of A is built in-house</a:t>
            </a:r>
            <a:endParaRPr lang="en-US" sz="950" dirty="0"/>
          </a:p>
        </p:txBody>
      </p:sp>
      <p:sp>
        <p:nvSpPr>
          <p:cNvPr id="56" name="shape-52"/>
          <p:cNvSpPr/>
          <p:nvPr/>
        </p:nvSpPr>
        <p:spPr>
          <a:xfrm>
            <a:off x="7772400" y="2468880"/>
            <a:ext cx="3840480" cy="694944"/>
          </a:xfrm>
          <a:prstGeom prst="roundRect">
            <a:avLst>
              <a:gd name="adj" fmla="val 10526"/>
            </a:avLst>
          </a:prstGeom>
          <a:solidFill>
            <a:srgbClr val="FFFFFF"/>
          </a:solidFill>
          <a:ln w="15875">
            <a:solidFill>
              <a:srgbClr val="D4DBE0"/>
            </a:solidFill>
            <a:prstDash val="solid"/>
          </a:ln>
        </p:spPr>
      </p:sp>
      <p:pic>
        <p:nvPicPr>
          <p:cNvPr id="57" name="icon-53" descr="preencoded.png">    </p:cNvPr>
          <p:cNvPicPr>
            <a:picLocks noChangeAspect="1"/>
          </p:cNvPicPr>
          <p:nvPr/>
        </p:nvPicPr>
        <p:blipFill>
          <a:blip r:embed="rId2"/>
          <a:stretch>
            <a:fillRect/>
          </a:stretch>
        </p:blipFill>
        <p:spPr>
          <a:xfrm>
            <a:off x="7918704" y="2615184"/>
            <a:ext cx="182880" cy="182880"/>
          </a:xfrm>
          <a:prstGeom prst="rect">
            <a:avLst/>
          </a:prstGeom>
        </p:spPr>
      </p:pic>
      <p:sp>
        <p:nvSpPr>
          <p:cNvPr id="58" name="text-54"/>
          <p:cNvSpPr txBox="1"/>
          <p:nvPr/>
        </p:nvSpPr>
        <p:spPr>
          <a:xfrm>
            <a:off x="8193024" y="2542032"/>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AI budget instead of more headcount</a:t>
            </a:r>
            <a:endParaRPr lang="en-US" sz="1100" dirty="0"/>
          </a:p>
        </p:txBody>
      </p:sp>
      <p:sp>
        <p:nvSpPr>
          <p:cNvPr id="59" name="text-55"/>
          <p:cNvSpPr txBox="1"/>
          <p:nvPr/>
        </p:nvSpPr>
        <p:spPr>
          <a:xfrm>
            <a:off x="7918704" y="2907792"/>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accelerate and de-risk product work</a:t>
            </a:r>
            <a:endParaRPr lang="en-US" sz="950" dirty="0"/>
          </a:p>
        </p:txBody>
      </p:sp>
      <p:sp>
        <p:nvSpPr>
          <p:cNvPr id="60" name="shape-56"/>
          <p:cNvSpPr/>
          <p:nvPr/>
        </p:nvSpPr>
        <p:spPr>
          <a:xfrm>
            <a:off x="7772400" y="3255264"/>
            <a:ext cx="3840480" cy="694944"/>
          </a:xfrm>
          <a:prstGeom prst="roundRect">
            <a:avLst>
              <a:gd name="adj" fmla="val 10526"/>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3"/>
          <a:stretch>
            <a:fillRect/>
          </a:stretch>
        </p:blipFill>
        <p:spPr>
          <a:xfrm>
            <a:off x="7918704" y="3401568"/>
            <a:ext cx="182880" cy="182880"/>
          </a:xfrm>
          <a:prstGeom prst="rect">
            <a:avLst/>
          </a:prstGeom>
        </p:spPr>
      </p:pic>
      <p:sp>
        <p:nvSpPr>
          <p:cNvPr id="62" name="text-58"/>
          <p:cNvSpPr txBox="1"/>
          <p:nvPr/>
        </p:nvSpPr>
        <p:spPr>
          <a:xfrm>
            <a:off x="8193024" y="3328416"/>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Research and design in-house, or partner</a:t>
            </a:r>
            <a:endParaRPr lang="en-US" sz="1100" dirty="0"/>
          </a:p>
        </p:txBody>
      </p:sp>
      <p:sp>
        <p:nvSpPr>
          <p:cNvPr id="63" name="text-59"/>
          <p:cNvSpPr txBox="1"/>
          <p:nvPr/>
        </p:nvSpPr>
        <p:spPr>
          <a:xfrm>
            <a:off x="7918704" y="3694176"/>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depends on the licence model found at Gate 1</a:t>
            </a:r>
            <a:endParaRPr lang="en-US" sz="950" dirty="0"/>
          </a:p>
        </p:txBody>
      </p:sp>
      <p:sp>
        <p:nvSpPr>
          <p:cNvPr id="64" name="shape-60"/>
          <p:cNvSpPr/>
          <p:nvPr/>
        </p:nvSpPr>
        <p:spPr>
          <a:xfrm>
            <a:off x="7772400" y="4041648"/>
            <a:ext cx="3840480" cy="694944"/>
          </a:xfrm>
          <a:prstGeom prst="roundRect">
            <a:avLst>
              <a:gd name="adj" fmla="val 10526"/>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4"/>
          <a:stretch>
            <a:fillRect/>
          </a:stretch>
        </p:blipFill>
        <p:spPr>
          <a:xfrm>
            <a:off x="7918704" y="4187952"/>
            <a:ext cx="182880" cy="182880"/>
          </a:xfrm>
          <a:prstGeom prst="rect">
            <a:avLst/>
          </a:prstGeom>
        </p:spPr>
      </p:pic>
      <p:sp>
        <p:nvSpPr>
          <p:cNvPr id="66" name="text-62"/>
          <p:cNvSpPr txBox="1"/>
          <p:nvPr/>
        </p:nvSpPr>
        <p:spPr>
          <a:xfrm>
            <a:off x="8193024" y="4114800"/>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QA in-house, or evidence from partners</a:t>
            </a:r>
            <a:endParaRPr lang="en-US" sz="1100" dirty="0"/>
          </a:p>
        </p:txBody>
      </p:sp>
      <p:sp>
        <p:nvSpPr>
          <p:cNvPr id="67" name="text-63"/>
          <p:cNvSpPr txBox="1"/>
          <p:nvPr/>
        </p:nvSpPr>
        <p:spPr>
          <a:xfrm>
            <a:off x="7918704" y="4480560"/>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the gates need evidence</a:t>
            </a:r>
            <a:endParaRPr lang="en-US" sz="950" dirty="0"/>
          </a:p>
        </p:txBody>
      </p:sp>
      <p:sp>
        <p:nvSpPr>
          <p:cNvPr id="68" name="shape-64"/>
          <p:cNvSpPr/>
          <p:nvPr/>
        </p:nvSpPr>
        <p:spPr>
          <a:xfrm>
            <a:off x="7772400" y="4828032"/>
            <a:ext cx="3840480" cy="1024128"/>
          </a:xfrm>
          <a:prstGeom prst="roundRect">
            <a:avLst>
              <a:gd name="adj" fmla="val 7143"/>
            </a:avLst>
          </a:prstGeom>
          <a:solidFill>
            <a:srgbClr val="FDF1E3"/>
          </a:solidFill>
          <a:ln w="12700">
            <a:solidFill>
              <a:srgbClr val="FDF1E3"/>
            </a:solidFill>
            <a:prstDash val="solid"/>
          </a:ln>
        </p:spPr>
      </p:sp>
      <p:sp>
        <p:nvSpPr>
          <p:cNvPr id="69" name="text-65"/>
          <p:cNvSpPr txBox="1"/>
          <p:nvPr/>
        </p:nvSpPr>
        <p:spPr>
          <a:xfrm>
            <a:off x="7918704" y="4937760"/>
            <a:ext cx="3547872"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NOT IN THE TEAM — PARTNER OR MSP</a:t>
            </a:r>
            <a:endParaRPr lang="en-US" sz="850" dirty="0"/>
          </a:p>
        </p:txBody>
      </p:sp>
      <p:sp>
        <p:nvSpPr>
          <p:cNvPr id="70" name="oval-66"/>
          <p:cNvSpPr/>
          <p:nvPr/>
        </p:nvSpPr>
        <p:spPr>
          <a:xfrm>
            <a:off x="7946136" y="5221224"/>
            <a:ext cx="54864" cy="54864"/>
          </a:xfrm>
          <a:prstGeom prst="ellipse">
            <a:avLst/>
          </a:prstGeom>
          <a:solidFill>
            <a:srgbClr val="B45309"/>
          </a:solidFill>
          <a:ln w="12700">
            <a:solidFill>
              <a:srgbClr val="B45309"/>
            </a:solidFill>
            <a:prstDash val="solid"/>
          </a:ln>
        </p:spPr>
      </p:sp>
      <p:sp>
        <p:nvSpPr>
          <p:cNvPr id="71" name="text-67"/>
          <p:cNvSpPr txBox="1"/>
          <p:nvPr/>
        </p:nvSpPr>
        <p:spPr>
          <a:xfrm>
            <a:off x="8083296" y="5157216"/>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24×7 operations and on-call</a:t>
            </a:r>
            <a:endParaRPr lang="en-US" sz="1000" dirty="0"/>
          </a:p>
        </p:txBody>
      </p:sp>
      <p:sp>
        <p:nvSpPr>
          <p:cNvPr id="72" name="oval-68"/>
          <p:cNvSpPr/>
          <p:nvPr/>
        </p:nvSpPr>
        <p:spPr>
          <a:xfrm>
            <a:off x="7946136" y="5385816"/>
            <a:ext cx="54864" cy="54864"/>
          </a:xfrm>
          <a:prstGeom prst="ellipse">
            <a:avLst/>
          </a:prstGeom>
          <a:solidFill>
            <a:srgbClr val="B45309"/>
          </a:solidFill>
          <a:ln w="12700">
            <a:solidFill>
              <a:srgbClr val="B45309"/>
            </a:solidFill>
            <a:prstDash val="solid"/>
          </a:ln>
        </p:spPr>
      </p:sp>
      <p:sp>
        <p:nvSpPr>
          <p:cNvPr id="73" name="text-69"/>
          <p:cNvSpPr txBox="1"/>
          <p:nvPr/>
        </p:nvSpPr>
        <p:spPr>
          <a:xfrm>
            <a:off x="8083296" y="5321808"/>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Security operations</a:t>
            </a:r>
            <a:endParaRPr lang="en-US" sz="1000" dirty="0"/>
          </a:p>
        </p:txBody>
      </p:sp>
      <p:sp>
        <p:nvSpPr>
          <p:cNvPr id="74" name="oval-70"/>
          <p:cNvSpPr/>
          <p:nvPr/>
        </p:nvSpPr>
        <p:spPr>
          <a:xfrm>
            <a:off x="7946136" y="5550408"/>
            <a:ext cx="54864" cy="54864"/>
          </a:xfrm>
          <a:prstGeom prst="ellipse">
            <a:avLst/>
          </a:prstGeom>
          <a:solidFill>
            <a:srgbClr val="B45309"/>
          </a:solidFill>
          <a:ln w="12700">
            <a:solidFill>
              <a:srgbClr val="B45309"/>
            </a:solidFill>
            <a:prstDash val="solid"/>
          </a:ln>
        </p:spPr>
      </p:sp>
      <p:sp>
        <p:nvSpPr>
          <p:cNvPr id="75" name="text-71"/>
          <p:cNvSpPr txBox="1"/>
          <p:nvPr/>
        </p:nvSpPr>
        <p:spPr>
          <a:xfrm>
            <a:off x="8083296" y="5486400"/>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Commodity configuration</a:t>
            </a:r>
            <a:endParaRPr lang="en-US" sz="1000" dirty="0"/>
          </a:p>
        </p:txBody>
      </p:sp>
      <p:sp>
        <p:nvSpPr>
          <p:cNvPr id="76" name="oval-72"/>
          <p:cNvSpPr/>
          <p:nvPr/>
        </p:nvSpPr>
        <p:spPr>
          <a:xfrm>
            <a:off x="7946136" y="5715000"/>
            <a:ext cx="54864" cy="54864"/>
          </a:xfrm>
          <a:prstGeom prst="ellipse">
            <a:avLst/>
          </a:prstGeom>
          <a:solidFill>
            <a:srgbClr val="B45309"/>
          </a:solidFill>
          <a:ln w="12700">
            <a:solidFill>
              <a:srgbClr val="B45309"/>
            </a:solidFill>
            <a:prstDash val="solid"/>
          </a:ln>
        </p:spPr>
      </p:sp>
      <p:sp>
        <p:nvSpPr>
          <p:cNvPr id="77" name="text-73"/>
          <p:cNvSpPr txBox="1"/>
          <p:nvPr/>
        </p:nvSpPr>
        <p:spPr>
          <a:xfrm>
            <a:off x="8083296" y="5650992"/>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Content operations (outside remit)</a:t>
            </a:r>
            <a:endParaRPr lang="en-US" sz="1000" dirty="0"/>
          </a:p>
        </p:txBody>
      </p:sp>
      <p:sp>
        <p:nvSpPr>
          <p:cNvPr id="78" name="text-74"/>
          <p:cNvSpPr txBox="1"/>
          <p:nvPr/>
        </p:nvSpPr>
        <p:spPr>
          <a:xfrm>
            <a:off x="548640" y="6126480"/>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Responsibilities, not an approved hiring plan. The vendor’s structure is the starting point.</a:t>
            </a:r>
            <a:endParaRPr lang="en-US" sz="950" dirty="0"/>
          </a:p>
        </p:txBody>
      </p:sp>
      <p:sp>
        <p:nvSpPr>
          <p:cNvPr id="79"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6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7  ·  GOVERNANCE, MEASURES AND THE NEXT SIX MONTHS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rhythm, gates sized to the tier, measures that reward outcomes</a:t>
            </a:r>
            <a:endParaRPr lang="en-US" sz="200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OPERATING RHYTHM</a:t>
            </a:r>
            <a:endParaRPr lang="en-US" sz="800" dirty="0"/>
          </a:p>
        </p:txBody>
      </p:sp>
      <p:sp>
        <p:nvSpPr>
          <p:cNvPr id="5" name="shape-1"/>
          <p:cNvSpPr/>
          <p:nvPr/>
        </p:nvSpPr>
        <p:spPr>
          <a:xfrm>
            <a:off x="548640" y="1664208"/>
            <a:ext cx="3657600" cy="457200"/>
          </a:xfrm>
          <a:prstGeom prst="roundRect">
            <a:avLst>
              <a:gd name="adj" fmla="val 16000"/>
            </a:avLst>
          </a:prstGeom>
          <a:solidFill>
            <a:srgbClr val="134E4A"/>
          </a:solidFill>
          <a:ln w="12700">
            <a:solidFill>
              <a:srgbClr val="134E4A"/>
            </a:solidFill>
            <a:prstDash val="solid"/>
          </a:ln>
        </p:spPr>
      </p:sp>
      <p:sp>
        <p:nvSpPr>
          <p:cNvPr id="6" name="text-2"/>
          <p:cNvSpPr txBox="1"/>
          <p:nvPr/>
        </p:nvSpPr>
        <p:spPr>
          <a:xfrm>
            <a:off x="694944" y="1700784"/>
            <a:ext cx="338328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Board / Risk Committee</a:t>
            </a:r>
            <a:endParaRPr lang="en-US" sz="1200" dirty="0"/>
          </a:p>
        </p:txBody>
      </p:sp>
      <p:sp>
        <p:nvSpPr>
          <p:cNvPr id="7" name="text-3"/>
          <p:cNvSpPr txBox="1"/>
          <p:nvPr/>
        </p:nvSpPr>
        <p:spPr>
          <a:xfrm>
            <a:off x="694944" y="1920240"/>
            <a:ext cx="3383280"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monthly · date, funding, risk appetite</a:t>
            </a:r>
            <a:endParaRPr lang="en-US" sz="950" dirty="0"/>
          </a:p>
        </p:txBody>
      </p:sp>
      <p:sp>
        <p:nvSpPr>
          <p:cNvPr id="8" name="shape-4"/>
          <p:cNvSpPr/>
          <p:nvPr/>
        </p:nvSpPr>
        <p:spPr>
          <a:xfrm>
            <a:off x="548640" y="2194560"/>
            <a:ext cx="3328416" cy="457200"/>
          </a:xfrm>
          <a:prstGeom prst="roundRect">
            <a:avLst>
              <a:gd name="adj" fmla="val 16000"/>
            </a:avLst>
          </a:prstGeom>
          <a:solidFill>
            <a:srgbClr val="0F766E"/>
          </a:solidFill>
          <a:ln w="12700">
            <a:solidFill>
              <a:srgbClr val="0F766E"/>
            </a:solidFill>
            <a:prstDash val="solid"/>
          </a:ln>
        </p:spPr>
      </p:sp>
      <p:sp>
        <p:nvSpPr>
          <p:cNvPr id="9" name="text-5"/>
          <p:cNvSpPr txBox="1"/>
          <p:nvPr/>
        </p:nvSpPr>
        <p:spPr>
          <a:xfrm>
            <a:off x="694944" y="2231136"/>
            <a:ext cx="3054096"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Programme Steering</a:t>
            </a:r>
            <a:endParaRPr lang="en-US" sz="1200" dirty="0"/>
          </a:p>
        </p:txBody>
      </p:sp>
      <p:sp>
        <p:nvSpPr>
          <p:cNvPr id="10" name="text-6"/>
          <p:cNvSpPr txBox="1"/>
          <p:nvPr/>
        </p:nvSpPr>
        <p:spPr>
          <a:xfrm>
            <a:off x="694944" y="2450592"/>
            <a:ext cx="3054096"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fortnightly · priorities, gate sign-off</a:t>
            </a:r>
            <a:endParaRPr lang="en-US" sz="950" dirty="0"/>
          </a:p>
        </p:txBody>
      </p:sp>
      <p:sp>
        <p:nvSpPr>
          <p:cNvPr id="11" name="shape-7"/>
          <p:cNvSpPr/>
          <p:nvPr/>
        </p:nvSpPr>
        <p:spPr>
          <a:xfrm>
            <a:off x="548640" y="2724912"/>
            <a:ext cx="2999232" cy="457200"/>
          </a:xfrm>
          <a:prstGeom prst="roundRect">
            <a:avLst>
              <a:gd name="adj" fmla="val 16000"/>
            </a:avLst>
          </a:prstGeom>
          <a:solidFill>
            <a:srgbClr val="1F8F86"/>
          </a:solidFill>
          <a:ln w="12700">
            <a:solidFill>
              <a:srgbClr val="1F8F86"/>
            </a:solidFill>
            <a:prstDash val="solid"/>
          </a:ln>
        </p:spPr>
      </p:sp>
      <p:sp>
        <p:nvSpPr>
          <p:cNvPr id="12" name="text-8"/>
          <p:cNvSpPr txBox="1"/>
          <p:nvPr/>
        </p:nvSpPr>
        <p:spPr>
          <a:xfrm>
            <a:off x="694944" y="2761488"/>
            <a:ext cx="2724912"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Delivery and Partner Review</a:t>
            </a:r>
            <a:endParaRPr lang="en-US" sz="1200" dirty="0"/>
          </a:p>
        </p:txBody>
      </p:sp>
      <p:sp>
        <p:nvSpPr>
          <p:cNvPr id="13" name="text-9"/>
          <p:cNvSpPr txBox="1"/>
          <p:nvPr/>
        </p:nvSpPr>
        <p:spPr>
          <a:xfrm>
            <a:off x="694944" y="2980944"/>
            <a:ext cx="2724912" cy="164592"/>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weekly · evidence, blockers</a:t>
            </a:r>
            <a:endParaRPr lang="en-US" sz="950" dirty="0"/>
          </a:p>
        </p:txBody>
      </p:sp>
      <p:sp>
        <p:nvSpPr>
          <p:cNvPr id="14" name="shape-10"/>
          <p:cNvSpPr/>
          <p:nvPr/>
        </p:nvSpPr>
        <p:spPr>
          <a:xfrm>
            <a:off x="548640" y="3255264"/>
            <a:ext cx="2670048" cy="457200"/>
          </a:xfrm>
          <a:prstGeom prst="roundRect">
            <a:avLst>
              <a:gd name="adj" fmla="val 16000"/>
            </a:avLst>
          </a:prstGeom>
          <a:solidFill>
            <a:srgbClr val="D6ECE9"/>
          </a:solidFill>
          <a:ln w="12700">
            <a:solidFill>
              <a:srgbClr val="D6ECE9"/>
            </a:solidFill>
            <a:prstDash val="solid"/>
          </a:ln>
        </p:spPr>
      </p:sp>
      <p:sp>
        <p:nvSpPr>
          <p:cNvPr id="15" name="text-11"/>
          <p:cNvSpPr txBox="1"/>
          <p:nvPr/>
        </p:nvSpPr>
        <p:spPr>
          <a:xfrm>
            <a:off x="694944" y="3291840"/>
            <a:ext cx="2395728" cy="219456"/>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Architecture decisions</a:t>
            </a:r>
            <a:endParaRPr lang="en-US" sz="1200" dirty="0"/>
          </a:p>
        </p:txBody>
      </p:sp>
      <p:sp>
        <p:nvSpPr>
          <p:cNvPr id="16" name="text-12"/>
          <p:cNvSpPr txBox="1"/>
          <p:nvPr/>
        </p:nvSpPr>
        <p:spPr>
          <a:xfrm>
            <a:off x="694944" y="3511296"/>
            <a:ext cx="2395728"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written down, visible to all</a:t>
            </a:r>
            <a:endParaRPr lang="en-US" sz="950" dirty="0"/>
          </a:p>
        </p:txBody>
      </p:sp>
      <p:sp>
        <p:nvSpPr>
          <p:cNvPr id="17" name="text-13"/>
          <p:cNvSpPr txBox="1"/>
          <p:nvPr/>
        </p:nvSpPr>
        <p:spPr>
          <a:xfrm>
            <a:off x="475488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ASSURANCE GATES BY TIER</a:t>
            </a:r>
            <a:endParaRPr lang="en-US" sz="800" dirty="0"/>
          </a:p>
        </p:txBody>
      </p:sp>
      <p:sp>
        <p:nvSpPr>
          <p:cNvPr id="18" name="shape-14"/>
          <p:cNvSpPr/>
          <p:nvPr/>
        </p:nvSpPr>
        <p:spPr>
          <a:xfrm>
            <a:off x="841248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41248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0" name="shape-16"/>
          <p:cNvSpPr/>
          <p:nvPr/>
        </p:nvSpPr>
        <p:spPr>
          <a:xfrm>
            <a:off x="914400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14400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2" name="shape-18"/>
          <p:cNvSpPr/>
          <p:nvPr/>
        </p:nvSpPr>
        <p:spPr>
          <a:xfrm>
            <a:off x="987552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987552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24" name="shape-20"/>
          <p:cNvSpPr/>
          <p:nvPr/>
        </p:nvSpPr>
        <p:spPr>
          <a:xfrm>
            <a:off x="1060704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60704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6" name="shape-22"/>
          <p:cNvSpPr/>
          <p:nvPr/>
        </p:nvSpPr>
        <p:spPr>
          <a:xfrm>
            <a:off x="4754880" y="1755648"/>
            <a:ext cx="6858000" cy="310896"/>
          </a:xfrm>
          <a:prstGeom prst="roundRect">
            <a:avLst>
              <a:gd name="adj" fmla="val 11765"/>
            </a:avLst>
          </a:prstGeom>
          <a:solidFill>
            <a:srgbClr val="EEF2F4"/>
          </a:solidFill>
          <a:ln w="12700">
            <a:solidFill>
              <a:srgbClr val="EEF2F4"/>
            </a:solidFill>
            <a:prstDash val="solid"/>
          </a:ln>
        </p:spPr>
      </p:sp>
      <p:sp>
        <p:nvSpPr>
          <p:cNvPr id="27" name="text-23"/>
          <p:cNvSpPr txBox="1"/>
          <p:nvPr/>
        </p:nvSpPr>
        <p:spPr>
          <a:xfrm>
            <a:off x="4846320" y="1810512"/>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Security and payments</a:t>
            </a:r>
            <a:endParaRPr lang="en-US" sz="1100" dirty="0"/>
          </a:p>
        </p:txBody>
      </p:sp>
      <p:sp>
        <p:nvSpPr>
          <p:cNvPr id="28" name="oval-24"/>
          <p:cNvSpPr/>
          <p:nvPr/>
        </p:nvSpPr>
        <p:spPr>
          <a:xfrm>
            <a:off x="8439912" y="1847088"/>
            <a:ext cx="146304" cy="146304"/>
          </a:xfrm>
          <a:prstGeom prst="ellipse">
            <a:avLst/>
          </a:prstGeom>
          <a:solidFill>
            <a:srgbClr val="134E4A"/>
          </a:solidFill>
          <a:ln w="12700">
            <a:solidFill>
              <a:srgbClr val="134E4A"/>
            </a:solidFill>
            <a:prstDash val="solid"/>
          </a:ln>
        </p:spPr>
      </p:sp>
      <p:sp>
        <p:nvSpPr>
          <p:cNvPr id="29" name="oval-25"/>
          <p:cNvSpPr/>
          <p:nvPr/>
        </p:nvSpPr>
        <p:spPr>
          <a:xfrm>
            <a:off x="9902952" y="1847088"/>
            <a:ext cx="146304" cy="146304"/>
          </a:xfrm>
          <a:prstGeom prst="ellipse">
            <a:avLst/>
          </a:prstGeom>
          <a:solidFill>
            <a:srgbClr val="8A99A3"/>
          </a:solidFill>
          <a:ln w="12700">
            <a:solidFill>
              <a:srgbClr val="8A99A3"/>
            </a:solidFill>
            <a:prstDash val="solid"/>
          </a:ln>
        </p:spPr>
      </p:sp>
      <p:sp>
        <p:nvSpPr>
          <p:cNvPr id="30" name="oval-26"/>
          <p:cNvSpPr/>
          <p:nvPr/>
        </p:nvSpPr>
        <p:spPr>
          <a:xfrm>
            <a:off x="10634472" y="1847088"/>
            <a:ext cx="146304" cy="146304"/>
          </a:xfrm>
          <a:prstGeom prst="ellipse">
            <a:avLst/>
          </a:prstGeom>
          <a:solidFill>
            <a:srgbClr val="B45309"/>
          </a:solidFill>
          <a:ln w="12700">
            <a:solidFill>
              <a:srgbClr val="B45309"/>
            </a:solidFill>
            <a:prstDash val="solid"/>
          </a:ln>
        </p:spPr>
      </p:sp>
      <p:sp>
        <p:nvSpPr>
          <p:cNvPr id="31" name="text-27"/>
          <p:cNvSpPr txBox="1"/>
          <p:nvPr/>
        </p:nvSpPr>
        <p:spPr>
          <a:xfrm>
            <a:off x="4846320" y="2157984"/>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Data and privacy</a:t>
            </a:r>
            <a:endParaRPr lang="en-US" sz="1100" dirty="0"/>
          </a:p>
        </p:txBody>
      </p:sp>
      <p:sp>
        <p:nvSpPr>
          <p:cNvPr id="32" name="oval-28"/>
          <p:cNvSpPr/>
          <p:nvPr/>
        </p:nvSpPr>
        <p:spPr>
          <a:xfrm>
            <a:off x="8439912" y="2194560"/>
            <a:ext cx="146304" cy="146304"/>
          </a:xfrm>
          <a:prstGeom prst="ellipse">
            <a:avLst/>
          </a:prstGeom>
          <a:solidFill>
            <a:srgbClr val="134E4A"/>
          </a:solidFill>
          <a:ln w="12700">
            <a:solidFill>
              <a:srgbClr val="134E4A"/>
            </a:solidFill>
            <a:prstDash val="solid"/>
          </a:ln>
        </p:spPr>
      </p:sp>
      <p:sp>
        <p:nvSpPr>
          <p:cNvPr id="33" name="oval-29"/>
          <p:cNvSpPr/>
          <p:nvPr/>
        </p:nvSpPr>
        <p:spPr>
          <a:xfrm>
            <a:off x="9171432" y="2194560"/>
            <a:ext cx="146304" cy="146304"/>
          </a:xfrm>
          <a:prstGeom prst="ellipse">
            <a:avLst/>
          </a:prstGeom>
          <a:solidFill>
            <a:srgbClr val="0F766E"/>
          </a:solidFill>
          <a:ln w="12700">
            <a:solidFill>
              <a:srgbClr val="0F766E"/>
            </a:solidFill>
            <a:prstDash val="solid"/>
          </a:ln>
        </p:spPr>
      </p:sp>
      <p:sp>
        <p:nvSpPr>
          <p:cNvPr id="34" name="oval-30"/>
          <p:cNvSpPr/>
          <p:nvPr/>
        </p:nvSpPr>
        <p:spPr>
          <a:xfrm>
            <a:off x="9902952" y="2194560"/>
            <a:ext cx="146304" cy="146304"/>
          </a:xfrm>
          <a:prstGeom prst="ellipse">
            <a:avLst/>
          </a:prstGeom>
          <a:solidFill>
            <a:srgbClr val="8A99A3"/>
          </a:solidFill>
          <a:ln w="12700">
            <a:solidFill>
              <a:srgbClr val="8A99A3"/>
            </a:solidFill>
            <a:prstDash val="solid"/>
          </a:ln>
        </p:spPr>
      </p:sp>
      <p:sp>
        <p:nvSpPr>
          <p:cNvPr id="35" name="shape-31"/>
          <p:cNvSpPr/>
          <p:nvPr/>
        </p:nvSpPr>
        <p:spPr>
          <a:xfrm>
            <a:off x="4754880" y="2450592"/>
            <a:ext cx="6858000" cy="310896"/>
          </a:xfrm>
          <a:prstGeom prst="roundRect">
            <a:avLst>
              <a:gd name="adj" fmla="val 11765"/>
            </a:avLst>
          </a:prstGeom>
          <a:solidFill>
            <a:srgbClr val="EEF2F4"/>
          </a:solidFill>
          <a:ln w="12700">
            <a:solidFill>
              <a:srgbClr val="EEF2F4"/>
            </a:solidFill>
            <a:prstDash val="solid"/>
          </a:ln>
        </p:spPr>
      </p:sp>
      <p:sp>
        <p:nvSpPr>
          <p:cNvPr id="36" name="text-32"/>
          <p:cNvSpPr txBox="1"/>
          <p:nvPr/>
        </p:nvSpPr>
        <p:spPr>
          <a:xfrm>
            <a:off x="4846320" y="2505456"/>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integrity</a:t>
            </a:r>
            <a:endParaRPr lang="en-US" sz="1100" dirty="0"/>
          </a:p>
        </p:txBody>
      </p:sp>
      <p:sp>
        <p:nvSpPr>
          <p:cNvPr id="37" name="oval-33"/>
          <p:cNvSpPr/>
          <p:nvPr/>
        </p:nvSpPr>
        <p:spPr>
          <a:xfrm>
            <a:off x="8439912" y="2542032"/>
            <a:ext cx="146304" cy="146304"/>
          </a:xfrm>
          <a:prstGeom prst="ellipse">
            <a:avLst/>
          </a:prstGeom>
          <a:solidFill>
            <a:srgbClr val="134E4A"/>
          </a:solidFill>
          <a:ln w="12700">
            <a:solidFill>
              <a:srgbClr val="134E4A"/>
            </a:solidFill>
            <a:prstDash val="solid"/>
          </a:ln>
        </p:spPr>
      </p:sp>
      <p:sp>
        <p:nvSpPr>
          <p:cNvPr id="38" name="oval-34"/>
          <p:cNvSpPr/>
          <p:nvPr/>
        </p:nvSpPr>
        <p:spPr>
          <a:xfrm>
            <a:off x="9171432" y="2542032"/>
            <a:ext cx="146304" cy="146304"/>
          </a:xfrm>
          <a:prstGeom prst="ellipse">
            <a:avLst/>
          </a:prstGeom>
          <a:solidFill>
            <a:srgbClr val="0F766E"/>
          </a:solidFill>
          <a:ln w="12700">
            <a:solidFill>
              <a:srgbClr val="0F766E"/>
            </a:solidFill>
            <a:prstDash val="solid"/>
          </a:ln>
        </p:spPr>
      </p:sp>
      <p:sp>
        <p:nvSpPr>
          <p:cNvPr id="39" name="text-35"/>
          <p:cNvSpPr txBox="1"/>
          <p:nvPr/>
        </p:nvSpPr>
        <p:spPr>
          <a:xfrm>
            <a:off x="4846320" y="2852928"/>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Integration and operability</a:t>
            </a:r>
            <a:endParaRPr lang="en-US" sz="1100" dirty="0"/>
          </a:p>
        </p:txBody>
      </p:sp>
      <p:sp>
        <p:nvSpPr>
          <p:cNvPr id="40" name="oval-36"/>
          <p:cNvSpPr/>
          <p:nvPr/>
        </p:nvSpPr>
        <p:spPr>
          <a:xfrm>
            <a:off x="8439912" y="2889504"/>
            <a:ext cx="146304" cy="146304"/>
          </a:xfrm>
          <a:prstGeom prst="ellipse">
            <a:avLst/>
          </a:prstGeom>
          <a:solidFill>
            <a:srgbClr val="134E4A"/>
          </a:solidFill>
          <a:ln w="12700">
            <a:solidFill>
              <a:srgbClr val="134E4A"/>
            </a:solidFill>
            <a:prstDash val="solid"/>
          </a:ln>
        </p:spPr>
      </p:sp>
      <p:sp>
        <p:nvSpPr>
          <p:cNvPr id="41" name="oval-37"/>
          <p:cNvSpPr/>
          <p:nvPr/>
        </p:nvSpPr>
        <p:spPr>
          <a:xfrm>
            <a:off x="9902952" y="2889504"/>
            <a:ext cx="146304" cy="146304"/>
          </a:xfrm>
          <a:prstGeom prst="ellipse">
            <a:avLst/>
          </a:prstGeom>
          <a:solidFill>
            <a:srgbClr val="8A99A3"/>
          </a:solidFill>
          <a:ln w="12700">
            <a:solidFill>
              <a:srgbClr val="8A99A3"/>
            </a:solidFill>
            <a:prstDash val="solid"/>
          </a:ln>
        </p:spPr>
      </p:sp>
      <p:sp>
        <p:nvSpPr>
          <p:cNvPr id="42" name="oval-38"/>
          <p:cNvSpPr/>
          <p:nvPr/>
        </p:nvSpPr>
        <p:spPr>
          <a:xfrm>
            <a:off x="10634472" y="2889504"/>
            <a:ext cx="146304" cy="146304"/>
          </a:xfrm>
          <a:prstGeom prst="ellipse">
            <a:avLst/>
          </a:prstGeom>
          <a:solidFill>
            <a:srgbClr val="B45309"/>
          </a:solidFill>
          <a:ln w="12700">
            <a:solidFill>
              <a:srgbClr val="B45309"/>
            </a:solidFill>
            <a:prstDash val="solid"/>
          </a:ln>
        </p:spPr>
      </p:sp>
      <p:sp>
        <p:nvSpPr>
          <p:cNvPr id="43" name="shape-39"/>
          <p:cNvSpPr/>
          <p:nvPr/>
        </p:nvSpPr>
        <p:spPr>
          <a:xfrm>
            <a:off x="4754880" y="3145536"/>
            <a:ext cx="6858000" cy="310896"/>
          </a:xfrm>
          <a:prstGeom prst="roundRect">
            <a:avLst>
              <a:gd name="adj" fmla="val 11765"/>
            </a:avLst>
          </a:prstGeom>
          <a:solidFill>
            <a:srgbClr val="EEF2F4"/>
          </a:solidFill>
          <a:ln w="12700">
            <a:solidFill>
              <a:srgbClr val="EEF2F4"/>
            </a:solidFill>
            <a:prstDash val="solid"/>
          </a:ln>
        </p:spPr>
      </p:sp>
      <p:sp>
        <p:nvSpPr>
          <p:cNvPr id="44" name="text-40"/>
          <p:cNvSpPr txBox="1"/>
          <p:nvPr/>
        </p:nvSpPr>
        <p:spPr>
          <a:xfrm>
            <a:off x="4846320" y="3200400"/>
            <a:ext cx="27432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Release readiness</a:t>
            </a:r>
            <a:endParaRPr lang="en-US" sz="1100" dirty="0"/>
          </a:p>
        </p:txBody>
      </p:sp>
      <p:sp>
        <p:nvSpPr>
          <p:cNvPr id="45" name="oval-41"/>
          <p:cNvSpPr/>
          <p:nvPr/>
        </p:nvSpPr>
        <p:spPr>
          <a:xfrm>
            <a:off x="8439912" y="3236976"/>
            <a:ext cx="146304" cy="146304"/>
          </a:xfrm>
          <a:prstGeom prst="ellipse">
            <a:avLst/>
          </a:prstGeom>
          <a:solidFill>
            <a:srgbClr val="134E4A"/>
          </a:solidFill>
          <a:ln w="12700">
            <a:solidFill>
              <a:srgbClr val="134E4A"/>
            </a:solidFill>
            <a:prstDash val="solid"/>
          </a:ln>
        </p:spPr>
      </p:sp>
      <p:sp>
        <p:nvSpPr>
          <p:cNvPr id="46" name="oval-42"/>
          <p:cNvSpPr/>
          <p:nvPr/>
        </p:nvSpPr>
        <p:spPr>
          <a:xfrm>
            <a:off x="9171432" y="3236976"/>
            <a:ext cx="146304" cy="146304"/>
          </a:xfrm>
          <a:prstGeom prst="ellipse">
            <a:avLst/>
          </a:prstGeom>
          <a:solidFill>
            <a:srgbClr val="0F766E"/>
          </a:solidFill>
          <a:ln w="12700">
            <a:solidFill>
              <a:srgbClr val="0F766E"/>
            </a:solidFill>
            <a:prstDash val="solid"/>
          </a:ln>
        </p:spPr>
      </p:sp>
      <p:sp>
        <p:nvSpPr>
          <p:cNvPr id="47" name="oval-43"/>
          <p:cNvSpPr/>
          <p:nvPr/>
        </p:nvSpPr>
        <p:spPr>
          <a:xfrm>
            <a:off x="10634472" y="3236976"/>
            <a:ext cx="146304" cy="146304"/>
          </a:xfrm>
          <a:prstGeom prst="ellipse">
            <a:avLst/>
          </a:prstGeom>
          <a:solidFill>
            <a:srgbClr val="B45309"/>
          </a:solidFill>
          <a:ln w="12700">
            <a:solidFill>
              <a:srgbClr val="B45309"/>
            </a:solidFill>
            <a:prstDash val="solid"/>
          </a:ln>
        </p:spPr>
      </p:sp>
      <p:sp>
        <p:nvSpPr>
          <p:cNvPr id="48" name="text-44"/>
          <p:cNvSpPr txBox="1"/>
          <p:nvPr/>
        </p:nvSpPr>
        <p:spPr>
          <a:xfrm>
            <a:off x="548640" y="378561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MEASURES WITH A DUAL FOCUS — OUTCOMES, NOT ACTIVITY</a:t>
            </a:r>
            <a:endParaRPr lang="en-US" sz="800" dirty="0"/>
          </a:p>
        </p:txBody>
      </p:sp>
      <p:sp>
        <p:nvSpPr>
          <p:cNvPr id="49" name="shape-45"/>
          <p:cNvSpPr/>
          <p:nvPr/>
        </p:nvSpPr>
        <p:spPr>
          <a:xfrm>
            <a:off x="548640" y="4059936"/>
            <a:ext cx="5440680" cy="1133856"/>
          </a:xfrm>
          <a:prstGeom prst="roundRect">
            <a:avLst>
              <a:gd name="adj" fmla="val 6452"/>
            </a:avLst>
          </a:prstGeom>
          <a:solidFill>
            <a:srgbClr val="D6ECE9"/>
          </a:solidFill>
          <a:ln w="12700">
            <a:solidFill>
              <a:srgbClr val="D6ECE9"/>
            </a:solidFill>
            <a:prstDash val="solid"/>
          </a:ln>
        </p:spPr>
      </p:sp>
      <p:pic>
        <p:nvPicPr>
          <p:cNvPr id="50" name="icon-46" descr="preencoded.png">    </p:cNvPr>
          <p:cNvPicPr>
            <a:picLocks noChangeAspect="1"/>
          </p:cNvPicPr>
          <p:nvPr/>
        </p:nvPicPr>
        <p:blipFill>
          <a:blip r:embed="rId1"/>
          <a:stretch>
            <a:fillRect/>
          </a:stretch>
        </p:blipFill>
        <p:spPr>
          <a:xfrm>
            <a:off x="694944" y="4187952"/>
            <a:ext cx="182880" cy="182880"/>
          </a:xfrm>
          <a:prstGeom prst="rect">
            <a:avLst/>
          </a:prstGeom>
        </p:spPr>
      </p:pic>
      <p:sp>
        <p:nvSpPr>
          <p:cNvPr id="51" name="text-47"/>
          <p:cNvSpPr txBox="1"/>
          <p:nvPr/>
        </p:nvSpPr>
        <p:spPr>
          <a:xfrm>
            <a:off x="96926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134E4A"/>
                </a:solidFill>
                <a:latin typeface="Calibri" pitchFamily="34" charset="0"/>
                <a:ea typeface="Calibri" pitchFamily="34" charset="-122"/>
                <a:cs typeface="Calibri" pitchFamily="34" charset="-120"/>
              </a:rPr>
              <a:t>INWARD — the team sees and improves</a:t>
            </a:r>
            <a:endParaRPr lang="en-US" sz="950" dirty="0"/>
          </a:p>
        </p:txBody>
      </p:sp>
      <p:sp>
        <p:nvSpPr>
          <p:cNvPr id="52" name="oval-48"/>
          <p:cNvSpPr/>
          <p:nvPr/>
        </p:nvSpPr>
        <p:spPr>
          <a:xfrm>
            <a:off x="704088" y="4599432"/>
            <a:ext cx="54864" cy="54864"/>
          </a:xfrm>
          <a:prstGeom prst="ellipse">
            <a:avLst/>
          </a:prstGeom>
          <a:solidFill>
            <a:srgbClr val="0F766E"/>
          </a:solidFill>
          <a:ln w="12700">
            <a:solidFill>
              <a:srgbClr val="0F766E"/>
            </a:solidFill>
            <a:prstDash val="solid"/>
          </a:ln>
        </p:spPr>
      </p:sp>
      <p:sp>
        <p:nvSpPr>
          <p:cNvPr id="53" name="text-49"/>
          <p:cNvSpPr txBox="1"/>
          <p:nvPr/>
        </p:nvSpPr>
        <p:spPr>
          <a:xfrm>
            <a:off x="84124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Cycle time to assured release</a:t>
            </a:r>
            <a:endParaRPr lang="en-US" sz="1050" dirty="0"/>
          </a:p>
        </p:txBody>
      </p:sp>
      <p:sp>
        <p:nvSpPr>
          <p:cNvPr id="54" name="oval-50"/>
          <p:cNvSpPr/>
          <p:nvPr/>
        </p:nvSpPr>
        <p:spPr>
          <a:xfrm>
            <a:off x="3424428" y="4599432"/>
            <a:ext cx="54864" cy="54864"/>
          </a:xfrm>
          <a:prstGeom prst="ellipse">
            <a:avLst/>
          </a:prstGeom>
          <a:solidFill>
            <a:srgbClr val="0F766E"/>
          </a:solidFill>
          <a:ln w="12700">
            <a:solidFill>
              <a:srgbClr val="0F766E"/>
            </a:solidFill>
            <a:prstDash val="solid"/>
          </a:ln>
        </p:spPr>
      </p:sp>
      <p:sp>
        <p:nvSpPr>
          <p:cNvPr id="55" name="text-51"/>
          <p:cNvSpPr txBox="1"/>
          <p:nvPr/>
        </p:nvSpPr>
        <p:spPr>
          <a:xfrm>
            <a:off x="356158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Change failure and rework</a:t>
            </a:r>
            <a:endParaRPr lang="en-US" sz="1050" dirty="0"/>
          </a:p>
        </p:txBody>
      </p:sp>
      <p:sp>
        <p:nvSpPr>
          <p:cNvPr id="56" name="oval-52"/>
          <p:cNvSpPr/>
          <p:nvPr/>
        </p:nvSpPr>
        <p:spPr>
          <a:xfrm>
            <a:off x="704088" y="4855464"/>
            <a:ext cx="54864" cy="54864"/>
          </a:xfrm>
          <a:prstGeom prst="ellipse">
            <a:avLst/>
          </a:prstGeom>
          <a:solidFill>
            <a:srgbClr val="0F766E"/>
          </a:solidFill>
          <a:ln w="12700">
            <a:solidFill>
              <a:srgbClr val="0F766E"/>
            </a:solidFill>
            <a:prstDash val="solid"/>
          </a:ln>
        </p:spPr>
      </p:sp>
      <p:sp>
        <p:nvSpPr>
          <p:cNvPr id="57" name="text-53"/>
          <p:cNvSpPr txBox="1"/>
          <p:nvPr/>
        </p:nvSpPr>
        <p:spPr>
          <a:xfrm>
            <a:off x="84124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Availability and latency by region</a:t>
            </a:r>
            <a:endParaRPr lang="en-US" sz="1050" dirty="0"/>
          </a:p>
        </p:txBody>
      </p:sp>
      <p:sp>
        <p:nvSpPr>
          <p:cNvPr id="58" name="oval-54"/>
          <p:cNvSpPr/>
          <p:nvPr/>
        </p:nvSpPr>
        <p:spPr>
          <a:xfrm>
            <a:off x="3424428" y="4855464"/>
            <a:ext cx="54864" cy="54864"/>
          </a:xfrm>
          <a:prstGeom prst="ellipse">
            <a:avLst/>
          </a:prstGeom>
          <a:solidFill>
            <a:srgbClr val="0F766E"/>
          </a:solidFill>
          <a:ln w="12700">
            <a:solidFill>
              <a:srgbClr val="0F766E"/>
            </a:solidFill>
            <a:prstDash val="solid"/>
          </a:ln>
        </p:spPr>
      </p:sp>
      <p:sp>
        <p:nvSpPr>
          <p:cNvPr id="59" name="text-55"/>
          <p:cNvSpPr txBox="1"/>
          <p:nvPr/>
        </p:nvSpPr>
        <p:spPr>
          <a:xfrm>
            <a:off x="356158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AI judged on outcomes, never tokens</a:t>
            </a:r>
            <a:endParaRPr lang="en-US" sz="1050" dirty="0"/>
          </a:p>
        </p:txBody>
      </p:sp>
      <p:sp>
        <p:nvSpPr>
          <p:cNvPr id="60" name="shape-56"/>
          <p:cNvSpPr/>
          <p:nvPr/>
        </p:nvSpPr>
        <p:spPr>
          <a:xfrm>
            <a:off x="6172200" y="4059936"/>
            <a:ext cx="5440680" cy="1133856"/>
          </a:xfrm>
          <a:prstGeom prst="roundRect">
            <a:avLst>
              <a:gd name="adj" fmla="val 6452"/>
            </a:avLst>
          </a:prstGeom>
          <a:solidFill>
            <a:srgbClr val="134E4A"/>
          </a:solidFill>
          <a:ln w="12700">
            <a:solidFill>
              <a:srgbClr val="134E4A"/>
            </a:solidFill>
            <a:prstDash val="solid"/>
          </a:ln>
        </p:spPr>
      </p:sp>
      <p:pic>
        <p:nvPicPr>
          <p:cNvPr id="61" name="icon-57" descr="preencoded.png">    </p:cNvPr>
          <p:cNvPicPr>
            <a:picLocks noChangeAspect="1"/>
          </p:cNvPicPr>
          <p:nvPr/>
        </p:nvPicPr>
        <p:blipFill>
          <a:blip r:embed="rId2"/>
          <a:stretch>
            <a:fillRect/>
          </a:stretch>
        </p:blipFill>
        <p:spPr>
          <a:xfrm>
            <a:off x="6318504" y="4187952"/>
            <a:ext cx="182880" cy="182880"/>
          </a:xfrm>
          <a:prstGeom prst="rect">
            <a:avLst/>
          </a:prstGeom>
        </p:spPr>
      </p:pic>
      <p:sp>
        <p:nvSpPr>
          <p:cNvPr id="62" name="text-58"/>
          <p:cNvSpPr txBox="1"/>
          <p:nvPr/>
        </p:nvSpPr>
        <p:spPr>
          <a:xfrm>
            <a:off x="659282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CFE8E5"/>
                </a:solidFill>
                <a:latin typeface="Calibri" pitchFamily="34" charset="0"/>
                <a:ea typeface="Calibri" pitchFamily="34" charset="-122"/>
                <a:cs typeface="Calibri" pitchFamily="34" charset="-120"/>
              </a:rPr>
              <a:t>UPWARD — what reaches Steering, Board and Risk</a:t>
            </a:r>
            <a:endParaRPr lang="en-US" sz="950" dirty="0"/>
          </a:p>
        </p:txBody>
      </p:sp>
      <p:sp>
        <p:nvSpPr>
          <p:cNvPr id="63" name="oval-59"/>
          <p:cNvSpPr/>
          <p:nvPr/>
        </p:nvSpPr>
        <p:spPr>
          <a:xfrm>
            <a:off x="6327648" y="4599432"/>
            <a:ext cx="54864" cy="54864"/>
          </a:xfrm>
          <a:prstGeom prst="ellipse">
            <a:avLst/>
          </a:prstGeom>
          <a:solidFill>
            <a:srgbClr val="CFE8E5"/>
          </a:solidFill>
          <a:ln w="12700">
            <a:solidFill>
              <a:srgbClr val="CFE8E5"/>
            </a:solidFill>
            <a:prstDash val="solid"/>
          </a:ln>
        </p:spPr>
      </p:sp>
      <p:sp>
        <p:nvSpPr>
          <p:cNvPr id="64" name="text-60"/>
          <p:cNvSpPr txBox="1"/>
          <p:nvPr/>
        </p:nvSpPr>
        <p:spPr>
          <a:xfrm>
            <a:off x="646480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Date confidence, with evidence</a:t>
            </a:r>
            <a:endParaRPr lang="en-US" sz="1050" dirty="0"/>
          </a:p>
        </p:txBody>
      </p:sp>
      <p:sp>
        <p:nvSpPr>
          <p:cNvPr id="65" name="oval-61"/>
          <p:cNvSpPr/>
          <p:nvPr/>
        </p:nvSpPr>
        <p:spPr>
          <a:xfrm>
            <a:off x="9047988" y="4599432"/>
            <a:ext cx="54864" cy="54864"/>
          </a:xfrm>
          <a:prstGeom prst="ellipse">
            <a:avLst/>
          </a:prstGeom>
          <a:solidFill>
            <a:srgbClr val="CFE8E5"/>
          </a:solidFill>
          <a:ln w="12700">
            <a:solidFill>
              <a:srgbClr val="CFE8E5"/>
            </a:solidFill>
            <a:prstDash val="solid"/>
          </a:ln>
        </p:spPr>
      </p:sp>
      <p:sp>
        <p:nvSpPr>
          <p:cNvPr id="66" name="text-62"/>
          <p:cNvSpPr txBox="1"/>
          <p:nvPr/>
        </p:nvSpPr>
        <p:spPr>
          <a:xfrm>
            <a:off x="9185148" y="4535424"/>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Availability vs risk appetite</a:t>
            </a:r>
            <a:endParaRPr lang="en-US" sz="1050" dirty="0"/>
          </a:p>
        </p:txBody>
      </p:sp>
      <p:sp>
        <p:nvSpPr>
          <p:cNvPr id="67" name="oval-63"/>
          <p:cNvSpPr/>
          <p:nvPr/>
        </p:nvSpPr>
        <p:spPr>
          <a:xfrm>
            <a:off x="6327648" y="4855464"/>
            <a:ext cx="54864" cy="54864"/>
          </a:xfrm>
          <a:prstGeom prst="ellipse">
            <a:avLst/>
          </a:prstGeom>
          <a:solidFill>
            <a:srgbClr val="CFE8E5"/>
          </a:solidFill>
          <a:ln w="12700">
            <a:solidFill>
              <a:srgbClr val="CFE8E5"/>
            </a:solidFill>
            <a:prstDash val="solid"/>
          </a:ln>
        </p:spPr>
      </p:sp>
      <p:sp>
        <p:nvSpPr>
          <p:cNvPr id="68" name="text-64"/>
          <p:cNvSpPr txBox="1"/>
          <p:nvPr/>
        </p:nvSpPr>
        <p:spPr>
          <a:xfrm>
            <a:off x="646480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Top risks; spend vs plan</a:t>
            </a:r>
            <a:endParaRPr lang="en-US" sz="1050" dirty="0"/>
          </a:p>
        </p:txBody>
      </p:sp>
      <p:sp>
        <p:nvSpPr>
          <p:cNvPr id="69" name="oval-65"/>
          <p:cNvSpPr/>
          <p:nvPr/>
        </p:nvSpPr>
        <p:spPr>
          <a:xfrm>
            <a:off x="9047988" y="4855464"/>
            <a:ext cx="54864" cy="54864"/>
          </a:xfrm>
          <a:prstGeom prst="ellipse">
            <a:avLst/>
          </a:prstGeom>
          <a:solidFill>
            <a:srgbClr val="CFE8E5"/>
          </a:solidFill>
          <a:ln w="12700">
            <a:solidFill>
              <a:srgbClr val="CFE8E5"/>
            </a:solidFill>
            <a:prstDash val="solid"/>
          </a:ln>
        </p:spPr>
      </p:sp>
      <p:sp>
        <p:nvSpPr>
          <p:cNvPr id="70" name="text-66"/>
          <p:cNvSpPr txBox="1"/>
          <p:nvPr/>
        </p:nvSpPr>
        <p:spPr>
          <a:xfrm>
            <a:off x="9185148" y="4791456"/>
            <a:ext cx="2446020" cy="182880"/>
          </a:xfrm>
          <a:prstGeom prst="rect">
            <a:avLst/>
          </a:prstGeom>
          <a:noFill/>
          <a:ln/>
        </p:spPr>
        <p:txBody>
          <a:bodyPr wrap="square" lIns="0" tIns="0" rIns="0" bIns="0" rtlCol="0" anchor="ctr"/>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Decisions pending, and what they block</a:t>
            </a:r>
            <a:endParaRPr lang="en-US" sz="1050" dirty="0"/>
          </a:p>
        </p:txBody>
      </p:sp>
      <p:sp>
        <p:nvSpPr>
          <p:cNvPr id="71" name="text-67"/>
          <p:cNvSpPr txBox="1"/>
          <p:nvPr/>
        </p:nvSpPr>
        <p:spPr>
          <a:xfrm>
            <a:off x="548640" y="510235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THE NEXT SIX MONTHS</a:t>
            </a:r>
            <a:endParaRPr lang="en-US" sz="800" dirty="0"/>
          </a:p>
        </p:txBody>
      </p:sp>
      <p:sp>
        <p:nvSpPr>
          <p:cNvPr id="72" name="shape-68"/>
          <p:cNvSpPr/>
          <p:nvPr/>
        </p:nvSpPr>
        <p:spPr>
          <a:xfrm>
            <a:off x="548640" y="5376672"/>
            <a:ext cx="3590544" cy="530352"/>
          </a:xfrm>
          <a:prstGeom prst="roundRect">
            <a:avLst>
              <a:gd name="adj" fmla="val 13793"/>
            </a:avLst>
          </a:prstGeom>
          <a:solidFill>
            <a:srgbClr val="D6ECE9"/>
          </a:solidFill>
          <a:ln w="12700">
            <a:solidFill>
              <a:srgbClr val="D6ECE9"/>
            </a:solidFill>
            <a:prstDash val="solid"/>
          </a:ln>
        </p:spPr>
      </p:sp>
      <p:sp>
        <p:nvSpPr>
          <p:cNvPr id="73" name="text-69"/>
          <p:cNvSpPr txBox="1"/>
          <p:nvPr/>
        </p:nvSpPr>
        <p:spPr>
          <a:xfrm>
            <a:off x="694944"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1C2B33"/>
                </a:solidFill>
                <a:latin typeface="Calibri" pitchFamily="34" charset="0"/>
                <a:ea typeface="Calibri" pitchFamily="34" charset="-122"/>
                <a:cs typeface="Calibri" pitchFamily="34" charset="-120"/>
              </a:rPr>
              <a:t>Months 1–2</a:t>
            </a:r>
            <a:endParaRPr lang="en-US" sz="1300" dirty="0"/>
          </a:p>
        </p:txBody>
      </p:sp>
      <p:sp>
        <p:nvSpPr>
          <p:cNvPr id="74" name="text-70"/>
          <p:cNvSpPr txBox="1"/>
          <p:nvPr/>
        </p:nvSpPr>
        <p:spPr>
          <a:xfrm>
            <a:off x="694944"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two baselines, fit test, decisions</a:t>
            </a:r>
            <a:endParaRPr lang="en-US" sz="950" dirty="0"/>
          </a:p>
        </p:txBody>
      </p:sp>
      <p:sp>
        <p:nvSpPr>
          <p:cNvPr id="75" name="shape-71"/>
          <p:cNvSpPr/>
          <p:nvPr/>
        </p:nvSpPr>
        <p:spPr>
          <a:xfrm>
            <a:off x="4285488" y="5376672"/>
            <a:ext cx="3590544" cy="530352"/>
          </a:xfrm>
          <a:prstGeom prst="roundRect">
            <a:avLst>
              <a:gd name="adj" fmla="val 13793"/>
            </a:avLst>
          </a:prstGeom>
          <a:solidFill>
            <a:srgbClr val="0F766E"/>
          </a:solidFill>
          <a:ln w="12700">
            <a:solidFill>
              <a:srgbClr val="0F766E"/>
            </a:solidFill>
            <a:prstDash val="solid"/>
          </a:ln>
        </p:spPr>
      </p:sp>
      <p:sp>
        <p:nvSpPr>
          <p:cNvPr id="76" name="text-72"/>
          <p:cNvSpPr txBox="1"/>
          <p:nvPr/>
        </p:nvSpPr>
        <p:spPr>
          <a:xfrm>
            <a:off x="4431792"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Months 3–4</a:t>
            </a:r>
            <a:endParaRPr lang="en-US" sz="1300" dirty="0"/>
          </a:p>
        </p:txBody>
      </p:sp>
      <p:sp>
        <p:nvSpPr>
          <p:cNvPr id="77" name="text-73"/>
          <p:cNvSpPr txBox="1"/>
          <p:nvPr/>
        </p:nvSpPr>
        <p:spPr>
          <a:xfrm>
            <a:off x="4431792"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first assured delivery; partners delivering</a:t>
            </a:r>
            <a:endParaRPr lang="en-US" sz="950" dirty="0"/>
          </a:p>
        </p:txBody>
      </p:sp>
      <p:sp>
        <p:nvSpPr>
          <p:cNvPr id="78" name="shape-74"/>
          <p:cNvSpPr/>
          <p:nvPr/>
        </p:nvSpPr>
        <p:spPr>
          <a:xfrm>
            <a:off x="8022336" y="5376672"/>
            <a:ext cx="3590544" cy="530352"/>
          </a:xfrm>
          <a:prstGeom prst="roundRect">
            <a:avLst>
              <a:gd name="adj" fmla="val 13793"/>
            </a:avLst>
          </a:prstGeom>
          <a:solidFill>
            <a:srgbClr val="134E4A"/>
          </a:solidFill>
          <a:ln w="12700">
            <a:solidFill>
              <a:srgbClr val="134E4A"/>
            </a:solidFill>
            <a:prstDash val="solid"/>
          </a:ln>
        </p:spPr>
      </p:sp>
      <p:sp>
        <p:nvSpPr>
          <p:cNvPr id="79" name="text-75"/>
          <p:cNvSpPr txBox="1"/>
          <p:nvPr/>
        </p:nvSpPr>
        <p:spPr>
          <a:xfrm>
            <a:off x="8168640" y="5413248"/>
            <a:ext cx="3316224" cy="237744"/>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Months 5–6</a:t>
            </a:r>
            <a:endParaRPr lang="en-US" sz="1300" dirty="0"/>
          </a:p>
        </p:txBody>
      </p:sp>
      <p:sp>
        <p:nvSpPr>
          <p:cNvPr id="80" name="text-76"/>
          <p:cNvSpPr txBox="1"/>
          <p:nvPr/>
        </p:nvSpPr>
        <p:spPr>
          <a:xfrm>
            <a:off x="8168640" y="5650992"/>
            <a:ext cx="3316224" cy="18288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build waves, cutover rehearsal, date confidence with evidence</a:t>
            </a:r>
            <a:endParaRPr lang="en-US" sz="950" dirty="0"/>
          </a:p>
        </p:txBody>
      </p:sp>
      <p:sp>
        <p:nvSpPr>
          <p:cNvPr id="81" name="text-77"/>
          <p:cNvSpPr txBox="1"/>
          <p:nvPr/>
        </p:nvSpPr>
        <p:spPr>
          <a:xfrm>
            <a:off x="548640" y="6053328"/>
            <a:ext cx="914400"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CONSTRAINTS</a:t>
            </a:r>
            <a:endParaRPr lang="en-US" sz="850" dirty="0"/>
          </a:p>
        </p:txBody>
      </p:sp>
      <p:sp>
        <p:nvSpPr>
          <p:cNvPr id="82" name="text-78"/>
          <p:cNvSpPr txBox="1"/>
          <p:nvPr/>
        </p:nvSpPr>
        <p:spPr>
          <a:xfrm>
            <a:off x="1554480" y="6053328"/>
            <a:ext cx="1005840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fixed date  ·  team of six  ·  budget  ·  vendor dependency  ·  content operations capacity  ·  availability and payments scope</a:t>
            </a:r>
            <a:endParaRPr lang="en-US" sz="1000" dirty="0"/>
          </a:p>
        </p:txBody>
      </p:sp>
      <p:sp>
        <p:nvSpPr>
          <p:cNvPr id="83"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7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8  ·  BEYOND DAY 1 — IDEAS, NOT COMMITMENTS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What the proposal does not show yet — not walked through today</a:t>
            </a:r>
            <a:endParaRPr lang="en-US" sz="200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8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Unified communications</a:t>
            </a:r>
            <a:endParaRPr lang="en-US" sz="115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Product analytics and behaviour</a:t>
            </a:r>
            <a:endParaRPr lang="en-US" sz="115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In-app guidance and onboarding</a:t>
            </a:r>
            <a:endParaRPr lang="en-US" sz="115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Inline surveys and sentiment</a:t>
            </a:r>
            <a:endParaRPr lang="en-US" sz="115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Feature switches, progressive delivery</a:t>
            </a:r>
            <a:endParaRPr lang="en-US" sz="115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Search as a product capability</a:t>
            </a:r>
            <a:endParaRPr lang="en-US" sz="115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Developer and API portal</a:t>
            </a:r>
            <a:endParaRPr lang="en-US" sz="115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Consent and preferences</a:t>
            </a:r>
            <a:endParaRPr lang="en-US" sz="115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Status page and incident comms</a:t>
            </a:r>
            <a:endParaRPr lang="en-US" sz="115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Integration standards: SSO, LTI/LIS, clinical</a:t>
            </a:r>
            <a:endParaRPr lang="en-US" sz="115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Content versioning visible to customers</a:t>
            </a:r>
            <a:endParaRPr lang="en-US" sz="115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Accessibility and offline mobile</a:t>
            </a:r>
            <a:endParaRPr lang="en-US" sz="115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134E4A"/>
                </a:solidFill>
                <a:latin typeface="Calibri" pitchFamily="34" charset="0"/>
                <a:ea typeface="Calibri" pitchFamily="34" charset="-122"/>
                <a:cs typeface="Calibri" pitchFamily="34" charset="-120"/>
              </a:rPr>
              <a:t>DAY 2 — ALREADY ON THE PATHWAY</a:t>
            </a:r>
            <a:endParaRPr lang="en-US" sz="8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1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1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Subscription and user-update integration</a:t>
            </a:r>
            <a:endParaRPr lang="en-US" sz="11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Yellow = product (A) · orange = cross-cutting (X) · green = content tooling (B). Day 1.5 = after the agreed path is live, before Day 2. AI governance is set before any build.</a:t>
            </a:r>
            <a:endParaRPr lang="en-US" sz="850" dirty="0"/>
          </a:p>
        </p:txBody>
      </p:sp>
      <p:sp>
        <p:nvSpPr>
          <p:cNvPr id="66"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8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2026-10-15T03:48:41Z</dcterms:created>
  <dcterms:modified xsi:type="dcterms:W3CDTF">2026-10-15T03:48:41Z</dcterms:modified>
</cp:coreProperties>
</file>
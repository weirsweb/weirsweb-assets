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6  ·  THE TEAM THE NEXT STAGE NEEDS</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A minimum viable team of six</a:t>
            </a:r>
            <a:endParaRPr lang="en-US" sz="2250" dirty="0"/>
          </a:p>
        </p:txBody>
      </p:sp>
      <p:sp>
        <p:nvSpPr>
          <p:cNvPr id="4" name="shape-0"/>
          <p:cNvSpPr/>
          <p:nvPr/>
        </p:nvSpPr>
        <p:spPr>
          <a:xfrm>
            <a:off x="9052560" y="347472"/>
            <a:ext cx="2560320" cy="256032"/>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089136" y="347472"/>
            <a:ext cx="2487168" cy="256032"/>
          </a:xfrm>
          <a:prstGeom prst="rect">
            <a:avLst/>
          </a:prstGeom>
          <a:noFill/>
          <a:ln/>
        </p:spPr>
        <p:txBody>
          <a:bodyPr wrap="none" lIns="0" tIns="0" rIns="0" bIns="0" rtlCol="0" anchor="ctr"/>
          <a:lstStyle/>
          <a:p>
            <a:pPr algn="ctr" indent="0" marL="0">
              <a:lnSpc>
                <a:spcPct val="100000"/>
              </a:lnSpc>
              <a:buNone/>
            </a:pPr>
            <a:r>
              <a:rPr lang="en-US" sz="1100" b="1" spc="50" kern="0" dirty="0">
                <a:solidFill>
                  <a:srgbClr val="B45309"/>
                </a:solidFill>
                <a:latin typeface="Calibri" pitchFamily="34" charset="0"/>
                <a:ea typeface="Calibri" pitchFamily="34" charset="-122"/>
                <a:cs typeface="Calibri" pitchFamily="34" charset="-120"/>
              </a:rPr>
              <a:t>ILLUSTRATIVE — NOT A DECISION</a:t>
            </a:r>
            <a:endParaRPr lang="en-US" sz="1100" dirty="0"/>
          </a:p>
        </p:txBody>
      </p:sp>
      <p:sp>
        <p:nvSpPr>
          <p:cNvPr id="6" name="text-2"/>
          <p:cNvSpPr txBox="1"/>
          <p:nvPr/>
        </p:nvSpPr>
        <p:spPr>
          <a:xfrm>
            <a:off x="548640" y="142646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MINIMUM VIABLE TEAM — WHO OWNS WHAT</a:t>
            </a:r>
            <a:endParaRPr lang="en-US" sz="1100" dirty="0"/>
          </a:p>
        </p:txBody>
      </p:sp>
      <p:sp>
        <p:nvSpPr>
          <p:cNvPr id="7" name="shape-3"/>
          <p:cNvSpPr/>
          <p:nvPr/>
        </p:nvSpPr>
        <p:spPr>
          <a:xfrm>
            <a:off x="548640" y="1773936"/>
            <a:ext cx="6949440" cy="676656"/>
          </a:xfrm>
          <a:prstGeom prst="roundRect">
            <a:avLst>
              <a:gd name="adj" fmla="val 10811"/>
            </a:avLst>
          </a:prstGeom>
          <a:solidFill>
            <a:srgbClr val="134E4A"/>
          </a:solidFill>
          <a:ln w="12700">
            <a:solidFill>
              <a:srgbClr val="134E4A"/>
            </a:solidFill>
            <a:prstDash val="solid"/>
          </a:ln>
        </p:spPr>
      </p:sp>
      <p:sp>
        <p:nvSpPr>
          <p:cNvPr id="8" name="text-4"/>
          <p:cNvSpPr txBox="1"/>
          <p:nvPr/>
        </p:nvSpPr>
        <p:spPr>
          <a:xfrm>
            <a:off x="731520" y="1773936"/>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CTO</a:t>
            </a:r>
            <a:endParaRPr lang="en-US" sz="1750" dirty="0"/>
          </a:p>
        </p:txBody>
      </p:sp>
      <p:sp>
        <p:nvSpPr>
          <p:cNvPr id="9" name="text-5"/>
          <p:cNvSpPr txBox="1"/>
          <p:nvPr/>
        </p:nvSpPr>
        <p:spPr>
          <a:xfrm>
            <a:off x="3383280" y="1828800"/>
            <a:ext cx="3108960" cy="329184"/>
          </a:xfrm>
          <a:prstGeom prst="rect">
            <a:avLst/>
          </a:prstGeom>
          <a:noFill/>
          <a:ln/>
        </p:spPr>
        <p:txBody>
          <a:bodyPr wrap="square" lIns="0" tIns="0" rIns="0" bIns="0" rtlCol="0" anchor="ctr"/>
          <a:lstStyle/>
          <a:p>
            <a:pPr algn="l" indent="0" marL="0">
              <a:lnSpc>
                <a:spcPct val="100000"/>
              </a:lnSpc>
              <a:buNone/>
            </a:pPr>
            <a:r>
              <a:rPr lang="en-US" sz="1300" dirty="0">
                <a:solidFill>
                  <a:srgbClr val="CFE8E5"/>
                </a:solidFill>
                <a:latin typeface="Calibri" pitchFamily="34" charset="0"/>
                <a:ea typeface="Calibri" pitchFamily="34" charset="-122"/>
                <a:cs typeface="Calibri" pitchFamily="34" charset="-120"/>
              </a:rPr>
              <a:t>Strategy, architecture, transformation, project management, roadmap</a:t>
            </a:r>
            <a:endParaRPr lang="en-US" sz="1300" dirty="0"/>
          </a:p>
        </p:txBody>
      </p:sp>
      <p:sp>
        <p:nvSpPr>
          <p:cNvPr id="10" name="text-6"/>
          <p:cNvSpPr txBox="1"/>
          <p:nvPr/>
        </p:nvSpPr>
        <p:spPr>
          <a:xfrm>
            <a:off x="3383280" y="2176272"/>
            <a:ext cx="3108960" cy="219456"/>
          </a:xfrm>
          <a:prstGeom prst="rect">
            <a:avLst/>
          </a:prstGeom>
          <a:noFill/>
          <a:ln/>
        </p:spPr>
        <p:txBody>
          <a:bodyPr wrap="none" lIns="0" tIns="0" rIns="0" bIns="0" rtlCol="0" anchor="ctr"/>
          <a:lstStyle/>
          <a:p>
            <a:pPr algn="l" indent="0" marL="0">
              <a:lnSpc>
                <a:spcPct val="100000"/>
              </a:lnSpc>
              <a:buNone/>
            </a:pPr>
            <a:r>
              <a:rPr lang="en-US" sz="1100" i="1" dirty="0">
                <a:solidFill>
                  <a:srgbClr val="CFE8E5"/>
                </a:solidFill>
                <a:latin typeface="Calibri" pitchFamily="34" charset="0"/>
                <a:ea typeface="Calibri" pitchFamily="34" charset="-122"/>
                <a:cs typeface="Calibri" pitchFamily="34" charset="-120"/>
              </a:rPr>
              <a:t>vs proposal: tweaked responsibilities</a:t>
            </a:r>
            <a:endParaRPr lang="en-US" sz="1100" dirty="0"/>
          </a:p>
        </p:txBody>
      </p:sp>
      <p:sp>
        <p:nvSpPr>
          <p:cNvPr id="11" name="shape-7"/>
          <p:cNvSpPr/>
          <p:nvPr/>
        </p:nvSpPr>
        <p:spPr>
          <a:xfrm>
            <a:off x="6364224" y="2048256"/>
            <a:ext cx="201168" cy="146304"/>
          </a:xfrm>
          <a:prstGeom prst="roundRect">
            <a:avLst>
              <a:gd name="adj" fmla="val 50000"/>
            </a:avLst>
          </a:prstGeom>
          <a:solidFill>
            <a:srgbClr val="0F766E"/>
          </a:solidFill>
          <a:ln w="12700">
            <a:solidFill>
              <a:srgbClr val="0F766E"/>
            </a:solidFill>
            <a:prstDash val="solid"/>
          </a:ln>
        </p:spPr>
      </p:sp>
      <p:sp>
        <p:nvSpPr>
          <p:cNvPr id="12" name="text-8"/>
          <p:cNvSpPr txBox="1"/>
          <p:nvPr/>
        </p:nvSpPr>
        <p:spPr>
          <a:xfrm>
            <a:off x="636422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3" name="shape-9"/>
          <p:cNvSpPr/>
          <p:nvPr/>
        </p:nvSpPr>
        <p:spPr>
          <a:xfrm>
            <a:off x="6638544" y="2048256"/>
            <a:ext cx="201168" cy="146304"/>
          </a:xfrm>
          <a:prstGeom prst="roundRect">
            <a:avLst>
              <a:gd name="adj" fmla="val 50000"/>
            </a:avLst>
          </a:prstGeom>
          <a:solidFill>
            <a:srgbClr val="0F766E"/>
          </a:solidFill>
          <a:ln w="12700">
            <a:solidFill>
              <a:srgbClr val="0F766E"/>
            </a:solidFill>
            <a:prstDash val="solid"/>
          </a:ln>
        </p:spPr>
      </p:sp>
      <p:sp>
        <p:nvSpPr>
          <p:cNvPr id="14" name="text-10"/>
          <p:cNvSpPr txBox="1"/>
          <p:nvPr/>
        </p:nvSpPr>
        <p:spPr>
          <a:xfrm>
            <a:off x="663854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5" name="shape-11"/>
          <p:cNvSpPr/>
          <p:nvPr/>
        </p:nvSpPr>
        <p:spPr>
          <a:xfrm>
            <a:off x="6912864" y="2048256"/>
            <a:ext cx="201168" cy="146304"/>
          </a:xfrm>
          <a:prstGeom prst="roundRect">
            <a:avLst>
              <a:gd name="adj" fmla="val 50000"/>
            </a:avLst>
          </a:prstGeom>
          <a:solidFill>
            <a:srgbClr val="8A99A3"/>
          </a:solidFill>
          <a:ln w="12700">
            <a:solidFill>
              <a:srgbClr val="8A99A3"/>
            </a:solidFill>
            <a:prstDash val="solid"/>
          </a:ln>
        </p:spPr>
      </p:sp>
      <p:sp>
        <p:nvSpPr>
          <p:cNvPr id="16" name="text-12"/>
          <p:cNvSpPr txBox="1"/>
          <p:nvPr/>
        </p:nvSpPr>
        <p:spPr>
          <a:xfrm>
            <a:off x="691286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7" name="shape-13"/>
          <p:cNvSpPr/>
          <p:nvPr/>
        </p:nvSpPr>
        <p:spPr>
          <a:xfrm>
            <a:off x="7187184" y="2048256"/>
            <a:ext cx="201168" cy="146304"/>
          </a:xfrm>
          <a:prstGeom prst="roundRect">
            <a:avLst>
              <a:gd name="adj" fmla="val 50000"/>
            </a:avLst>
          </a:prstGeom>
          <a:solidFill>
            <a:srgbClr val="B45309"/>
          </a:solidFill>
          <a:ln w="12700">
            <a:solidFill>
              <a:srgbClr val="B45309"/>
            </a:solidFill>
            <a:prstDash val="solid"/>
          </a:ln>
        </p:spPr>
      </p:sp>
      <p:sp>
        <p:nvSpPr>
          <p:cNvPr id="18" name="text-14"/>
          <p:cNvSpPr txBox="1"/>
          <p:nvPr/>
        </p:nvSpPr>
        <p:spPr>
          <a:xfrm>
            <a:off x="718718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9" name="shape-15"/>
          <p:cNvSpPr/>
          <p:nvPr/>
        </p:nvSpPr>
        <p:spPr>
          <a:xfrm>
            <a:off x="548640" y="2542032"/>
            <a:ext cx="6949440" cy="676656"/>
          </a:xfrm>
          <a:prstGeom prst="roundRect">
            <a:avLst>
              <a:gd name="adj" fmla="val 10811"/>
            </a:avLst>
          </a:prstGeom>
          <a:solidFill>
            <a:srgbClr val="EEF2F4"/>
          </a:solidFill>
          <a:ln w="12700">
            <a:solidFill>
              <a:srgbClr val="EEF2F4"/>
            </a:solidFill>
            <a:prstDash val="solid"/>
          </a:ln>
        </p:spPr>
      </p:sp>
      <p:sp>
        <p:nvSpPr>
          <p:cNvPr id="20" name="text-16"/>
          <p:cNvSpPr txBox="1"/>
          <p:nvPr/>
        </p:nvSpPr>
        <p:spPr>
          <a:xfrm>
            <a:off x="731520" y="2542032"/>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Technical Lead</a:t>
            </a:r>
            <a:endParaRPr lang="en-US" sz="1750" dirty="0"/>
          </a:p>
        </p:txBody>
      </p:sp>
      <p:sp>
        <p:nvSpPr>
          <p:cNvPr id="21" name="text-17"/>
          <p:cNvSpPr txBox="1"/>
          <p:nvPr/>
        </p:nvSpPr>
        <p:spPr>
          <a:xfrm>
            <a:off x="3383280" y="2596896"/>
            <a:ext cx="3108960" cy="566928"/>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Standards, build, maintain, technical QA</a:t>
            </a:r>
            <a:endParaRPr lang="en-US" sz="1300" dirty="0"/>
          </a:p>
        </p:txBody>
      </p:sp>
      <p:sp>
        <p:nvSpPr>
          <p:cNvPr id="22" name="shape-18"/>
          <p:cNvSpPr/>
          <p:nvPr/>
        </p:nvSpPr>
        <p:spPr>
          <a:xfrm>
            <a:off x="6638544" y="2816352"/>
            <a:ext cx="201168" cy="146304"/>
          </a:xfrm>
          <a:prstGeom prst="roundRect">
            <a:avLst>
              <a:gd name="adj" fmla="val 50000"/>
            </a:avLst>
          </a:prstGeom>
          <a:solidFill>
            <a:srgbClr val="134E4A"/>
          </a:solidFill>
          <a:ln w="12700">
            <a:solidFill>
              <a:srgbClr val="134E4A"/>
            </a:solidFill>
            <a:prstDash val="solid"/>
          </a:ln>
        </p:spPr>
      </p:sp>
      <p:sp>
        <p:nvSpPr>
          <p:cNvPr id="23" name="text-19"/>
          <p:cNvSpPr txBox="1"/>
          <p:nvPr/>
        </p:nvSpPr>
        <p:spPr>
          <a:xfrm>
            <a:off x="663854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4" name="shape-20"/>
          <p:cNvSpPr/>
          <p:nvPr/>
        </p:nvSpPr>
        <p:spPr>
          <a:xfrm>
            <a:off x="6912864" y="2816352"/>
            <a:ext cx="201168" cy="146304"/>
          </a:xfrm>
          <a:prstGeom prst="roundRect">
            <a:avLst>
              <a:gd name="adj" fmla="val 50000"/>
            </a:avLst>
          </a:prstGeom>
          <a:solidFill>
            <a:srgbClr val="B45309"/>
          </a:solidFill>
          <a:ln w="12700">
            <a:solidFill>
              <a:srgbClr val="B45309"/>
            </a:solidFill>
            <a:prstDash val="solid"/>
          </a:ln>
        </p:spPr>
      </p:sp>
      <p:sp>
        <p:nvSpPr>
          <p:cNvPr id="25" name="text-21"/>
          <p:cNvSpPr txBox="1"/>
          <p:nvPr/>
        </p:nvSpPr>
        <p:spPr>
          <a:xfrm>
            <a:off x="691286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26" name="shape-22"/>
          <p:cNvSpPr/>
          <p:nvPr/>
        </p:nvSpPr>
        <p:spPr>
          <a:xfrm>
            <a:off x="7187184" y="2816352"/>
            <a:ext cx="201168" cy="146304"/>
          </a:xfrm>
          <a:prstGeom prst="roundRect">
            <a:avLst>
              <a:gd name="adj" fmla="val 50000"/>
            </a:avLst>
          </a:prstGeom>
          <a:solidFill>
            <a:srgbClr val="0F766E"/>
          </a:solidFill>
          <a:ln w="12700">
            <a:solidFill>
              <a:srgbClr val="0F766E"/>
            </a:solidFill>
            <a:prstDash val="solid"/>
          </a:ln>
        </p:spPr>
      </p:sp>
      <p:sp>
        <p:nvSpPr>
          <p:cNvPr id="27" name="text-23"/>
          <p:cNvSpPr txBox="1"/>
          <p:nvPr/>
        </p:nvSpPr>
        <p:spPr>
          <a:xfrm>
            <a:off x="718718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8" name="shape-24"/>
          <p:cNvSpPr/>
          <p:nvPr/>
        </p:nvSpPr>
        <p:spPr>
          <a:xfrm>
            <a:off x="548640" y="3310128"/>
            <a:ext cx="6949440" cy="676656"/>
          </a:xfrm>
          <a:prstGeom prst="roundRect">
            <a:avLst>
              <a:gd name="adj" fmla="val 10811"/>
            </a:avLst>
          </a:prstGeom>
          <a:solidFill>
            <a:srgbClr val="EEF2F4"/>
          </a:solidFill>
          <a:ln w="12700">
            <a:solidFill>
              <a:srgbClr val="EEF2F4"/>
            </a:solidFill>
            <a:prstDash val="solid"/>
          </a:ln>
        </p:spPr>
      </p:sp>
      <p:sp>
        <p:nvSpPr>
          <p:cNvPr id="29" name="text-25"/>
          <p:cNvSpPr txBox="1"/>
          <p:nvPr/>
        </p:nvSpPr>
        <p:spPr>
          <a:xfrm>
            <a:off x="731520" y="3310128"/>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Developer</a:t>
            </a:r>
            <a:endParaRPr lang="en-US" sz="1750" dirty="0"/>
          </a:p>
        </p:txBody>
      </p:sp>
      <p:sp>
        <p:nvSpPr>
          <p:cNvPr id="30" name="text-26"/>
          <p:cNvSpPr txBox="1"/>
          <p:nvPr/>
        </p:nvSpPr>
        <p:spPr>
          <a:xfrm>
            <a:off x="3383280" y="3364992"/>
            <a:ext cx="3108960" cy="329184"/>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Build, maintain, technical QA</a:t>
            </a:r>
            <a:endParaRPr lang="en-US" sz="1300" dirty="0"/>
          </a:p>
        </p:txBody>
      </p:sp>
      <p:sp>
        <p:nvSpPr>
          <p:cNvPr id="31" name="text-27"/>
          <p:cNvSpPr txBox="1"/>
          <p:nvPr/>
        </p:nvSpPr>
        <p:spPr>
          <a:xfrm>
            <a:off x="3383280" y="3712464"/>
            <a:ext cx="3108960" cy="219456"/>
          </a:xfrm>
          <a:prstGeom prst="rect">
            <a:avLst/>
          </a:prstGeom>
          <a:noFill/>
          <a:ln/>
        </p:spPr>
        <p:txBody>
          <a:bodyPr wrap="none" lIns="0" tIns="0" rIns="0" bIns="0" rtlCol="0" anchor="ctr"/>
          <a:lstStyle/>
          <a:p>
            <a:pPr algn="l" indent="0" marL="0">
              <a:lnSpc>
                <a:spcPct val="100000"/>
              </a:lnSpc>
              <a:buNone/>
            </a:pPr>
            <a:r>
              <a:rPr lang="en-US" sz="1100" i="1" dirty="0">
                <a:solidFill>
                  <a:srgbClr val="B45309"/>
                </a:solidFill>
                <a:latin typeface="Calibri" pitchFamily="34" charset="0"/>
                <a:ea typeface="Calibri" pitchFamily="34" charset="-122"/>
                <a:cs typeface="Calibri" pitchFamily="34" charset="-120"/>
              </a:rPr>
              <a:t>vs proposal: new — replaces the 0.6 PM</a:t>
            </a:r>
            <a:endParaRPr lang="en-US" sz="1100" dirty="0"/>
          </a:p>
        </p:txBody>
      </p:sp>
      <p:sp>
        <p:nvSpPr>
          <p:cNvPr id="32" name="shape-28"/>
          <p:cNvSpPr/>
          <p:nvPr/>
        </p:nvSpPr>
        <p:spPr>
          <a:xfrm>
            <a:off x="6912864" y="3584448"/>
            <a:ext cx="201168" cy="146304"/>
          </a:xfrm>
          <a:prstGeom prst="roundRect">
            <a:avLst>
              <a:gd name="adj" fmla="val 50000"/>
            </a:avLst>
          </a:prstGeom>
          <a:solidFill>
            <a:srgbClr val="134E4A"/>
          </a:solidFill>
          <a:ln w="12700">
            <a:solidFill>
              <a:srgbClr val="134E4A"/>
            </a:solidFill>
            <a:prstDash val="solid"/>
          </a:ln>
        </p:spPr>
      </p:sp>
      <p:sp>
        <p:nvSpPr>
          <p:cNvPr id="33" name="text-29"/>
          <p:cNvSpPr txBox="1"/>
          <p:nvPr/>
        </p:nvSpPr>
        <p:spPr>
          <a:xfrm>
            <a:off x="6912864" y="3584448"/>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4" name="shape-30"/>
          <p:cNvSpPr/>
          <p:nvPr/>
        </p:nvSpPr>
        <p:spPr>
          <a:xfrm>
            <a:off x="7187184" y="3584448"/>
            <a:ext cx="201168" cy="146304"/>
          </a:xfrm>
          <a:prstGeom prst="roundRect">
            <a:avLst>
              <a:gd name="adj" fmla="val 50000"/>
            </a:avLst>
          </a:prstGeom>
          <a:solidFill>
            <a:srgbClr val="B45309"/>
          </a:solidFill>
          <a:ln w="12700">
            <a:solidFill>
              <a:srgbClr val="B45309"/>
            </a:solidFill>
            <a:prstDash val="solid"/>
          </a:ln>
        </p:spPr>
      </p:sp>
      <p:sp>
        <p:nvSpPr>
          <p:cNvPr id="35" name="text-31"/>
          <p:cNvSpPr txBox="1"/>
          <p:nvPr/>
        </p:nvSpPr>
        <p:spPr>
          <a:xfrm>
            <a:off x="7187184" y="3584448"/>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36" name="shape-32"/>
          <p:cNvSpPr/>
          <p:nvPr/>
        </p:nvSpPr>
        <p:spPr>
          <a:xfrm>
            <a:off x="548640" y="4078224"/>
            <a:ext cx="6949440" cy="676656"/>
          </a:xfrm>
          <a:prstGeom prst="roundRect">
            <a:avLst>
              <a:gd name="adj" fmla="val 10811"/>
            </a:avLst>
          </a:prstGeom>
          <a:solidFill>
            <a:srgbClr val="EEF2F4"/>
          </a:solidFill>
          <a:ln w="12700">
            <a:solidFill>
              <a:srgbClr val="EEF2F4"/>
            </a:solidFill>
            <a:prstDash val="solid"/>
          </a:ln>
        </p:spPr>
      </p:sp>
      <p:sp>
        <p:nvSpPr>
          <p:cNvPr id="37" name="text-33"/>
          <p:cNvSpPr txBox="1"/>
          <p:nvPr/>
        </p:nvSpPr>
        <p:spPr>
          <a:xfrm>
            <a:off x="731520" y="4078224"/>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DevSecOps Platform Engineer</a:t>
            </a:r>
            <a:endParaRPr lang="en-US" sz="1750" dirty="0"/>
          </a:p>
        </p:txBody>
      </p:sp>
      <p:sp>
        <p:nvSpPr>
          <p:cNvPr id="38" name="text-34"/>
          <p:cNvSpPr txBox="1"/>
          <p:nvPr/>
        </p:nvSpPr>
        <p:spPr>
          <a:xfrm>
            <a:off x="3383280" y="4133088"/>
            <a:ext cx="3108960" cy="329184"/>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Security, ISMS, platform, pipeline</a:t>
            </a:r>
            <a:endParaRPr lang="en-US" sz="1300" dirty="0"/>
          </a:p>
        </p:txBody>
      </p:sp>
      <p:sp>
        <p:nvSpPr>
          <p:cNvPr id="39" name="text-35"/>
          <p:cNvSpPr txBox="1"/>
          <p:nvPr/>
        </p:nvSpPr>
        <p:spPr>
          <a:xfrm>
            <a:off x="3383280" y="4480560"/>
            <a:ext cx="3108960" cy="219456"/>
          </a:xfrm>
          <a:prstGeom prst="rect">
            <a:avLst/>
          </a:prstGeom>
          <a:noFill/>
          <a:ln/>
        </p:spPr>
        <p:txBody>
          <a:bodyPr wrap="none" lIns="0" tIns="0" rIns="0" bIns="0" rtlCol="0" anchor="ctr"/>
          <a:lstStyle/>
          <a:p>
            <a:pPr algn="l" indent="0" marL="0">
              <a:lnSpc>
                <a:spcPct val="100000"/>
              </a:lnSpc>
              <a:buNone/>
            </a:pPr>
            <a:r>
              <a:rPr lang="en-US" sz="1100" i="1" dirty="0">
                <a:solidFill>
                  <a:srgbClr val="B45309"/>
                </a:solidFill>
                <a:latin typeface="Calibri" pitchFamily="34" charset="0"/>
                <a:ea typeface="Calibri" pitchFamily="34" charset="-122"/>
                <a:cs typeface="Calibri" pitchFamily="34" charset="-120"/>
              </a:rPr>
              <a:t>vs proposal: was DevOps Engineer</a:t>
            </a:r>
            <a:endParaRPr lang="en-US" sz="1100" dirty="0"/>
          </a:p>
        </p:txBody>
      </p:sp>
      <p:sp>
        <p:nvSpPr>
          <p:cNvPr id="40" name="shape-36"/>
          <p:cNvSpPr/>
          <p:nvPr/>
        </p:nvSpPr>
        <p:spPr>
          <a:xfrm>
            <a:off x="6638544" y="4352544"/>
            <a:ext cx="201168" cy="146304"/>
          </a:xfrm>
          <a:prstGeom prst="roundRect">
            <a:avLst>
              <a:gd name="adj" fmla="val 50000"/>
            </a:avLst>
          </a:prstGeom>
          <a:solidFill>
            <a:srgbClr val="B45309"/>
          </a:solidFill>
          <a:ln w="12700">
            <a:solidFill>
              <a:srgbClr val="B45309"/>
            </a:solidFill>
            <a:prstDash val="solid"/>
          </a:ln>
        </p:spPr>
      </p:sp>
      <p:sp>
        <p:nvSpPr>
          <p:cNvPr id="41" name="text-37"/>
          <p:cNvSpPr txBox="1"/>
          <p:nvPr/>
        </p:nvSpPr>
        <p:spPr>
          <a:xfrm>
            <a:off x="663854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42" name="shape-38"/>
          <p:cNvSpPr/>
          <p:nvPr/>
        </p:nvSpPr>
        <p:spPr>
          <a:xfrm>
            <a:off x="6912864" y="4352544"/>
            <a:ext cx="201168" cy="146304"/>
          </a:xfrm>
          <a:prstGeom prst="roundRect">
            <a:avLst>
              <a:gd name="adj" fmla="val 50000"/>
            </a:avLst>
          </a:prstGeom>
          <a:solidFill>
            <a:srgbClr val="134E4A"/>
          </a:solidFill>
          <a:ln w="12700">
            <a:solidFill>
              <a:srgbClr val="134E4A"/>
            </a:solidFill>
            <a:prstDash val="solid"/>
          </a:ln>
        </p:spPr>
      </p:sp>
      <p:sp>
        <p:nvSpPr>
          <p:cNvPr id="43" name="text-39"/>
          <p:cNvSpPr txBox="1"/>
          <p:nvPr/>
        </p:nvSpPr>
        <p:spPr>
          <a:xfrm>
            <a:off x="691286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4" name="shape-40"/>
          <p:cNvSpPr/>
          <p:nvPr/>
        </p:nvSpPr>
        <p:spPr>
          <a:xfrm>
            <a:off x="7187184" y="4352544"/>
            <a:ext cx="201168" cy="146304"/>
          </a:xfrm>
          <a:prstGeom prst="roundRect">
            <a:avLst>
              <a:gd name="adj" fmla="val 50000"/>
            </a:avLst>
          </a:prstGeom>
          <a:solidFill>
            <a:srgbClr val="0F766E"/>
          </a:solidFill>
          <a:ln w="12700">
            <a:solidFill>
              <a:srgbClr val="0F766E"/>
            </a:solidFill>
            <a:prstDash val="solid"/>
          </a:ln>
        </p:spPr>
      </p:sp>
      <p:sp>
        <p:nvSpPr>
          <p:cNvPr id="45" name="text-41"/>
          <p:cNvSpPr txBox="1"/>
          <p:nvPr/>
        </p:nvSpPr>
        <p:spPr>
          <a:xfrm>
            <a:off x="718718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6" name="shape-42"/>
          <p:cNvSpPr/>
          <p:nvPr/>
        </p:nvSpPr>
        <p:spPr>
          <a:xfrm>
            <a:off x="548640" y="4846320"/>
            <a:ext cx="6949440" cy="676656"/>
          </a:xfrm>
          <a:prstGeom prst="roundRect">
            <a:avLst>
              <a:gd name="adj" fmla="val 10811"/>
            </a:avLst>
          </a:prstGeom>
          <a:solidFill>
            <a:srgbClr val="EEF2F4"/>
          </a:solidFill>
          <a:ln w="12700">
            <a:solidFill>
              <a:srgbClr val="EEF2F4"/>
            </a:solidFill>
            <a:prstDash val="solid"/>
          </a:ln>
        </p:spPr>
      </p:sp>
      <p:sp>
        <p:nvSpPr>
          <p:cNvPr id="47" name="text-43"/>
          <p:cNvSpPr txBox="1"/>
          <p:nvPr/>
        </p:nvSpPr>
        <p:spPr>
          <a:xfrm>
            <a:off x="731520" y="4846320"/>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Digital Product Owner</a:t>
            </a:r>
            <a:endParaRPr lang="en-US" sz="1750" dirty="0"/>
          </a:p>
        </p:txBody>
      </p:sp>
      <p:sp>
        <p:nvSpPr>
          <p:cNvPr id="48" name="text-44"/>
          <p:cNvSpPr txBox="1"/>
          <p:nvPr/>
        </p:nvSpPr>
        <p:spPr>
          <a:xfrm>
            <a:off x="3383280" y="4901184"/>
            <a:ext cx="3108960" cy="329184"/>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Project, research, design</a:t>
            </a:r>
            <a:endParaRPr lang="en-US" sz="1300" dirty="0"/>
          </a:p>
        </p:txBody>
      </p:sp>
      <p:sp>
        <p:nvSpPr>
          <p:cNvPr id="49" name="text-45"/>
          <p:cNvSpPr txBox="1"/>
          <p:nvPr/>
        </p:nvSpPr>
        <p:spPr>
          <a:xfrm>
            <a:off x="3383280" y="5248656"/>
            <a:ext cx="3108960" cy="219456"/>
          </a:xfrm>
          <a:prstGeom prst="rect">
            <a:avLst/>
          </a:prstGeom>
          <a:noFill/>
          <a:ln/>
        </p:spPr>
        <p:txBody>
          <a:bodyPr wrap="none" lIns="0" tIns="0" rIns="0" bIns="0" rtlCol="0" anchor="ctr"/>
          <a:lstStyle/>
          <a:p>
            <a:pPr algn="l" indent="0" marL="0">
              <a:lnSpc>
                <a:spcPct val="100000"/>
              </a:lnSpc>
              <a:buNone/>
            </a:pPr>
            <a:r>
              <a:rPr lang="en-US" sz="1100" i="1" dirty="0">
                <a:solidFill>
                  <a:srgbClr val="B45309"/>
                </a:solidFill>
                <a:latin typeface="Calibri" pitchFamily="34" charset="0"/>
                <a:ea typeface="Calibri" pitchFamily="34" charset="-122"/>
                <a:cs typeface="Calibri" pitchFamily="34" charset="-120"/>
              </a:rPr>
              <a:t>vs proposal: research, design added</a:t>
            </a:r>
            <a:endParaRPr lang="en-US" sz="1100" dirty="0"/>
          </a:p>
        </p:txBody>
      </p:sp>
      <p:sp>
        <p:nvSpPr>
          <p:cNvPr id="50" name="shape-46"/>
          <p:cNvSpPr/>
          <p:nvPr/>
        </p:nvSpPr>
        <p:spPr>
          <a:xfrm>
            <a:off x="6638544" y="5120640"/>
            <a:ext cx="201168" cy="146304"/>
          </a:xfrm>
          <a:prstGeom prst="roundRect">
            <a:avLst>
              <a:gd name="adj" fmla="val 50000"/>
            </a:avLst>
          </a:prstGeom>
          <a:solidFill>
            <a:srgbClr val="134E4A"/>
          </a:solidFill>
          <a:ln w="12700">
            <a:solidFill>
              <a:srgbClr val="134E4A"/>
            </a:solidFill>
            <a:prstDash val="solid"/>
          </a:ln>
        </p:spPr>
      </p:sp>
      <p:sp>
        <p:nvSpPr>
          <p:cNvPr id="51" name="text-47"/>
          <p:cNvSpPr txBox="1"/>
          <p:nvPr/>
        </p:nvSpPr>
        <p:spPr>
          <a:xfrm>
            <a:off x="663854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shape-48"/>
          <p:cNvSpPr/>
          <p:nvPr/>
        </p:nvSpPr>
        <p:spPr>
          <a:xfrm>
            <a:off x="6912864" y="5120640"/>
            <a:ext cx="201168" cy="146304"/>
          </a:xfrm>
          <a:prstGeom prst="roundRect">
            <a:avLst>
              <a:gd name="adj" fmla="val 50000"/>
            </a:avLst>
          </a:prstGeom>
          <a:solidFill>
            <a:srgbClr val="0F766E"/>
          </a:solidFill>
          <a:ln w="12700">
            <a:solidFill>
              <a:srgbClr val="0F766E"/>
            </a:solidFill>
            <a:prstDash val="solid"/>
          </a:ln>
        </p:spPr>
      </p:sp>
      <p:sp>
        <p:nvSpPr>
          <p:cNvPr id="53" name="text-49"/>
          <p:cNvSpPr txBox="1"/>
          <p:nvPr/>
        </p:nvSpPr>
        <p:spPr>
          <a:xfrm>
            <a:off x="691286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4" name="shape-50"/>
          <p:cNvSpPr/>
          <p:nvPr/>
        </p:nvSpPr>
        <p:spPr>
          <a:xfrm>
            <a:off x="7187184" y="5120640"/>
            <a:ext cx="201168" cy="146304"/>
          </a:xfrm>
          <a:prstGeom prst="roundRect">
            <a:avLst>
              <a:gd name="adj" fmla="val 50000"/>
            </a:avLst>
          </a:prstGeom>
          <a:solidFill>
            <a:srgbClr val="8A99A3"/>
          </a:solidFill>
          <a:ln w="12700">
            <a:solidFill>
              <a:srgbClr val="8A99A3"/>
            </a:solidFill>
            <a:prstDash val="solid"/>
          </a:ln>
        </p:spPr>
      </p:sp>
      <p:sp>
        <p:nvSpPr>
          <p:cNvPr id="55" name="text-51"/>
          <p:cNvSpPr txBox="1"/>
          <p:nvPr/>
        </p:nvSpPr>
        <p:spPr>
          <a:xfrm>
            <a:off x="718718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56" name="shape-52"/>
          <p:cNvSpPr/>
          <p:nvPr/>
        </p:nvSpPr>
        <p:spPr>
          <a:xfrm>
            <a:off x="548640" y="5614416"/>
            <a:ext cx="6949440" cy="676656"/>
          </a:xfrm>
          <a:prstGeom prst="roundRect">
            <a:avLst>
              <a:gd name="adj" fmla="val 10811"/>
            </a:avLst>
          </a:prstGeom>
          <a:solidFill>
            <a:srgbClr val="EEF2F4"/>
          </a:solidFill>
          <a:ln w="12700">
            <a:solidFill>
              <a:srgbClr val="EEF2F4"/>
            </a:solidFill>
            <a:prstDash val="solid"/>
          </a:ln>
        </p:spPr>
      </p:sp>
      <p:sp>
        <p:nvSpPr>
          <p:cNvPr id="57" name="text-53"/>
          <p:cNvSpPr txBox="1"/>
          <p:nvPr/>
        </p:nvSpPr>
        <p:spPr>
          <a:xfrm>
            <a:off x="731520" y="5614416"/>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QA / BA</a:t>
            </a:r>
            <a:endParaRPr lang="en-US" sz="1750" dirty="0"/>
          </a:p>
        </p:txBody>
      </p:sp>
      <p:sp>
        <p:nvSpPr>
          <p:cNvPr id="58" name="text-54"/>
          <p:cNvSpPr txBox="1"/>
          <p:nvPr/>
        </p:nvSpPr>
        <p:spPr>
          <a:xfrm>
            <a:off x="3383280" y="5669280"/>
            <a:ext cx="3108960" cy="329184"/>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User testing, QA, product assistance</a:t>
            </a:r>
            <a:endParaRPr lang="en-US" sz="1300" dirty="0"/>
          </a:p>
        </p:txBody>
      </p:sp>
      <p:sp>
        <p:nvSpPr>
          <p:cNvPr id="59" name="text-55"/>
          <p:cNvSpPr txBox="1"/>
          <p:nvPr/>
        </p:nvSpPr>
        <p:spPr>
          <a:xfrm>
            <a:off x="3383280" y="6016752"/>
            <a:ext cx="3108960" cy="219456"/>
          </a:xfrm>
          <a:prstGeom prst="rect">
            <a:avLst/>
          </a:prstGeom>
          <a:noFill/>
          <a:ln/>
        </p:spPr>
        <p:txBody>
          <a:bodyPr wrap="none" lIns="0" tIns="0" rIns="0" bIns="0" rtlCol="0" anchor="ctr"/>
          <a:lstStyle/>
          <a:p>
            <a:pPr algn="l" indent="0" marL="0">
              <a:lnSpc>
                <a:spcPct val="100000"/>
              </a:lnSpc>
              <a:buNone/>
            </a:pPr>
            <a:r>
              <a:rPr lang="en-US" sz="1100" i="1" dirty="0">
                <a:solidFill>
                  <a:srgbClr val="B45309"/>
                </a:solidFill>
                <a:latin typeface="Calibri" pitchFamily="34" charset="0"/>
                <a:ea typeface="Calibri" pitchFamily="34" charset="-122"/>
                <a:cs typeface="Calibri" pitchFamily="34" charset="-120"/>
              </a:rPr>
              <a:t>vs proposal: was part-time BA; QA made focus</a:t>
            </a:r>
            <a:endParaRPr lang="en-US" sz="1100" dirty="0"/>
          </a:p>
        </p:txBody>
      </p:sp>
      <p:sp>
        <p:nvSpPr>
          <p:cNvPr id="60" name="shape-56"/>
          <p:cNvSpPr/>
          <p:nvPr/>
        </p:nvSpPr>
        <p:spPr>
          <a:xfrm>
            <a:off x="6912864" y="5888736"/>
            <a:ext cx="201168" cy="146304"/>
          </a:xfrm>
          <a:prstGeom prst="roundRect">
            <a:avLst>
              <a:gd name="adj" fmla="val 50000"/>
            </a:avLst>
          </a:prstGeom>
          <a:solidFill>
            <a:srgbClr val="134E4A"/>
          </a:solidFill>
          <a:ln w="12700">
            <a:solidFill>
              <a:srgbClr val="134E4A"/>
            </a:solidFill>
            <a:prstDash val="solid"/>
          </a:ln>
        </p:spPr>
      </p:sp>
      <p:sp>
        <p:nvSpPr>
          <p:cNvPr id="61" name="text-57"/>
          <p:cNvSpPr txBox="1"/>
          <p:nvPr/>
        </p:nvSpPr>
        <p:spPr>
          <a:xfrm>
            <a:off x="6912864" y="588873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62" name="shape-58"/>
          <p:cNvSpPr/>
          <p:nvPr/>
        </p:nvSpPr>
        <p:spPr>
          <a:xfrm>
            <a:off x="7187184" y="5888736"/>
            <a:ext cx="201168" cy="146304"/>
          </a:xfrm>
          <a:prstGeom prst="roundRect">
            <a:avLst>
              <a:gd name="adj" fmla="val 50000"/>
            </a:avLst>
          </a:prstGeom>
          <a:solidFill>
            <a:srgbClr val="8A99A3"/>
          </a:solidFill>
          <a:ln w="12700">
            <a:solidFill>
              <a:srgbClr val="8A99A3"/>
            </a:solidFill>
            <a:prstDash val="solid"/>
          </a:ln>
        </p:spPr>
      </p:sp>
      <p:sp>
        <p:nvSpPr>
          <p:cNvPr id="63" name="text-59"/>
          <p:cNvSpPr txBox="1"/>
          <p:nvPr/>
        </p:nvSpPr>
        <p:spPr>
          <a:xfrm>
            <a:off x="7187184" y="588873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64" name="text-60"/>
          <p:cNvSpPr txBox="1"/>
          <p:nvPr/>
        </p:nvSpPr>
        <p:spPr>
          <a:xfrm>
            <a:off x="7772400" y="142646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OPTIONS GATE 2 WOULD CHOOSE BETWEEN</a:t>
            </a:r>
            <a:endParaRPr lang="en-US" sz="1100" dirty="0"/>
          </a:p>
        </p:txBody>
      </p:sp>
      <p:sp>
        <p:nvSpPr>
          <p:cNvPr id="65" name="shape-61"/>
          <p:cNvSpPr/>
          <p:nvPr/>
        </p:nvSpPr>
        <p:spPr>
          <a:xfrm>
            <a:off x="7772400" y="1773936"/>
            <a:ext cx="3840480" cy="969264"/>
          </a:xfrm>
          <a:prstGeom prst="roundRect">
            <a:avLst>
              <a:gd name="adj" fmla="val 7547"/>
            </a:avLst>
          </a:prstGeom>
          <a:solidFill>
            <a:srgbClr val="FFFFFF"/>
          </a:solidFill>
          <a:ln w="15875">
            <a:solidFill>
              <a:srgbClr val="D4DBE0"/>
            </a:solidFill>
            <a:prstDash val="solid"/>
          </a:ln>
        </p:spPr>
      </p:sp>
      <p:pic>
        <p:nvPicPr>
          <p:cNvPr id="66" name="icon-62" descr="preencoded.png">    </p:cNvPr>
          <p:cNvPicPr>
            <a:picLocks noChangeAspect="1"/>
          </p:cNvPicPr>
          <p:nvPr/>
        </p:nvPicPr>
        <p:blipFill>
          <a:blip r:embed="rId1"/>
          <a:stretch>
            <a:fillRect/>
          </a:stretch>
        </p:blipFill>
        <p:spPr>
          <a:xfrm>
            <a:off x="7918704" y="1956816"/>
            <a:ext cx="219456" cy="219456"/>
          </a:xfrm>
          <a:prstGeom prst="rect">
            <a:avLst/>
          </a:prstGeom>
        </p:spPr>
      </p:pic>
      <p:sp>
        <p:nvSpPr>
          <p:cNvPr id="67" name="text-63"/>
          <p:cNvSpPr txBox="1"/>
          <p:nvPr/>
        </p:nvSpPr>
        <p:spPr>
          <a:xfrm>
            <a:off x="8247888" y="1883664"/>
            <a:ext cx="3236976" cy="45720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Second Developer, or the vendor’s 0.6 PM</a:t>
            </a:r>
            <a:endParaRPr lang="en-US" sz="1350" dirty="0"/>
          </a:p>
        </p:txBody>
      </p:sp>
      <p:sp>
        <p:nvSpPr>
          <p:cNvPr id="68" name="text-64"/>
          <p:cNvSpPr txBox="1"/>
          <p:nvPr/>
        </p:nvSpPr>
        <p:spPr>
          <a:xfrm>
            <a:off x="7918704" y="2395728"/>
            <a:ext cx="3547872" cy="274320"/>
          </a:xfrm>
          <a:prstGeom prst="rect">
            <a:avLst/>
          </a:prstGeom>
          <a:noFill/>
          <a:ln/>
        </p:spPr>
        <p:txBody>
          <a:bodyPr wrap="square" lIns="0" tIns="0" rIns="0" bIns="0" rtlCol="0" anchor="ctr"/>
          <a:lstStyle/>
          <a:p>
            <a:pPr algn="l" indent="0" marL="0">
              <a:lnSpc>
                <a:spcPct val="100000"/>
              </a:lnSpc>
              <a:buNone/>
            </a:pPr>
            <a:r>
              <a:rPr lang="en-US" sz="1150" dirty="0">
                <a:solidFill>
                  <a:srgbClr val="5A6B75"/>
                </a:solidFill>
                <a:latin typeface="Calibri" pitchFamily="34" charset="0"/>
                <a:ea typeface="Calibri" pitchFamily="34" charset="-122"/>
                <a:cs typeface="Calibri" pitchFamily="34" charset="-120"/>
              </a:rPr>
              <a:t>how much of the product is built in-house</a:t>
            </a:r>
            <a:endParaRPr lang="en-US" sz="1150" dirty="0"/>
          </a:p>
        </p:txBody>
      </p:sp>
      <p:sp>
        <p:nvSpPr>
          <p:cNvPr id="69" name="shape-65"/>
          <p:cNvSpPr/>
          <p:nvPr/>
        </p:nvSpPr>
        <p:spPr>
          <a:xfrm>
            <a:off x="7772400" y="2852928"/>
            <a:ext cx="3840480" cy="969264"/>
          </a:xfrm>
          <a:prstGeom prst="roundRect">
            <a:avLst>
              <a:gd name="adj" fmla="val 7547"/>
            </a:avLst>
          </a:prstGeom>
          <a:solidFill>
            <a:srgbClr val="FFFFFF"/>
          </a:solidFill>
          <a:ln w="15875">
            <a:solidFill>
              <a:srgbClr val="D4DBE0"/>
            </a:solidFill>
            <a:prstDash val="solid"/>
          </a:ln>
        </p:spPr>
      </p:sp>
      <p:pic>
        <p:nvPicPr>
          <p:cNvPr id="70" name="icon-66" descr="preencoded.png">    </p:cNvPr>
          <p:cNvPicPr>
            <a:picLocks noChangeAspect="1"/>
          </p:cNvPicPr>
          <p:nvPr/>
        </p:nvPicPr>
        <p:blipFill>
          <a:blip r:embed="rId2"/>
          <a:stretch>
            <a:fillRect/>
          </a:stretch>
        </p:blipFill>
        <p:spPr>
          <a:xfrm>
            <a:off x="7918704" y="3035808"/>
            <a:ext cx="219456" cy="219456"/>
          </a:xfrm>
          <a:prstGeom prst="rect">
            <a:avLst/>
          </a:prstGeom>
        </p:spPr>
      </p:pic>
      <p:sp>
        <p:nvSpPr>
          <p:cNvPr id="71" name="text-67"/>
          <p:cNvSpPr txBox="1"/>
          <p:nvPr/>
        </p:nvSpPr>
        <p:spPr>
          <a:xfrm>
            <a:off x="8247888" y="2962656"/>
            <a:ext cx="3236976" cy="45720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AI budget and AI-DLC adoption instead of more headcount</a:t>
            </a:r>
            <a:endParaRPr lang="en-US" sz="1350" dirty="0"/>
          </a:p>
        </p:txBody>
      </p:sp>
      <p:sp>
        <p:nvSpPr>
          <p:cNvPr id="72" name="text-68"/>
          <p:cNvSpPr txBox="1"/>
          <p:nvPr/>
        </p:nvSpPr>
        <p:spPr>
          <a:xfrm>
            <a:off x="7918704" y="3474720"/>
            <a:ext cx="3547872" cy="274320"/>
          </a:xfrm>
          <a:prstGeom prst="rect">
            <a:avLst/>
          </a:prstGeom>
          <a:noFill/>
          <a:ln/>
        </p:spPr>
        <p:txBody>
          <a:bodyPr wrap="square" lIns="0" tIns="0" rIns="0" bIns="0" rtlCol="0" anchor="ctr"/>
          <a:lstStyle/>
          <a:p>
            <a:pPr algn="l" indent="0" marL="0">
              <a:lnSpc>
                <a:spcPct val="100000"/>
              </a:lnSpc>
              <a:buNone/>
            </a:pPr>
            <a:r>
              <a:rPr lang="en-US" sz="1150" dirty="0">
                <a:solidFill>
                  <a:srgbClr val="5A6B75"/>
                </a:solidFill>
                <a:latin typeface="Calibri" pitchFamily="34" charset="0"/>
                <a:ea typeface="Calibri" pitchFamily="34" charset="-122"/>
                <a:cs typeface="Calibri" pitchFamily="34" charset="-120"/>
              </a:rPr>
              <a:t>assist, accelerate and de-risk product work</a:t>
            </a:r>
            <a:endParaRPr lang="en-US" sz="1150" dirty="0"/>
          </a:p>
        </p:txBody>
      </p:sp>
      <p:sp>
        <p:nvSpPr>
          <p:cNvPr id="73" name="shape-69"/>
          <p:cNvSpPr/>
          <p:nvPr/>
        </p:nvSpPr>
        <p:spPr>
          <a:xfrm>
            <a:off x="7772400" y="3931920"/>
            <a:ext cx="3840480" cy="2432304"/>
          </a:xfrm>
          <a:prstGeom prst="roundRect">
            <a:avLst>
              <a:gd name="adj" fmla="val 3008"/>
            </a:avLst>
          </a:prstGeom>
          <a:solidFill>
            <a:srgbClr val="FDF1E3"/>
          </a:solidFill>
          <a:ln w="12700">
            <a:solidFill>
              <a:srgbClr val="FDF1E3"/>
            </a:solidFill>
            <a:prstDash val="solid"/>
          </a:ln>
        </p:spPr>
      </p:sp>
      <p:sp>
        <p:nvSpPr>
          <p:cNvPr id="74" name="text-70"/>
          <p:cNvSpPr txBox="1"/>
          <p:nvPr/>
        </p:nvSpPr>
        <p:spPr>
          <a:xfrm>
            <a:off x="7918704" y="4059936"/>
            <a:ext cx="3547872" cy="182880"/>
          </a:xfrm>
          <a:prstGeom prst="rect">
            <a:avLst/>
          </a:prstGeom>
          <a:noFill/>
          <a:ln/>
        </p:spPr>
        <p:txBody>
          <a:bodyPr wrap="none" lIns="0" tIns="0" rIns="0" bIns="0" rtlCol="0" anchor="ctr"/>
          <a:lstStyle/>
          <a:p>
            <a:pPr algn="l" indent="0" marL="0">
              <a:lnSpc>
                <a:spcPct val="100000"/>
              </a:lnSpc>
              <a:buNone/>
            </a:pPr>
            <a:r>
              <a:rPr lang="en-US" sz="1100" b="1" spc="150" kern="0" dirty="0">
                <a:solidFill>
                  <a:srgbClr val="B45309"/>
                </a:solidFill>
                <a:latin typeface="Calibri" pitchFamily="34" charset="0"/>
                <a:ea typeface="Calibri" pitchFamily="34" charset="-122"/>
                <a:cs typeface="Calibri" pitchFamily="34" charset="-120"/>
              </a:rPr>
              <a:t>BOUGHT IN, OR OUTSIDE THE REMIT</a:t>
            </a:r>
            <a:endParaRPr lang="en-US" sz="1100" dirty="0"/>
          </a:p>
        </p:txBody>
      </p:sp>
      <p:sp>
        <p:nvSpPr>
          <p:cNvPr id="75" name="text-71"/>
          <p:cNvSpPr txBox="1"/>
          <p:nvPr/>
        </p:nvSpPr>
        <p:spPr>
          <a:xfrm>
            <a:off x="7918704" y="4334256"/>
            <a:ext cx="3547872" cy="201168"/>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Managed service provider — office IT</a:t>
            </a:r>
            <a:endParaRPr lang="en-US" sz="1100" dirty="0"/>
          </a:p>
        </p:txBody>
      </p:sp>
      <p:sp>
        <p:nvSpPr>
          <p:cNvPr id="76" name="oval-72"/>
          <p:cNvSpPr/>
          <p:nvPr/>
        </p:nvSpPr>
        <p:spPr>
          <a:xfrm>
            <a:off x="7959852" y="4622292"/>
            <a:ext cx="64008" cy="64008"/>
          </a:xfrm>
          <a:prstGeom prst="ellipse">
            <a:avLst/>
          </a:prstGeom>
          <a:solidFill>
            <a:srgbClr val="B45309"/>
          </a:solidFill>
          <a:ln w="12700">
            <a:solidFill>
              <a:srgbClr val="B45309"/>
            </a:solidFill>
            <a:prstDash val="solid"/>
          </a:ln>
        </p:spPr>
      </p:sp>
      <p:sp>
        <p:nvSpPr>
          <p:cNvPr id="77" name="text-73"/>
          <p:cNvSpPr txBox="1"/>
          <p:nvPr/>
        </p:nvSpPr>
        <p:spPr>
          <a:xfrm>
            <a:off x="8101584" y="4553712"/>
            <a:ext cx="3364992" cy="201168"/>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Laptops, printers, phones and internet</a:t>
            </a:r>
            <a:endParaRPr lang="en-US" sz="1100" dirty="0"/>
          </a:p>
        </p:txBody>
      </p:sp>
      <p:sp>
        <p:nvSpPr>
          <p:cNvPr id="78" name="text-74"/>
          <p:cNvSpPr txBox="1"/>
          <p:nvPr/>
        </p:nvSpPr>
        <p:spPr>
          <a:xfrm>
            <a:off x="7918704" y="4864608"/>
            <a:ext cx="3547872" cy="201168"/>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Specialist partners — bought in when needed</a:t>
            </a:r>
            <a:endParaRPr lang="en-US" sz="1100" dirty="0"/>
          </a:p>
        </p:txBody>
      </p:sp>
      <p:sp>
        <p:nvSpPr>
          <p:cNvPr id="79" name="oval-75"/>
          <p:cNvSpPr/>
          <p:nvPr/>
        </p:nvSpPr>
        <p:spPr>
          <a:xfrm>
            <a:off x="7959852" y="5152644"/>
            <a:ext cx="64008" cy="64008"/>
          </a:xfrm>
          <a:prstGeom prst="ellipse">
            <a:avLst/>
          </a:prstGeom>
          <a:solidFill>
            <a:srgbClr val="B45309"/>
          </a:solidFill>
          <a:ln w="12700">
            <a:solidFill>
              <a:srgbClr val="B45309"/>
            </a:solidFill>
            <a:prstDash val="solid"/>
          </a:ln>
        </p:spPr>
      </p:sp>
      <p:sp>
        <p:nvSpPr>
          <p:cNvPr id="80" name="text-76"/>
          <p:cNvSpPr txBox="1"/>
          <p:nvPr/>
        </p:nvSpPr>
        <p:spPr>
          <a:xfrm>
            <a:off x="8101584" y="5084064"/>
            <a:ext cx="3364992" cy="201168"/>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Independent security testing and certification</a:t>
            </a:r>
            <a:endParaRPr lang="en-US" sz="1100" dirty="0"/>
          </a:p>
        </p:txBody>
      </p:sp>
      <p:sp>
        <p:nvSpPr>
          <p:cNvPr id="81" name="oval-77"/>
          <p:cNvSpPr/>
          <p:nvPr/>
        </p:nvSpPr>
        <p:spPr>
          <a:xfrm>
            <a:off x="7959852" y="5372100"/>
            <a:ext cx="64008" cy="64008"/>
          </a:xfrm>
          <a:prstGeom prst="ellipse">
            <a:avLst/>
          </a:prstGeom>
          <a:solidFill>
            <a:srgbClr val="B45309"/>
          </a:solidFill>
          <a:ln w="12700">
            <a:solidFill>
              <a:srgbClr val="B45309"/>
            </a:solidFill>
            <a:prstDash val="solid"/>
          </a:ln>
        </p:spPr>
      </p:sp>
      <p:sp>
        <p:nvSpPr>
          <p:cNvPr id="82" name="text-78"/>
          <p:cNvSpPr txBox="1"/>
          <p:nvPr/>
        </p:nvSpPr>
        <p:spPr>
          <a:xfrm>
            <a:off x="8101584" y="5303520"/>
            <a:ext cx="3364992" cy="201168"/>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Expert help on vendors’ systems (CRM, shop, finance)</a:t>
            </a:r>
            <a:endParaRPr lang="en-US" sz="1100" dirty="0"/>
          </a:p>
        </p:txBody>
      </p:sp>
      <p:sp>
        <p:nvSpPr>
          <p:cNvPr id="83" name="text-79"/>
          <p:cNvSpPr txBox="1"/>
          <p:nvPr/>
        </p:nvSpPr>
        <p:spPr>
          <a:xfrm>
            <a:off x="7918704" y="5614416"/>
            <a:ext cx="3547872" cy="201168"/>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Outside the team’s remit</a:t>
            </a:r>
            <a:endParaRPr lang="en-US" sz="1100" dirty="0"/>
          </a:p>
        </p:txBody>
      </p:sp>
      <p:sp>
        <p:nvSpPr>
          <p:cNvPr id="84" name="oval-80"/>
          <p:cNvSpPr/>
          <p:nvPr/>
        </p:nvSpPr>
        <p:spPr>
          <a:xfrm>
            <a:off x="7959852" y="5902452"/>
            <a:ext cx="64008" cy="64008"/>
          </a:xfrm>
          <a:prstGeom prst="ellipse">
            <a:avLst/>
          </a:prstGeom>
          <a:solidFill>
            <a:srgbClr val="B45309"/>
          </a:solidFill>
          <a:ln w="12700">
            <a:solidFill>
              <a:srgbClr val="B45309"/>
            </a:solidFill>
            <a:prstDash val="solid"/>
          </a:ln>
        </p:spPr>
      </p:sp>
      <p:sp>
        <p:nvSpPr>
          <p:cNvPr id="85" name="text-81"/>
          <p:cNvSpPr txBox="1"/>
          <p:nvPr/>
        </p:nvSpPr>
        <p:spPr>
          <a:xfrm>
            <a:off x="8101584" y="5833872"/>
            <a:ext cx="3364992" cy="201168"/>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Content operations</a:t>
            </a:r>
            <a:endParaRPr lang="en-US" sz="1100" dirty="0"/>
          </a:p>
        </p:txBody>
      </p:sp>
      <p:sp>
        <p:nvSpPr>
          <p:cNvPr id="86" name="text-82"/>
          <p:cNvSpPr txBox="1"/>
          <p:nvPr/>
        </p:nvSpPr>
        <p:spPr>
          <a:xfrm>
            <a:off x="548640" y="6419088"/>
            <a:ext cx="11064240"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Responsibilities, not an approved hiring plan.</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Modernisation">
  <a:themeElements>
    <a:clrScheme name="Modernisation">
      <a:dk1>
        <a:srgbClr val="1C2B33"/>
      </a:dk1>
      <a:lt1>
        <a:srgbClr val="FFFFFF"/>
      </a:lt1>
      <a:dk2>
        <a:srgbClr val="5A6B75"/>
      </a:dk2>
      <a:lt2>
        <a:srgbClr val="EEF2F4"/>
      </a:lt2>
      <a:accent1>
        <a:srgbClr val="0F766E"/>
      </a:accent1>
      <a:accent2>
        <a:srgbClr val="B45309"/>
      </a:accent2>
      <a:accent3>
        <a:srgbClr val="D6ECE9"/>
      </a:accent3>
      <a:accent4>
        <a:srgbClr val="D4DBE0"/>
      </a:accent4>
      <a:accent5>
        <a:srgbClr val="134E4A"/>
      </a:accent5>
      <a:accent6>
        <a:srgbClr val="FDF1E3"/>
      </a:accent6>
      <a:hlink>
        <a:srgbClr val="0F766E"/>
      </a:hlink>
      <a:folHlink>
        <a:srgbClr val="0F766E"/>
      </a:folHlink>
    </a:clrScheme>
    <a:fontScheme name="Modernis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2026-10-15T23:08:50Z</dcterms:created>
  <dcterms:modified xsi:type="dcterms:W3CDTF">2026-10-15T23:08:50Z</dcterms:modified>
</cp:coreProperties>
</file>
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(demoted from the slide; the rhythm now says who sees what)
- Inward, the team sees and improves: cycle time from decision to assured release; change failure, rework, time to recover; product availability and latency by region; AI judged on cycle time and quality, never on tokens.
- Upward, what passes the gates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OPERATING RHYTHM (assumes a board and risk committee exist; the programme reports into them)
- Board / Risk Committee — quarterly meeting with a monthly review pack, or by exception: target date, funding envelope, risk appetite (including the availability stance), policy exceptions.
- Programme Steering — monthly: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TAKING OWNERSHIP OF THE AGREED PATHWAY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Own the agreed pathway without stalling it: understand, stabilise, accelerate</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AGAINST THE 27 APRIL DATE</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November start, December break, day 90 in February — 27 April is fixed, so scope is the only lever</a:t>
            </a:r>
            <a:endParaRPr lang="en-US" sz="2000" dirty="0"/>
          </a:p>
        </p:txBody>
      </p:sp>
      <p:sp>
        <p:nvSpPr>
          <p:cNvPr id="4" name="shape-0"/>
          <p:cNvSpPr/>
          <p:nvPr/>
        </p:nvSpPr>
        <p:spPr>
          <a:xfrm>
            <a:off x="3510366" y="1243584"/>
            <a:ext cx="1269311" cy="1371600"/>
          </a:xfrm>
          <a:prstGeom prst="roundRect">
            <a:avLst>
              <a:gd name="adj" fmla="val 4322"/>
            </a:avLst>
          </a:prstGeom>
          <a:solidFill>
            <a:srgbClr val="FDF1E3"/>
          </a:solidFill>
          <a:ln w="12700">
            <a:solidFill>
              <a:srgbClr val="FDF1E3"/>
            </a:solidFill>
            <a:prstDash val="solid"/>
          </a:ln>
        </p:spPr>
      </p:sp>
      <p:sp>
        <p:nvSpPr>
          <p:cNvPr id="5" name="text-1"/>
          <p:cNvSpPr txBox="1"/>
          <p:nvPr/>
        </p:nvSpPr>
        <p:spPr>
          <a:xfrm>
            <a:off x="3144606" y="2468880"/>
            <a:ext cx="2000831" cy="146304"/>
          </a:xfrm>
          <a:prstGeom prst="rect">
            <a:avLst/>
          </a:prstGeom>
          <a:noFill/>
          <a:ln/>
        </p:spPr>
        <p:txBody>
          <a:bodyPr wrap="square" lIns="0" tIns="0" rIns="0" bIns="0" rtlCol="0" anchor="ctr"/>
          <a:lstStyle/>
          <a:p>
            <a:pPr algn="ctr" indent="0" marL="0">
              <a:lnSpc>
                <a:spcPct val="100000"/>
              </a:lnSpc>
              <a:buNone/>
            </a:pPr>
            <a:r>
              <a:rPr lang="en-US" sz="850" b="1" dirty="0">
                <a:solidFill>
                  <a:srgbClr val="B45309"/>
                </a:solidFill>
                <a:latin typeface="Calibri" pitchFamily="34" charset="0"/>
                <a:ea typeface="Calibri" pitchFamily="34" charset="-122"/>
                <a:cs typeface="Calibri" pitchFamily="34" charset="-120"/>
              </a:rPr>
              <a:t>December break</a:t>
            </a:r>
            <a:endParaRPr lang="en-US" sz="850" dirty="0"/>
          </a:p>
        </p:txBody>
      </p:sp>
      <p:sp>
        <p:nvSpPr>
          <p:cNvPr id="6" name="line-2"/>
          <p:cNvSpPr/>
          <p:nvPr/>
        </p:nvSpPr>
        <p:spPr>
          <a:xfrm>
            <a:off x="548640" y="1883664"/>
            <a:ext cx="10698480" cy="0"/>
          </a:xfrm>
          <a:prstGeom prst="line">
            <a:avLst/>
          </a:prstGeom>
          <a:noFill/>
          <a:ln w="50800">
            <a:solidFill>
              <a:srgbClr val="D4DBE0"/>
            </a:solidFill>
            <a:prstDash val="solid"/>
          </a:ln>
        </p:spPr>
      </p:sp>
      <p:sp>
        <p:nvSpPr>
          <p:cNvPr id="7" name="tri-3"/>
          <p:cNvSpPr/>
          <p:nvPr/>
        </p:nvSpPr>
        <p:spPr>
          <a:xfrm rot="5400000">
            <a:off x="11228832" y="1773936"/>
            <a:ext cx="219456" cy="219456"/>
          </a:xfrm>
          <a:prstGeom prst="triangle">
            <a:avLst/>
          </a:prstGeom>
          <a:solidFill>
            <a:srgbClr val="D4DBE0"/>
          </a:solidFill>
          <a:ln w="12700">
            <a:solidFill>
              <a:srgbClr val="D4DBE0"/>
            </a:solidFill>
            <a:prstDash val="solid"/>
          </a:ln>
        </p:spPr>
      </p:sp>
      <p:sp>
        <p:nvSpPr>
          <p:cNvPr id="8" name="shape-4"/>
          <p:cNvSpPr/>
          <p:nvPr/>
        </p:nvSpPr>
        <p:spPr>
          <a:xfrm>
            <a:off x="548640" y="1860804"/>
            <a:ext cx="5439905" cy="45720"/>
          </a:xfrm>
          <a:prstGeom prst="rect">
            <a:avLst/>
          </a:prstGeom>
          <a:solidFill>
            <a:srgbClr val="0F766E"/>
          </a:solidFill>
          <a:ln w="12700">
            <a:solidFill>
              <a:srgbClr val="0F766E"/>
            </a:solidFill>
            <a:prstDash val="solid"/>
          </a:ln>
        </p:spPr>
      </p:sp>
      <p:sp>
        <p:nvSpPr>
          <p:cNvPr id="9" name="line-5"/>
          <p:cNvSpPr/>
          <p:nvPr/>
        </p:nvSpPr>
        <p:spPr>
          <a:xfrm>
            <a:off x="548640" y="2011680"/>
            <a:ext cx="0" cy="73152"/>
          </a:xfrm>
          <a:prstGeom prst="line">
            <a:avLst/>
          </a:prstGeom>
          <a:noFill/>
          <a:ln w="12700">
            <a:solidFill>
              <a:srgbClr val="5A6B75"/>
            </a:solidFill>
            <a:prstDash val="solid"/>
          </a:ln>
        </p:spPr>
      </p:sp>
      <p:sp>
        <p:nvSpPr>
          <p:cNvPr id="10" name="text-6"/>
          <p:cNvSpPr txBox="1"/>
          <p:nvPr/>
        </p:nvSpPr>
        <p:spPr>
          <a:xfrm>
            <a:off x="365760"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Nov</a:t>
            </a:r>
            <a:endParaRPr lang="en-US" sz="800" dirty="0"/>
          </a:p>
        </p:txBody>
      </p:sp>
      <p:sp>
        <p:nvSpPr>
          <p:cNvPr id="11" name="line-7"/>
          <p:cNvSpPr/>
          <p:nvPr/>
        </p:nvSpPr>
        <p:spPr>
          <a:xfrm>
            <a:off x="2361942" y="2011680"/>
            <a:ext cx="0" cy="73152"/>
          </a:xfrm>
          <a:prstGeom prst="line">
            <a:avLst/>
          </a:prstGeom>
          <a:noFill/>
          <a:ln w="12700">
            <a:solidFill>
              <a:srgbClr val="5A6B75"/>
            </a:solidFill>
            <a:prstDash val="solid"/>
          </a:ln>
        </p:spPr>
      </p:sp>
      <p:sp>
        <p:nvSpPr>
          <p:cNvPr id="12" name="text-8"/>
          <p:cNvSpPr txBox="1"/>
          <p:nvPr/>
        </p:nvSpPr>
        <p:spPr>
          <a:xfrm>
            <a:off x="217906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Dec</a:t>
            </a:r>
            <a:endParaRPr lang="en-US" sz="800" dirty="0"/>
          </a:p>
        </p:txBody>
      </p:sp>
      <p:sp>
        <p:nvSpPr>
          <p:cNvPr id="13" name="line-9"/>
          <p:cNvSpPr/>
          <p:nvPr/>
        </p:nvSpPr>
        <p:spPr>
          <a:xfrm>
            <a:off x="4235687" y="2011680"/>
            <a:ext cx="0" cy="73152"/>
          </a:xfrm>
          <a:prstGeom prst="line">
            <a:avLst/>
          </a:prstGeom>
          <a:noFill/>
          <a:ln w="12700">
            <a:solidFill>
              <a:srgbClr val="5A6B75"/>
            </a:solidFill>
            <a:prstDash val="solid"/>
          </a:ln>
        </p:spPr>
      </p:sp>
      <p:sp>
        <p:nvSpPr>
          <p:cNvPr id="14" name="text-10"/>
          <p:cNvSpPr txBox="1"/>
          <p:nvPr/>
        </p:nvSpPr>
        <p:spPr>
          <a:xfrm>
            <a:off x="4052807"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Jan</a:t>
            </a:r>
            <a:endParaRPr lang="en-US" sz="800" dirty="0"/>
          </a:p>
        </p:txBody>
      </p:sp>
      <p:sp>
        <p:nvSpPr>
          <p:cNvPr id="15" name="line-11"/>
          <p:cNvSpPr/>
          <p:nvPr/>
        </p:nvSpPr>
        <p:spPr>
          <a:xfrm>
            <a:off x="6109432" y="2011680"/>
            <a:ext cx="0" cy="73152"/>
          </a:xfrm>
          <a:prstGeom prst="line">
            <a:avLst/>
          </a:prstGeom>
          <a:noFill/>
          <a:ln w="12700">
            <a:solidFill>
              <a:srgbClr val="5A6B75"/>
            </a:solidFill>
            <a:prstDash val="solid"/>
          </a:ln>
        </p:spPr>
      </p:sp>
      <p:sp>
        <p:nvSpPr>
          <p:cNvPr id="16" name="text-12"/>
          <p:cNvSpPr txBox="1"/>
          <p:nvPr/>
        </p:nvSpPr>
        <p:spPr>
          <a:xfrm>
            <a:off x="592655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Feb</a:t>
            </a:r>
            <a:endParaRPr lang="en-US" sz="800" dirty="0"/>
          </a:p>
        </p:txBody>
      </p:sp>
      <p:sp>
        <p:nvSpPr>
          <p:cNvPr id="17" name="line-13"/>
          <p:cNvSpPr/>
          <p:nvPr/>
        </p:nvSpPr>
        <p:spPr>
          <a:xfrm>
            <a:off x="7801847" y="2011680"/>
            <a:ext cx="0" cy="73152"/>
          </a:xfrm>
          <a:prstGeom prst="line">
            <a:avLst/>
          </a:prstGeom>
          <a:noFill/>
          <a:ln w="12700">
            <a:solidFill>
              <a:srgbClr val="5A6B75"/>
            </a:solidFill>
            <a:prstDash val="solid"/>
          </a:ln>
        </p:spPr>
      </p:sp>
      <p:sp>
        <p:nvSpPr>
          <p:cNvPr id="18" name="text-14"/>
          <p:cNvSpPr txBox="1"/>
          <p:nvPr/>
        </p:nvSpPr>
        <p:spPr>
          <a:xfrm>
            <a:off x="7618967"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Mar</a:t>
            </a:r>
            <a:endParaRPr lang="en-US" sz="800" dirty="0"/>
          </a:p>
        </p:txBody>
      </p:sp>
      <p:sp>
        <p:nvSpPr>
          <p:cNvPr id="19" name="line-15"/>
          <p:cNvSpPr/>
          <p:nvPr/>
        </p:nvSpPr>
        <p:spPr>
          <a:xfrm>
            <a:off x="9675592" y="2011680"/>
            <a:ext cx="0" cy="73152"/>
          </a:xfrm>
          <a:prstGeom prst="line">
            <a:avLst/>
          </a:prstGeom>
          <a:noFill/>
          <a:ln w="12700">
            <a:solidFill>
              <a:srgbClr val="5A6B75"/>
            </a:solidFill>
            <a:prstDash val="solid"/>
          </a:ln>
        </p:spPr>
      </p:sp>
      <p:sp>
        <p:nvSpPr>
          <p:cNvPr id="20" name="text-16"/>
          <p:cNvSpPr txBox="1"/>
          <p:nvPr/>
        </p:nvSpPr>
        <p:spPr>
          <a:xfrm>
            <a:off x="949271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Apr</a:t>
            </a:r>
            <a:endParaRPr lang="en-US" sz="800" dirty="0"/>
          </a:p>
        </p:txBody>
      </p:sp>
      <p:sp>
        <p:nvSpPr>
          <p:cNvPr id="21" name="oval-17"/>
          <p:cNvSpPr/>
          <p:nvPr/>
        </p:nvSpPr>
        <p:spPr>
          <a:xfrm>
            <a:off x="466344" y="1801368"/>
            <a:ext cx="164592" cy="164592"/>
          </a:xfrm>
          <a:prstGeom prst="ellipse">
            <a:avLst/>
          </a:prstGeom>
          <a:solidFill>
            <a:srgbClr val="5A6B75"/>
          </a:solidFill>
          <a:ln w="12700">
            <a:solidFill>
              <a:srgbClr val="5A6B75"/>
            </a:solidFill>
            <a:prstDash val="solid"/>
          </a:ln>
        </p:spPr>
      </p:sp>
      <p:sp>
        <p:nvSpPr>
          <p:cNvPr id="22" name="text-18"/>
          <p:cNvSpPr txBox="1"/>
          <p:nvPr/>
        </p:nvSpPr>
        <p:spPr>
          <a:xfrm>
            <a:off x="0"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Start</a:t>
            </a:r>
            <a:endParaRPr lang="en-US" sz="1000" dirty="0"/>
          </a:p>
        </p:txBody>
      </p:sp>
      <p:sp>
        <p:nvSpPr>
          <p:cNvPr id="23" name="oval-19"/>
          <p:cNvSpPr/>
          <p:nvPr/>
        </p:nvSpPr>
        <p:spPr>
          <a:xfrm>
            <a:off x="2179062" y="1700784"/>
            <a:ext cx="365760" cy="365760"/>
          </a:xfrm>
          <a:prstGeom prst="ellipse">
            <a:avLst/>
          </a:prstGeom>
          <a:solidFill>
            <a:srgbClr val="0F766E"/>
          </a:solidFill>
          <a:ln w="12700">
            <a:solidFill>
              <a:srgbClr val="0F766E"/>
            </a:solidFill>
            <a:prstDash val="solid"/>
          </a:ln>
        </p:spPr>
      </p:sp>
      <p:sp>
        <p:nvSpPr>
          <p:cNvPr id="24" name="text-20"/>
          <p:cNvSpPr txBox="1"/>
          <p:nvPr/>
        </p:nvSpPr>
        <p:spPr>
          <a:xfrm>
            <a:off x="2179062"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25" name="text-21"/>
          <p:cNvSpPr txBox="1"/>
          <p:nvPr/>
        </p:nvSpPr>
        <p:spPr>
          <a:xfrm>
            <a:off x="1813302"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26" name="text-22"/>
          <p:cNvSpPr txBox="1"/>
          <p:nvPr/>
        </p:nvSpPr>
        <p:spPr>
          <a:xfrm>
            <a:off x="1538982"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Two baselines</a:t>
            </a:r>
            <a:endParaRPr lang="en-US" sz="1000" dirty="0"/>
          </a:p>
        </p:txBody>
      </p:sp>
      <p:sp>
        <p:nvSpPr>
          <p:cNvPr id="27" name="oval-23"/>
          <p:cNvSpPr/>
          <p:nvPr/>
        </p:nvSpPr>
        <p:spPr>
          <a:xfrm>
            <a:off x="3992363" y="1700784"/>
            <a:ext cx="365760" cy="365760"/>
          </a:xfrm>
          <a:prstGeom prst="ellipse">
            <a:avLst/>
          </a:prstGeom>
          <a:solidFill>
            <a:srgbClr val="0F766E"/>
          </a:solidFill>
          <a:ln w="12700">
            <a:solidFill>
              <a:srgbClr val="0F766E"/>
            </a:solidFill>
            <a:prstDash val="solid"/>
          </a:ln>
        </p:spPr>
      </p:sp>
      <p:sp>
        <p:nvSpPr>
          <p:cNvPr id="28" name="text-24"/>
          <p:cNvSpPr txBox="1"/>
          <p:nvPr/>
        </p:nvSpPr>
        <p:spPr>
          <a:xfrm>
            <a:off x="3992363"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29" name="text-25"/>
          <p:cNvSpPr txBox="1"/>
          <p:nvPr/>
        </p:nvSpPr>
        <p:spPr>
          <a:xfrm>
            <a:off x="3626603"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30" name="text-26"/>
          <p:cNvSpPr txBox="1"/>
          <p:nvPr/>
        </p:nvSpPr>
        <p:spPr>
          <a:xfrm>
            <a:off x="3352283"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Fit test, decisions</a:t>
            </a:r>
            <a:endParaRPr lang="en-US" sz="1000" dirty="0"/>
          </a:p>
        </p:txBody>
      </p:sp>
      <p:sp>
        <p:nvSpPr>
          <p:cNvPr id="31" name="oval-27"/>
          <p:cNvSpPr/>
          <p:nvPr/>
        </p:nvSpPr>
        <p:spPr>
          <a:xfrm>
            <a:off x="5805665" y="1700784"/>
            <a:ext cx="365760" cy="365760"/>
          </a:xfrm>
          <a:prstGeom prst="ellipse">
            <a:avLst/>
          </a:prstGeom>
          <a:solidFill>
            <a:srgbClr val="134E4A"/>
          </a:solidFill>
          <a:ln w="12700">
            <a:solidFill>
              <a:srgbClr val="134E4A"/>
            </a:solidFill>
            <a:prstDash val="solid"/>
          </a:ln>
        </p:spPr>
      </p:sp>
      <p:sp>
        <p:nvSpPr>
          <p:cNvPr id="32" name="text-28"/>
          <p:cNvSpPr txBox="1"/>
          <p:nvPr/>
        </p:nvSpPr>
        <p:spPr>
          <a:xfrm>
            <a:off x="5805665"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33" name="text-29"/>
          <p:cNvSpPr txBox="1"/>
          <p:nvPr/>
        </p:nvSpPr>
        <p:spPr>
          <a:xfrm>
            <a:off x="5439905"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34" name="text-30"/>
          <p:cNvSpPr txBox="1"/>
          <p:nvPr/>
        </p:nvSpPr>
        <p:spPr>
          <a:xfrm>
            <a:off x="5165585"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First assured delivery</a:t>
            </a:r>
            <a:endParaRPr lang="en-US" sz="1000" dirty="0"/>
          </a:p>
        </p:txBody>
      </p:sp>
      <p:sp>
        <p:nvSpPr>
          <p:cNvPr id="35" name="oval-31"/>
          <p:cNvSpPr/>
          <p:nvPr/>
        </p:nvSpPr>
        <p:spPr>
          <a:xfrm>
            <a:off x="11137392" y="1773936"/>
            <a:ext cx="219456" cy="219456"/>
          </a:xfrm>
          <a:prstGeom prst="ellipse">
            <a:avLst/>
          </a:prstGeom>
          <a:solidFill>
            <a:srgbClr val="B45309"/>
          </a:solidFill>
          <a:ln w="12700">
            <a:solidFill>
              <a:srgbClr val="B45309"/>
            </a:solidFill>
            <a:prstDash val="solid"/>
          </a:ln>
        </p:spPr>
      </p:sp>
      <p:sp>
        <p:nvSpPr>
          <p:cNvPr id="36" name="text-32"/>
          <p:cNvSpPr txBox="1"/>
          <p:nvPr/>
        </p:nvSpPr>
        <p:spPr>
          <a:xfrm>
            <a:off x="10698480"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27 April</a:t>
            </a:r>
            <a:endParaRPr lang="en-US" sz="1000" dirty="0"/>
          </a:p>
        </p:txBody>
      </p:sp>
      <p:sp>
        <p:nvSpPr>
          <p:cNvPr id="37" name="text-33"/>
          <p:cNvSpPr txBox="1"/>
          <p:nvPr/>
        </p:nvSpPr>
        <p:spPr>
          <a:xfrm>
            <a:off x="10424160"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fixed</a:t>
            </a:r>
            <a:endParaRPr lang="en-US" sz="1000" dirty="0"/>
          </a:p>
        </p:txBody>
      </p:sp>
      <p:sp>
        <p:nvSpPr>
          <p:cNvPr id="38" name="text-34"/>
          <p:cNvSpPr txBox="1"/>
          <p:nvPr/>
        </p:nvSpPr>
        <p:spPr>
          <a:xfrm>
            <a:off x="6079985" y="1444752"/>
            <a:ext cx="5075695" cy="182880"/>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 12 working weeks left after day 90 — build waves, cutover rehearsal, go-live</a:t>
            </a:r>
            <a:endParaRPr lang="en-US" sz="850" dirty="0"/>
          </a:p>
        </p:txBody>
      </p:sp>
      <p:sp>
        <p:nvSpPr>
          <p:cNvPr id="39" name="shape-35"/>
          <p:cNvSpPr/>
          <p:nvPr/>
        </p:nvSpPr>
        <p:spPr>
          <a:xfrm>
            <a:off x="548640" y="2743200"/>
            <a:ext cx="3383280" cy="1371600"/>
          </a:xfrm>
          <a:prstGeom prst="roundRect">
            <a:avLst>
              <a:gd name="adj" fmla="val 5333"/>
            </a:avLst>
          </a:prstGeom>
          <a:solidFill>
            <a:srgbClr val="EEF2F4"/>
          </a:solidFill>
          <a:ln w="12700">
            <a:solidFill>
              <a:srgbClr val="EEF2F4"/>
            </a:solidFill>
            <a:prstDash val="solid"/>
          </a:ln>
        </p:spPr>
      </p:sp>
      <p:pic>
        <p:nvPicPr>
          <p:cNvPr id="40" name="icon-36" descr="preencoded.png">    </p:cNvPr>
          <p:cNvPicPr>
            <a:picLocks noChangeAspect="1"/>
          </p:cNvPicPr>
          <p:nvPr/>
        </p:nvPicPr>
        <p:blipFill>
          <a:blip r:embed="rId1"/>
          <a:stretch>
            <a:fillRect/>
          </a:stretch>
        </p:blipFill>
        <p:spPr>
          <a:xfrm>
            <a:off x="713232" y="2926080"/>
            <a:ext cx="201168" cy="201168"/>
          </a:xfrm>
          <a:prstGeom prst="rect">
            <a:avLst/>
          </a:prstGeom>
        </p:spPr>
      </p:pic>
      <p:sp>
        <p:nvSpPr>
          <p:cNvPr id="41" name="text-37"/>
          <p:cNvSpPr txBox="1"/>
          <p:nvPr/>
        </p:nvSpPr>
        <p:spPr>
          <a:xfrm>
            <a:off x="1005840" y="2907792"/>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42" name="text-38"/>
          <p:cNvSpPr txBox="1"/>
          <p:nvPr/>
        </p:nvSpPr>
        <p:spPr>
          <a:xfrm>
            <a:off x="713232" y="3236976"/>
            <a:ext cx="3054096" cy="768096"/>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Systems, integrations, contracts, partners, run cost; licence model; what is in flight</a:t>
            </a:r>
            <a:endParaRPr lang="en-US" sz="1000" dirty="0"/>
          </a:p>
        </p:txBody>
      </p:sp>
      <p:sp>
        <p:nvSpPr>
          <p:cNvPr id="43" name="shape-39"/>
          <p:cNvSpPr/>
          <p:nvPr/>
        </p:nvSpPr>
        <p:spPr>
          <a:xfrm>
            <a:off x="4078224" y="2743200"/>
            <a:ext cx="3383280" cy="1371600"/>
          </a:xfrm>
          <a:prstGeom prst="roundRect">
            <a:avLst>
              <a:gd name="adj" fmla="val 5333"/>
            </a:avLst>
          </a:prstGeom>
          <a:solidFill>
            <a:srgbClr val="D6ECE9"/>
          </a:solidFill>
          <a:ln w="12700">
            <a:solidFill>
              <a:srgbClr val="D6ECE9"/>
            </a:solidFill>
            <a:prstDash val="solid"/>
          </a:ln>
        </p:spPr>
      </p:sp>
      <p:pic>
        <p:nvPicPr>
          <p:cNvPr id="44" name="icon-40" descr="preencoded.png">    </p:cNvPr>
          <p:cNvPicPr>
            <a:picLocks noChangeAspect="1"/>
          </p:cNvPicPr>
          <p:nvPr/>
        </p:nvPicPr>
        <p:blipFill>
          <a:blip r:embed="rId2"/>
          <a:stretch>
            <a:fillRect/>
          </a:stretch>
        </p:blipFill>
        <p:spPr>
          <a:xfrm>
            <a:off x="4242816" y="2926080"/>
            <a:ext cx="201168" cy="201168"/>
          </a:xfrm>
          <a:prstGeom prst="rect">
            <a:avLst/>
          </a:prstGeom>
        </p:spPr>
      </p:pic>
      <p:sp>
        <p:nvSpPr>
          <p:cNvPr id="45" name="text-41"/>
          <p:cNvSpPr txBox="1"/>
          <p:nvPr/>
        </p:nvSpPr>
        <p:spPr>
          <a:xfrm>
            <a:off x="4535424" y="2907792"/>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6" name="text-42"/>
          <p:cNvSpPr txBox="1"/>
          <p:nvPr/>
        </p:nvSpPr>
        <p:spPr>
          <a:xfrm>
            <a:off x="4242816" y="3236976"/>
            <a:ext cx="3054096" cy="768096"/>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Processes, SOPs, SLAs, mandated requirements; hand-offs; what each ceremony produces</a:t>
            </a:r>
            <a:endParaRPr lang="en-US" sz="1000" dirty="0"/>
          </a:p>
        </p:txBody>
      </p:sp>
      <p:sp>
        <p:nvSpPr>
          <p:cNvPr id="47" name="tri-43"/>
          <p:cNvSpPr/>
          <p:nvPr/>
        </p:nvSpPr>
        <p:spPr>
          <a:xfrm rot="5400000">
            <a:off x="7598664" y="3346704"/>
            <a:ext cx="164592" cy="164592"/>
          </a:xfrm>
          <a:prstGeom prst="triangle">
            <a:avLst/>
          </a:prstGeom>
          <a:solidFill>
            <a:srgbClr val="5A6B75"/>
          </a:solidFill>
          <a:ln w="12700">
            <a:solidFill>
              <a:srgbClr val="5A6B75"/>
            </a:solidFill>
            <a:prstDash val="solid"/>
          </a:ln>
        </p:spPr>
      </p:sp>
      <p:sp>
        <p:nvSpPr>
          <p:cNvPr id="48" name="shape-44"/>
          <p:cNvSpPr/>
          <p:nvPr/>
        </p:nvSpPr>
        <p:spPr>
          <a:xfrm>
            <a:off x="7790688" y="2743200"/>
            <a:ext cx="3822192" cy="1371600"/>
          </a:xfrm>
          <a:prstGeom prst="roundRect">
            <a:avLst>
              <a:gd name="adj" fmla="val 5333"/>
            </a:avLst>
          </a:prstGeom>
          <a:solidFill>
            <a:srgbClr val="134E4A"/>
          </a:solidFill>
          <a:ln w="12700">
            <a:solidFill>
              <a:srgbClr val="134E4A"/>
            </a:solidFill>
            <a:prstDash val="solid"/>
          </a:ln>
        </p:spPr>
      </p:sp>
      <p:sp>
        <p:nvSpPr>
          <p:cNvPr id="49" name="text-45"/>
          <p:cNvSpPr txBox="1"/>
          <p:nvPr/>
        </p:nvSpPr>
        <p:spPr>
          <a:xfrm>
            <a:off x="7973568" y="2907792"/>
            <a:ext cx="3456432"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0" name="text-46"/>
          <p:cNvSpPr txBox="1"/>
          <p:nvPr/>
        </p:nvSpPr>
        <p:spPr>
          <a:xfrm>
            <a:off x="7973568" y="321868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Does the proposal support the way we want to work?</a:t>
            </a:r>
            <a:endParaRPr lang="en-US" sz="1000" dirty="0"/>
          </a:p>
        </p:txBody>
      </p:sp>
      <p:sp>
        <p:nvSpPr>
          <p:cNvPr id="51" name="text-47"/>
          <p:cNvSpPr txBox="1"/>
          <p:nvPr/>
        </p:nvSpPr>
        <p:spPr>
          <a:xfrm>
            <a:off x="7973568" y="349300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Is each component in the right tier, under the right rule?</a:t>
            </a:r>
            <a:endParaRPr lang="en-US" sz="1000" dirty="0"/>
          </a:p>
        </p:txBody>
      </p:sp>
      <p:sp>
        <p:nvSpPr>
          <p:cNvPr id="52" name="text-48"/>
          <p:cNvSpPr txBox="1"/>
          <p:nvPr/>
        </p:nvSpPr>
        <p:spPr>
          <a:xfrm>
            <a:off x="7973568" y="376732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What tooling and AI help or hinder?</a:t>
            </a:r>
            <a:endParaRPr lang="en-US" sz="1000" dirty="0"/>
          </a:p>
        </p:txBody>
      </p:sp>
      <p:sp>
        <p:nvSpPr>
          <p:cNvPr id="53" name="shape-49"/>
          <p:cNvSpPr/>
          <p:nvPr/>
        </p:nvSpPr>
        <p:spPr>
          <a:xfrm>
            <a:off x="548640" y="4279392"/>
            <a:ext cx="11064240" cy="1883664"/>
          </a:xfrm>
          <a:prstGeom prst="roundRect">
            <a:avLst>
              <a:gd name="adj" fmla="val 3883"/>
            </a:avLst>
          </a:prstGeom>
          <a:solidFill>
            <a:srgbClr val="FDF1E3"/>
          </a:solidFill>
          <a:ln w="12700">
            <a:solidFill>
              <a:srgbClr val="FDF1E3"/>
            </a:solidFill>
            <a:prstDash val="solid"/>
          </a:ln>
        </p:spPr>
      </p:sp>
      <p:pic>
        <p:nvPicPr>
          <p:cNvPr id="54" name="icon-50" descr="preencoded.png">    </p:cNvPr>
          <p:cNvPicPr>
            <a:picLocks noChangeAspect="1"/>
          </p:cNvPicPr>
          <p:nvPr/>
        </p:nvPicPr>
        <p:blipFill>
          <a:blip r:embed="rId3"/>
          <a:stretch>
            <a:fillRect/>
          </a:stretch>
        </p:blipFill>
        <p:spPr>
          <a:xfrm>
            <a:off x="768096" y="4462272"/>
            <a:ext cx="219456" cy="219456"/>
          </a:xfrm>
          <a:prstGeom prst="rect">
            <a:avLst/>
          </a:prstGeom>
        </p:spPr>
      </p:pic>
      <p:sp>
        <p:nvSpPr>
          <p:cNvPr id="55" name="text-51"/>
          <p:cNvSpPr txBox="1"/>
          <p:nvPr/>
        </p:nvSpPr>
        <p:spPr>
          <a:xfrm>
            <a:off x="1078992" y="4480560"/>
            <a:ext cx="6400800" cy="201168"/>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THE REALITY: SCOPE IS THE ONLY LEVER</a:t>
            </a:r>
            <a:endParaRPr lang="en-US" sz="950" dirty="0"/>
          </a:p>
        </p:txBody>
      </p:sp>
      <p:sp>
        <p:nvSpPr>
          <p:cNvPr id="56" name="oval-52"/>
          <p:cNvSpPr/>
          <p:nvPr/>
        </p:nvSpPr>
        <p:spPr>
          <a:xfrm>
            <a:off x="768096" y="4846320"/>
            <a:ext cx="73152" cy="73152"/>
          </a:xfrm>
          <a:prstGeom prst="ellipse">
            <a:avLst/>
          </a:prstGeom>
          <a:solidFill>
            <a:srgbClr val="B45309"/>
          </a:solidFill>
          <a:ln w="12700">
            <a:solidFill>
              <a:srgbClr val="B45309"/>
            </a:solidFill>
            <a:prstDash val="solid"/>
          </a:ln>
        </p:spPr>
      </p:sp>
      <p:sp>
        <p:nvSpPr>
          <p:cNvPr id="57" name="text-53"/>
          <p:cNvSpPr txBox="1"/>
          <p:nvPr/>
        </p:nvSpPr>
        <p:spPr>
          <a:xfrm>
            <a:off x="932688" y="4773168"/>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Understand and stabilise fast</a:t>
            </a:r>
            <a:endParaRPr lang="en-US" sz="1100" dirty="0"/>
          </a:p>
        </p:txBody>
      </p:sp>
      <p:sp>
        <p:nvSpPr>
          <p:cNvPr id="58" name="text-54"/>
          <p:cNvSpPr txBox="1"/>
          <p:nvPr/>
        </p:nvSpPr>
        <p:spPr>
          <a:xfrm>
            <a:off x="932688" y="4992624"/>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The baselines are weeks, not a quarter — in-flight work is confirmed or stopped by Gate 1, not Gate 2</a:t>
            </a:r>
            <a:endParaRPr lang="en-US" sz="950" dirty="0"/>
          </a:p>
        </p:txBody>
      </p:sp>
      <p:sp>
        <p:nvSpPr>
          <p:cNvPr id="59" name="oval-55"/>
          <p:cNvSpPr/>
          <p:nvPr/>
        </p:nvSpPr>
        <p:spPr>
          <a:xfrm>
            <a:off x="6254496" y="4846320"/>
            <a:ext cx="73152" cy="73152"/>
          </a:xfrm>
          <a:prstGeom prst="ellipse">
            <a:avLst/>
          </a:prstGeom>
          <a:solidFill>
            <a:srgbClr val="B45309"/>
          </a:solidFill>
          <a:ln w="12700">
            <a:solidFill>
              <a:srgbClr val="B45309"/>
            </a:solidFill>
            <a:prstDash val="solid"/>
          </a:ln>
        </p:spPr>
      </p:sp>
      <p:sp>
        <p:nvSpPr>
          <p:cNvPr id="60" name="text-56"/>
          <p:cNvSpPr txBox="1"/>
          <p:nvPr/>
        </p:nvSpPr>
        <p:spPr>
          <a:xfrm>
            <a:off x="6419088" y="4773168"/>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Hold the agreed scope firmly</a:t>
            </a:r>
            <a:endParaRPr lang="en-US" sz="1100" dirty="0"/>
          </a:p>
        </p:txBody>
      </p:sp>
      <p:sp>
        <p:nvSpPr>
          <p:cNvPr id="61" name="text-57"/>
          <p:cNvSpPr txBox="1"/>
          <p:nvPr/>
        </p:nvSpPr>
        <p:spPr>
          <a:xfrm>
            <a:off x="6419088" y="4992624"/>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No growth on the back of hoped-for AI or efficiency gains; anything that does not fit moves to Day 1.5</a:t>
            </a:r>
            <a:endParaRPr lang="en-US" sz="950" dirty="0"/>
          </a:p>
        </p:txBody>
      </p:sp>
      <p:sp>
        <p:nvSpPr>
          <p:cNvPr id="62" name="oval-58"/>
          <p:cNvSpPr/>
          <p:nvPr/>
        </p:nvSpPr>
        <p:spPr>
          <a:xfrm>
            <a:off x="768096" y="5449824"/>
            <a:ext cx="73152" cy="73152"/>
          </a:xfrm>
          <a:prstGeom prst="ellipse">
            <a:avLst/>
          </a:prstGeom>
          <a:solidFill>
            <a:srgbClr val="B45309"/>
          </a:solidFill>
          <a:ln w="12700">
            <a:solidFill>
              <a:srgbClr val="B45309"/>
            </a:solidFill>
            <a:prstDash val="solid"/>
          </a:ln>
        </p:spPr>
      </p:sp>
      <p:sp>
        <p:nvSpPr>
          <p:cNvPr id="63" name="text-59"/>
          <p:cNvSpPr txBox="1"/>
          <p:nvPr/>
        </p:nvSpPr>
        <p:spPr>
          <a:xfrm>
            <a:off x="932688" y="5376672"/>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No slippage on quality or risk</a:t>
            </a:r>
            <a:endParaRPr lang="en-US" sz="1100" dirty="0"/>
          </a:p>
        </p:txBody>
      </p:sp>
      <p:sp>
        <p:nvSpPr>
          <p:cNvPr id="64" name="text-60"/>
          <p:cNvSpPr txBox="1"/>
          <p:nvPr/>
        </p:nvSpPr>
        <p:spPr>
          <a:xfrm>
            <a:off x="932688" y="5596128"/>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Assurance gates stay in place however tight the date; the date flexes scope, never the gates</a:t>
            </a:r>
            <a:endParaRPr lang="en-US" sz="950" dirty="0"/>
          </a:p>
        </p:txBody>
      </p:sp>
      <p:sp>
        <p:nvSpPr>
          <p:cNvPr id="65" name="oval-61"/>
          <p:cNvSpPr/>
          <p:nvPr/>
        </p:nvSpPr>
        <p:spPr>
          <a:xfrm>
            <a:off x="6254496" y="5449824"/>
            <a:ext cx="73152" cy="73152"/>
          </a:xfrm>
          <a:prstGeom prst="ellipse">
            <a:avLst/>
          </a:prstGeom>
          <a:solidFill>
            <a:srgbClr val="B45309"/>
          </a:solidFill>
          <a:ln w="12700">
            <a:solidFill>
              <a:srgbClr val="B45309"/>
            </a:solidFill>
            <a:prstDash val="solid"/>
          </a:ln>
        </p:spPr>
      </p:sp>
      <p:sp>
        <p:nvSpPr>
          <p:cNvPr id="66" name="text-62"/>
          <p:cNvSpPr txBox="1"/>
          <p:nvPr/>
        </p:nvSpPr>
        <p:spPr>
          <a:xfrm>
            <a:off x="6419088" y="5376672"/>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Decide early, in writing</a:t>
            </a:r>
            <a:endParaRPr lang="en-US" sz="1100" dirty="0"/>
          </a:p>
        </p:txBody>
      </p:sp>
      <p:sp>
        <p:nvSpPr>
          <p:cNvPr id="67" name="text-63"/>
          <p:cNvSpPr txBox="1"/>
          <p:nvPr/>
        </p:nvSpPr>
        <p:spPr>
          <a:xfrm>
            <a:off x="6419088" y="5596128"/>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Gate 2 brings any scope-versus-date trade-off to the board in February, not April</a:t>
            </a:r>
            <a:endParaRPr lang="en-US" sz="950" dirty="0"/>
          </a:p>
        </p:txBody>
      </p:sp>
      <p:sp>
        <p:nvSpPr>
          <p:cNvPr id="68" name="text-64"/>
          <p:cNvSpPr txBox="1"/>
          <p:nvPr/>
        </p:nvSpPr>
        <p:spPr>
          <a:xfrm>
            <a:off x="548640" y="630936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Dates assume a 1 November start.</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GATE 2 ASSESSES EACH COMPONENT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Four questions for every component: what it is decides how we spend time, money and concern</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1554480"/>
            <a:ext cx="274320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68096"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1</a:t>
            </a:r>
            <a:endParaRPr lang="en-US" sz="1350" dirty="0"/>
          </a:p>
        </p:txBody>
      </p:sp>
      <p:sp>
        <p:nvSpPr>
          <p:cNvPr id="8" name="text-4"/>
          <p:cNvSpPr txBox="1"/>
          <p:nvPr/>
        </p:nvSpPr>
        <p:spPr>
          <a:xfrm>
            <a:off x="1024128" y="1554480"/>
            <a:ext cx="215798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kind of thing is it?</a:t>
            </a:r>
            <a:endParaRPr lang="en-US" sz="1100" dirty="0"/>
          </a:p>
        </p:txBody>
      </p:sp>
      <p:sp>
        <p:nvSpPr>
          <p:cNvPr id="9" name="tri-5"/>
          <p:cNvSpPr/>
          <p:nvPr/>
        </p:nvSpPr>
        <p:spPr>
          <a:xfrm rot="5400000">
            <a:off x="3337560" y="1792224"/>
            <a:ext cx="128016" cy="128016"/>
          </a:xfrm>
          <a:prstGeom prst="triangle">
            <a:avLst/>
          </a:prstGeom>
          <a:solidFill>
            <a:srgbClr val="5A6B75"/>
          </a:solidFill>
          <a:ln w="12700">
            <a:solidFill>
              <a:srgbClr val="5A6B75"/>
            </a:solidFill>
            <a:prstDash val="solid"/>
          </a:ln>
        </p:spPr>
      </p:sp>
      <p:sp>
        <p:nvSpPr>
          <p:cNvPr id="10" name="shape-6"/>
          <p:cNvSpPr/>
          <p:nvPr/>
        </p:nvSpPr>
        <p:spPr>
          <a:xfrm>
            <a:off x="3493008" y="1554480"/>
            <a:ext cx="187452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3712464"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2</a:t>
            </a:r>
            <a:endParaRPr lang="en-US" sz="1350" dirty="0"/>
          </a:p>
        </p:txBody>
      </p:sp>
      <p:sp>
        <p:nvSpPr>
          <p:cNvPr id="12" name="text-8"/>
          <p:cNvSpPr txBox="1"/>
          <p:nvPr/>
        </p:nvSpPr>
        <p:spPr>
          <a:xfrm>
            <a:off x="3968496" y="1554480"/>
            <a:ext cx="128930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Spending judged on?</a:t>
            </a:r>
            <a:endParaRPr lang="en-US" sz="1100" dirty="0"/>
          </a:p>
        </p:txBody>
      </p:sp>
      <p:sp>
        <p:nvSpPr>
          <p:cNvPr id="13" name="tri-9"/>
          <p:cNvSpPr/>
          <p:nvPr/>
        </p:nvSpPr>
        <p:spPr>
          <a:xfrm rot="5400000">
            <a:off x="5413248" y="1792224"/>
            <a:ext cx="128016" cy="128016"/>
          </a:xfrm>
          <a:prstGeom prst="triangle">
            <a:avLst/>
          </a:prstGeom>
          <a:solidFill>
            <a:srgbClr val="5A6B75"/>
          </a:solidFill>
          <a:ln w="12700">
            <a:solidFill>
              <a:srgbClr val="5A6B75"/>
            </a:solidFill>
            <a:prstDash val="solid"/>
          </a:ln>
        </p:spPr>
      </p:sp>
      <p:sp>
        <p:nvSpPr>
          <p:cNvPr id="14" name="shape-10"/>
          <p:cNvSpPr/>
          <p:nvPr/>
        </p:nvSpPr>
        <p:spPr>
          <a:xfrm>
            <a:off x="5568696" y="1554480"/>
            <a:ext cx="187452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5788152"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3</a:t>
            </a:r>
            <a:endParaRPr lang="en-US" sz="1350" dirty="0"/>
          </a:p>
        </p:txBody>
      </p:sp>
      <p:sp>
        <p:nvSpPr>
          <p:cNvPr id="16" name="text-12"/>
          <p:cNvSpPr txBox="1"/>
          <p:nvPr/>
        </p:nvSpPr>
        <p:spPr>
          <a:xfrm>
            <a:off x="6044184" y="1554480"/>
            <a:ext cx="128930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How resilient?</a:t>
            </a:r>
            <a:endParaRPr lang="en-US" sz="1100" dirty="0"/>
          </a:p>
        </p:txBody>
      </p:sp>
      <p:sp>
        <p:nvSpPr>
          <p:cNvPr id="17" name="tri-13"/>
          <p:cNvSpPr/>
          <p:nvPr/>
        </p:nvSpPr>
        <p:spPr>
          <a:xfrm rot="5400000">
            <a:off x="7488936" y="1792224"/>
            <a:ext cx="128016" cy="128016"/>
          </a:xfrm>
          <a:prstGeom prst="triangle">
            <a:avLst/>
          </a:prstGeom>
          <a:solidFill>
            <a:srgbClr val="5A6B75"/>
          </a:solidFill>
          <a:ln w="12700">
            <a:solidFill>
              <a:srgbClr val="5A6B75"/>
            </a:solidFill>
            <a:prstDash val="solid"/>
          </a:ln>
        </p:spPr>
      </p:sp>
      <p:sp>
        <p:nvSpPr>
          <p:cNvPr id="18" name="shape-14"/>
          <p:cNvSpPr/>
          <p:nvPr/>
        </p:nvSpPr>
        <p:spPr>
          <a:xfrm>
            <a:off x="7644384" y="1554480"/>
            <a:ext cx="2194560" cy="6035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7863840" y="1554480"/>
            <a:ext cx="219456"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4</a:t>
            </a:r>
            <a:endParaRPr lang="en-US" sz="1350" dirty="0"/>
          </a:p>
        </p:txBody>
      </p:sp>
      <p:sp>
        <p:nvSpPr>
          <p:cNvPr id="20" name="text-16"/>
          <p:cNvSpPr txBox="1"/>
          <p:nvPr/>
        </p:nvSpPr>
        <p:spPr>
          <a:xfrm>
            <a:off x="8119872" y="1554480"/>
            <a:ext cx="1609344" cy="60350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Build or buy?</a:t>
            </a:r>
            <a:endParaRPr lang="en-US" sz="1100" dirty="0"/>
          </a:p>
        </p:txBody>
      </p:sp>
      <p:sp>
        <p:nvSpPr>
          <p:cNvPr id="21" name="shape-17"/>
          <p:cNvSpPr/>
          <p:nvPr/>
        </p:nvSpPr>
        <p:spPr>
          <a:xfrm>
            <a:off x="10076688" y="1554480"/>
            <a:ext cx="1737360" cy="603504"/>
          </a:xfrm>
          <a:prstGeom prst="roundRect">
            <a:avLst>
              <a:gd name="adj" fmla="val 50000"/>
            </a:avLst>
          </a:prstGeom>
          <a:ln w="19050">
            <a:solidFill>
              <a:srgbClr val="0F766E"/>
            </a:solidFill>
            <a:prstDash val="sysDash"/>
          </a:ln>
        </p:spPr>
      </p:sp>
      <p:sp>
        <p:nvSpPr>
          <p:cNvPr id="22" name="text-18"/>
          <p:cNvSpPr txBox="1"/>
          <p:nvPr/>
        </p:nvSpPr>
        <p:spPr>
          <a:xfrm>
            <a:off x="10076688" y="1664208"/>
            <a:ext cx="1737360" cy="146304"/>
          </a:xfrm>
          <a:prstGeom prst="rect">
            <a:avLst/>
          </a:prstGeom>
          <a:noFill/>
          <a:ln/>
        </p:spPr>
        <p:txBody>
          <a:bodyPr wrap="square" lIns="0" tIns="0" rIns="0" bIns="0" rtlCol="0" anchor="ctr"/>
          <a:lstStyle/>
          <a:p>
            <a:pPr algn="ctr"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BONUS, NOT A RULE</a:t>
            </a:r>
            <a:endParaRPr lang="en-US" sz="800" dirty="0"/>
          </a:p>
        </p:txBody>
      </p:sp>
      <p:sp>
        <p:nvSpPr>
          <p:cNvPr id="23" name="text-19"/>
          <p:cNvSpPr txBox="1"/>
          <p:nvPr/>
        </p:nvSpPr>
        <p:spPr>
          <a:xfrm>
            <a:off x="10076688" y="1847088"/>
            <a:ext cx="1737360" cy="219456"/>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Where AI helps</a:t>
            </a:r>
            <a:endParaRPr lang="en-US" sz="1100" dirty="0"/>
          </a:p>
        </p:txBody>
      </p:sp>
      <p:sp>
        <p:nvSpPr>
          <p:cNvPr id="24" name="shape-20"/>
          <p:cNvSpPr/>
          <p:nvPr/>
        </p:nvSpPr>
        <p:spPr>
          <a:xfrm>
            <a:off x="548640" y="2395728"/>
            <a:ext cx="2743200" cy="768096"/>
          </a:xfrm>
          <a:prstGeom prst="roundRect">
            <a:avLst>
              <a:gd name="adj" fmla="val 9524"/>
            </a:avLst>
          </a:prstGeom>
          <a:solidFill>
            <a:srgbClr val="EEF2F4"/>
          </a:solidFill>
          <a:ln w="12700">
            <a:solidFill>
              <a:srgbClr val="EEF2F4"/>
            </a:solidFill>
            <a:prstDash val="solid"/>
          </a:ln>
        </p:spPr>
      </p:sp>
      <p:sp>
        <p:nvSpPr>
          <p:cNvPr id="25" name="shape-21"/>
          <p:cNvSpPr/>
          <p:nvPr/>
        </p:nvSpPr>
        <p:spPr>
          <a:xfrm>
            <a:off x="548640" y="2395728"/>
            <a:ext cx="402336" cy="768096"/>
          </a:xfrm>
          <a:prstGeom prst="roundRect">
            <a:avLst>
              <a:gd name="adj" fmla="val 18182"/>
            </a:avLst>
          </a:prstGeom>
          <a:solidFill>
            <a:srgbClr val="134E4A"/>
          </a:solidFill>
          <a:ln w="12700">
            <a:solidFill>
              <a:srgbClr val="134E4A"/>
            </a:solidFill>
            <a:prstDash val="solid"/>
          </a:ln>
        </p:spPr>
      </p:sp>
      <p:sp>
        <p:nvSpPr>
          <p:cNvPr id="26" name="shape-22"/>
          <p:cNvSpPr/>
          <p:nvPr/>
        </p:nvSpPr>
        <p:spPr>
          <a:xfrm>
            <a:off x="877824" y="2395728"/>
            <a:ext cx="73152" cy="768096"/>
          </a:xfrm>
          <a:prstGeom prst="rect">
            <a:avLst/>
          </a:prstGeom>
          <a:solidFill>
            <a:srgbClr val="134E4A"/>
          </a:solidFill>
          <a:ln w="12700">
            <a:solidFill>
              <a:srgbClr val="134E4A"/>
            </a:solidFill>
            <a:prstDash val="solid"/>
          </a:ln>
        </p:spPr>
      </p:sp>
      <p:sp>
        <p:nvSpPr>
          <p:cNvPr id="27" name="text-23"/>
          <p:cNvSpPr txBox="1"/>
          <p:nvPr/>
        </p:nvSpPr>
        <p:spPr>
          <a:xfrm>
            <a:off x="548640" y="2395728"/>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8" name="text-24"/>
          <p:cNvSpPr txBox="1"/>
          <p:nvPr/>
        </p:nvSpPr>
        <p:spPr>
          <a:xfrm>
            <a:off x="1042416" y="2395728"/>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950" dirty="0"/>
          </a:p>
        </p:txBody>
      </p:sp>
      <p:sp>
        <p:nvSpPr>
          <p:cNvPr id="29" name="shape-25"/>
          <p:cNvSpPr/>
          <p:nvPr/>
        </p:nvSpPr>
        <p:spPr>
          <a:xfrm>
            <a:off x="3493008" y="2395728"/>
            <a:ext cx="1874520" cy="768096"/>
          </a:xfrm>
          <a:prstGeom prst="roundRect">
            <a:avLst>
              <a:gd name="adj" fmla="val 9524"/>
            </a:avLst>
          </a:prstGeom>
          <a:solidFill>
            <a:srgbClr val="FFFFFF"/>
          </a:solidFill>
          <a:ln w="15875">
            <a:solidFill>
              <a:srgbClr val="D4DBE0"/>
            </a:solidFill>
            <a:prstDash val="solid"/>
          </a:ln>
        </p:spPr>
      </p:sp>
      <p:sp>
        <p:nvSpPr>
          <p:cNvPr id="30" name="text-26"/>
          <p:cNvSpPr txBox="1"/>
          <p:nvPr/>
        </p:nvSpPr>
        <p:spPr>
          <a:xfrm>
            <a:off x="3566160"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Commercials, opportunity, strategy</a:t>
            </a:r>
            <a:endParaRPr lang="en-US" sz="950" dirty="0"/>
          </a:p>
        </p:txBody>
      </p:sp>
      <p:sp>
        <p:nvSpPr>
          <p:cNvPr id="31" name="shape-27"/>
          <p:cNvSpPr/>
          <p:nvPr/>
        </p:nvSpPr>
        <p:spPr>
          <a:xfrm>
            <a:off x="5568696" y="2395728"/>
            <a:ext cx="1874520" cy="768096"/>
          </a:xfrm>
          <a:prstGeom prst="roundRect">
            <a:avLst>
              <a:gd name="adj" fmla="val 9524"/>
            </a:avLst>
          </a:prstGeom>
          <a:solidFill>
            <a:srgbClr val="FFFFFF"/>
          </a:solidFill>
          <a:ln w="15875">
            <a:solidFill>
              <a:srgbClr val="D4DBE0"/>
            </a:solidFill>
            <a:prstDash val="solid"/>
          </a:ln>
        </p:spPr>
      </p:sp>
      <p:sp>
        <p:nvSpPr>
          <p:cNvPr id="32" name="text-28"/>
          <p:cNvSpPr txBox="1"/>
          <p:nvPr/>
        </p:nvSpPr>
        <p:spPr>
          <a:xfrm>
            <a:off x="5641848"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Bullet-proof: life-critical content</a:t>
            </a:r>
            <a:endParaRPr lang="en-US" sz="950" dirty="0"/>
          </a:p>
        </p:txBody>
      </p:sp>
      <p:sp>
        <p:nvSpPr>
          <p:cNvPr id="33" name="shape-29"/>
          <p:cNvSpPr/>
          <p:nvPr/>
        </p:nvSpPr>
        <p:spPr>
          <a:xfrm>
            <a:off x="7644384" y="2395728"/>
            <a:ext cx="2194560" cy="768096"/>
          </a:xfrm>
          <a:prstGeom prst="roundRect">
            <a:avLst>
              <a:gd name="adj" fmla="val 9524"/>
            </a:avLst>
          </a:prstGeom>
          <a:solidFill>
            <a:srgbClr val="D6ECE9"/>
          </a:solidFill>
          <a:ln w="15875">
            <a:solidFill>
              <a:srgbClr val="D6ECE9"/>
            </a:solidFill>
            <a:prstDash val="solid"/>
          </a:ln>
        </p:spPr>
      </p:sp>
      <p:sp>
        <p:nvSpPr>
          <p:cNvPr id="34" name="text-30"/>
          <p:cNvSpPr txBox="1"/>
          <p:nvPr/>
        </p:nvSpPr>
        <p:spPr>
          <a:xfrm>
            <a:off x="7717536" y="2395728"/>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Build: strong appetite to wrap our own technical solutions</a:t>
            </a:r>
            <a:endParaRPr lang="en-US" sz="950" dirty="0"/>
          </a:p>
        </p:txBody>
      </p:sp>
      <p:sp>
        <p:nvSpPr>
          <p:cNvPr id="35" name="tri-31"/>
          <p:cNvSpPr/>
          <p:nvPr/>
        </p:nvSpPr>
        <p:spPr>
          <a:xfrm rot="5400000">
            <a:off x="3337560" y="2724912"/>
            <a:ext cx="109728" cy="109728"/>
          </a:xfrm>
          <a:prstGeom prst="triangle">
            <a:avLst/>
          </a:prstGeom>
          <a:solidFill>
            <a:srgbClr val="D4DBE0"/>
          </a:solidFill>
          <a:ln w="12700">
            <a:solidFill>
              <a:srgbClr val="D4DBE0"/>
            </a:solidFill>
            <a:prstDash val="solid"/>
          </a:ln>
        </p:spPr>
      </p:sp>
      <p:sp>
        <p:nvSpPr>
          <p:cNvPr id="36" name="tri-32"/>
          <p:cNvSpPr/>
          <p:nvPr/>
        </p:nvSpPr>
        <p:spPr>
          <a:xfrm rot="5400000">
            <a:off x="5413248" y="2724912"/>
            <a:ext cx="109728" cy="109728"/>
          </a:xfrm>
          <a:prstGeom prst="triangle">
            <a:avLst/>
          </a:prstGeom>
          <a:solidFill>
            <a:srgbClr val="D4DBE0"/>
          </a:solidFill>
          <a:ln w="12700">
            <a:solidFill>
              <a:srgbClr val="D4DBE0"/>
            </a:solidFill>
            <a:prstDash val="solid"/>
          </a:ln>
        </p:spPr>
      </p:sp>
      <p:sp>
        <p:nvSpPr>
          <p:cNvPr id="37" name="tri-33"/>
          <p:cNvSpPr/>
          <p:nvPr/>
        </p:nvSpPr>
        <p:spPr>
          <a:xfrm rot="5400000">
            <a:off x="7488936" y="2724912"/>
            <a:ext cx="109728" cy="109728"/>
          </a:xfrm>
          <a:prstGeom prst="triangle">
            <a:avLst/>
          </a:prstGeom>
          <a:solidFill>
            <a:srgbClr val="D4DBE0"/>
          </a:solidFill>
          <a:ln w="12700">
            <a:solidFill>
              <a:srgbClr val="D4DBE0"/>
            </a:solidFill>
            <a:prstDash val="solid"/>
          </a:ln>
        </p:spPr>
      </p:sp>
      <p:sp>
        <p:nvSpPr>
          <p:cNvPr id="38" name="shape-34"/>
          <p:cNvSpPr/>
          <p:nvPr/>
        </p:nvSpPr>
        <p:spPr>
          <a:xfrm>
            <a:off x="10076688" y="2395728"/>
            <a:ext cx="1737360" cy="768096"/>
          </a:xfrm>
          <a:prstGeom prst="roundRect">
            <a:avLst>
              <a:gd name="adj" fmla="val 9524"/>
            </a:avLst>
          </a:prstGeom>
          <a:solidFill>
            <a:srgbClr val="D6ECE9"/>
          </a:solidFill>
          <a:ln w="15875">
            <a:solidFill>
              <a:srgbClr val="0F766E"/>
            </a:solidFill>
            <a:prstDash val="sysDash"/>
          </a:ln>
        </p:spPr>
      </p:sp>
      <p:sp>
        <p:nvSpPr>
          <p:cNvPr id="39" name="oval-35"/>
          <p:cNvSpPr/>
          <p:nvPr/>
        </p:nvSpPr>
        <p:spPr>
          <a:xfrm>
            <a:off x="10149840" y="2688336"/>
            <a:ext cx="182880" cy="182880"/>
          </a:xfrm>
          <a:prstGeom prst="ellipse">
            <a:avLst/>
          </a:prstGeom>
          <a:solidFill>
            <a:srgbClr val="0F766E"/>
          </a:solidFill>
          <a:ln w="12700">
            <a:solidFill>
              <a:srgbClr val="0F766E"/>
            </a:solidFill>
            <a:prstDash val="solid"/>
          </a:ln>
        </p:spPr>
      </p:sp>
      <p:sp>
        <p:nvSpPr>
          <p:cNvPr id="40" name="text-36"/>
          <p:cNvSpPr txBox="1"/>
          <p:nvPr/>
        </p:nvSpPr>
        <p:spPr>
          <a:xfrm>
            <a:off x="10149840" y="2688336"/>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1" name="text-37"/>
          <p:cNvSpPr txBox="1"/>
          <p:nvPr/>
        </p:nvSpPr>
        <p:spPr>
          <a:xfrm>
            <a:off x="10405872" y="2395728"/>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Accelerate and de-risk product work</a:t>
            </a:r>
            <a:endParaRPr lang="en-US" sz="900" dirty="0"/>
          </a:p>
        </p:txBody>
      </p:sp>
      <p:sp>
        <p:nvSpPr>
          <p:cNvPr id="42" name="shape-38"/>
          <p:cNvSpPr/>
          <p:nvPr/>
        </p:nvSpPr>
        <p:spPr>
          <a:xfrm>
            <a:off x="548640" y="3255264"/>
            <a:ext cx="2743200" cy="768096"/>
          </a:xfrm>
          <a:prstGeom prst="roundRect">
            <a:avLst>
              <a:gd name="adj" fmla="val 9524"/>
            </a:avLst>
          </a:prstGeom>
          <a:solidFill>
            <a:srgbClr val="EEF2F4"/>
          </a:solidFill>
          <a:ln w="12700">
            <a:solidFill>
              <a:srgbClr val="EEF2F4"/>
            </a:solidFill>
            <a:prstDash val="solid"/>
          </a:ln>
        </p:spPr>
      </p:sp>
      <p:sp>
        <p:nvSpPr>
          <p:cNvPr id="43" name="shape-39"/>
          <p:cNvSpPr/>
          <p:nvPr/>
        </p:nvSpPr>
        <p:spPr>
          <a:xfrm>
            <a:off x="548640" y="3255264"/>
            <a:ext cx="402336" cy="768096"/>
          </a:xfrm>
          <a:prstGeom prst="roundRect">
            <a:avLst>
              <a:gd name="adj" fmla="val 18182"/>
            </a:avLst>
          </a:prstGeom>
          <a:solidFill>
            <a:srgbClr val="0F766E"/>
          </a:solidFill>
          <a:ln w="12700">
            <a:solidFill>
              <a:srgbClr val="0F766E"/>
            </a:solidFill>
            <a:prstDash val="solid"/>
          </a:ln>
        </p:spPr>
      </p:sp>
      <p:sp>
        <p:nvSpPr>
          <p:cNvPr id="44" name="shape-40"/>
          <p:cNvSpPr/>
          <p:nvPr/>
        </p:nvSpPr>
        <p:spPr>
          <a:xfrm>
            <a:off x="877824" y="3255264"/>
            <a:ext cx="73152" cy="768096"/>
          </a:xfrm>
          <a:prstGeom prst="rect">
            <a:avLst/>
          </a:prstGeom>
          <a:solidFill>
            <a:srgbClr val="0F766E"/>
          </a:solidFill>
          <a:ln w="12700">
            <a:solidFill>
              <a:srgbClr val="0F766E"/>
            </a:solidFill>
            <a:prstDash val="solid"/>
          </a:ln>
        </p:spPr>
      </p:sp>
      <p:sp>
        <p:nvSpPr>
          <p:cNvPr id="45" name="text-41"/>
          <p:cNvSpPr txBox="1"/>
          <p:nvPr/>
        </p:nvSpPr>
        <p:spPr>
          <a:xfrm>
            <a:off x="548640" y="3255264"/>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46" name="text-42"/>
          <p:cNvSpPr txBox="1"/>
          <p:nvPr/>
        </p:nvSpPr>
        <p:spPr>
          <a:xfrm>
            <a:off x="1042416" y="3255264"/>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Quark Content and PriXM — authoring and publishing</a:t>
            </a:r>
            <a:endParaRPr lang="en-US" sz="950" dirty="0"/>
          </a:p>
        </p:txBody>
      </p:sp>
      <p:sp>
        <p:nvSpPr>
          <p:cNvPr id="47" name="shape-43"/>
          <p:cNvSpPr/>
          <p:nvPr/>
        </p:nvSpPr>
        <p:spPr>
          <a:xfrm>
            <a:off x="3493008" y="3255264"/>
            <a:ext cx="1874520" cy="768096"/>
          </a:xfrm>
          <a:prstGeom prst="roundRect">
            <a:avLst>
              <a:gd name="adj" fmla="val 9524"/>
            </a:avLst>
          </a:prstGeom>
          <a:solidFill>
            <a:srgbClr val="FFFFFF"/>
          </a:solidFill>
          <a:ln w="15875">
            <a:solidFill>
              <a:srgbClr val="D4DBE0"/>
            </a:solidFill>
            <a:prstDash val="solid"/>
          </a:ln>
        </p:spPr>
      </p:sp>
      <p:sp>
        <p:nvSpPr>
          <p:cNvPr id="48" name="text-44"/>
          <p:cNvSpPr txBox="1"/>
          <p:nvPr/>
        </p:nvSpPr>
        <p:spPr>
          <a:xfrm>
            <a:off x="3566160"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Fit for authors, portability, cost</a:t>
            </a:r>
            <a:endParaRPr lang="en-US" sz="950" dirty="0"/>
          </a:p>
        </p:txBody>
      </p:sp>
      <p:sp>
        <p:nvSpPr>
          <p:cNvPr id="49" name="shape-45"/>
          <p:cNvSpPr/>
          <p:nvPr/>
        </p:nvSpPr>
        <p:spPr>
          <a:xfrm>
            <a:off x="5568696" y="3255264"/>
            <a:ext cx="1874520" cy="768096"/>
          </a:xfrm>
          <a:prstGeom prst="roundRect">
            <a:avLst>
              <a:gd name="adj" fmla="val 9524"/>
            </a:avLst>
          </a:prstGeom>
          <a:solidFill>
            <a:srgbClr val="FFFFFF"/>
          </a:solidFill>
          <a:ln w="15875">
            <a:solidFill>
              <a:srgbClr val="D4DBE0"/>
            </a:solidFill>
            <a:prstDash val="solid"/>
          </a:ln>
        </p:spPr>
      </p:sp>
      <p:sp>
        <p:nvSpPr>
          <p:cNvPr id="50" name="text-46"/>
          <p:cNvSpPr txBox="1"/>
          <p:nvPr/>
        </p:nvSpPr>
        <p:spPr>
          <a:xfrm>
            <a:off x="5641848"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Business hours; never the only copy</a:t>
            </a:r>
            <a:endParaRPr lang="en-US" sz="950" dirty="0"/>
          </a:p>
        </p:txBody>
      </p:sp>
      <p:sp>
        <p:nvSpPr>
          <p:cNvPr id="51" name="shape-47"/>
          <p:cNvSpPr/>
          <p:nvPr/>
        </p:nvSpPr>
        <p:spPr>
          <a:xfrm>
            <a:off x="7644384" y="3255264"/>
            <a:ext cx="2194560" cy="768096"/>
          </a:xfrm>
          <a:prstGeom prst="roundRect">
            <a:avLst>
              <a:gd name="adj" fmla="val 9524"/>
            </a:avLst>
          </a:prstGeom>
          <a:solidFill>
            <a:srgbClr val="FFFFFF"/>
          </a:solidFill>
          <a:ln w="15875">
            <a:solidFill>
              <a:srgbClr val="D4DBE0"/>
            </a:solidFill>
            <a:prstDash val="solid"/>
          </a:ln>
        </p:spPr>
      </p:sp>
      <p:sp>
        <p:nvSpPr>
          <p:cNvPr id="52" name="text-48"/>
          <p:cNvSpPr txBox="1"/>
          <p:nvPr/>
        </p:nvSpPr>
        <p:spPr>
          <a:xfrm>
            <a:off x="7717536" y="3255264"/>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and configure: plugins, paid features, small code where it pays</a:t>
            </a:r>
            <a:endParaRPr lang="en-US" sz="950" dirty="0"/>
          </a:p>
        </p:txBody>
      </p:sp>
      <p:sp>
        <p:nvSpPr>
          <p:cNvPr id="53" name="tri-49"/>
          <p:cNvSpPr/>
          <p:nvPr/>
        </p:nvSpPr>
        <p:spPr>
          <a:xfrm rot="5400000">
            <a:off x="3337560" y="3584448"/>
            <a:ext cx="109728" cy="109728"/>
          </a:xfrm>
          <a:prstGeom prst="triangle">
            <a:avLst/>
          </a:prstGeom>
          <a:solidFill>
            <a:srgbClr val="D4DBE0"/>
          </a:solidFill>
          <a:ln w="12700">
            <a:solidFill>
              <a:srgbClr val="D4DBE0"/>
            </a:solidFill>
            <a:prstDash val="solid"/>
          </a:ln>
        </p:spPr>
      </p:sp>
      <p:sp>
        <p:nvSpPr>
          <p:cNvPr id="54" name="tri-50"/>
          <p:cNvSpPr/>
          <p:nvPr/>
        </p:nvSpPr>
        <p:spPr>
          <a:xfrm rot="5400000">
            <a:off x="5413248" y="3584448"/>
            <a:ext cx="109728" cy="109728"/>
          </a:xfrm>
          <a:prstGeom prst="triangle">
            <a:avLst/>
          </a:prstGeom>
          <a:solidFill>
            <a:srgbClr val="D4DBE0"/>
          </a:solidFill>
          <a:ln w="12700">
            <a:solidFill>
              <a:srgbClr val="D4DBE0"/>
            </a:solidFill>
            <a:prstDash val="solid"/>
          </a:ln>
        </p:spPr>
      </p:sp>
      <p:sp>
        <p:nvSpPr>
          <p:cNvPr id="55" name="tri-51"/>
          <p:cNvSpPr/>
          <p:nvPr/>
        </p:nvSpPr>
        <p:spPr>
          <a:xfrm rot="5400000">
            <a:off x="7488936" y="3584448"/>
            <a:ext cx="109728" cy="109728"/>
          </a:xfrm>
          <a:prstGeom prst="triangle">
            <a:avLst/>
          </a:prstGeom>
          <a:solidFill>
            <a:srgbClr val="D4DBE0"/>
          </a:solidFill>
          <a:ln w="12700">
            <a:solidFill>
              <a:srgbClr val="D4DBE0"/>
            </a:solidFill>
            <a:prstDash val="solid"/>
          </a:ln>
        </p:spPr>
      </p:sp>
      <p:sp>
        <p:nvSpPr>
          <p:cNvPr id="56" name="shape-52"/>
          <p:cNvSpPr/>
          <p:nvPr/>
        </p:nvSpPr>
        <p:spPr>
          <a:xfrm>
            <a:off x="10076688" y="3255264"/>
            <a:ext cx="1737360" cy="768096"/>
          </a:xfrm>
          <a:prstGeom prst="roundRect">
            <a:avLst>
              <a:gd name="adj" fmla="val 9524"/>
            </a:avLst>
          </a:prstGeom>
          <a:solidFill>
            <a:srgbClr val="D6ECE9"/>
          </a:solidFill>
          <a:ln w="15875">
            <a:solidFill>
              <a:srgbClr val="0F766E"/>
            </a:solidFill>
            <a:prstDash val="sysDash"/>
          </a:ln>
        </p:spPr>
      </p:sp>
      <p:sp>
        <p:nvSpPr>
          <p:cNvPr id="57" name="oval-53"/>
          <p:cNvSpPr/>
          <p:nvPr/>
        </p:nvSpPr>
        <p:spPr>
          <a:xfrm>
            <a:off x="10149840" y="3547872"/>
            <a:ext cx="182880" cy="182880"/>
          </a:xfrm>
          <a:prstGeom prst="ellipse">
            <a:avLst/>
          </a:prstGeom>
          <a:solidFill>
            <a:srgbClr val="0F766E"/>
          </a:solidFill>
          <a:ln w="12700">
            <a:solidFill>
              <a:srgbClr val="0F766E"/>
            </a:solidFill>
            <a:prstDash val="solid"/>
          </a:ln>
        </p:spPr>
      </p:sp>
      <p:sp>
        <p:nvSpPr>
          <p:cNvPr id="58" name="text-54"/>
          <p:cNvSpPr txBox="1"/>
          <p:nvPr/>
        </p:nvSpPr>
        <p:spPr>
          <a:xfrm>
            <a:off x="10149840" y="3547872"/>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9" name="text-55"/>
          <p:cNvSpPr txBox="1"/>
          <p:nvPr/>
        </p:nvSpPr>
        <p:spPr>
          <a:xfrm>
            <a:off x="10405872" y="3255264"/>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Author assistance; human sign-off</a:t>
            </a:r>
            <a:endParaRPr lang="en-US" sz="900" dirty="0"/>
          </a:p>
        </p:txBody>
      </p:sp>
      <p:sp>
        <p:nvSpPr>
          <p:cNvPr id="60" name="shape-56"/>
          <p:cNvSpPr/>
          <p:nvPr/>
        </p:nvSpPr>
        <p:spPr>
          <a:xfrm>
            <a:off x="548640" y="4114800"/>
            <a:ext cx="2743200" cy="768096"/>
          </a:xfrm>
          <a:prstGeom prst="roundRect">
            <a:avLst>
              <a:gd name="adj" fmla="val 9524"/>
            </a:avLst>
          </a:prstGeom>
          <a:solidFill>
            <a:srgbClr val="EEF2F4"/>
          </a:solidFill>
          <a:ln w="12700">
            <a:solidFill>
              <a:srgbClr val="EEF2F4"/>
            </a:solidFill>
            <a:prstDash val="solid"/>
          </a:ln>
        </p:spPr>
      </p:sp>
      <p:sp>
        <p:nvSpPr>
          <p:cNvPr id="61" name="shape-57"/>
          <p:cNvSpPr/>
          <p:nvPr/>
        </p:nvSpPr>
        <p:spPr>
          <a:xfrm>
            <a:off x="548640" y="4114800"/>
            <a:ext cx="402336" cy="768096"/>
          </a:xfrm>
          <a:prstGeom prst="roundRect">
            <a:avLst>
              <a:gd name="adj" fmla="val 18182"/>
            </a:avLst>
          </a:prstGeom>
          <a:solidFill>
            <a:srgbClr val="8A99A3"/>
          </a:solidFill>
          <a:ln w="12700">
            <a:solidFill>
              <a:srgbClr val="8A99A3"/>
            </a:solidFill>
            <a:prstDash val="solid"/>
          </a:ln>
        </p:spPr>
      </p:sp>
      <p:sp>
        <p:nvSpPr>
          <p:cNvPr id="62" name="shape-58"/>
          <p:cNvSpPr/>
          <p:nvPr/>
        </p:nvSpPr>
        <p:spPr>
          <a:xfrm>
            <a:off x="877824" y="4114800"/>
            <a:ext cx="73152" cy="768096"/>
          </a:xfrm>
          <a:prstGeom prst="rect">
            <a:avLst/>
          </a:prstGeom>
          <a:solidFill>
            <a:srgbClr val="8A99A3"/>
          </a:solidFill>
          <a:ln w="12700">
            <a:solidFill>
              <a:srgbClr val="8A99A3"/>
            </a:solidFill>
            <a:prstDash val="solid"/>
          </a:ln>
        </p:spPr>
      </p:sp>
      <p:sp>
        <p:nvSpPr>
          <p:cNvPr id="63" name="text-59"/>
          <p:cNvSpPr txBox="1"/>
          <p:nvPr/>
        </p:nvSpPr>
        <p:spPr>
          <a:xfrm>
            <a:off x="548640" y="4114800"/>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64" name="text-60"/>
          <p:cNvSpPr txBox="1"/>
          <p:nvPr/>
        </p:nvSpPr>
        <p:spPr>
          <a:xfrm>
            <a:off x="1042416" y="4114800"/>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950" dirty="0"/>
          </a:p>
        </p:txBody>
      </p:sp>
      <p:sp>
        <p:nvSpPr>
          <p:cNvPr id="65" name="shape-61"/>
          <p:cNvSpPr/>
          <p:nvPr/>
        </p:nvSpPr>
        <p:spPr>
          <a:xfrm>
            <a:off x="3493008" y="4114800"/>
            <a:ext cx="1874520" cy="768096"/>
          </a:xfrm>
          <a:prstGeom prst="roundRect">
            <a:avLst>
              <a:gd name="adj" fmla="val 9524"/>
            </a:avLst>
          </a:prstGeom>
          <a:solidFill>
            <a:srgbClr val="FFFFFF"/>
          </a:solidFill>
          <a:ln w="15875">
            <a:solidFill>
              <a:srgbClr val="D4DBE0"/>
            </a:solidFill>
            <a:prstDash val="solid"/>
          </a:ln>
        </p:spPr>
      </p:sp>
      <p:sp>
        <p:nvSpPr>
          <p:cNvPr id="66" name="text-62"/>
          <p:cNvSpPr txBox="1"/>
          <p:nvPr/>
        </p:nvSpPr>
        <p:spPr>
          <a:xfrm>
            <a:off x="3566160"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Cost and effort vs efficiency gained</a:t>
            </a:r>
            <a:endParaRPr lang="en-US" sz="950" dirty="0"/>
          </a:p>
        </p:txBody>
      </p:sp>
      <p:sp>
        <p:nvSpPr>
          <p:cNvPr id="67" name="shape-63"/>
          <p:cNvSpPr/>
          <p:nvPr/>
        </p:nvSpPr>
        <p:spPr>
          <a:xfrm>
            <a:off x="5568696" y="4114800"/>
            <a:ext cx="1874520" cy="768096"/>
          </a:xfrm>
          <a:prstGeom prst="roundRect">
            <a:avLst>
              <a:gd name="adj" fmla="val 9524"/>
            </a:avLst>
          </a:prstGeom>
          <a:solidFill>
            <a:srgbClr val="FFFFFF"/>
          </a:solidFill>
          <a:ln w="15875">
            <a:solidFill>
              <a:srgbClr val="D4DBE0"/>
            </a:solidFill>
            <a:prstDash val="solid"/>
          </a:ln>
        </p:spPr>
      </p:sp>
      <p:sp>
        <p:nvSpPr>
          <p:cNvPr id="68" name="text-64"/>
          <p:cNvSpPr txBox="1"/>
          <p:nvPr/>
        </p:nvSpPr>
        <p:spPr>
          <a:xfrm>
            <a:off x="5641848"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Standard; no shared fate with A</a:t>
            </a:r>
            <a:endParaRPr lang="en-US" sz="950" dirty="0"/>
          </a:p>
        </p:txBody>
      </p:sp>
      <p:sp>
        <p:nvSpPr>
          <p:cNvPr id="69" name="shape-65"/>
          <p:cNvSpPr/>
          <p:nvPr/>
        </p:nvSpPr>
        <p:spPr>
          <a:xfrm>
            <a:off x="7644384" y="4114800"/>
            <a:ext cx="2194560" cy="768096"/>
          </a:xfrm>
          <a:prstGeom prst="roundRect">
            <a:avLst>
              <a:gd name="adj" fmla="val 9524"/>
            </a:avLst>
          </a:prstGeom>
          <a:solidFill>
            <a:srgbClr val="FFFFFF"/>
          </a:solidFill>
          <a:ln w="15875">
            <a:solidFill>
              <a:srgbClr val="D4DBE0"/>
            </a:solidFill>
            <a:prstDash val="solid"/>
          </a:ln>
        </p:spPr>
      </p:sp>
      <p:sp>
        <p:nvSpPr>
          <p:cNvPr id="70" name="text-66"/>
          <p:cNvSpPr txBox="1"/>
          <p:nvPr/>
        </p:nvSpPr>
        <p:spPr>
          <a:xfrm>
            <a:off x="7717536" y="4114800"/>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standard set-up; deviate by exception only</a:t>
            </a:r>
            <a:endParaRPr lang="en-US" sz="950" dirty="0"/>
          </a:p>
        </p:txBody>
      </p:sp>
      <p:sp>
        <p:nvSpPr>
          <p:cNvPr id="71" name="tri-67"/>
          <p:cNvSpPr/>
          <p:nvPr/>
        </p:nvSpPr>
        <p:spPr>
          <a:xfrm rot="5400000">
            <a:off x="3337560" y="4443984"/>
            <a:ext cx="109728" cy="109728"/>
          </a:xfrm>
          <a:prstGeom prst="triangle">
            <a:avLst/>
          </a:prstGeom>
          <a:solidFill>
            <a:srgbClr val="D4DBE0"/>
          </a:solidFill>
          <a:ln w="12700">
            <a:solidFill>
              <a:srgbClr val="D4DBE0"/>
            </a:solidFill>
            <a:prstDash val="solid"/>
          </a:ln>
        </p:spPr>
      </p:sp>
      <p:sp>
        <p:nvSpPr>
          <p:cNvPr id="72" name="tri-68"/>
          <p:cNvSpPr/>
          <p:nvPr/>
        </p:nvSpPr>
        <p:spPr>
          <a:xfrm rot="5400000">
            <a:off x="5413248" y="4443984"/>
            <a:ext cx="109728" cy="109728"/>
          </a:xfrm>
          <a:prstGeom prst="triangle">
            <a:avLst/>
          </a:prstGeom>
          <a:solidFill>
            <a:srgbClr val="D4DBE0"/>
          </a:solidFill>
          <a:ln w="12700">
            <a:solidFill>
              <a:srgbClr val="D4DBE0"/>
            </a:solidFill>
            <a:prstDash val="solid"/>
          </a:ln>
        </p:spPr>
      </p:sp>
      <p:sp>
        <p:nvSpPr>
          <p:cNvPr id="73" name="tri-69"/>
          <p:cNvSpPr/>
          <p:nvPr/>
        </p:nvSpPr>
        <p:spPr>
          <a:xfrm rot="5400000">
            <a:off x="7488936" y="4443984"/>
            <a:ext cx="109728" cy="109728"/>
          </a:xfrm>
          <a:prstGeom prst="triangle">
            <a:avLst/>
          </a:prstGeom>
          <a:solidFill>
            <a:srgbClr val="D4DBE0"/>
          </a:solidFill>
          <a:ln w="12700">
            <a:solidFill>
              <a:srgbClr val="D4DBE0"/>
            </a:solidFill>
            <a:prstDash val="solid"/>
          </a:ln>
        </p:spPr>
      </p:sp>
      <p:sp>
        <p:nvSpPr>
          <p:cNvPr id="74" name="shape-70"/>
          <p:cNvSpPr/>
          <p:nvPr/>
        </p:nvSpPr>
        <p:spPr>
          <a:xfrm>
            <a:off x="10076688" y="4114800"/>
            <a:ext cx="1737360" cy="768096"/>
          </a:xfrm>
          <a:prstGeom prst="roundRect">
            <a:avLst>
              <a:gd name="adj" fmla="val 9524"/>
            </a:avLst>
          </a:prstGeom>
          <a:solidFill>
            <a:srgbClr val="D6ECE9"/>
          </a:solidFill>
          <a:ln w="15875">
            <a:solidFill>
              <a:srgbClr val="0F766E"/>
            </a:solidFill>
            <a:prstDash val="sysDash"/>
          </a:ln>
        </p:spPr>
      </p:sp>
      <p:sp>
        <p:nvSpPr>
          <p:cNvPr id="75" name="oval-71"/>
          <p:cNvSpPr/>
          <p:nvPr/>
        </p:nvSpPr>
        <p:spPr>
          <a:xfrm>
            <a:off x="10149840" y="4407408"/>
            <a:ext cx="182880" cy="182880"/>
          </a:xfrm>
          <a:prstGeom prst="ellipse">
            <a:avLst/>
          </a:prstGeom>
          <a:solidFill>
            <a:srgbClr val="0F766E"/>
          </a:solidFill>
          <a:ln w="12700">
            <a:solidFill>
              <a:srgbClr val="0F766E"/>
            </a:solidFill>
            <a:prstDash val="solid"/>
          </a:ln>
        </p:spPr>
      </p:sp>
      <p:sp>
        <p:nvSpPr>
          <p:cNvPr id="76" name="text-72"/>
          <p:cNvSpPr txBox="1"/>
          <p:nvPr/>
        </p:nvSpPr>
        <p:spPr>
          <a:xfrm>
            <a:off x="10149840" y="4407408"/>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7" name="text-73"/>
          <p:cNvSpPr txBox="1"/>
          <p:nvPr/>
        </p:nvSpPr>
        <p:spPr>
          <a:xfrm>
            <a:off x="10405872" y="4114800"/>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Woven into process; must-haves shrink</a:t>
            </a:r>
            <a:endParaRPr lang="en-US" sz="900" dirty="0"/>
          </a:p>
        </p:txBody>
      </p:sp>
      <p:sp>
        <p:nvSpPr>
          <p:cNvPr id="78" name="shape-74"/>
          <p:cNvSpPr/>
          <p:nvPr/>
        </p:nvSpPr>
        <p:spPr>
          <a:xfrm>
            <a:off x="548640" y="4974336"/>
            <a:ext cx="2743200" cy="768096"/>
          </a:xfrm>
          <a:prstGeom prst="roundRect">
            <a:avLst>
              <a:gd name="adj" fmla="val 9524"/>
            </a:avLst>
          </a:prstGeom>
          <a:solidFill>
            <a:srgbClr val="FDF1E3"/>
          </a:solidFill>
          <a:ln w="12700">
            <a:solidFill>
              <a:srgbClr val="FDF1E3"/>
            </a:solidFill>
            <a:prstDash val="solid"/>
          </a:ln>
        </p:spPr>
      </p:sp>
      <p:sp>
        <p:nvSpPr>
          <p:cNvPr id="79" name="shape-75"/>
          <p:cNvSpPr/>
          <p:nvPr/>
        </p:nvSpPr>
        <p:spPr>
          <a:xfrm>
            <a:off x="548640" y="4974336"/>
            <a:ext cx="402336" cy="768096"/>
          </a:xfrm>
          <a:prstGeom prst="roundRect">
            <a:avLst>
              <a:gd name="adj" fmla="val 18182"/>
            </a:avLst>
          </a:prstGeom>
          <a:solidFill>
            <a:srgbClr val="B45309"/>
          </a:solidFill>
          <a:ln w="12700">
            <a:solidFill>
              <a:srgbClr val="B45309"/>
            </a:solidFill>
            <a:prstDash val="solid"/>
          </a:ln>
        </p:spPr>
      </p:sp>
      <p:sp>
        <p:nvSpPr>
          <p:cNvPr id="80" name="shape-76"/>
          <p:cNvSpPr/>
          <p:nvPr/>
        </p:nvSpPr>
        <p:spPr>
          <a:xfrm>
            <a:off x="877824" y="4974336"/>
            <a:ext cx="73152" cy="768096"/>
          </a:xfrm>
          <a:prstGeom prst="rect">
            <a:avLst/>
          </a:prstGeom>
          <a:solidFill>
            <a:srgbClr val="B45309"/>
          </a:solidFill>
          <a:ln w="12700">
            <a:solidFill>
              <a:srgbClr val="B45309"/>
            </a:solidFill>
            <a:prstDash val="solid"/>
          </a:ln>
        </p:spPr>
      </p:sp>
      <p:sp>
        <p:nvSpPr>
          <p:cNvPr id="81" name="text-77"/>
          <p:cNvSpPr txBox="1"/>
          <p:nvPr/>
        </p:nvSpPr>
        <p:spPr>
          <a:xfrm>
            <a:off x="548640" y="4974336"/>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82" name="text-78"/>
          <p:cNvSpPr txBox="1"/>
          <p:nvPr/>
        </p:nvSpPr>
        <p:spPr>
          <a:xfrm>
            <a:off x="1042416" y="4974336"/>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Azure identity and access plane, API gateway / service bus, monitoring, standards</a:t>
            </a:r>
            <a:endParaRPr lang="en-US" sz="950" dirty="0"/>
          </a:p>
        </p:txBody>
      </p:sp>
      <p:sp>
        <p:nvSpPr>
          <p:cNvPr id="83" name="shape-79"/>
          <p:cNvSpPr/>
          <p:nvPr/>
        </p:nvSpPr>
        <p:spPr>
          <a:xfrm>
            <a:off x="3493008" y="4974336"/>
            <a:ext cx="1874520" cy="768096"/>
          </a:xfrm>
          <a:prstGeom prst="roundRect">
            <a:avLst>
              <a:gd name="adj" fmla="val 9524"/>
            </a:avLst>
          </a:prstGeom>
          <a:solidFill>
            <a:srgbClr val="FFFFFF"/>
          </a:solidFill>
          <a:ln w="15875">
            <a:solidFill>
              <a:srgbClr val="D4DBE0"/>
            </a:solidFill>
            <a:prstDash val="solid"/>
          </a:ln>
        </p:spPr>
      </p:sp>
      <p:sp>
        <p:nvSpPr>
          <p:cNvPr id="84" name="text-80"/>
          <p:cNvSpPr txBox="1"/>
          <p:nvPr/>
        </p:nvSpPr>
        <p:spPr>
          <a:xfrm>
            <a:off x="3566160"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plus risk and reputation</a:t>
            </a:r>
            <a:endParaRPr lang="en-US" sz="950" dirty="0"/>
          </a:p>
        </p:txBody>
      </p:sp>
      <p:sp>
        <p:nvSpPr>
          <p:cNvPr id="85" name="shape-81"/>
          <p:cNvSpPr/>
          <p:nvPr/>
        </p:nvSpPr>
        <p:spPr>
          <a:xfrm>
            <a:off x="5568696" y="4974336"/>
            <a:ext cx="1874520" cy="768096"/>
          </a:xfrm>
          <a:prstGeom prst="roundRect">
            <a:avLst>
              <a:gd name="adj" fmla="val 9524"/>
            </a:avLst>
          </a:prstGeom>
          <a:solidFill>
            <a:srgbClr val="FFFFFF"/>
          </a:solidFill>
          <a:ln w="15875">
            <a:solidFill>
              <a:srgbClr val="D4DBE0"/>
            </a:solidFill>
            <a:prstDash val="solid"/>
          </a:ln>
        </p:spPr>
      </p:sp>
      <p:sp>
        <p:nvSpPr>
          <p:cNvPr id="86" name="text-82"/>
          <p:cNvSpPr txBox="1"/>
          <p:nvPr/>
        </p:nvSpPr>
        <p:spPr>
          <a:xfrm>
            <a:off x="5641848"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A wherever it sits in A’s path</a:t>
            </a:r>
            <a:endParaRPr lang="en-US" sz="950" dirty="0"/>
          </a:p>
        </p:txBody>
      </p:sp>
      <p:sp>
        <p:nvSpPr>
          <p:cNvPr id="87" name="shape-83"/>
          <p:cNvSpPr/>
          <p:nvPr/>
        </p:nvSpPr>
        <p:spPr>
          <a:xfrm>
            <a:off x="7644384" y="4974336"/>
            <a:ext cx="2194560" cy="768096"/>
          </a:xfrm>
          <a:prstGeom prst="roundRect">
            <a:avLst>
              <a:gd name="adj" fmla="val 9524"/>
            </a:avLst>
          </a:prstGeom>
          <a:solidFill>
            <a:srgbClr val="FFFFFF"/>
          </a:solidFill>
          <a:ln w="15875">
            <a:solidFill>
              <a:srgbClr val="D4DBE0"/>
            </a:solidFill>
            <a:prstDash val="solid"/>
          </a:ln>
        </p:spPr>
      </p:sp>
      <p:sp>
        <p:nvSpPr>
          <p:cNvPr id="88" name="text-84"/>
          <p:cNvSpPr txBox="1"/>
          <p:nvPr/>
        </p:nvSpPr>
        <p:spPr>
          <a:xfrm>
            <a:off x="7717536" y="4974336"/>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but bend to accommodate A and third parties</a:t>
            </a:r>
            <a:endParaRPr lang="en-US" sz="950" dirty="0"/>
          </a:p>
        </p:txBody>
      </p:sp>
      <p:sp>
        <p:nvSpPr>
          <p:cNvPr id="89" name="tri-85"/>
          <p:cNvSpPr/>
          <p:nvPr/>
        </p:nvSpPr>
        <p:spPr>
          <a:xfrm rot="5400000">
            <a:off x="3337560" y="5303520"/>
            <a:ext cx="109728" cy="109728"/>
          </a:xfrm>
          <a:prstGeom prst="triangle">
            <a:avLst/>
          </a:prstGeom>
          <a:solidFill>
            <a:srgbClr val="D4DBE0"/>
          </a:solidFill>
          <a:ln w="12700">
            <a:solidFill>
              <a:srgbClr val="D4DBE0"/>
            </a:solidFill>
            <a:prstDash val="solid"/>
          </a:ln>
        </p:spPr>
      </p:sp>
      <p:sp>
        <p:nvSpPr>
          <p:cNvPr id="90" name="tri-86"/>
          <p:cNvSpPr/>
          <p:nvPr/>
        </p:nvSpPr>
        <p:spPr>
          <a:xfrm rot="5400000">
            <a:off x="5413248" y="5303520"/>
            <a:ext cx="109728" cy="109728"/>
          </a:xfrm>
          <a:prstGeom prst="triangle">
            <a:avLst/>
          </a:prstGeom>
          <a:solidFill>
            <a:srgbClr val="D4DBE0"/>
          </a:solidFill>
          <a:ln w="12700">
            <a:solidFill>
              <a:srgbClr val="D4DBE0"/>
            </a:solidFill>
            <a:prstDash val="solid"/>
          </a:ln>
        </p:spPr>
      </p:sp>
      <p:sp>
        <p:nvSpPr>
          <p:cNvPr id="91" name="tri-87"/>
          <p:cNvSpPr/>
          <p:nvPr/>
        </p:nvSpPr>
        <p:spPr>
          <a:xfrm rot="5400000">
            <a:off x="7488936" y="5303520"/>
            <a:ext cx="109728" cy="109728"/>
          </a:xfrm>
          <a:prstGeom prst="triangle">
            <a:avLst/>
          </a:prstGeom>
          <a:solidFill>
            <a:srgbClr val="D4DBE0"/>
          </a:solidFill>
          <a:ln w="12700">
            <a:solidFill>
              <a:srgbClr val="D4DBE0"/>
            </a:solidFill>
            <a:prstDash val="solid"/>
          </a:ln>
        </p:spPr>
      </p:sp>
      <p:sp>
        <p:nvSpPr>
          <p:cNvPr id="92" name="shape-88"/>
          <p:cNvSpPr/>
          <p:nvPr/>
        </p:nvSpPr>
        <p:spPr>
          <a:xfrm>
            <a:off x="10076688" y="4974336"/>
            <a:ext cx="1737360" cy="768096"/>
          </a:xfrm>
          <a:prstGeom prst="roundRect">
            <a:avLst>
              <a:gd name="adj" fmla="val 9524"/>
            </a:avLst>
          </a:prstGeom>
          <a:solidFill>
            <a:srgbClr val="D6ECE9"/>
          </a:solidFill>
          <a:ln w="15875">
            <a:solidFill>
              <a:srgbClr val="0F766E"/>
            </a:solidFill>
            <a:prstDash val="sysDash"/>
          </a:ln>
        </p:spPr>
      </p:sp>
      <p:sp>
        <p:nvSpPr>
          <p:cNvPr id="93" name="oval-89"/>
          <p:cNvSpPr/>
          <p:nvPr/>
        </p:nvSpPr>
        <p:spPr>
          <a:xfrm>
            <a:off x="10149840" y="5266944"/>
            <a:ext cx="182880" cy="182880"/>
          </a:xfrm>
          <a:prstGeom prst="ellipse">
            <a:avLst/>
          </a:prstGeom>
          <a:solidFill>
            <a:srgbClr val="0F766E"/>
          </a:solidFill>
          <a:ln w="12700">
            <a:solidFill>
              <a:srgbClr val="0F766E"/>
            </a:solidFill>
            <a:prstDash val="solid"/>
          </a:ln>
        </p:spPr>
      </p:sp>
      <p:sp>
        <p:nvSpPr>
          <p:cNvPr id="94" name="text-90"/>
          <p:cNvSpPr txBox="1"/>
          <p:nvPr/>
        </p:nvSpPr>
        <p:spPr>
          <a:xfrm>
            <a:off x="10149840" y="5266944"/>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95" name="text-91"/>
          <p:cNvSpPr txBox="1"/>
          <p:nvPr/>
        </p:nvSpPr>
        <p:spPr>
          <a:xfrm>
            <a:off x="10405872" y="4974336"/>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Review, triage, runbooks</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THE RESILIENCE TOOLKIT FOR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Five kinds of protection a five-nines product needs on the way to an intelligent digital platform</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Replay from the bus after outages</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658368"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77" name="shape-73"/>
          <p:cNvSpPr/>
          <p:nvPr/>
        </p:nvSpPr>
        <p:spPr>
          <a:xfrm>
            <a:off x="1426464" y="5294376"/>
            <a:ext cx="201168" cy="146304"/>
          </a:xfrm>
          <a:prstGeom prst="roundRect">
            <a:avLst>
              <a:gd name="adj" fmla="val 50000"/>
            </a:avLst>
          </a:prstGeom>
          <a:solidFill>
            <a:srgbClr val="134E4A"/>
          </a:solidFill>
          <a:ln w="12700">
            <a:solidFill>
              <a:srgbClr val="134E4A"/>
            </a:solidFill>
            <a:prstDash val="solid"/>
          </a:ln>
        </p:spPr>
      </p:sp>
      <p:sp>
        <p:nvSpPr>
          <p:cNvPr id="78" name="text-74"/>
          <p:cNvSpPr txBox="1"/>
          <p:nvPr/>
        </p:nvSpPr>
        <p:spPr>
          <a:xfrm>
            <a:off x="1426464"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79" name="shape-75"/>
          <p:cNvSpPr/>
          <p:nvPr/>
        </p:nvSpPr>
        <p:spPr>
          <a:xfrm>
            <a:off x="1682496" y="5294376"/>
            <a:ext cx="201168" cy="146304"/>
          </a:xfrm>
          <a:prstGeom prst="roundRect">
            <a:avLst>
              <a:gd name="adj" fmla="val 50000"/>
            </a:avLst>
          </a:prstGeom>
          <a:solidFill>
            <a:srgbClr val="B45309"/>
          </a:solidFill>
          <a:ln w="12700">
            <a:solidFill>
              <a:srgbClr val="B45309"/>
            </a:solidFill>
            <a:prstDash val="solid"/>
          </a:ln>
        </p:spPr>
      </p:sp>
      <p:sp>
        <p:nvSpPr>
          <p:cNvPr id="80" name="text-76"/>
          <p:cNvSpPr txBox="1"/>
          <p:nvPr/>
        </p:nvSpPr>
        <p:spPr>
          <a:xfrm>
            <a:off x="1682496"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81" name="text-77"/>
          <p:cNvSpPr txBox="1"/>
          <p:nvPr/>
        </p:nvSpPr>
        <p:spPr>
          <a:xfrm>
            <a:off x="2893162"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82" name="shape-78"/>
          <p:cNvSpPr/>
          <p:nvPr/>
        </p:nvSpPr>
        <p:spPr>
          <a:xfrm>
            <a:off x="3661258" y="5294376"/>
            <a:ext cx="201168" cy="146304"/>
          </a:xfrm>
          <a:prstGeom prst="roundRect">
            <a:avLst>
              <a:gd name="adj" fmla="val 50000"/>
            </a:avLst>
          </a:prstGeom>
          <a:solidFill>
            <a:srgbClr val="134E4A"/>
          </a:solidFill>
          <a:ln w="12700">
            <a:solidFill>
              <a:srgbClr val="134E4A"/>
            </a:solidFill>
            <a:prstDash val="solid"/>
          </a:ln>
        </p:spPr>
      </p:sp>
      <p:sp>
        <p:nvSpPr>
          <p:cNvPr id="83" name="text-79"/>
          <p:cNvSpPr txBox="1"/>
          <p:nvPr/>
        </p:nvSpPr>
        <p:spPr>
          <a:xfrm>
            <a:off x="3661258"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84" name="shape-80"/>
          <p:cNvSpPr/>
          <p:nvPr/>
        </p:nvSpPr>
        <p:spPr>
          <a:xfrm>
            <a:off x="3917290" y="5294376"/>
            <a:ext cx="201168" cy="146304"/>
          </a:xfrm>
          <a:prstGeom prst="roundRect">
            <a:avLst>
              <a:gd name="adj" fmla="val 50000"/>
            </a:avLst>
          </a:prstGeom>
          <a:solidFill>
            <a:srgbClr val="B45309"/>
          </a:solidFill>
          <a:ln w="12700">
            <a:solidFill>
              <a:srgbClr val="B45309"/>
            </a:solidFill>
            <a:prstDash val="solid"/>
          </a:ln>
        </p:spPr>
      </p:sp>
      <p:sp>
        <p:nvSpPr>
          <p:cNvPr id="85" name="text-81"/>
          <p:cNvSpPr txBox="1"/>
          <p:nvPr/>
        </p:nvSpPr>
        <p:spPr>
          <a:xfrm>
            <a:off x="3917290"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86" name="text-82"/>
          <p:cNvSpPr txBox="1"/>
          <p:nvPr/>
        </p:nvSpPr>
        <p:spPr>
          <a:xfrm>
            <a:off x="5127955"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87" name="shape-83"/>
          <p:cNvSpPr/>
          <p:nvPr/>
        </p:nvSpPr>
        <p:spPr>
          <a:xfrm>
            <a:off x="5896051" y="5294376"/>
            <a:ext cx="201168" cy="146304"/>
          </a:xfrm>
          <a:prstGeom prst="roundRect">
            <a:avLst>
              <a:gd name="adj" fmla="val 50000"/>
            </a:avLst>
          </a:prstGeom>
          <a:solidFill>
            <a:srgbClr val="134E4A"/>
          </a:solidFill>
          <a:ln w="12700">
            <a:solidFill>
              <a:srgbClr val="134E4A"/>
            </a:solidFill>
            <a:prstDash val="solid"/>
          </a:ln>
        </p:spPr>
      </p:sp>
      <p:sp>
        <p:nvSpPr>
          <p:cNvPr id="88" name="text-84"/>
          <p:cNvSpPr txBox="1"/>
          <p:nvPr/>
        </p:nvSpPr>
        <p:spPr>
          <a:xfrm>
            <a:off x="5896051"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89" name="shape-85"/>
          <p:cNvSpPr/>
          <p:nvPr/>
        </p:nvSpPr>
        <p:spPr>
          <a:xfrm>
            <a:off x="6152083" y="5294376"/>
            <a:ext cx="201168" cy="146304"/>
          </a:xfrm>
          <a:prstGeom prst="roundRect">
            <a:avLst>
              <a:gd name="adj" fmla="val 50000"/>
            </a:avLst>
          </a:prstGeom>
          <a:solidFill>
            <a:srgbClr val="0F766E"/>
          </a:solidFill>
          <a:ln w="12700">
            <a:solidFill>
              <a:srgbClr val="0F766E"/>
            </a:solidFill>
            <a:prstDash val="solid"/>
          </a:ln>
        </p:spPr>
      </p:sp>
      <p:sp>
        <p:nvSpPr>
          <p:cNvPr id="90" name="text-86"/>
          <p:cNvSpPr txBox="1"/>
          <p:nvPr/>
        </p:nvSpPr>
        <p:spPr>
          <a:xfrm>
            <a:off x="6152083"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91" name="text-87"/>
          <p:cNvSpPr txBox="1"/>
          <p:nvPr/>
        </p:nvSpPr>
        <p:spPr>
          <a:xfrm>
            <a:off x="7362749"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92" name="shape-88"/>
          <p:cNvSpPr/>
          <p:nvPr/>
        </p:nvSpPr>
        <p:spPr>
          <a:xfrm>
            <a:off x="8130845" y="5294376"/>
            <a:ext cx="201168" cy="146304"/>
          </a:xfrm>
          <a:prstGeom prst="roundRect">
            <a:avLst>
              <a:gd name="adj" fmla="val 50000"/>
            </a:avLst>
          </a:prstGeom>
          <a:solidFill>
            <a:srgbClr val="134E4A"/>
          </a:solidFill>
          <a:ln w="12700">
            <a:solidFill>
              <a:srgbClr val="134E4A"/>
            </a:solidFill>
            <a:prstDash val="solid"/>
          </a:ln>
        </p:spPr>
      </p:sp>
      <p:sp>
        <p:nvSpPr>
          <p:cNvPr id="93" name="text-89"/>
          <p:cNvSpPr txBox="1"/>
          <p:nvPr/>
        </p:nvSpPr>
        <p:spPr>
          <a:xfrm>
            <a:off x="8130845"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94" name="shape-90"/>
          <p:cNvSpPr/>
          <p:nvPr/>
        </p:nvSpPr>
        <p:spPr>
          <a:xfrm>
            <a:off x="8386877" y="5294376"/>
            <a:ext cx="201168" cy="146304"/>
          </a:xfrm>
          <a:prstGeom prst="roundRect">
            <a:avLst>
              <a:gd name="adj" fmla="val 50000"/>
            </a:avLst>
          </a:prstGeom>
          <a:solidFill>
            <a:srgbClr val="B45309"/>
          </a:solidFill>
          <a:ln w="12700">
            <a:solidFill>
              <a:srgbClr val="B45309"/>
            </a:solidFill>
            <a:prstDash val="solid"/>
          </a:ln>
        </p:spPr>
      </p:sp>
      <p:sp>
        <p:nvSpPr>
          <p:cNvPr id="95" name="text-91"/>
          <p:cNvSpPr txBox="1"/>
          <p:nvPr/>
        </p:nvSpPr>
        <p:spPr>
          <a:xfrm>
            <a:off x="8386877"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96" name="text-92"/>
          <p:cNvSpPr txBox="1"/>
          <p:nvPr/>
        </p:nvSpPr>
        <p:spPr>
          <a:xfrm>
            <a:off x="9597542" y="5266944"/>
            <a:ext cx="822960" cy="164592"/>
          </a:xfrm>
          <a:prstGeom prst="rect">
            <a:avLst/>
          </a:prstGeom>
          <a:noFill/>
          <a:ln/>
        </p:spPr>
        <p:txBody>
          <a:bodyPr wrap="square" lIns="0" tIns="0" rIns="0" bIns="0" rtlCol="0" anchor="ctr"/>
          <a:lstStyle/>
          <a:p>
            <a:pPr algn="l" indent="0" marL="0">
              <a:lnSpc>
                <a:spcPct val="100000"/>
              </a:lnSpc>
              <a:buNone/>
            </a:pPr>
            <a:r>
              <a:rPr lang="en-US" sz="750" b="1" spc="150" kern="0" dirty="0">
                <a:solidFill>
                  <a:srgbClr val="5A6B75"/>
                </a:solidFill>
                <a:latin typeface="Calibri" pitchFamily="34" charset="0"/>
                <a:ea typeface="Calibri" pitchFamily="34" charset="-122"/>
                <a:cs typeface="Calibri" pitchFamily="34" charset="-120"/>
              </a:rPr>
              <a:t>APPLIES TO</a:t>
            </a:r>
            <a:endParaRPr lang="en-US" sz="750" dirty="0"/>
          </a:p>
        </p:txBody>
      </p:sp>
      <p:sp>
        <p:nvSpPr>
          <p:cNvPr id="97" name="shape-93"/>
          <p:cNvSpPr/>
          <p:nvPr/>
        </p:nvSpPr>
        <p:spPr>
          <a:xfrm>
            <a:off x="10365638" y="5294376"/>
            <a:ext cx="201168" cy="146304"/>
          </a:xfrm>
          <a:prstGeom prst="roundRect">
            <a:avLst>
              <a:gd name="adj" fmla="val 50000"/>
            </a:avLst>
          </a:prstGeom>
          <a:solidFill>
            <a:srgbClr val="134E4A"/>
          </a:solidFill>
          <a:ln w="12700">
            <a:solidFill>
              <a:srgbClr val="134E4A"/>
            </a:solidFill>
            <a:prstDash val="solid"/>
          </a:ln>
        </p:spPr>
      </p:sp>
      <p:sp>
        <p:nvSpPr>
          <p:cNvPr id="98" name="text-94"/>
          <p:cNvSpPr txBox="1"/>
          <p:nvPr/>
        </p:nvSpPr>
        <p:spPr>
          <a:xfrm>
            <a:off x="10365638"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99" name="shape-95"/>
          <p:cNvSpPr/>
          <p:nvPr/>
        </p:nvSpPr>
        <p:spPr>
          <a:xfrm>
            <a:off x="10621670" y="5294376"/>
            <a:ext cx="201168" cy="146304"/>
          </a:xfrm>
          <a:prstGeom prst="roundRect">
            <a:avLst>
              <a:gd name="adj" fmla="val 50000"/>
            </a:avLst>
          </a:prstGeom>
          <a:solidFill>
            <a:srgbClr val="0F766E"/>
          </a:solidFill>
          <a:ln w="12700">
            <a:solidFill>
              <a:srgbClr val="0F766E"/>
            </a:solidFill>
            <a:prstDash val="solid"/>
          </a:ln>
        </p:spPr>
      </p:sp>
      <p:sp>
        <p:nvSpPr>
          <p:cNvPr id="100" name="text-96"/>
          <p:cNvSpPr txBox="1"/>
          <p:nvPr/>
        </p:nvSpPr>
        <p:spPr>
          <a:xfrm>
            <a:off x="10621670" y="5294376"/>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01" name="text-97"/>
          <p:cNvSpPr txBox="1"/>
          <p:nvPr/>
        </p:nvSpPr>
        <p:spPr>
          <a:xfrm>
            <a:off x="548640" y="5632704"/>
            <a:ext cx="11064240" cy="164592"/>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A product · B content tooling · X cross-cutting · C commodity keeps a standard posture and shares no fate with A</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PUBLISHING AND ROLLBACK INSIDE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publishing hub, regional nodes that serve alone, rollback by re-pointing</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5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5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5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5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OTHER CONSIDERATIONS — TO EVALUATE AT GATE 2, NOT CHANGES</a:t>
            </a:r>
            <a:endParaRPr lang="en-US" sz="800" dirty="0"/>
          </a:p>
        </p:txBody>
      </p:sp>
      <p:sp>
        <p:nvSpPr>
          <p:cNvPr id="67" name="text-63"/>
          <p:cNvSpPr txBox="1"/>
          <p:nvPr/>
        </p:nvSpPr>
        <p:spPr>
          <a:xfrm>
            <a:off x="6327648" y="4718304"/>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Event backbone: replay and ordering for the product path</a:t>
            </a:r>
            <a:endParaRPr lang="en-US" sz="900" dirty="0"/>
          </a:p>
        </p:txBody>
      </p:sp>
      <p:sp>
        <p:nvSpPr>
          <p:cNvPr id="68" name="shape-64"/>
          <p:cNvSpPr/>
          <p:nvPr/>
        </p:nvSpPr>
        <p:spPr>
          <a:xfrm>
            <a:off x="9235440" y="4718304"/>
            <a:ext cx="1078992"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235440" y="4718304"/>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Kafka-class log</a:t>
            </a:r>
            <a:endParaRPr lang="en-US" sz="750" dirty="0"/>
          </a:p>
        </p:txBody>
      </p:sp>
      <p:sp>
        <p:nvSpPr>
          <p:cNvPr id="70" name="text-66"/>
          <p:cNvSpPr txBox="1"/>
          <p:nvPr/>
        </p:nvSpPr>
        <p:spPr>
          <a:xfrm>
            <a:off x="10387584" y="4718304"/>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bus as proposed otherwise</a:t>
            </a:r>
            <a:endParaRPr lang="en-US" sz="800" dirty="0"/>
          </a:p>
        </p:txBody>
      </p:sp>
      <p:sp>
        <p:nvSpPr>
          <p:cNvPr id="71" name="text-67"/>
          <p:cNvSpPr txBox="1"/>
          <p:nvPr/>
        </p:nvSpPr>
        <p:spPr>
          <a:xfrm>
            <a:off x="6327648" y="4974336"/>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Institutional single sign-on for universities and hospitals</a:t>
            </a:r>
            <a:endParaRPr lang="en-US" sz="900" dirty="0"/>
          </a:p>
        </p:txBody>
      </p:sp>
      <p:sp>
        <p:nvSpPr>
          <p:cNvPr id="72" name="shape-68"/>
          <p:cNvSpPr/>
          <p:nvPr/>
        </p:nvSpPr>
        <p:spPr>
          <a:xfrm>
            <a:off x="9235440" y="4974336"/>
            <a:ext cx="1078992"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235440" y="4974336"/>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Shibboleth / SAML</a:t>
            </a:r>
            <a:endParaRPr lang="en-US" sz="750" dirty="0"/>
          </a:p>
        </p:txBody>
      </p:sp>
      <p:sp>
        <p:nvSpPr>
          <p:cNvPr id="74" name="text-70"/>
          <p:cNvSpPr txBox="1"/>
          <p:nvPr/>
        </p:nvSpPr>
        <p:spPr>
          <a:xfrm>
            <a:off x="10387584" y="4974336"/>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via the identity plane</a:t>
            </a:r>
            <a:endParaRPr lang="en-US" sz="800" dirty="0"/>
          </a:p>
        </p:txBody>
      </p:sp>
      <p:sp>
        <p:nvSpPr>
          <p:cNvPr id="75" name="text-71"/>
          <p:cNvSpPr txBox="1"/>
          <p:nvPr/>
        </p:nvSpPr>
        <p:spPr>
          <a:xfrm>
            <a:off x="6327648" y="5230368"/>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Learning-platform integration</a:t>
            </a:r>
            <a:endParaRPr lang="en-US" sz="900" dirty="0"/>
          </a:p>
        </p:txBody>
      </p:sp>
      <p:sp>
        <p:nvSpPr>
          <p:cNvPr id="76" name="shape-72"/>
          <p:cNvSpPr/>
          <p:nvPr/>
        </p:nvSpPr>
        <p:spPr>
          <a:xfrm>
            <a:off x="9235440" y="5230368"/>
            <a:ext cx="1078992"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235440" y="5230368"/>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LTI / LIS</a:t>
            </a:r>
            <a:endParaRPr lang="en-US" sz="750" dirty="0"/>
          </a:p>
        </p:txBody>
      </p:sp>
      <p:sp>
        <p:nvSpPr>
          <p:cNvPr id="78" name="text-74"/>
          <p:cNvSpPr txBox="1"/>
          <p:nvPr/>
        </p:nvSpPr>
        <p:spPr>
          <a:xfrm>
            <a:off x="10387584" y="5230368"/>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where institutions embed content</a:t>
            </a:r>
            <a:endParaRPr lang="en-US" sz="800" dirty="0"/>
          </a:p>
        </p:txBody>
      </p:sp>
      <p:sp>
        <p:nvSpPr>
          <p:cNvPr id="79" name="text-75"/>
          <p:cNvSpPr txBox="1"/>
          <p:nvPr/>
        </p:nvSpPr>
        <p:spPr>
          <a:xfrm>
            <a:off x="6327648" y="5486400"/>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Clinical and prescribing system integration</a:t>
            </a:r>
            <a:endParaRPr lang="en-US" sz="900" dirty="0"/>
          </a:p>
        </p:txBody>
      </p:sp>
      <p:sp>
        <p:nvSpPr>
          <p:cNvPr id="80" name="shape-76"/>
          <p:cNvSpPr/>
          <p:nvPr/>
        </p:nvSpPr>
        <p:spPr>
          <a:xfrm>
            <a:off x="9235440" y="5486400"/>
            <a:ext cx="1078992"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235440" y="5486400"/>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clinical standards</a:t>
            </a:r>
            <a:endParaRPr lang="en-US" sz="750" dirty="0"/>
          </a:p>
        </p:txBody>
      </p:sp>
      <p:sp>
        <p:nvSpPr>
          <p:cNvPr id="82" name="text-78"/>
          <p:cNvSpPr txBox="1"/>
          <p:nvPr/>
        </p:nvSpPr>
        <p:spPr>
          <a:xfrm>
            <a:off x="10387584" y="5486400"/>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contracts before connections</a:t>
            </a:r>
            <a:endParaRPr lang="en-US" sz="800" dirty="0"/>
          </a:p>
        </p:txBody>
      </p:sp>
      <p:sp>
        <p:nvSpPr>
          <p:cNvPr id="83" name="text-79"/>
          <p:cNvSpPr txBox="1"/>
          <p:nvPr/>
        </p:nvSpPr>
        <p:spPr>
          <a:xfrm>
            <a:off x="6327648" y="5742432"/>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Operating any of it with a team of six</a:t>
            </a:r>
            <a:endParaRPr lang="en-US" sz="900" dirty="0"/>
          </a:p>
        </p:txBody>
      </p:sp>
      <p:sp>
        <p:nvSpPr>
          <p:cNvPr id="84" name="shape-80"/>
          <p:cNvSpPr/>
          <p:nvPr/>
        </p:nvSpPr>
        <p:spPr>
          <a:xfrm>
            <a:off x="9235440" y="5742432"/>
            <a:ext cx="1078992" cy="155448"/>
          </a:xfrm>
          <a:prstGeom prst="roundRect">
            <a:avLst>
              <a:gd name="adj" fmla="val 50000"/>
            </a:avLst>
          </a:prstGeom>
          <a:solidFill>
            <a:srgbClr val="B45309"/>
          </a:solidFill>
          <a:ln w="12700">
            <a:solidFill>
              <a:srgbClr val="B45309"/>
            </a:solidFill>
            <a:prstDash val="solid"/>
          </a:ln>
        </p:spPr>
      </p:sp>
      <p:sp>
        <p:nvSpPr>
          <p:cNvPr id="85" name="text-81"/>
          <p:cNvSpPr txBox="1"/>
          <p:nvPr/>
        </p:nvSpPr>
        <p:spPr>
          <a:xfrm>
            <a:off x="9235440" y="5742432"/>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6" name="text-82"/>
          <p:cNvSpPr txBox="1"/>
          <p:nvPr/>
        </p:nvSpPr>
        <p:spPr>
          <a:xfrm>
            <a:off x="10387584" y="5742432"/>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TEAM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NOT A DECISION</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CTO</a:t>
            </a:r>
            <a:endParaRPr lang="en-US" sz="1500" dirty="0"/>
          </a:p>
        </p:txBody>
      </p:sp>
      <p:sp>
        <p:nvSpPr>
          <p:cNvPr id="9" name="text-5"/>
          <p:cNvSpPr txBox="1"/>
          <p:nvPr/>
        </p:nvSpPr>
        <p:spPr>
          <a:xfrm>
            <a:off x="3291840" y="168249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CFE8E5"/>
                </a:solidFill>
                <a:latin typeface="Calibri" pitchFamily="34" charset="0"/>
                <a:ea typeface="Calibri" pitchFamily="34" charset="-122"/>
                <a:cs typeface="Calibri" pitchFamily="34" charset="-120"/>
              </a:rPr>
              <a:t>Strategy, architecture, transformation, PM, roadmap</a:t>
            </a:r>
            <a:endParaRPr lang="en-US" sz="11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C2B33"/>
                </a:solidFill>
                <a:latin typeface="Calibri" pitchFamily="34" charset="0"/>
                <a:ea typeface="Calibri" pitchFamily="34" charset="-122"/>
                <a:cs typeface="Calibri" pitchFamily="34" charset="-120"/>
              </a:rPr>
              <a:t>Lead Engineer</a:t>
            </a:r>
            <a:endParaRPr lang="en-US" sz="1500" dirty="0"/>
          </a:p>
        </p:txBody>
      </p:sp>
      <p:sp>
        <p:nvSpPr>
          <p:cNvPr id="20" name="text-16"/>
          <p:cNvSpPr txBox="1"/>
          <p:nvPr/>
        </p:nvSpPr>
        <p:spPr>
          <a:xfrm>
            <a:off x="3291840" y="232257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Standards, build, maintain, technical QA</a:t>
            </a:r>
            <a:endParaRPr lang="en-US" sz="11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6693408" y="2532888"/>
            <a:ext cx="201168" cy="146304"/>
          </a:xfrm>
          <a:prstGeom prst="roundRect">
            <a:avLst>
              <a:gd name="adj" fmla="val 50000"/>
            </a:avLst>
          </a:prstGeom>
          <a:solidFill>
            <a:srgbClr val="0F766E"/>
          </a:solidFill>
          <a:ln w="12700">
            <a:solidFill>
              <a:srgbClr val="0F766E"/>
            </a:solidFill>
            <a:prstDash val="solid"/>
          </a:ln>
        </p:spPr>
      </p:sp>
      <p:sp>
        <p:nvSpPr>
          <p:cNvPr id="26" name="text-22"/>
          <p:cNvSpPr txBox="1"/>
          <p:nvPr/>
        </p:nvSpPr>
        <p:spPr>
          <a:xfrm>
            <a:off x="6693408"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7" name="shape-23"/>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8" name="text-24"/>
          <p:cNvSpPr txBox="1"/>
          <p:nvPr/>
        </p:nvSpPr>
        <p:spPr>
          <a:xfrm>
            <a:off x="713232" y="296265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C2B33"/>
                </a:solidFill>
                <a:latin typeface="Calibri" pitchFamily="34" charset="0"/>
                <a:ea typeface="Calibri" pitchFamily="34" charset="-122"/>
                <a:cs typeface="Calibri" pitchFamily="34" charset="-120"/>
              </a:rPr>
              <a:t>Developer</a:t>
            </a:r>
            <a:endParaRPr lang="en-US" sz="1500" dirty="0"/>
          </a:p>
        </p:txBody>
      </p:sp>
      <p:sp>
        <p:nvSpPr>
          <p:cNvPr id="29" name="text-25"/>
          <p:cNvSpPr txBox="1"/>
          <p:nvPr/>
        </p:nvSpPr>
        <p:spPr>
          <a:xfrm>
            <a:off x="3291840" y="296265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Build, maintain, technical QA</a:t>
            </a:r>
            <a:endParaRPr lang="en-US" sz="1150" dirty="0"/>
          </a:p>
        </p:txBody>
      </p:sp>
      <p:sp>
        <p:nvSpPr>
          <p:cNvPr id="30" name="shape-26"/>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2" name="shape-28"/>
          <p:cNvSpPr/>
          <p:nvPr/>
        </p:nvSpPr>
        <p:spPr>
          <a:xfrm>
            <a:off x="6949440" y="3172968"/>
            <a:ext cx="201168" cy="146304"/>
          </a:xfrm>
          <a:prstGeom prst="roundRect">
            <a:avLst>
              <a:gd name="adj" fmla="val 50000"/>
            </a:avLst>
          </a:prstGeom>
          <a:solidFill>
            <a:srgbClr val="B45309"/>
          </a:solidFill>
          <a:ln w="12700">
            <a:solidFill>
              <a:srgbClr val="B45309"/>
            </a:solidFill>
            <a:prstDash val="solid"/>
          </a:ln>
        </p:spPr>
      </p:sp>
      <p:sp>
        <p:nvSpPr>
          <p:cNvPr id="33" name="text-29"/>
          <p:cNvSpPr txBox="1"/>
          <p:nvPr/>
        </p:nvSpPr>
        <p:spPr>
          <a:xfrm>
            <a:off x="6949440"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4" name="shape-30"/>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5" name="text-31"/>
          <p:cNvSpPr txBox="1"/>
          <p:nvPr/>
        </p:nvSpPr>
        <p:spPr>
          <a:xfrm>
            <a:off x="713232" y="360273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C2B33"/>
                </a:solidFill>
                <a:latin typeface="Calibri" pitchFamily="34" charset="0"/>
                <a:ea typeface="Calibri" pitchFamily="34" charset="-122"/>
                <a:cs typeface="Calibri" pitchFamily="34" charset="-120"/>
              </a:rPr>
              <a:t>DevSecOps Platform Engineer</a:t>
            </a:r>
            <a:endParaRPr lang="en-US" sz="1500" dirty="0"/>
          </a:p>
        </p:txBody>
      </p:sp>
      <p:sp>
        <p:nvSpPr>
          <p:cNvPr id="36" name="text-32"/>
          <p:cNvSpPr txBox="1"/>
          <p:nvPr/>
        </p:nvSpPr>
        <p:spPr>
          <a:xfrm>
            <a:off x="3291840" y="360273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Security, platform, pipeline</a:t>
            </a:r>
            <a:endParaRPr lang="en-US" sz="1150" dirty="0"/>
          </a:p>
        </p:txBody>
      </p:sp>
      <p:sp>
        <p:nvSpPr>
          <p:cNvPr id="37" name="shape-33"/>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8" name="text-34"/>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9" name="shape-35"/>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40" name="text-36"/>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1" name="shape-37"/>
          <p:cNvSpPr/>
          <p:nvPr/>
        </p:nvSpPr>
        <p:spPr>
          <a:xfrm>
            <a:off x="6693408" y="3813048"/>
            <a:ext cx="201168" cy="146304"/>
          </a:xfrm>
          <a:prstGeom prst="roundRect">
            <a:avLst>
              <a:gd name="adj" fmla="val 50000"/>
            </a:avLst>
          </a:prstGeom>
          <a:solidFill>
            <a:srgbClr val="0F766E"/>
          </a:solidFill>
          <a:ln w="12700">
            <a:solidFill>
              <a:srgbClr val="0F766E"/>
            </a:solidFill>
            <a:prstDash val="solid"/>
          </a:ln>
        </p:spPr>
      </p:sp>
      <p:sp>
        <p:nvSpPr>
          <p:cNvPr id="42" name="text-38"/>
          <p:cNvSpPr txBox="1"/>
          <p:nvPr/>
        </p:nvSpPr>
        <p:spPr>
          <a:xfrm>
            <a:off x="6693408"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3" name="shape-39"/>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44" name="text-40"/>
          <p:cNvSpPr txBox="1"/>
          <p:nvPr/>
        </p:nvSpPr>
        <p:spPr>
          <a:xfrm>
            <a:off x="713232" y="424281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C2B33"/>
                </a:solidFill>
                <a:latin typeface="Calibri" pitchFamily="34" charset="0"/>
                <a:ea typeface="Calibri" pitchFamily="34" charset="-122"/>
                <a:cs typeface="Calibri" pitchFamily="34" charset="-120"/>
              </a:rPr>
              <a:t>Product</a:t>
            </a:r>
            <a:endParaRPr lang="en-US" sz="1500" dirty="0"/>
          </a:p>
        </p:txBody>
      </p:sp>
      <p:sp>
        <p:nvSpPr>
          <p:cNvPr id="45" name="text-41"/>
          <p:cNvSpPr txBox="1"/>
          <p:nvPr/>
        </p:nvSpPr>
        <p:spPr>
          <a:xfrm>
            <a:off x="3291840" y="424281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Project, research, design</a:t>
            </a:r>
            <a:endParaRPr lang="en-US" sz="1150" dirty="0"/>
          </a:p>
        </p:txBody>
      </p:sp>
      <p:sp>
        <p:nvSpPr>
          <p:cNvPr id="46" name="shape-42"/>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7" name="text-43"/>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8" name="shape-44"/>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50" name="shape-46"/>
          <p:cNvSpPr/>
          <p:nvPr/>
        </p:nvSpPr>
        <p:spPr>
          <a:xfrm>
            <a:off x="6693408" y="4453128"/>
            <a:ext cx="201168" cy="146304"/>
          </a:xfrm>
          <a:prstGeom prst="roundRect">
            <a:avLst>
              <a:gd name="adj" fmla="val 50000"/>
            </a:avLst>
          </a:prstGeom>
          <a:solidFill>
            <a:srgbClr val="8A99A3"/>
          </a:solidFill>
          <a:ln w="12700">
            <a:solidFill>
              <a:srgbClr val="8A99A3"/>
            </a:solidFill>
            <a:prstDash val="solid"/>
          </a:ln>
        </p:spPr>
      </p:sp>
      <p:sp>
        <p:nvSpPr>
          <p:cNvPr id="51" name="text-47"/>
          <p:cNvSpPr txBox="1"/>
          <p:nvPr/>
        </p:nvSpPr>
        <p:spPr>
          <a:xfrm>
            <a:off x="6693408"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2" name="shape-48"/>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53" name="text-49"/>
          <p:cNvSpPr txBox="1"/>
          <p:nvPr/>
        </p:nvSpPr>
        <p:spPr>
          <a:xfrm>
            <a:off x="713232" y="4882896"/>
            <a:ext cx="246888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C2B33"/>
                </a:solidFill>
                <a:latin typeface="Calibri" pitchFamily="34" charset="0"/>
                <a:ea typeface="Calibri" pitchFamily="34" charset="-122"/>
                <a:cs typeface="Calibri" pitchFamily="34" charset="-120"/>
              </a:rPr>
              <a:t>BA / QA</a:t>
            </a:r>
            <a:endParaRPr lang="en-US" sz="1500" dirty="0"/>
          </a:p>
        </p:txBody>
      </p:sp>
      <p:sp>
        <p:nvSpPr>
          <p:cNvPr id="54" name="text-50"/>
          <p:cNvSpPr txBox="1"/>
          <p:nvPr/>
        </p:nvSpPr>
        <p:spPr>
          <a:xfrm>
            <a:off x="3291840" y="4882896"/>
            <a:ext cx="3200400" cy="54864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User testing, QA, product assistance</a:t>
            </a:r>
            <a:endParaRPr lang="en-US" sz="1150" dirty="0"/>
          </a:p>
        </p:txBody>
      </p:sp>
      <p:sp>
        <p:nvSpPr>
          <p:cNvPr id="55" name="shape-51"/>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56" name="text-52"/>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57" name="shape-53"/>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8" name="text-54"/>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9" name="text-55"/>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GATE 2 WOULD CHOOSE BETWEEN</a:t>
            </a:r>
            <a:endParaRPr lang="en-US" sz="800" dirty="0"/>
          </a:p>
        </p:txBody>
      </p:sp>
      <p:sp>
        <p:nvSpPr>
          <p:cNvPr id="60" name="shape-56"/>
          <p:cNvSpPr/>
          <p:nvPr/>
        </p:nvSpPr>
        <p:spPr>
          <a:xfrm>
            <a:off x="7772400" y="1682496"/>
            <a:ext cx="3840480" cy="877824"/>
          </a:xfrm>
          <a:prstGeom prst="roundRect">
            <a:avLst>
              <a:gd name="adj" fmla="val 8333"/>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1"/>
          <a:stretch>
            <a:fillRect/>
          </a:stretch>
        </p:blipFill>
        <p:spPr>
          <a:xfrm>
            <a:off x="7918704" y="1847088"/>
            <a:ext cx="201168" cy="201168"/>
          </a:xfrm>
          <a:prstGeom prst="rect">
            <a:avLst/>
          </a:prstGeom>
        </p:spPr>
      </p:pic>
      <p:sp>
        <p:nvSpPr>
          <p:cNvPr id="62" name="text-58"/>
          <p:cNvSpPr txBox="1"/>
          <p:nvPr/>
        </p:nvSpPr>
        <p:spPr>
          <a:xfrm>
            <a:off x="8229600" y="1773936"/>
            <a:ext cx="3255264" cy="42062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Second engineer, or the vendor’s 0.6 PM</a:t>
            </a:r>
            <a:endParaRPr lang="en-US" sz="1150" dirty="0"/>
          </a:p>
        </p:txBody>
      </p:sp>
      <p:sp>
        <p:nvSpPr>
          <p:cNvPr id="63" name="text-59"/>
          <p:cNvSpPr txBox="1"/>
          <p:nvPr/>
        </p:nvSpPr>
        <p:spPr>
          <a:xfrm>
            <a:off x="7918704" y="2231136"/>
            <a:ext cx="3547872" cy="256032"/>
          </a:xfrm>
          <a:prstGeom prst="rect">
            <a:avLst/>
          </a:prstGeom>
          <a:noFill/>
          <a:ln/>
        </p:spPr>
        <p:txBody>
          <a:bodyPr wrap="square" lIns="0" tIns="0" rIns="0" bIns="0" rtlCol="0" anchor="ctr"/>
          <a:lstStyle/>
          <a:p>
            <a:pPr algn="l" indent="0" marL="0">
              <a:lnSpc>
                <a:spcPct val="100000"/>
              </a:lnSpc>
              <a:buNone/>
            </a:pPr>
            <a:r>
              <a:rPr lang="en-US" sz="1000" dirty="0">
                <a:solidFill>
                  <a:srgbClr val="5A6B75"/>
                </a:solidFill>
                <a:latin typeface="Calibri" pitchFamily="34" charset="0"/>
                <a:ea typeface="Calibri" pitchFamily="34" charset="-122"/>
                <a:cs typeface="Calibri" pitchFamily="34" charset="-120"/>
              </a:rPr>
              <a:t>how much of the product is built in-house</a:t>
            </a:r>
            <a:endParaRPr lang="en-US" sz="1000" dirty="0"/>
          </a:p>
        </p:txBody>
      </p:sp>
      <p:sp>
        <p:nvSpPr>
          <p:cNvPr id="64" name="shape-60"/>
          <p:cNvSpPr/>
          <p:nvPr/>
        </p:nvSpPr>
        <p:spPr>
          <a:xfrm>
            <a:off x="7772400" y="2670048"/>
            <a:ext cx="3840480" cy="877824"/>
          </a:xfrm>
          <a:prstGeom prst="roundRect">
            <a:avLst>
              <a:gd name="adj" fmla="val 8333"/>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2"/>
          <a:stretch>
            <a:fillRect/>
          </a:stretch>
        </p:blipFill>
        <p:spPr>
          <a:xfrm>
            <a:off x="7918704" y="2834640"/>
            <a:ext cx="201168" cy="201168"/>
          </a:xfrm>
          <a:prstGeom prst="rect">
            <a:avLst/>
          </a:prstGeom>
        </p:spPr>
      </p:pic>
      <p:sp>
        <p:nvSpPr>
          <p:cNvPr id="66" name="text-62"/>
          <p:cNvSpPr txBox="1"/>
          <p:nvPr/>
        </p:nvSpPr>
        <p:spPr>
          <a:xfrm>
            <a:off x="8229600" y="2761488"/>
            <a:ext cx="3255264" cy="42062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150" dirty="0"/>
          </a:p>
        </p:txBody>
      </p:sp>
      <p:sp>
        <p:nvSpPr>
          <p:cNvPr id="67" name="text-63"/>
          <p:cNvSpPr txBox="1"/>
          <p:nvPr/>
        </p:nvSpPr>
        <p:spPr>
          <a:xfrm>
            <a:off x="7918704" y="3218688"/>
            <a:ext cx="3547872" cy="256032"/>
          </a:xfrm>
          <a:prstGeom prst="rect">
            <a:avLst/>
          </a:prstGeom>
          <a:noFill/>
          <a:ln/>
        </p:spPr>
        <p:txBody>
          <a:bodyPr wrap="square" lIns="0" tIns="0" rIns="0" bIns="0" rtlCol="0" anchor="ctr"/>
          <a:lstStyle/>
          <a:p>
            <a:pPr algn="l" indent="0" marL="0">
              <a:lnSpc>
                <a:spcPct val="100000"/>
              </a:lnSpc>
              <a:buNone/>
            </a:pPr>
            <a:r>
              <a:rPr lang="en-US" sz="1000" dirty="0">
                <a:solidFill>
                  <a:srgbClr val="5A6B75"/>
                </a:solidFill>
                <a:latin typeface="Calibri" pitchFamily="34" charset="0"/>
                <a:ea typeface="Calibri" pitchFamily="34" charset="-122"/>
                <a:cs typeface="Calibri" pitchFamily="34" charset="-120"/>
              </a:rPr>
              <a:t>assist, accelerate and de-risk product work</a:t>
            </a:r>
            <a:endParaRPr lang="en-US" sz="1000" dirty="0"/>
          </a:p>
        </p:txBody>
      </p:sp>
      <p:sp>
        <p:nvSpPr>
          <p:cNvPr id="68" name="shape-64"/>
          <p:cNvSpPr/>
          <p:nvPr/>
        </p:nvSpPr>
        <p:spPr>
          <a:xfrm>
            <a:off x="7772400" y="3657600"/>
            <a:ext cx="3840480" cy="877824"/>
          </a:xfrm>
          <a:prstGeom prst="roundRect">
            <a:avLst>
              <a:gd name="adj" fmla="val 8333"/>
            </a:avLst>
          </a:prstGeom>
          <a:solidFill>
            <a:srgbClr val="FFFFFF"/>
          </a:solidFill>
          <a:ln w="15875">
            <a:solidFill>
              <a:srgbClr val="D4DBE0"/>
            </a:solidFill>
            <a:prstDash val="solid"/>
          </a:ln>
        </p:spPr>
      </p:sp>
      <p:pic>
        <p:nvPicPr>
          <p:cNvPr id="69" name="icon-65" descr="preencoded.png">    </p:cNvPr>
          <p:cNvPicPr>
            <a:picLocks noChangeAspect="1"/>
          </p:cNvPicPr>
          <p:nvPr/>
        </p:nvPicPr>
        <p:blipFill>
          <a:blip r:embed="rId3"/>
          <a:stretch>
            <a:fillRect/>
          </a:stretch>
        </p:blipFill>
        <p:spPr>
          <a:xfrm>
            <a:off x="7918704" y="3822192"/>
            <a:ext cx="201168" cy="201168"/>
          </a:xfrm>
          <a:prstGeom prst="rect">
            <a:avLst/>
          </a:prstGeom>
        </p:spPr>
      </p:pic>
      <p:sp>
        <p:nvSpPr>
          <p:cNvPr id="70" name="text-66"/>
          <p:cNvSpPr txBox="1"/>
          <p:nvPr/>
        </p:nvSpPr>
        <p:spPr>
          <a:xfrm>
            <a:off x="8229600" y="3749040"/>
            <a:ext cx="3255264" cy="42062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Research and design in-house, or partner</a:t>
            </a:r>
            <a:endParaRPr lang="en-US" sz="1150" dirty="0"/>
          </a:p>
        </p:txBody>
      </p:sp>
      <p:sp>
        <p:nvSpPr>
          <p:cNvPr id="71" name="text-67"/>
          <p:cNvSpPr txBox="1"/>
          <p:nvPr/>
        </p:nvSpPr>
        <p:spPr>
          <a:xfrm>
            <a:off x="7918704" y="4206240"/>
            <a:ext cx="3547872" cy="256032"/>
          </a:xfrm>
          <a:prstGeom prst="rect">
            <a:avLst/>
          </a:prstGeom>
          <a:noFill/>
          <a:ln/>
        </p:spPr>
        <p:txBody>
          <a:bodyPr wrap="square" lIns="0" tIns="0" rIns="0" bIns="0" rtlCol="0" anchor="ctr"/>
          <a:lstStyle/>
          <a:p>
            <a:pPr algn="l" indent="0" marL="0">
              <a:lnSpc>
                <a:spcPct val="100000"/>
              </a:lnSpc>
              <a:buNone/>
            </a:pPr>
            <a:r>
              <a:rPr lang="en-US" sz="1000" dirty="0">
                <a:solidFill>
                  <a:srgbClr val="5A6B75"/>
                </a:solidFill>
                <a:latin typeface="Calibri" pitchFamily="34" charset="0"/>
                <a:ea typeface="Calibri" pitchFamily="34" charset="-122"/>
                <a:cs typeface="Calibri" pitchFamily="34" charset="-120"/>
              </a:rPr>
              <a:t>depends on the licence model found at Gate 1</a:t>
            </a:r>
            <a:endParaRPr lang="en-US" sz="1000" dirty="0"/>
          </a:p>
        </p:txBody>
      </p:sp>
      <p:sp>
        <p:nvSpPr>
          <p:cNvPr id="72" name="shape-68"/>
          <p:cNvSpPr/>
          <p:nvPr/>
        </p:nvSpPr>
        <p:spPr>
          <a:xfrm>
            <a:off x="7772400" y="4645152"/>
            <a:ext cx="3840480" cy="1152144"/>
          </a:xfrm>
          <a:prstGeom prst="roundRect">
            <a:avLst>
              <a:gd name="adj" fmla="val 6349"/>
            </a:avLst>
          </a:prstGeom>
          <a:solidFill>
            <a:srgbClr val="FDF1E3"/>
          </a:solidFill>
          <a:ln w="12700">
            <a:solidFill>
              <a:srgbClr val="FDF1E3"/>
            </a:solidFill>
            <a:prstDash val="solid"/>
          </a:ln>
        </p:spPr>
      </p:sp>
      <p:sp>
        <p:nvSpPr>
          <p:cNvPr id="73" name="text-69"/>
          <p:cNvSpPr txBox="1"/>
          <p:nvPr/>
        </p:nvSpPr>
        <p:spPr>
          <a:xfrm>
            <a:off x="7918704" y="475488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4" name="oval-70"/>
          <p:cNvSpPr/>
          <p:nvPr/>
        </p:nvSpPr>
        <p:spPr>
          <a:xfrm>
            <a:off x="7941564" y="5052060"/>
            <a:ext cx="64008" cy="64008"/>
          </a:xfrm>
          <a:prstGeom prst="ellipse">
            <a:avLst/>
          </a:prstGeom>
          <a:solidFill>
            <a:srgbClr val="B45309"/>
          </a:solidFill>
          <a:ln w="12700">
            <a:solidFill>
              <a:srgbClr val="B45309"/>
            </a:solidFill>
            <a:prstDash val="solid"/>
          </a:ln>
        </p:spPr>
      </p:sp>
      <p:sp>
        <p:nvSpPr>
          <p:cNvPr id="75" name="text-71"/>
          <p:cNvSpPr txBox="1"/>
          <p:nvPr/>
        </p:nvSpPr>
        <p:spPr>
          <a:xfrm>
            <a:off x="8101584" y="4974336"/>
            <a:ext cx="3364992" cy="219456"/>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24×7 operations and on-call</a:t>
            </a:r>
            <a:endParaRPr lang="en-US" sz="1100" dirty="0"/>
          </a:p>
        </p:txBody>
      </p:sp>
      <p:sp>
        <p:nvSpPr>
          <p:cNvPr id="76" name="oval-72"/>
          <p:cNvSpPr/>
          <p:nvPr/>
        </p:nvSpPr>
        <p:spPr>
          <a:xfrm>
            <a:off x="7941564" y="5253228"/>
            <a:ext cx="64008" cy="64008"/>
          </a:xfrm>
          <a:prstGeom prst="ellipse">
            <a:avLst/>
          </a:prstGeom>
          <a:solidFill>
            <a:srgbClr val="B45309"/>
          </a:solidFill>
          <a:ln w="12700">
            <a:solidFill>
              <a:srgbClr val="B45309"/>
            </a:solidFill>
            <a:prstDash val="solid"/>
          </a:ln>
        </p:spPr>
      </p:sp>
      <p:sp>
        <p:nvSpPr>
          <p:cNvPr id="77" name="text-73"/>
          <p:cNvSpPr txBox="1"/>
          <p:nvPr/>
        </p:nvSpPr>
        <p:spPr>
          <a:xfrm>
            <a:off x="8101584" y="5175504"/>
            <a:ext cx="3364992" cy="219456"/>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Security operations</a:t>
            </a:r>
            <a:endParaRPr lang="en-US" sz="1100" dirty="0"/>
          </a:p>
        </p:txBody>
      </p:sp>
      <p:sp>
        <p:nvSpPr>
          <p:cNvPr id="78" name="oval-74"/>
          <p:cNvSpPr/>
          <p:nvPr/>
        </p:nvSpPr>
        <p:spPr>
          <a:xfrm>
            <a:off x="7941564" y="5454396"/>
            <a:ext cx="64008" cy="64008"/>
          </a:xfrm>
          <a:prstGeom prst="ellipse">
            <a:avLst/>
          </a:prstGeom>
          <a:solidFill>
            <a:srgbClr val="B45309"/>
          </a:solidFill>
          <a:ln w="12700">
            <a:solidFill>
              <a:srgbClr val="B45309"/>
            </a:solidFill>
            <a:prstDash val="solid"/>
          </a:ln>
        </p:spPr>
      </p:sp>
      <p:sp>
        <p:nvSpPr>
          <p:cNvPr id="79" name="text-75"/>
          <p:cNvSpPr txBox="1"/>
          <p:nvPr/>
        </p:nvSpPr>
        <p:spPr>
          <a:xfrm>
            <a:off x="8101584" y="5376672"/>
            <a:ext cx="3364992" cy="219456"/>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Commodity configuration</a:t>
            </a:r>
            <a:endParaRPr lang="en-US" sz="1100" dirty="0"/>
          </a:p>
        </p:txBody>
      </p:sp>
      <p:sp>
        <p:nvSpPr>
          <p:cNvPr id="80" name="oval-76"/>
          <p:cNvSpPr/>
          <p:nvPr/>
        </p:nvSpPr>
        <p:spPr>
          <a:xfrm>
            <a:off x="7941564" y="5655564"/>
            <a:ext cx="64008" cy="64008"/>
          </a:xfrm>
          <a:prstGeom prst="ellipse">
            <a:avLst/>
          </a:prstGeom>
          <a:solidFill>
            <a:srgbClr val="B45309"/>
          </a:solidFill>
          <a:ln w="12700">
            <a:solidFill>
              <a:srgbClr val="B45309"/>
            </a:solidFill>
            <a:prstDash val="solid"/>
          </a:ln>
        </p:spPr>
      </p:sp>
      <p:sp>
        <p:nvSpPr>
          <p:cNvPr id="81" name="text-77"/>
          <p:cNvSpPr txBox="1"/>
          <p:nvPr/>
        </p:nvSpPr>
        <p:spPr>
          <a:xfrm>
            <a:off x="8101584" y="5577840"/>
            <a:ext cx="3364992" cy="219456"/>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operations (outside remit)</a:t>
            </a:r>
            <a:endParaRPr lang="en-US" sz="1100" dirty="0"/>
          </a:p>
        </p:txBody>
      </p:sp>
      <p:sp>
        <p:nvSpPr>
          <p:cNvPr id="82" name="text-78"/>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ASSURANCE GATES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operating rhythm, gates sized to the tier, judged on outcomes rather than AI activity</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 — WHO SEES WHAT</a:t>
            </a:r>
            <a:endParaRPr lang="en-US" sz="800" dirty="0"/>
          </a:p>
        </p:txBody>
      </p:sp>
      <p:sp>
        <p:nvSpPr>
          <p:cNvPr id="5" name="shape-1"/>
          <p:cNvSpPr/>
          <p:nvPr/>
        </p:nvSpPr>
        <p:spPr>
          <a:xfrm>
            <a:off x="548640" y="1664208"/>
            <a:ext cx="4023360" cy="585216"/>
          </a:xfrm>
          <a:prstGeom prst="roundRect">
            <a:avLst>
              <a:gd name="adj" fmla="val 12500"/>
            </a:avLst>
          </a:prstGeom>
          <a:solidFill>
            <a:srgbClr val="134E4A"/>
          </a:solidFill>
          <a:ln w="12700">
            <a:solidFill>
              <a:srgbClr val="134E4A"/>
            </a:solidFill>
            <a:prstDash val="solid"/>
          </a:ln>
        </p:spPr>
      </p:sp>
      <p:sp>
        <p:nvSpPr>
          <p:cNvPr id="6" name="text-2"/>
          <p:cNvSpPr txBox="1"/>
          <p:nvPr/>
        </p:nvSpPr>
        <p:spPr>
          <a:xfrm>
            <a:off x="694944" y="1737360"/>
            <a:ext cx="374904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56816"/>
            <a:ext cx="374904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quarterly meeting, monthly review pack · date confidence, availability vs appetite, risks, spend</a:t>
            </a:r>
            <a:endParaRPr lang="en-US" sz="900" dirty="0"/>
          </a:p>
        </p:txBody>
      </p:sp>
      <p:sp>
        <p:nvSpPr>
          <p:cNvPr id="8" name="shape-4"/>
          <p:cNvSpPr/>
          <p:nvPr/>
        </p:nvSpPr>
        <p:spPr>
          <a:xfrm>
            <a:off x="548640" y="2340864"/>
            <a:ext cx="3749040" cy="585216"/>
          </a:xfrm>
          <a:prstGeom prst="roundRect">
            <a:avLst>
              <a:gd name="adj" fmla="val 12500"/>
            </a:avLst>
          </a:prstGeom>
          <a:solidFill>
            <a:srgbClr val="0F766E"/>
          </a:solidFill>
          <a:ln w="12700">
            <a:solidFill>
              <a:srgbClr val="0F766E"/>
            </a:solidFill>
            <a:prstDash val="solid"/>
          </a:ln>
        </p:spPr>
      </p:sp>
      <p:sp>
        <p:nvSpPr>
          <p:cNvPr id="9" name="text-5"/>
          <p:cNvSpPr txBox="1"/>
          <p:nvPr/>
        </p:nvSpPr>
        <p:spPr>
          <a:xfrm>
            <a:off x="694944" y="2414016"/>
            <a:ext cx="347472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633472"/>
            <a:ext cx="347472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monthly · priorities, gate sign-off, decisions pending</a:t>
            </a:r>
            <a:endParaRPr lang="en-US" sz="900" dirty="0"/>
          </a:p>
        </p:txBody>
      </p:sp>
      <p:sp>
        <p:nvSpPr>
          <p:cNvPr id="11" name="shape-7"/>
          <p:cNvSpPr/>
          <p:nvPr/>
        </p:nvSpPr>
        <p:spPr>
          <a:xfrm>
            <a:off x="548640" y="3017520"/>
            <a:ext cx="3474720" cy="585216"/>
          </a:xfrm>
          <a:prstGeom prst="roundRect">
            <a:avLst>
              <a:gd name="adj" fmla="val 12500"/>
            </a:avLst>
          </a:prstGeom>
          <a:solidFill>
            <a:srgbClr val="1F8F86"/>
          </a:solidFill>
          <a:ln w="12700">
            <a:solidFill>
              <a:srgbClr val="1F8F86"/>
            </a:solidFill>
            <a:prstDash val="solid"/>
          </a:ln>
        </p:spPr>
      </p:sp>
      <p:sp>
        <p:nvSpPr>
          <p:cNvPr id="12" name="text-8"/>
          <p:cNvSpPr txBox="1"/>
          <p:nvPr/>
        </p:nvSpPr>
        <p:spPr>
          <a:xfrm>
            <a:off x="694944" y="3090672"/>
            <a:ext cx="320040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3310128"/>
            <a:ext cx="320040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weekly · cycle time, change failure, blockers, evidence</a:t>
            </a:r>
            <a:endParaRPr lang="en-US" sz="900" dirty="0"/>
          </a:p>
        </p:txBody>
      </p:sp>
      <p:sp>
        <p:nvSpPr>
          <p:cNvPr id="14" name="shape-10"/>
          <p:cNvSpPr/>
          <p:nvPr/>
        </p:nvSpPr>
        <p:spPr>
          <a:xfrm>
            <a:off x="548640" y="3694176"/>
            <a:ext cx="3200400" cy="585216"/>
          </a:xfrm>
          <a:prstGeom prst="roundRect">
            <a:avLst>
              <a:gd name="adj" fmla="val 12500"/>
            </a:avLst>
          </a:prstGeom>
          <a:solidFill>
            <a:srgbClr val="D6ECE9"/>
          </a:solidFill>
          <a:ln w="12700">
            <a:solidFill>
              <a:srgbClr val="D6ECE9"/>
            </a:solidFill>
            <a:prstDash val="solid"/>
          </a:ln>
        </p:spPr>
      </p:sp>
      <p:sp>
        <p:nvSpPr>
          <p:cNvPr id="15" name="text-11"/>
          <p:cNvSpPr txBox="1"/>
          <p:nvPr/>
        </p:nvSpPr>
        <p:spPr>
          <a:xfrm>
            <a:off x="694944" y="3767328"/>
            <a:ext cx="29260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986784"/>
            <a:ext cx="2926080" cy="256032"/>
          </a:xfrm>
          <a:prstGeom prst="rect">
            <a:avLst/>
          </a:prstGeom>
          <a:noFill/>
          <a:ln/>
        </p:spPr>
        <p:txBody>
          <a:bodyPr wrap="square" lIns="0" tIns="0" rIns="0" bIns="0" rtlCol="0" anchor="t"/>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written down, visible to all</a:t>
            </a:r>
            <a:endParaRPr lang="en-US" sz="900" dirty="0"/>
          </a:p>
        </p:txBody>
      </p:sp>
      <p:sp>
        <p:nvSpPr>
          <p:cNvPr id="17" name="text-13"/>
          <p:cNvSpPr txBox="1"/>
          <p:nvPr/>
        </p:nvSpPr>
        <p:spPr>
          <a:xfrm>
            <a:off x="493776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 — EVERY INCREMENT, EVIDENCE NOT MEETINGS</a:t>
            </a:r>
            <a:endParaRPr lang="en-US" sz="800" dirty="0"/>
          </a:p>
        </p:txBody>
      </p:sp>
      <p:sp>
        <p:nvSpPr>
          <p:cNvPr id="18" name="shape-14"/>
          <p:cNvSpPr/>
          <p:nvPr/>
        </p:nvSpPr>
        <p:spPr>
          <a:xfrm>
            <a:off x="859536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59536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32688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3268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1005840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100584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78992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7899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937760" y="1773936"/>
            <a:ext cx="6675120" cy="402336"/>
          </a:xfrm>
          <a:prstGeom prst="roundRect">
            <a:avLst>
              <a:gd name="adj" fmla="val 9091"/>
            </a:avLst>
          </a:prstGeom>
          <a:solidFill>
            <a:srgbClr val="EEF2F4"/>
          </a:solidFill>
          <a:ln w="12700">
            <a:solidFill>
              <a:srgbClr val="EEF2F4"/>
            </a:solidFill>
            <a:prstDash val="solid"/>
          </a:ln>
        </p:spPr>
      </p:sp>
      <p:sp>
        <p:nvSpPr>
          <p:cNvPr id="27" name="text-23"/>
          <p:cNvSpPr txBox="1"/>
          <p:nvPr/>
        </p:nvSpPr>
        <p:spPr>
          <a:xfrm>
            <a:off x="5029200" y="18470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Security and payments</a:t>
            </a:r>
            <a:endParaRPr lang="en-US" sz="1200" dirty="0"/>
          </a:p>
        </p:txBody>
      </p:sp>
      <p:sp>
        <p:nvSpPr>
          <p:cNvPr id="28" name="oval-24"/>
          <p:cNvSpPr/>
          <p:nvPr/>
        </p:nvSpPr>
        <p:spPr>
          <a:xfrm>
            <a:off x="8613648" y="1892808"/>
            <a:ext cx="164592" cy="164592"/>
          </a:xfrm>
          <a:prstGeom prst="ellipse">
            <a:avLst/>
          </a:prstGeom>
          <a:solidFill>
            <a:srgbClr val="134E4A"/>
          </a:solidFill>
          <a:ln w="12700">
            <a:solidFill>
              <a:srgbClr val="134E4A"/>
            </a:solidFill>
            <a:prstDash val="solid"/>
          </a:ln>
        </p:spPr>
      </p:sp>
      <p:sp>
        <p:nvSpPr>
          <p:cNvPr id="29" name="oval-25"/>
          <p:cNvSpPr/>
          <p:nvPr/>
        </p:nvSpPr>
        <p:spPr>
          <a:xfrm>
            <a:off x="10076688" y="1892808"/>
            <a:ext cx="164592" cy="164592"/>
          </a:xfrm>
          <a:prstGeom prst="ellipse">
            <a:avLst/>
          </a:prstGeom>
          <a:solidFill>
            <a:srgbClr val="8A99A3"/>
          </a:solidFill>
          <a:ln w="12700">
            <a:solidFill>
              <a:srgbClr val="8A99A3"/>
            </a:solidFill>
            <a:prstDash val="solid"/>
          </a:ln>
        </p:spPr>
      </p:sp>
      <p:sp>
        <p:nvSpPr>
          <p:cNvPr id="30" name="oval-26"/>
          <p:cNvSpPr/>
          <p:nvPr/>
        </p:nvSpPr>
        <p:spPr>
          <a:xfrm>
            <a:off x="10808208" y="1892808"/>
            <a:ext cx="164592" cy="164592"/>
          </a:xfrm>
          <a:prstGeom prst="ellipse">
            <a:avLst/>
          </a:prstGeom>
          <a:solidFill>
            <a:srgbClr val="B45309"/>
          </a:solidFill>
          <a:ln w="12700">
            <a:solidFill>
              <a:srgbClr val="B45309"/>
            </a:solidFill>
            <a:prstDash val="solid"/>
          </a:ln>
        </p:spPr>
      </p:sp>
      <p:sp>
        <p:nvSpPr>
          <p:cNvPr id="31" name="text-27"/>
          <p:cNvSpPr txBox="1"/>
          <p:nvPr/>
        </p:nvSpPr>
        <p:spPr>
          <a:xfrm>
            <a:off x="5029200" y="23042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Data and privacy</a:t>
            </a:r>
            <a:endParaRPr lang="en-US" sz="1200" dirty="0"/>
          </a:p>
        </p:txBody>
      </p:sp>
      <p:sp>
        <p:nvSpPr>
          <p:cNvPr id="32" name="oval-28"/>
          <p:cNvSpPr/>
          <p:nvPr/>
        </p:nvSpPr>
        <p:spPr>
          <a:xfrm>
            <a:off x="8613648" y="2350008"/>
            <a:ext cx="164592" cy="164592"/>
          </a:xfrm>
          <a:prstGeom prst="ellipse">
            <a:avLst/>
          </a:prstGeom>
          <a:solidFill>
            <a:srgbClr val="134E4A"/>
          </a:solidFill>
          <a:ln w="12700">
            <a:solidFill>
              <a:srgbClr val="134E4A"/>
            </a:solidFill>
            <a:prstDash val="solid"/>
          </a:ln>
        </p:spPr>
      </p:sp>
      <p:sp>
        <p:nvSpPr>
          <p:cNvPr id="33" name="oval-29"/>
          <p:cNvSpPr/>
          <p:nvPr/>
        </p:nvSpPr>
        <p:spPr>
          <a:xfrm>
            <a:off x="9345168" y="2350008"/>
            <a:ext cx="164592" cy="164592"/>
          </a:xfrm>
          <a:prstGeom prst="ellipse">
            <a:avLst/>
          </a:prstGeom>
          <a:solidFill>
            <a:srgbClr val="0F766E"/>
          </a:solidFill>
          <a:ln w="12700">
            <a:solidFill>
              <a:srgbClr val="0F766E"/>
            </a:solidFill>
            <a:prstDash val="solid"/>
          </a:ln>
        </p:spPr>
      </p:sp>
      <p:sp>
        <p:nvSpPr>
          <p:cNvPr id="34" name="oval-30"/>
          <p:cNvSpPr/>
          <p:nvPr/>
        </p:nvSpPr>
        <p:spPr>
          <a:xfrm>
            <a:off x="10076688" y="2350008"/>
            <a:ext cx="164592" cy="164592"/>
          </a:xfrm>
          <a:prstGeom prst="ellipse">
            <a:avLst/>
          </a:prstGeom>
          <a:solidFill>
            <a:srgbClr val="8A99A3"/>
          </a:solidFill>
          <a:ln w="12700">
            <a:solidFill>
              <a:srgbClr val="8A99A3"/>
            </a:solidFill>
            <a:prstDash val="solid"/>
          </a:ln>
        </p:spPr>
      </p:sp>
      <p:sp>
        <p:nvSpPr>
          <p:cNvPr id="35" name="shape-31"/>
          <p:cNvSpPr/>
          <p:nvPr/>
        </p:nvSpPr>
        <p:spPr>
          <a:xfrm>
            <a:off x="4937760" y="2688336"/>
            <a:ext cx="6675120" cy="402336"/>
          </a:xfrm>
          <a:prstGeom prst="roundRect">
            <a:avLst>
              <a:gd name="adj" fmla="val 9091"/>
            </a:avLst>
          </a:prstGeom>
          <a:solidFill>
            <a:srgbClr val="EEF2F4"/>
          </a:solidFill>
          <a:ln w="12700">
            <a:solidFill>
              <a:srgbClr val="EEF2F4"/>
            </a:solidFill>
            <a:prstDash val="solid"/>
          </a:ln>
        </p:spPr>
      </p:sp>
      <p:sp>
        <p:nvSpPr>
          <p:cNvPr id="36" name="text-32"/>
          <p:cNvSpPr txBox="1"/>
          <p:nvPr/>
        </p:nvSpPr>
        <p:spPr>
          <a:xfrm>
            <a:off x="5029200" y="27614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Content integrity</a:t>
            </a:r>
            <a:endParaRPr lang="en-US" sz="1200" dirty="0"/>
          </a:p>
        </p:txBody>
      </p:sp>
      <p:sp>
        <p:nvSpPr>
          <p:cNvPr id="37" name="oval-33"/>
          <p:cNvSpPr/>
          <p:nvPr/>
        </p:nvSpPr>
        <p:spPr>
          <a:xfrm>
            <a:off x="8613648" y="2807208"/>
            <a:ext cx="164592" cy="164592"/>
          </a:xfrm>
          <a:prstGeom prst="ellipse">
            <a:avLst/>
          </a:prstGeom>
          <a:solidFill>
            <a:srgbClr val="134E4A"/>
          </a:solidFill>
          <a:ln w="12700">
            <a:solidFill>
              <a:srgbClr val="134E4A"/>
            </a:solidFill>
            <a:prstDash val="solid"/>
          </a:ln>
        </p:spPr>
      </p:sp>
      <p:sp>
        <p:nvSpPr>
          <p:cNvPr id="38" name="oval-34"/>
          <p:cNvSpPr/>
          <p:nvPr/>
        </p:nvSpPr>
        <p:spPr>
          <a:xfrm>
            <a:off x="9345168" y="2807208"/>
            <a:ext cx="164592" cy="164592"/>
          </a:xfrm>
          <a:prstGeom prst="ellipse">
            <a:avLst/>
          </a:prstGeom>
          <a:solidFill>
            <a:srgbClr val="0F766E"/>
          </a:solidFill>
          <a:ln w="12700">
            <a:solidFill>
              <a:srgbClr val="0F766E"/>
            </a:solidFill>
            <a:prstDash val="solid"/>
          </a:ln>
        </p:spPr>
      </p:sp>
      <p:sp>
        <p:nvSpPr>
          <p:cNvPr id="39" name="text-35"/>
          <p:cNvSpPr txBox="1"/>
          <p:nvPr/>
        </p:nvSpPr>
        <p:spPr>
          <a:xfrm>
            <a:off x="5029200" y="32186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Integration and operability</a:t>
            </a:r>
            <a:endParaRPr lang="en-US" sz="1200" dirty="0"/>
          </a:p>
        </p:txBody>
      </p:sp>
      <p:sp>
        <p:nvSpPr>
          <p:cNvPr id="40" name="oval-36"/>
          <p:cNvSpPr/>
          <p:nvPr/>
        </p:nvSpPr>
        <p:spPr>
          <a:xfrm>
            <a:off x="8613648" y="3264408"/>
            <a:ext cx="164592" cy="164592"/>
          </a:xfrm>
          <a:prstGeom prst="ellipse">
            <a:avLst/>
          </a:prstGeom>
          <a:solidFill>
            <a:srgbClr val="134E4A"/>
          </a:solidFill>
          <a:ln w="12700">
            <a:solidFill>
              <a:srgbClr val="134E4A"/>
            </a:solidFill>
            <a:prstDash val="solid"/>
          </a:ln>
        </p:spPr>
      </p:sp>
      <p:sp>
        <p:nvSpPr>
          <p:cNvPr id="41" name="oval-37"/>
          <p:cNvSpPr/>
          <p:nvPr/>
        </p:nvSpPr>
        <p:spPr>
          <a:xfrm>
            <a:off x="10076688" y="3264408"/>
            <a:ext cx="164592" cy="164592"/>
          </a:xfrm>
          <a:prstGeom prst="ellipse">
            <a:avLst/>
          </a:prstGeom>
          <a:solidFill>
            <a:srgbClr val="8A99A3"/>
          </a:solidFill>
          <a:ln w="12700">
            <a:solidFill>
              <a:srgbClr val="8A99A3"/>
            </a:solidFill>
            <a:prstDash val="solid"/>
          </a:ln>
        </p:spPr>
      </p:sp>
      <p:sp>
        <p:nvSpPr>
          <p:cNvPr id="42" name="oval-38"/>
          <p:cNvSpPr/>
          <p:nvPr/>
        </p:nvSpPr>
        <p:spPr>
          <a:xfrm>
            <a:off x="10808208" y="3264408"/>
            <a:ext cx="164592" cy="164592"/>
          </a:xfrm>
          <a:prstGeom prst="ellipse">
            <a:avLst/>
          </a:prstGeom>
          <a:solidFill>
            <a:srgbClr val="B45309"/>
          </a:solidFill>
          <a:ln w="12700">
            <a:solidFill>
              <a:srgbClr val="B45309"/>
            </a:solidFill>
            <a:prstDash val="solid"/>
          </a:ln>
        </p:spPr>
      </p:sp>
      <p:sp>
        <p:nvSpPr>
          <p:cNvPr id="43" name="shape-39"/>
          <p:cNvSpPr/>
          <p:nvPr/>
        </p:nvSpPr>
        <p:spPr>
          <a:xfrm>
            <a:off x="4937760" y="3602736"/>
            <a:ext cx="6675120" cy="402336"/>
          </a:xfrm>
          <a:prstGeom prst="roundRect">
            <a:avLst>
              <a:gd name="adj" fmla="val 9091"/>
            </a:avLst>
          </a:prstGeom>
          <a:solidFill>
            <a:srgbClr val="EEF2F4"/>
          </a:solidFill>
          <a:ln w="12700">
            <a:solidFill>
              <a:srgbClr val="EEF2F4"/>
            </a:solidFill>
            <a:prstDash val="solid"/>
          </a:ln>
        </p:spPr>
      </p:sp>
      <p:sp>
        <p:nvSpPr>
          <p:cNvPr id="44" name="text-40"/>
          <p:cNvSpPr txBox="1"/>
          <p:nvPr/>
        </p:nvSpPr>
        <p:spPr>
          <a:xfrm>
            <a:off x="5029200" y="36758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Release readiness</a:t>
            </a:r>
            <a:endParaRPr lang="en-US" sz="1200" dirty="0"/>
          </a:p>
        </p:txBody>
      </p:sp>
      <p:sp>
        <p:nvSpPr>
          <p:cNvPr id="45" name="oval-41"/>
          <p:cNvSpPr/>
          <p:nvPr/>
        </p:nvSpPr>
        <p:spPr>
          <a:xfrm>
            <a:off x="8613648" y="3721608"/>
            <a:ext cx="164592" cy="164592"/>
          </a:xfrm>
          <a:prstGeom prst="ellipse">
            <a:avLst/>
          </a:prstGeom>
          <a:solidFill>
            <a:srgbClr val="134E4A"/>
          </a:solidFill>
          <a:ln w="12700">
            <a:solidFill>
              <a:srgbClr val="134E4A"/>
            </a:solidFill>
            <a:prstDash val="solid"/>
          </a:ln>
        </p:spPr>
      </p:sp>
      <p:sp>
        <p:nvSpPr>
          <p:cNvPr id="46" name="oval-42"/>
          <p:cNvSpPr/>
          <p:nvPr/>
        </p:nvSpPr>
        <p:spPr>
          <a:xfrm>
            <a:off x="9345168" y="3721608"/>
            <a:ext cx="164592" cy="164592"/>
          </a:xfrm>
          <a:prstGeom prst="ellipse">
            <a:avLst/>
          </a:prstGeom>
          <a:solidFill>
            <a:srgbClr val="0F766E"/>
          </a:solidFill>
          <a:ln w="12700">
            <a:solidFill>
              <a:srgbClr val="0F766E"/>
            </a:solidFill>
            <a:prstDash val="solid"/>
          </a:ln>
        </p:spPr>
      </p:sp>
      <p:sp>
        <p:nvSpPr>
          <p:cNvPr id="47" name="oval-43"/>
          <p:cNvSpPr/>
          <p:nvPr/>
        </p:nvSpPr>
        <p:spPr>
          <a:xfrm>
            <a:off x="10808208" y="3721608"/>
            <a:ext cx="164592" cy="164592"/>
          </a:xfrm>
          <a:prstGeom prst="ellipse">
            <a:avLst/>
          </a:prstGeom>
          <a:solidFill>
            <a:srgbClr val="B45309"/>
          </a:solidFill>
          <a:ln w="12700">
            <a:solidFill>
              <a:srgbClr val="B45309"/>
            </a:solidFill>
            <a:prstDash val="solid"/>
          </a:ln>
        </p:spPr>
      </p:sp>
      <p:sp>
        <p:nvSpPr>
          <p:cNvPr id="48" name="text-44"/>
          <p:cNvSpPr txBox="1"/>
          <p:nvPr/>
        </p:nvSpPr>
        <p:spPr>
          <a:xfrm>
            <a:off x="4937760" y="4297680"/>
            <a:ext cx="6675120" cy="164592"/>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A product · B content tooling · C commodity · X cross-cutting</a:t>
            </a:r>
            <a:endParaRPr lang="en-US" sz="800" dirty="0"/>
          </a:p>
        </p:txBody>
      </p:sp>
      <p:sp>
        <p:nvSpPr>
          <p:cNvPr id="49" name="text-45"/>
          <p:cNvSpPr txBox="1"/>
          <p:nvPr/>
        </p:nvSpPr>
        <p:spPr>
          <a:xfrm>
            <a:off x="548640" y="471830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50" name="shape-46"/>
          <p:cNvSpPr/>
          <p:nvPr/>
        </p:nvSpPr>
        <p:spPr>
          <a:xfrm>
            <a:off x="548640" y="4992624"/>
            <a:ext cx="3590544" cy="1005840"/>
          </a:xfrm>
          <a:prstGeom prst="roundRect">
            <a:avLst>
              <a:gd name="adj" fmla="val 7273"/>
            </a:avLst>
          </a:prstGeom>
          <a:solidFill>
            <a:srgbClr val="D6ECE9"/>
          </a:solidFill>
          <a:ln w="12700">
            <a:solidFill>
              <a:srgbClr val="D6ECE9"/>
            </a:solidFill>
            <a:prstDash val="solid"/>
          </a:ln>
        </p:spPr>
      </p:sp>
      <p:sp>
        <p:nvSpPr>
          <p:cNvPr id="51" name="text-47"/>
          <p:cNvSpPr txBox="1"/>
          <p:nvPr/>
        </p:nvSpPr>
        <p:spPr>
          <a:xfrm>
            <a:off x="731520"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1C2B33"/>
                </a:solidFill>
                <a:latin typeface="Calibri" pitchFamily="34" charset="0"/>
                <a:ea typeface="Calibri" pitchFamily="34" charset="-122"/>
                <a:cs typeface="Calibri" pitchFamily="34" charset="-120"/>
              </a:rPr>
              <a:t>Months 1–2</a:t>
            </a:r>
            <a:endParaRPr lang="en-US" sz="1600" dirty="0"/>
          </a:p>
        </p:txBody>
      </p:sp>
      <p:sp>
        <p:nvSpPr>
          <p:cNvPr id="52" name="text-48"/>
          <p:cNvSpPr txBox="1"/>
          <p:nvPr/>
        </p:nvSpPr>
        <p:spPr>
          <a:xfrm>
            <a:off x="731520"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two baselines, fit test, scope decisions to the board</a:t>
            </a:r>
            <a:endParaRPr lang="en-US" sz="1100" dirty="0"/>
          </a:p>
        </p:txBody>
      </p:sp>
      <p:sp>
        <p:nvSpPr>
          <p:cNvPr id="53" name="shape-49"/>
          <p:cNvSpPr/>
          <p:nvPr/>
        </p:nvSpPr>
        <p:spPr>
          <a:xfrm>
            <a:off x="4285488" y="4992624"/>
            <a:ext cx="3590544" cy="1005840"/>
          </a:xfrm>
          <a:prstGeom prst="roundRect">
            <a:avLst>
              <a:gd name="adj" fmla="val 7273"/>
            </a:avLst>
          </a:prstGeom>
          <a:solidFill>
            <a:srgbClr val="0F766E"/>
          </a:solidFill>
          <a:ln w="12700">
            <a:solidFill>
              <a:srgbClr val="0F766E"/>
            </a:solidFill>
            <a:prstDash val="solid"/>
          </a:ln>
        </p:spPr>
      </p:sp>
      <p:sp>
        <p:nvSpPr>
          <p:cNvPr id="54" name="text-50"/>
          <p:cNvSpPr txBox="1"/>
          <p:nvPr/>
        </p:nvSpPr>
        <p:spPr>
          <a:xfrm>
            <a:off x="4468368"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Months 3–4</a:t>
            </a:r>
            <a:endParaRPr lang="en-US" sz="1600" dirty="0"/>
          </a:p>
        </p:txBody>
      </p:sp>
      <p:sp>
        <p:nvSpPr>
          <p:cNvPr id="55" name="text-51"/>
          <p:cNvSpPr txBox="1"/>
          <p:nvPr/>
        </p:nvSpPr>
        <p:spPr>
          <a:xfrm>
            <a:off x="4468368"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first assured delivery on the core; partners delivering</a:t>
            </a:r>
            <a:endParaRPr lang="en-US" sz="1100" dirty="0"/>
          </a:p>
        </p:txBody>
      </p:sp>
      <p:sp>
        <p:nvSpPr>
          <p:cNvPr id="56" name="shape-52"/>
          <p:cNvSpPr/>
          <p:nvPr/>
        </p:nvSpPr>
        <p:spPr>
          <a:xfrm>
            <a:off x="8022336" y="4992624"/>
            <a:ext cx="3590544" cy="1005840"/>
          </a:xfrm>
          <a:prstGeom prst="roundRect">
            <a:avLst>
              <a:gd name="adj" fmla="val 7273"/>
            </a:avLst>
          </a:prstGeom>
          <a:solidFill>
            <a:srgbClr val="134E4A"/>
          </a:solidFill>
          <a:ln w="12700">
            <a:solidFill>
              <a:srgbClr val="134E4A"/>
            </a:solidFill>
            <a:prstDash val="solid"/>
          </a:ln>
        </p:spPr>
      </p:sp>
      <p:sp>
        <p:nvSpPr>
          <p:cNvPr id="57" name="text-53"/>
          <p:cNvSpPr txBox="1"/>
          <p:nvPr/>
        </p:nvSpPr>
        <p:spPr>
          <a:xfrm>
            <a:off x="8205216" y="5120640"/>
            <a:ext cx="3224784" cy="292608"/>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Months 5–6</a:t>
            </a:r>
            <a:endParaRPr lang="en-US" sz="1600" dirty="0"/>
          </a:p>
        </p:txBody>
      </p:sp>
      <p:sp>
        <p:nvSpPr>
          <p:cNvPr id="58" name="text-54"/>
          <p:cNvSpPr txBox="1"/>
          <p:nvPr/>
        </p:nvSpPr>
        <p:spPr>
          <a:xfrm>
            <a:off x="8205216" y="5468112"/>
            <a:ext cx="3224784" cy="43891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build waves, cutover rehearsal, go-live against the date</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IDEAS BEYOND DAY 1</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Not commitments and not walked through today — parked for when their time comes</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product · orange cross-cutting · green content tooling. Day 1.5 = after the agreed path is live, before Day 2.</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2026-10-15T06:58:13Z</dcterms:created>
  <dcterms:modified xsi:type="dcterms:W3CDTF">2026-10-15T06:58:13Z</dcterms:modified>
</cp:coreProperties>
</file>
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WORKED BACKWARDS FROM TWO POINTS
- From the tiers: A needs engineering depth and platform resilience in-house; B needs a product owner for content tooling and a partner relationship; C needs configuration, integration and partner management, not builders; X needs DevSecOps and standards knowledge.
- From the CTO's responsibilities — strategy, architecture, digital transformation, project management, roadmap — everything else must sit with another role or a partner.
THE MINIMUM VIABLE TEAM
- CTO: strategy, architecture, transformation, project management, roadmap (all tiers).
- Lead Engineer: standards, development, maintenance, technical QA (A, X).
- Developer: development, maintenance, technical QA (A).
- DevSecOps Platform Engineer: security, platform, pipeline (X, A's resilience).
- Product: project, research, design (A, B).
- BA/QA: user testing, quality assurance, product assistance (A, C).
OPTIONS THE GATE 2 DECISION WOULD CHOOSE BETWEEN (previously framed as differences; now options) (CEO → CTO → Digital Product Owner + part-time BA, 0.6 PM, Technical Lead + DevOps Engineer)
- A second engineer instead of a 0.6 PM: Tier A needs two pairs of hands for five nines, and it removes the single-engineer key-person risk; project management sits with the CTO.
- AI token budget and adoption: any headcount beyond the six is converted into an AI budget aimed at assisting, accelerating and de-risking Tier A work, and at softening must-haves in B and C. Amount to be set against the headcount it replaces — not invented here.
- Product gains research and design; BA gains QA and user testing — the evidence at the gates has to come from somewhere.
NOT IN THE TEAM — PARTNER OR MSP
- 24×7 operations and on-call for the product; security operations; commodity configuration (CRM, shop, finance); content operations (outside this remit).
THINK DIFFERENTLY (if asked)
- Own judgement, not headcount: the in-house team decides what, why and whether; partners decide how.
- Key-person risk is the real risk: decisions written down, runbooks current, pairing with partners so nothing lives in one head.
- Operations is a product, not a project: platform operations and product ownership are standing capabilities; the PM role is temporary by design.
- Grow the differentiating layer: identity, entitlement and content APIs are what competitors cannot buy; buy everything else.
ASSUMPTIONS
- Both structures are proposals; roles are responsibilities, not an approved hiring plan.
[PROMPT] Partner/MSP example: running 24×7 through a partner while keeping design authority in-house — what the contract and the weekly review looked like. Also: building capability from a small start (EMIS, CallCredit) if the audience asks what "thin team" means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6  ·  THE TEAM THE NEXT STAGE NEEDS</a:t>
            </a:r>
            <a:endParaRPr lang="en-US" sz="11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250" b="1" dirty="0">
                <a:solidFill>
                  <a:srgbClr val="1C2B33"/>
                </a:solidFill>
                <a:latin typeface="Calibri" pitchFamily="34" charset="0"/>
                <a:ea typeface="Calibri" pitchFamily="34" charset="-122"/>
                <a:cs typeface="Calibri" pitchFamily="34" charset="-120"/>
              </a:rPr>
              <a:t>A minimum viable team of six, and the options Gate 2 decides</a:t>
            </a:r>
            <a:endParaRPr lang="en-US" sz="2250" dirty="0"/>
          </a:p>
        </p:txBody>
      </p:sp>
      <p:sp>
        <p:nvSpPr>
          <p:cNvPr id="4" name="shape-0"/>
          <p:cNvSpPr/>
          <p:nvPr/>
        </p:nvSpPr>
        <p:spPr>
          <a:xfrm>
            <a:off x="9052560" y="347472"/>
            <a:ext cx="2560320" cy="256032"/>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089136" y="347472"/>
            <a:ext cx="2487168" cy="256032"/>
          </a:xfrm>
          <a:prstGeom prst="rect">
            <a:avLst/>
          </a:prstGeom>
          <a:noFill/>
          <a:ln/>
        </p:spPr>
        <p:txBody>
          <a:bodyPr wrap="none" lIns="0" tIns="0" rIns="0" bIns="0" rtlCol="0" anchor="ctr"/>
          <a:lstStyle/>
          <a:p>
            <a:pPr algn="ctr" indent="0" marL="0">
              <a:lnSpc>
                <a:spcPct val="100000"/>
              </a:lnSpc>
              <a:buNone/>
            </a:pPr>
            <a:r>
              <a:rPr lang="en-US" sz="1100" b="1" spc="50" kern="0" dirty="0">
                <a:solidFill>
                  <a:srgbClr val="B45309"/>
                </a:solidFill>
                <a:latin typeface="Calibri" pitchFamily="34" charset="0"/>
                <a:ea typeface="Calibri" pitchFamily="34" charset="-122"/>
                <a:cs typeface="Calibri" pitchFamily="34" charset="-120"/>
              </a:rPr>
              <a:t>ILLUSTRATIVE — NOT A DECISION</a:t>
            </a:r>
            <a:endParaRPr lang="en-US" sz="1100" dirty="0"/>
          </a:p>
        </p:txBody>
      </p:sp>
      <p:sp>
        <p:nvSpPr>
          <p:cNvPr id="6" name="text-2"/>
          <p:cNvSpPr txBox="1"/>
          <p:nvPr/>
        </p:nvSpPr>
        <p:spPr>
          <a:xfrm>
            <a:off x="548640" y="1426464"/>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MINIMUM VIABLE TEAM · AMBER = CHANGE FROM THE VENDOR PROPOSAL</a:t>
            </a:r>
            <a:endParaRPr lang="en-US" sz="1100" dirty="0"/>
          </a:p>
        </p:txBody>
      </p:sp>
      <p:sp>
        <p:nvSpPr>
          <p:cNvPr id="7" name="shape-3"/>
          <p:cNvSpPr/>
          <p:nvPr/>
        </p:nvSpPr>
        <p:spPr>
          <a:xfrm>
            <a:off x="548640" y="1773936"/>
            <a:ext cx="6949440" cy="676656"/>
          </a:xfrm>
          <a:prstGeom prst="roundRect">
            <a:avLst>
              <a:gd name="adj" fmla="val 10811"/>
            </a:avLst>
          </a:prstGeom>
          <a:solidFill>
            <a:srgbClr val="134E4A"/>
          </a:solidFill>
          <a:ln w="12700">
            <a:solidFill>
              <a:srgbClr val="134E4A"/>
            </a:solidFill>
            <a:prstDash val="solid"/>
          </a:ln>
        </p:spPr>
      </p:sp>
      <p:sp>
        <p:nvSpPr>
          <p:cNvPr id="8" name="text-4"/>
          <p:cNvSpPr txBox="1"/>
          <p:nvPr/>
        </p:nvSpPr>
        <p:spPr>
          <a:xfrm>
            <a:off x="731520" y="1773936"/>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CTO</a:t>
            </a:r>
            <a:endParaRPr lang="en-US" sz="1750" dirty="0"/>
          </a:p>
        </p:txBody>
      </p:sp>
      <p:sp>
        <p:nvSpPr>
          <p:cNvPr id="9" name="text-5"/>
          <p:cNvSpPr txBox="1"/>
          <p:nvPr/>
        </p:nvSpPr>
        <p:spPr>
          <a:xfrm>
            <a:off x="3383280" y="1828800"/>
            <a:ext cx="3108960" cy="329184"/>
          </a:xfrm>
          <a:prstGeom prst="rect">
            <a:avLst/>
          </a:prstGeom>
          <a:noFill/>
          <a:ln/>
        </p:spPr>
        <p:txBody>
          <a:bodyPr wrap="square" lIns="0" tIns="0" rIns="0" bIns="0" rtlCol="0" anchor="ctr"/>
          <a:lstStyle/>
          <a:p>
            <a:pPr algn="l" indent="0" marL="0">
              <a:lnSpc>
                <a:spcPct val="100000"/>
              </a:lnSpc>
              <a:buNone/>
            </a:pPr>
            <a:r>
              <a:rPr lang="en-US" sz="1300" dirty="0">
                <a:solidFill>
                  <a:srgbClr val="CFE8E5"/>
                </a:solidFill>
                <a:latin typeface="Calibri" pitchFamily="34" charset="0"/>
                <a:ea typeface="Calibri" pitchFamily="34" charset="-122"/>
                <a:cs typeface="Calibri" pitchFamily="34" charset="-120"/>
              </a:rPr>
              <a:t>Strategy, architecture, transformation, PM, roadmap</a:t>
            </a:r>
            <a:endParaRPr lang="en-US" sz="1300" dirty="0"/>
          </a:p>
        </p:txBody>
      </p:sp>
      <p:sp>
        <p:nvSpPr>
          <p:cNvPr id="10" name="text-6"/>
          <p:cNvSpPr txBox="1"/>
          <p:nvPr/>
        </p:nvSpPr>
        <p:spPr>
          <a:xfrm>
            <a:off x="3383280" y="2176272"/>
            <a:ext cx="3108960" cy="219456"/>
          </a:xfrm>
          <a:prstGeom prst="rect">
            <a:avLst/>
          </a:prstGeom>
          <a:noFill/>
          <a:ln/>
        </p:spPr>
        <p:txBody>
          <a:bodyPr wrap="none" lIns="0" tIns="0" rIns="0" bIns="0" rtlCol="0" anchor="ctr"/>
          <a:lstStyle/>
          <a:p>
            <a:pPr algn="l" indent="0" marL="0">
              <a:lnSpc>
                <a:spcPct val="100000"/>
              </a:lnSpc>
              <a:buNone/>
            </a:pPr>
            <a:r>
              <a:rPr lang="en-US" sz="1100" i="1" dirty="0">
                <a:solidFill>
                  <a:srgbClr val="CFE8E5"/>
                </a:solidFill>
                <a:latin typeface="Calibri" pitchFamily="34" charset="0"/>
                <a:ea typeface="Calibri" pitchFamily="34" charset="-122"/>
                <a:cs typeface="Calibri" pitchFamily="34" charset="-120"/>
              </a:rPr>
              <a:t>vs proposal: absorbs the 0.6 PM</a:t>
            </a:r>
            <a:endParaRPr lang="en-US" sz="1100" dirty="0"/>
          </a:p>
        </p:txBody>
      </p:sp>
      <p:sp>
        <p:nvSpPr>
          <p:cNvPr id="11" name="shape-7"/>
          <p:cNvSpPr/>
          <p:nvPr/>
        </p:nvSpPr>
        <p:spPr>
          <a:xfrm>
            <a:off x="6364224" y="2048256"/>
            <a:ext cx="201168" cy="146304"/>
          </a:xfrm>
          <a:prstGeom prst="roundRect">
            <a:avLst>
              <a:gd name="adj" fmla="val 50000"/>
            </a:avLst>
          </a:prstGeom>
          <a:solidFill>
            <a:srgbClr val="0F766E"/>
          </a:solidFill>
          <a:ln w="12700">
            <a:solidFill>
              <a:srgbClr val="0F766E"/>
            </a:solidFill>
            <a:prstDash val="solid"/>
          </a:ln>
        </p:spPr>
      </p:sp>
      <p:sp>
        <p:nvSpPr>
          <p:cNvPr id="12" name="text-8"/>
          <p:cNvSpPr txBox="1"/>
          <p:nvPr/>
        </p:nvSpPr>
        <p:spPr>
          <a:xfrm>
            <a:off x="6364224" y="204825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3" name="shape-9"/>
          <p:cNvSpPr/>
          <p:nvPr/>
        </p:nvSpPr>
        <p:spPr>
          <a:xfrm>
            <a:off x="6638544" y="2048256"/>
            <a:ext cx="201168" cy="146304"/>
          </a:xfrm>
          <a:prstGeom prst="roundRect">
            <a:avLst>
              <a:gd name="adj" fmla="val 50000"/>
            </a:avLst>
          </a:prstGeom>
          <a:solidFill>
            <a:srgbClr val="0F766E"/>
          </a:solidFill>
          <a:ln w="12700">
            <a:solidFill>
              <a:srgbClr val="0F766E"/>
            </a:solidFill>
            <a:prstDash val="solid"/>
          </a:ln>
        </p:spPr>
      </p:sp>
      <p:sp>
        <p:nvSpPr>
          <p:cNvPr id="14" name="text-10"/>
          <p:cNvSpPr txBox="1"/>
          <p:nvPr/>
        </p:nvSpPr>
        <p:spPr>
          <a:xfrm>
            <a:off x="6638544" y="204825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5" name="shape-11"/>
          <p:cNvSpPr/>
          <p:nvPr/>
        </p:nvSpPr>
        <p:spPr>
          <a:xfrm>
            <a:off x="6912864" y="2048256"/>
            <a:ext cx="201168" cy="146304"/>
          </a:xfrm>
          <a:prstGeom prst="roundRect">
            <a:avLst>
              <a:gd name="adj" fmla="val 50000"/>
            </a:avLst>
          </a:prstGeom>
          <a:solidFill>
            <a:srgbClr val="8A99A3"/>
          </a:solidFill>
          <a:ln w="12700">
            <a:solidFill>
              <a:srgbClr val="8A99A3"/>
            </a:solidFill>
            <a:prstDash val="solid"/>
          </a:ln>
        </p:spPr>
      </p:sp>
      <p:sp>
        <p:nvSpPr>
          <p:cNvPr id="16" name="text-12"/>
          <p:cNvSpPr txBox="1"/>
          <p:nvPr/>
        </p:nvSpPr>
        <p:spPr>
          <a:xfrm>
            <a:off x="6912864" y="204825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17" name="shape-13"/>
          <p:cNvSpPr/>
          <p:nvPr/>
        </p:nvSpPr>
        <p:spPr>
          <a:xfrm>
            <a:off x="7187184" y="2048256"/>
            <a:ext cx="201168" cy="146304"/>
          </a:xfrm>
          <a:prstGeom prst="roundRect">
            <a:avLst>
              <a:gd name="adj" fmla="val 50000"/>
            </a:avLst>
          </a:prstGeom>
          <a:solidFill>
            <a:srgbClr val="B45309"/>
          </a:solidFill>
          <a:ln w="12700">
            <a:solidFill>
              <a:srgbClr val="B45309"/>
            </a:solidFill>
            <a:prstDash val="solid"/>
          </a:ln>
        </p:spPr>
      </p:sp>
      <p:sp>
        <p:nvSpPr>
          <p:cNvPr id="18" name="text-14"/>
          <p:cNvSpPr txBox="1"/>
          <p:nvPr/>
        </p:nvSpPr>
        <p:spPr>
          <a:xfrm>
            <a:off x="7187184" y="204825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19" name="shape-15"/>
          <p:cNvSpPr/>
          <p:nvPr/>
        </p:nvSpPr>
        <p:spPr>
          <a:xfrm>
            <a:off x="548640" y="2542032"/>
            <a:ext cx="6949440" cy="676656"/>
          </a:xfrm>
          <a:prstGeom prst="roundRect">
            <a:avLst>
              <a:gd name="adj" fmla="val 10811"/>
            </a:avLst>
          </a:prstGeom>
          <a:solidFill>
            <a:srgbClr val="EEF2F4"/>
          </a:solidFill>
          <a:ln w="12700">
            <a:solidFill>
              <a:srgbClr val="EEF2F4"/>
            </a:solidFill>
            <a:prstDash val="solid"/>
          </a:ln>
        </p:spPr>
      </p:sp>
      <p:sp>
        <p:nvSpPr>
          <p:cNvPr id="20" name="text-16"/>
          <p:cNvSpPr txBox="1"/>
          <p:nvPr/>
        </p:nvSpPr>
        <p:spPr>
          <a:xfrm>
            <a:off x="731520" y="2542032"/>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Lead Engineer</a:t>
            </a:r>
            <a:endParaRPr lang="en-US" sz="1750" dirty="0"/>
          </a:p>
        </p:txBody>
      </p:sp>
      <p:sp>
        <p:nvSpPr>
          <p:cNvPr id="21" name="text-17"/>
          <p:cNvSpPr txBox="1"/>
          <p:nvPr/>
        </p:nvSpPr>
        <p:spPr>
          <a:xfrm>
            <a:off x="3383280" y="2596896"/>
            <a:ext cx="3108960" cy="329184"/>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Standards, build, maintain, technical QA</a:t>
            </a:r>
            <a:endParaRPr lang="en-US" sz="1300" dirty="0"/>
          </a:p>
        </p:txBody>
      </p:sp>
      <p:sp>
        <p:nvSpPr>
          <p:cNvPr id="22" name="text-18"/>
          <p:cNvSpPr txBox="1"/>
          <p:nvPr/>
        </p:nvSpPr>
        <p:spPr>
          <a:xfrm>
            <a:off x="3383280" y="2944368"/>
            <a:ext cx="3108960" cy="219456"/>
          </a:xfrm>
          <a:prstGeom prst="rect">
            <a:avLst/>
          </a:prstGeom>
          <a:noFill/>
          <a:ln/>
        </p:spPr>
        <p:txBody>
          <a:bodyPr wrap="none" lIns="0" tIns="0" rIns="0" bIns="0" rtlCol="0" anchor="ctr"/>
          <a:lstStyle/>
          <a:p>
            <a:pPr algn="l" indent="0" marL="0">
              <a:lnSpc>
                <a:spcPct val="100000"/>
              </a:lnSpc>
              <a:buNone/>
            </a:pPr>
            <a:r>
              <a:rPr lang="en-US" sz="1100" i="1" dirty="0">
                <a:solidFill>
                  <a:srgbClr val="B45309"/>
                </a:solidFill>
                <a:latin typeface="Calibri" pitchFamily="34" charset="0"/>
                <a:ea typeface="Calibri" pitchFamily="34" charset="-122"/>
                <a:cs typeface="Calibri" pitchFamily="34" charset="-120"/>
              </a:rPr>
              <a:t>vs proposal: was Technical Lead</a:t>
            </a:r>
            <a:endParaRPr lang="en-US" sz="1100" dirty="0"/>
          </a:p>
        </p:txBody>
      </p:sp>
      <p:sp>
        <p:nvSpPr>
          <p:cNvPr id="23" name="shape-19"/>
          <p:cNvSpPr/>
          <p:nvPr/>
        </p:nvSpPr>
        <p:spPr>
          <a:xfrm>
            <a:off x="6638544" y="2816352"/>
            <a:ext cx="201168" cy="146304"/>
          </a:xfrm>
          <a:prstGeom prst="roundRect">
            <a:avLst>
              <a:gd name="adj" fmla="val 50000"/>
            </a:avLst>
          </a:prstGeom>
          <a:solidFill>
            <a:srgbClr val="134E4A"/>
          </a:solidFill>
          <a:ln w="12700">
            <a:solidFill>
              <a:srgbClr val="134E4A"/>
            </a:solidFill>
            <a:prstDash val="solid"/>
          </a:ln>
        </p:spPr>
      </p:sp>
      <p:sp>
        <p:nvSpPr>
          <p:cNvPr id="24" name="text-20"/>
          <p:cNvSpPr txBox="1"/>
          <p:nvPr/>
        </p:nvSpPr>
        <p:spPr>
          <a:xfrm>
            <a:off x="6638544" y="2816352"/>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25" name="shape-21"/>
          <p:cNvSpPr/>
          <p:nvPr/>
        </p:nvSpPr>
        <p:spPr>
          <a:xfrm>
            <a:off x="6912864" y="2816352"/>
            <a:ext cx="201168" cy="146304"/>
          </a:xfrm>
          <a:prstGeom prst="roundRect">
            <a:avLst>
              <a:gd name="adj" fmla="val 50000"/>
            </a:avLst>
          </a:prstGeom>
          <a:solidFill>
            <a:srgbClr val="B45309"/>
          </a:solidFill>
          <a:ln w="12700">
            <a:solidFill>
              <a:srgbClr val="B45309"/>
            </a:solidFill>
            <a:prstDash val="solid"/>
          </a:ln>
        </p:spPr>
      </p:sp>
      <p:sp>
        <p:nvSpPr>
          <p:cNvPr id="26" name="text-22"/>
          <p:cNvSpPr txBox="1"/>
          <p:nvPr/>
        </p:nvSpPr>
        <p:spPr>
          <a:xfrm>
            <a:off x="6912864" y="2816352"/>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27" name="shape-23"/>
          <p:cNvSpPr/>
          <p:nvPr/>
        </p:nvSpPr>
        <p:spPr>
          <a:xfrm>
            <a:off x="7187184" y="2816352"/>
            <a:ext cx="201168" cy="146304"/>
          </a:xfrm>
          <a:prstGeom prst="roundRect">
            <a:avLst>
              <a:gd name="adj" fmla="val 50000"/>
            </a:avLst>
          </a:prstGeom>
          <a:solidFill>
            <a:srgbClr val="0F766E"/>
          </a:solidFill>
          <a:ln w="12700">
            <a:solidFill>
              <a:srgbClr val="0F766E"/>
            </a:solidFill>
            <a:prstDash val="solid"/>
          </a:ln>
        </p:spPr>
      </p:sp>
      <p:sp>
        <p:nvSpPr>
          <p:cNvPr id="28" name="text-24"/>
          <p:cNvSpPr txBox="1"/>
          <p:nvPr/>
        </p:nvSpPr>
        <p:spPr>
          <a:xfrm>
            <a:off x="7187184" y="2816352"/>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9" name="shape-25"/>
          <p:cNvSpPr/>
          <p:nvPr/>
        </p:nvSpPr>
        <p:spPr>
          <a:xfrm>
            <a:off x="548640" y="3310128"/>
            <a:ext cx="6949440" cy="676656"/>
          </a:xfrm>
          <a:prstGeom prst="roundRect">
            <a:avLst>
              <a:gd name="adj" fmla="val 10811"/>
            </a:avLst>
          </a:prstGeom>
          <a:solidFill>
            <a:srgbClr val="EEF2F4"/>
          </a:solidFill>
          <a:ln w="12700">
            <a:solidFill>
              <a:srgbClr val="EEF2F4"/>
            </a:solidFill>
            <a:prstDash val="solid"/>
          </a:ln>
        </p:spPr>
      </p:sp>
      <p:sp>
        <p:nvSpPr>
          <p:cNvPr id="30" name="text-26"/>
          <p:cNvSpPr txBox="1"/>
          <p:nvPr/>
        </p:nvSpPr>
        <p:spPr>
          <a:xfrm>
            <a:off x="731520" y="3310128"/>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Developer</a:t>
            </a:r>
            <a:endParaRPr lang="en-US" sz="1750" dirty="0"/>
          </a:p>
        </p:txBody>
      </p:sp>
      <p:sp>
        <p:nvSpPr>
          <p:cNvPr id="31" name="text-27"/>
          <p:cNvSpPr txBox="1"/>
          <p:nvPr/>
        </p:nvSpPr>
        <p:spPr>
          <a:xfrm>
            <a:off x="3383280" y="3364992"/>
            <a:ext cx="3108960" cy="329184"/>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Build, maintain, technical QA</a:t>
            </a:r>
            <a:endParaRPr lang="en-US" sz="1300" dirty="0"/>
          </a:p>
        </p:txBody>
      </p:sp>
      <p:sp>
        <p:nvSpPr>
          <p:cNvPr id="32" name="text-28"/>
          <p:cNvSpPr txBox="1"/>
          <p:nvPr/>
        </p:nvSpPr>
        <p:spPr>
          <a:xfrm>
            <a:off x="3383280" y="3712464"/>
            <a:ext cx="3108960" cy="219456"/>
          </a:xfrm>
          <a:prstGeom prst="rect">
            <a:avLst/>
          </a:prstGeom>
          <a:noFill/>
          <a:ln/>
        </p:spPr>
        <p:txBody>
          <a:bodyPr wrap="none" lIns="0" tIns="0" rIns="0" bIns="0" rtlCol="0" anchor="ctr"/>
          <a:lstStyle/>
          <a:p>
            <a:pPr algn="l" indent="0" marL="0">
              <a:lnSpc>
                <a:spcPct val="100000"/>
              </a:lnSpc>
              <a:buNone/>
            </a:pPr>
            <a:r>
              <a:rPr lang="en-US" sz="1100" i="1" dirty="0">
                <a:solidFill>
                  <a:srgbClr val="B45309"/>
                </a:solidFill>
                <a:latin typeface="Calibri" pitchFamily="34" charset="0"/>
                <a:ea typeface="Calibri" pitchFamily="34" charset="-122"/>
                <a:cs typeface="Calibri" pitchFamily="34" charset="-120"/>
              </a:rPr>
              <a:t>vs proposal: new — replaces the 0.6 PM</a:t>
            </a:r>
            <a:endParaRPr lang="en-US" sz="1100" dirty="0"/>
          </a:p>
        </p:txBody>
      </p:sp>
      <p:sp>
        <p:nvSpPr>
          <p:cNvPr id="33" name="shape-29"/>
          <p:cNvSpPr/>
          <p:nvPr/>
        </p:nvSpPr>
        <p:spPr>
          <a:xfrm>
            <a:off x="6912864" y="3584448"/>
            <a:ext cx="201168" cy="146304"/>
          </a:xfrm>
          <a:prstGeom prst="roundRect">
            <a:avLst>
              <a:gd name="adj" fmla="val 50000"/>
            </a:avLst>
          </a:prstGeom>
          <a:solidFill>
            <a:srgbClr val="134E4A"/>
          </a:solidFill>
          <a:ln w="12700">
            <a:solidFill>
              <a:srgbClr val="134E4A"/>
            </a:solidFill>
            <a:prstDash val="solid"/>
          </a:ln>
        </p:spPr>
      </p:sp>
      <p:sp>
        <p:nvSpPr>
          <p:cNvPr id="34" name="text-30"/>
          <p:cNvSpPr txBox="1"/>
          <p:nvPr/>
        </p:nvSpPr>
        <p:spPr>
          <a:xfrm>
            <a:off x="6912864" y="3584448"/>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5" name="shape-31"/>
          <p:cNvSpPr/>
          <p:nvPr/>
        </p:nvSpPr>
        <p:spPr>
          <a:xfrm>
            <a:off x="7187184" y="3584448"/>
            <a:ext cx="201168" cy="146304"/>
          </a:xfrm>
          <a:prstGeom prst="roundRect">
            <a:avLst>
              <a:gd name="adj" fmla="val 50000"/>
            </a:avLst>
          </a:prstGeom>
          <a:solidFill>
            <a:srgbClr val="B45309"/>
          </a:solidFill>
          <a:ln w="12700">
            <a:solidFill>
              <a:srgbClr val="B45309"/>
            </a:solidFill>
            <a:prstDash val="solid"/>
          </a:ln>
        </p:spPr>
      </p:sp>
      <p:sp>
        <p:nvSpPr>
          <p:cNvPr id="36" name="text-32"/>
          <p:cNvSpPr txBox="1"/>
          <p:nvPr/>
        </p:nvSpPr>
        <p:spPr>
          <a:xfrm>
            <a:off x="7187184" y="3584448"/>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37" name="shape-33"/>
          <p:cNvSpPr/>
          <p:nvPr/>
        </p:nvSpPr>
        <p:spPr>
          <a:xfrm>
            <a:off x="548640" y="4078224"/>
            <a:ext cx="6949440" cy="676656"/>
          </a:xfrm>
          <a:prstGeom prst="roundRect">
            <a:avLst>
              <a:gd name="adj" fmla="val 10811"/>
            </a:avLst>
          </a:prstGeom>
          <a:solidFill>
            <a:srgbClr val="EEF2F4"/>
          </a:solidFill>
          <a:ln w="12700">
            <a:solidFill>
              <a:srgbClr val="EEF2F4"/>
            </a:solidFill>
            <a:prstDash val="solid"/>
          </a:ln>
        </p:spPr>
      </p:sp>
      <p:sp>
        <p:nvSpPr>
          <p:cNvPr id="38" name="text-34"/>
          <p:cNvSpPr txBox="1"/>
          <p:nvPr/>
        </p:nvSpPr>
        <p:spPr>
          <a:xfrm>
            <a:off x="731520" y="4078224"/>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DevSecOps Platform Engineer</a:t>
            </a:r>
            <a:endParaRPr lang="en-US" sz="1750" dirty="0"/>
          </a:p>
        </p:txBody>
      </p:sp>
      <p:sp>
        <p:nvSpPr>
          <p:cNvPr id="39" name="text-35"/>
          <p:cNvSpPr txBox="1"/>
          <p:nvPr/>
        </p:nvSpPr>
        <p:spPr>
          <a:xfrm>
            <a:off x="3383280" y="4133088"/>
            <a:ext cx="3108960" cy="329184"/>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Security, ISMS, platform, pipeline</a:t>
            </a:r>
            <a:endParaRPr lang="en-US" sz="1300" dirty="0"/>
          </a:p>
        </p:txBody>
      </p:sp>
      <p:sp>
        <p:nvSpPr>
          <p:cNvPr id="40" name="text-36"/>
          <p:cNvSpPr txBox="1"/>
          <p:nvPr/>
        </p:nvSpPr>
        <p:spPr>
          <a:xfrm>
            <a:off x="3383280" y="4480560"/>
            <a:ext cx="3108960" cy="219456"/>
          </a:xfrm>
          <a:prstGeom prst="rect">
            <a:avLst/>
          </a:prstGeom>
          <a:noFill/>
          <a:ln/>
        </p:spPr>
        <p:txBody>
          <a:bodyPr wrap="none" lIns="0" tIns="0" rIns="0" bIns="0" rtlCol="0" anchor="ctr"/>
          <a:lstStyle/>
          <a:p>
            <a:pPr algn="l" indent="0" marL="0">
              <a:lnSpc>
                <a:spcPct val="100000"/>
              </a:lnSpc>
              <a:buNone/>
            </a:pPr>
            <a:r>
              <a:rPr lang="en-US" sz="1100" i="1" dirty="0">
                <a:solidFill>
                  <a:srgbClr val="B45309"/>
                </a:solidFill>
                <a:latin typeface="Calibri" pitchFamily="34" charset="0"/>
                <a:ea typeface="Calibri" pitchFamily="34" charset="-122"/>
                <a:cs typeface="Calibri" pitchFamily="34" charset="-120"/>
              </a:rPr>
              <a:t>vs proposal: was DevOps Engineer; security added</a:t>
            </a:r>
            <a:endParaRPr lang="en-US" sz="1100" dirty="0"/>
          </a:p>
        </p:txBody>
      </p:sp>
      <p:sp>
        <p:nvSpPr>
          <p:cNvPr id="41" name="shape-37"/>
          <p:cNvSpPr/>
          <p:nvPr/>
        </p:nvSpPr>
        <p:spPr>
          <a:xfrm>
            <a:off x="6638544" y="4352544"/>
            <a:ext cx="201168" cy="146304"/>
          </a:xfrm>
          <a:prstGeom prst="roundRect">
            <a:avLst>
              <a:gd name="adj" fmla="val 50000"/>
            </a:avLst>
          </a:prstGeom>
          <a:solidFill>
            <a:srgbClr val="B45309"/>
          </a:solidFill>
          <a:ln w="12700">
            <a:solidFill>
              <a:srgbClr val="B45309"/>
            </a:solidFill>
            <a:prstDash val="solid"/>
          </a:ln>
        </p:spPr>
      </p:sp>
      <p:sp>
        <p:nvSpPr>
          <p:cNvPr id="42" name="text-38"/>
          <p:cNvSpPr txBox="1"/>
          <p:nvPr/>
        </p:nvSpPr>
        <p:spPr>
          <a:xfrm>
            <a:off x="6638544" y="4352544"/>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X</a:t>
            </a:r>
            <a:endParaRPr lang="en-US" sz="1100" dirty="0"/>
          </a:p>
        </p:txBody>
      </p:sp>
      <p:sp>
        <p:nvSpPr>
          <p:cNvPr id="43" name="shape-39"/>
          <p:cNvSpPr/>
          <p:nvPr/>
        </p:nvSpPr>
        <p:spPr>
          <a:xfrm>
            <a:off x="6912864" y="4352544"/>
            <a:ext cx="201168" cy="146304"/>
          </a:xfrm>
          <a:prstGeom prst="roundRect">
            <a:avLst>
              <a:gd name="adj" fmla="val 50000"/>
            </a:avLst>
          </a:prstGeom>
          <a:solidFill>
            <a:srgbClr val="134E4A"/>
          </a:solidFill>
          <a:ln w="12700">
            <a:solidFill>
              <a:srgbClr val="134E4A"/>
            </a:solidFill>
            <a:prstDash val="solid"/>
          </a:ln>
        </p:spPr>
      </p:sp>
      <p:sp>
        <p:nvSpPr>
          <p:cNvPr id="44" name="text-40"/>
          <p:cNvSpPr txBox="1"/>
          <p:nvPr/>
        </p:nvSpPr>
        <p:spPr>
          <a:xfrm>
            <a:off x="6912864" y="4352544"/>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45" name="shape-41"/>
          <p:cNvSpPr/>
          <p:nvPr/>
        </p:nvSpPr>
        <p:spPr>
          <a:xfrm>
            <a:off x="7187184" y="4352544"/>
            <a:ext cx="201168" cy="146304"/>
          </a:xfrm>
          <a:prstGeom prst="roundRect">
            <a:avLst>
              <a:gd name="adj" fmla="val 50000"/>
            </a:avLst>
          </a:prstGeom>
          <a:solidFill>
            <a:srgbClr val="0F766E"/>
          </a:solidFill>
          <a:ln w="12700">
            <a:solidFill>
              <a:srgbClr val="0F766E"/>
            </a:solidFill>
            <a:prstDash val="solid"/>
          </a:ln>
        </p:spPr>
      </p:sp>
      <p:sp>
        <p:nvSpPr>
          <p:cNvPr id="46" name="text-42"/>
          <p:cNvSpPr txBox="1"/>
          <p:nvPr/>
        </p:nvSpPr>
        <p:spPr>
          <a:xfrm>
            <a:off x="7187184" y="4352544"/>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47" name="shape-43"/>
          <p:cNvSpPr/>
          <p:nvPr/>
        </p:nvSpPr>
        <p:spPr>
          <a:xfrm>
            <a:off x="548640" y="4846320"/>
            <a:ext cx="6949440" cy="676656"/>
          </a:xfrm>
          <a:prstGeom prst="roundRect">
            <a:avLst>
              <a:gd name="adj" fmla="val 10811"/>
            </a:avLst>
          </a:prstGeom>
          <a:solidFill>
            <a:srgbClr val="EEF2F4"/>
          </a:solidFill>
          <a:ln w="12700">
            <a:solidFill>
              <a:srgbClr val="EEF2F4"/>
            </a:solidFill>
            <a:prstDash val="solid"/>
          </a:ln>
        </p:spPr>
      </p:sp>
      <p:sp>
        <p:nvSpPr>
          <p:cNvPr id="48" name="text-44"/>
          <p:cNvSpPr txBox="1"/>
          <p:nvPr/>
        </p:nvSpPr>
        <p:spPr>
          <a:xfrm>
            <a:off x="731520" y="4846320"/>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Product</a:t>
            </a:r>
            <a:endParaRPr lang="en-US" sz="1750" dirty="0"/>
          </a:p>
        </p:txBody>
      </p:sp>
      <p:sp>
        <p:nvSpPr>
          <p:cNvPr id="49" name="text-45"/>
          <p:cNvSpPr txBox="1"/>
          <p:nvPr/>
        </p:nvSpPr>
        <p:spPr>
          <a:xfrm>
            <a:off x="3383280" y="4901184"/>
            <a:ext cx="3108960" cy="329184"/>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Project, research, design</a:t>
            </a:r>
            <a:endParaRPr lang="en-US" sz="1300" dirty="0"/>
          </a:p>
        </p:txBody>
      </p:sp>
      <p:sp>
        <p:nvSpPr>
          <p:cNvPr id="50" name="text-46"/>
          <p:cNvSpPr txBox="1"/>
          <p:nvPr/>
        </p:nvSpPr>
        <p:spPr>
          <a:xfrm>
            <a:off x="3383280" y="5248656"/>
            <a:ext cx="3108960" cy="219456"/>
          </a:xfrm>
          <a:prstGeom prst="rect">
            <a:avLst/>
          </a:prstGeom>
          <a:noFill/>
          <a:ln/>
        </p:spPr>
        <p:txBody>
          <a:bodyPr wrap="none" lIns="0" tIns="0" rIns="0" bIns="0" rtlCol="0" anchor="ctr"/>
          <a:lstStyle/>
          <a:p>
            <a:pPr algn="l" indent="0" marL="0">
              <a:lnSpc>
                <a:spcPct val="100000"/>
              </a:lnSpc>
              <a:buNone/>
            </a:pPr>
            <a:r>
              <a:rPr lang="en-US" sz="1100" i="1" dirty="0">
                <a:solidFill>
                  <a:srgbClr val="B45309"/>
                </a:solidFill>
                <a:latin typeface="Calibri" pitchFamily="34" charset="0"/>
                <a:ea typeface="Calibri" pitchFamily="34" charset="-122"/>
                <a:cs typeface="Calibri" pitchFamily="34" charset="-120"/>
              </a:rPr>
              <a:t>vs proposal: was Digital Product Owner; research, design added</a:t>
            </a:r>
            <a:endParaRPr lang="en-US" sz="1100" dirty="0"/>
          </a:p>
        </p:txBody>
      </p:sp>
      <p:sp>
        <p:nvSpPr>
          <p:cNvPr id="51" name="shape-47"/>
          <p:cNvSpPr/>
          <p:nvPr/>
        </p:nvSpPr>
        <p:spPr>
          <a:xfrm>
            <a:off x="6638544" y="5120640"/>
            <a:ext cx="201168" cy="146304"/>
          </a:xfrm>
          <a:prstGeom prst="roundRect">
            <a:avLst>
              <a:gd name="adj" fmla="val 50000"/>
            </a:avLst>
          </a:prstGeom>
          <a:solidFill>
            <a:srgbClr val="134E4A"/>
          </a:solidFill>
          <a:ln w="12700">
            <a:solidFill>
              <a:srgbClr val="134E4A"/>
            </a:solidFill>
            <a:prstDash val="solid"/>
          </a:ln>
        </p:spPr>
      </p:sp>
      <p:sp>
        <p:nvSpPr>
          <p:cNvPr id="52" name="text-48"/>
          <p:cNvSpPr txBox="1"/>
          <p:nvPr/>
        </p:nvSpPr>
        <p:spPr>
          <a:xfrm>
            <a:off x="6638544" y="5120640"/>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3" name="shape-49"/>
          <p:cNvSpPr/>
          <p:nvPr/>
        </p:nvSpPr>
        <p:spPr>
          <a:xfrm>
            <a:off x="6912864" y="5120640"/>
            <a:ext cx="201168" cy="146304"/>
          </a:xfrm>
          <a:prstGeom prst="roundRect">
            <a:avLst>
              <a:gd name="adj" fmla="val 50000"/>
            </a:avLst>
          </a:prstGeom>
          <a:solidFill>
            <a:srgbClr val="0F766E"/>
          </a:solidFill>
          <a:ln w="12700">
            <a:solidFill>
              <a:srgbClr val="0F766E"/>
            </a:solidFill>
            <a:prstDash val="solid"/>
          </a:ln>
        </p:spPr>
      </p:sp>
      <p:sp>
        <p:nvSpPr>
          <p:cNvPr id="54" name="text-50"/>
          <p:cNvSpPr txBox="1"/>
          <p:nvPr/>
        </p:nvSpPr>
        <p:spPr>
          <a:xfrm>
            <a:off x="6912864" y="5120640"/>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5" name="shape-51"/>
          <p:cNvSpPr/>
          <p:nvPr/>
        </p:nvSpPr>
        <p:spPr>
          <a:xfrm>
            <a:off x="7187184" y="5120640"/>
            <a:ext cx="201168" cy="146304"/>
          </a:xfrm>
          <a:prstGeom prst="roundRect">
            <a:avLst>
              <a:gd name="adj" fmla="val 50000"/>
            </a:avLst>
          </a:prstGeom>
          <a:solidFill>
            <a:srgbClr val="8A99A3"/>
          </a:solidFill>
          <a:ln w="12700">
            <a:solidFill>
              <a:srgbClr val="8A99A3"/>
            </a:solidFill>
            <a:prstDash val="solid"/>
          </a:ln>
        </p:spPr>
      </p:sp>
      <p:sp>
        <p:nvSpPr>
          <p:cNvPr id="56" name="text-52"/>
          <p:cNvSpPr txBox="1"/>
          <p:nvPr/>
        </p:nvSpPr>
        <p:spPr>
          <a:xfrm>
            <a:off x="7187184" y="5120640"/>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57" name="shape-53"/>
          <p:cNvSpPr/>
          <p:nvPr/>
        </p:nvSpPr>
        <p:spPr>
          <a:xfrm>
            <a:off x="548640" y="5614416"/>
            <a:ext cx="6949440" cy="676656"/>
          </a:xfrm>
          <a:prstGeom prst="roundRect">
            <a:avLst>
              <a:gd name="adj" fmla="val 10811"/>
            </a:avLst>
          </a:prstGeom>
          <a:solidFill>
            <a:srgbClr val="EEF2F4"/>
          </a:solidFill>
          <a:ln w="12700">
            <a:solidFill>
              <a:srgbClr val="EEF2F4"/>
            </a:solidFill>
            <a:prstDash val="solid"/>
          </a:ln>
        </p:spPr>
      </p:sp>
      <p:sp>
        <p:nvSpPr>
          <p:cNvPr id="58" name="text-54"/>
          <p:cNvSpPr txBox="1"/>
          <p:nvPr/>
        </p:nvSpPr>
        <p:spPr>
          <a:xfrm>
            <a:off x="731520" y="5614416"/>
            <a:ext cx="2560320" cy="676656"/>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BA / QA</a:t>
            </a:r>
            <a:endParaRPr lang="en-US" sz="1750" dirty="0"/>
          </a:p>
        </p:txBody>
      </p:sp>
      <p:sp>
        <p:nvSpPr>
          <p:cNvPr id="59" name="text-55"/>
          <p:cNvSpPr txBox="1"/>
          <p:nvPr/>
        </p:nvSpPr>
        <p:spPr>
          <a:xfrm>
            <a:off x="3383280" y="5669280"/>
            <a:ext cx="3108960" cy="329184"/>
          </a:xfrm>
          <a:prstGeom prst="rect">
            <a:avLst/>
          </a:prstGeom>
          <a:noFill/>
          <a:ln/>
        </p:spPr>
        <p:txBody>
          <a:bodyPr wrap="square" lIns="0" tIns="0" rIns="0" bIns="0" rtlCol="0" anchor="ctr"/>
          <a:lstStyle/>
          <a:p>
            <a:pPr algn="l" indent="0" marL="0">
              <a:lnSpc>
                <a:spcPct val="100000"/>
              </a:lnSpc>
              <a:buNone/>
            </a:pPr>
            <a:r>
              <a:rPr lang="en-US" sz="1300" dirty="0">
                <a:solidFill>
                  <a:srgbClr val="1C2B33"/>
                </a:solidFill>
                <a:latin typeface="Calibri" pitchFamily="34" charset="0"/>
                <a:ea typeface="Calibri" pitchFamily="34" charset="-122"/>
                <a:cs typeface="Calibri" pitchFamily="34" charset="-120"/>
              </a:rPr>
              <a:t>User testing, QA, product assistance</a:t>
            </a:r>
            <a:endParaRPr lang="en-US" sz="1300" dirty="0"/>
          </a:p>
        </p:txBody>
      </p:sp>
      <p:sp>
        <p:nvSpPr>
          <p:cNvPr id="60" name="text-56"/>
          <p:cNvSpPr txBox="1"/>
          <p:nvPr/>
        </p:nvSpPr>
        <p:spPr>
          <a:xfrm>
            <a:off x="3383280" y="6016752"/>
            <a:ext cx="3108960" cy="219456"/>
          </a:xfrm>
          <a:prstGeom prst="rect">
            <a:avLst/>
          </a:prstGeom>
          <a:noFill/>
          <a:ln/>
        </p:spPr>
        <p:txBody>
          <a:bodyPr wrap="none" lIns="0" tIns="0" rIns="0" bIns="0" rtlCol="0" anchor="ctr"/>
          <a:lstStyle/>
          <a:p>
            <a:pPr algn="l" indent="0" marL="0">
              <a:lnSpc>
                <a:spcPct val="100000"/>
              </a:lnSpc>
              <a:buNone/>
            </a:pPr>
            <a:r>
              <a:rPr lang="en-US" sz="1100" i="1" dirty="0">
                <a:solidFill>
                  <a:srgbClr val="B45309"/>
                </a:solidFill>
                <a:latin typeface="Calibri" pitchFamily="34" charset="0"/>
                <a:ea typeface="Calibri" pitchFamily="34" charset="-122"/>
                <a:cs typeface="Calibri" pitchFamily="34" charset="-120"/>
              </a:rPr>
              <a:t>vs proposal: was part-time BA; QA added</a:t>
            </a:r>
            <a:endParaRPr lang="en-US" sz="1100" dirty="0"/>
          </a:p>
        </p:txBody>
      </p:sp>
      <p:sp>
        <p:nvSpPr>
          <p:cNvPr id="61" name="shape-57"/>
          <p:cNvSpPr/>
          <p:nvPr/>
        </p:nvSpPr>
        <p:spPr>
          <a:xfrm>
            <a:off x="6912864" y="5888736"/>
            <a:ext cx="201168" cy="146304"/>
          </a:xfrm>
          <a:prstGeom prst="roundRect">
            <a:avLst>
              <a:gd name="adj" fmla="val 50000"/>
            </a:avLst>
          </a:prstGeom>
          <a:solidFill>
            <a:srgbClr val="134E4A"/>
          </a:solidFill>
          <a:ln w="12700">
            <a:solidFill>
              <a:srgbClr val="134E4A"/>
            </a:solidFill>
            <a:prstDash val="solid"/>
          </a:ln>
        </p:spPr>
      </p:sp>
      <p:sp>
        <p:nvSpPr>
          <p:cNvPr id="62" name="text-58"/>
          <p:cNvSpPr txBox="1"/>
          <p:nvPr/>
        </p:nvSpPr>
        <p:spPr>
          <a:xfrm>
            <a:off x="6912864" y="588873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63" name="shape-59"/>
          <p:cNvSpPr/>
          <p:nvPr/>
        </p:nvSpPr>
        <p:spPr>
          <a:xfrm>
            <a:off x="7187184" y="5888736"/>
            <a:ext cx="201168" cy="146304"/>
          </a:xfrm>
          <a:prstGeom prst="roundRect">
            <a:avLst>
              <a:gd name="adj" fmla="val 50000"/>
            </a:avLst>
          </a:prstGeom>
          <a:solidFill>
            <a:srgbClr val="8A99A3"/>
          </a:solidFill>
          <a:ln w="12700">
            <a:solidFill>
              <a:srgbClr val="8A99A3"/>
            </a:solidFill>
            <a:prstDash val="solid"/>
          </a:ln>
        </p:spPr>
      </p:sp>
      <p:sp>
        <p:nvSpPr>
          <p:cNvPr id="64" name="text-60"/>
          <p:cNvSpPr txBox="1"/>
          <p:nvPr/>
        </p:nvSpPr>
        <p:spPr>
          <a:xfrm>
            <a:off x="7187184" y="5888736"/>
            <a:ext cx="201168" cy="146304"/>
          </a:xfrm>
          <a:prstGeom prst="rect">
            <a:avLst/>
          </a:prstGeom>
          <a:noFill/>
          <a:ln/>
        </p:spPr>
        <p:txBody>
          <a:bodyPr wrap="square" lIns="0" tIns="0" rIns="0" bIns="0" rtlCol="0" anchor="ctr"/>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65" name="text-61"/>
          <p:cNvSpPr txBox="1"/>
          <p:nvPr/>
        </p:nvSpPr>
        <p:spPr>
          <a:xfrm>
            <a:off x="7772400" y="1426464"/>
            <a:ext cx="8229600" cy="182880"/>
          </a:xfrm>
          <a:prstGeom prst="rect">
            <a:avLst/>
          </a:prstGeom>
          <a:noFill/>
          <a:ln/>
        </p:spPr>
        <p:txBody>
          <a:bodyPr wrap="square" lIns="0" tIns="0" rIns="0" bIns="0" rtlCol="0" anchor="ctr"/>
          <a:lstStyle/>
          <a:p>
            <a:pPr algn="l" indent="0" marL="0">
              <a:lnSpc>
                <a:spcPct val="100000"/>
              </a:lnSpc>
              <a:buNone/>
            </a:pPr>
            <a:r>
              <a:rPr lang="en-US" sz="1100" b="1" spc="200" kern="0" dirty="0">
                <a:solidFill>
                  <a:srgbClr val="0F766E"/>
                </a:solidFill>
                <a:latin typeface="Calibri" pitchFamily="34" charset="0"/>
                <a:ea typeface="Calibri" pitchFamily="34" charset="-122"/>
                <a:cs typeface="Calibri" pitchFamily="34" charset="-120"/>
              </a:rPr>
              <a:t>OPTIONS GATE 2 WOULD CHOOSE BETWEEN</a:t>
            </a:r>
            <a:endParaRPr lang="en-US" sz="1100" dirty="0"/>
          </a:p>
        </p:txBody>
      </p:sp>
      <p:sp>
        <p:nvSpPr>
          <p:cNvPr id="66" name="shape-62"/>
          <p:cNvSpPr/>
          <p:nvPr/>
        </p:nvSpPr>
        <p:spPr>
          <a:xfrm>
            <a:off x="7772400" y="1773936"/>
            <a:ext cx="3840480" cy="969264"/>
          </a:xfrm>
          <a:prstGeom prst="roundRect">
            <a:avLst>
              <a:gd name="adj" fmla="val 7547"/>
            </a:avLst>
          </a:prstGeom>
          <a:solidFill>
            <a:srgbClr val="FFFFFF"/>
          </a:solidFill>
          <a:ln w="15875">
            <a:solidFill>
              <a:srgbClr val="D4DBE0"/>
            </a:solidFill>
            <a:prstDash val="solid"/>
          </a:ln>
        </p:spPr>
      </p:sp>
      <p:pic>
        <p:nvPicPr>
          <p:cNvPr id="67" name="icon-63" descr="preencoded.png">    </p:cNvPr>
          <p:cNvPicPr>
            <a:picLocks noChangeAspect="1"/>
          </p:cNvPicPr>
          <p:nvPr/>
        </p:nvPicPr>
        <p:blipFill>
          <a:blip r:embed="rId1"/>
          <a:stretch>
            <a:fillRect/>
          </a:stretch>
        </p:blipFill>
        <p:spPr>
          <a:xfrm>
            <a:off x="7918704" y="1956816"/>
            <a:ext cx="219456" cy="219456"/>
          </a:xfrm>
          <a:prstGeom prst="rect">
            <a:avLst/>
          </a:prstGeom>
        </p:spPr>
      </p:pic>
      <p:sp>
        <p:nvSpPr>
          <p:cNvPr id="68" name="text-64"/>
          <p:cNvSpPr txBox="1"/>
          <p:nvPr/>
        </p:nvSpPr>
        <p:spPr>
          <a:xfrm>
            <a:off x="8247888" y="1883664"/>
            <a:ext cx="3236976" cy="45720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Second engineer, or the vendor’s 0.6 PM</a:t>
            </a:r>
            <a:endParaRPr lang="en-US" sz="1350" dirty="0"/>
          </a:p>
        </p:txBody>
      </p:sp>
      <p:sp>
        <p:nvSpPr>
          <p:cNvPr id="69" name="text-65"/>
          <p:cNvSpPr txBox="1"/>
          <p:nvPr/>
        </p:nvSpPr>
        <p:spPr>
          <a:xfrm>
            <a:off x="7918704" y="2395728"/>
            <a:ext cx="3547872" cy="274320"/>
          </a:xfrm>
          <a:prstGeom prst="rect">
            <a:avLst/>
          </a:prstGeom>
          <a:noFill/>
          <a:ln/>
        </p:spPr>
        <p:txBody>
          <a:bodyPr wrap="square" lIns="0" tIns="0" rIns="0" bIns="0" rtlCol="0" anchor="ctr"/>
          <a:lstStyle/>
          <a:p>
            <a:pPr algn="l" indent="0" marL="0">
              <a:lnSpc>
                <a:spcPct val="100000"/>
              </a:lnSpc>
              <a:buNone/>
            </a:pPr>
            <a:r>
              <a:rPr lang="en-US" sz="1150" dirty="0">
                <a:solidFill>
                  <a:srgbClr val="5A6B75"/>
                </a:solidFill>
                <a:latin typeface="Calibri" pitchFamily="34" charset="0"/>
                <a:ea typeface="Calibri" pitchFamily="34" charset="-122"/>
                <a:cs typeface="Calibri" pitchFamily="34" charset="-120"/>
              </a:rPr>
              <a:t>how much of the product is built in-house</a:t>
            </a:r>
            <a:endParaRPr lang="en-US" sz="1150" dirty="0"/>
          </a:p>
        </p:txBody>
      </p:sp>
      <p:sp>
        <p:nvSpPr>
          <p:cNvPr id="70" name="shape-66"/>
          <p:cNvSpPr/>
          <p:nvPr/>
        </p:nvSpPr>
        <p:spPr>
          <a:xfrm>
            <a:off x="7772400" y="2852928"/>
            <a:ext cx="3840480" cy="969264"/>
          </a:xfrm>
          <a:prstGeom prst="roundRect">
            <a:avLst>
              <a:gd name="adj" fmla="val 7547"/>
            </a:avLst>
          </a:prstGeom>
          <a:solidFill>
            <a:srgbClr val="FFFFFF"/>
          </a:solidFill>
          <a:ln w="15875">
            <a:solidFill>
              <a:srgbClr val="D4DBE0"/>
            </a:solidFill>
            <a:prstDash val="solid"/>
          </a:ln>
        </p:spPr>
      </p:sp>
      <p:pic>
        <p:nvPicPr>
          <p:cNvPr id="71" name="icon-67" descr="preencoded.png">    </p:cNvPr>
          <p:cNvPicPr>
            <a:picLocks noChangeAspect="1"/>
          </p:cNvPicPr>
          <p:nvPr/>
        </p:nvPicPr>
        <p:blipFill>
          <a:blip r:embed="rId2"/>
          <a:stretch>
            <a:fillRect/>
          </a:stretch>
        </p:blipFill>
        <p:spPr>
          <a:xfrm>
            <a:off x="7918704" y="3035808"/>
            <a:ext cx="219456" cy="219456"/>
          </a:xfrm>
          <a:prstGeom prst="rect">
            <a:avLst/>
          </a:prstGeom>
        </p:spPr>
      </p:pic>
      <p:sp>
        <p:nvSpPr>
          <p:cNvPr id="72" name="text-68"/>
          <p:cNvSpPr txBox="1"/>
          <p:nvPr/>
        </p:nvSpPr>
        <p:spPr>
          <a:xfrm>
            <a:off x="8247888" y="2962656"/>
            <a:ext cx="3236976" cy="45720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AI budget and AI-DLC adoption instead of more headcount</a:t>
            </a:r>
            <a:endParaRPr lang="en-US" sz="1350" dirty="0"/>
          </a:p>
        </p:txBody>
      </p:sp>
      <p:sp>
        <p:nvSpPr>
          <p:cNvPr id="73" name="text-69"/>
          <p:cNvSpPr txBox="1"/>
          <p:nvPr/>
        </p:nvSpPr>
        <p:spPr>
          <a:xfrm>
            <a:off x="7918704" y="3474720"/>
            <a:ext cx="3547872" cy="274320"/>
          </a:xfrm>
          <a:prstGeom prst="rect">
            <a:avLst/>
          </a:prstGeom>
          <a:noFill/>
          <a:ln/>
        </p:spPr>
        <p:txBody>
          <a:bodyPr wrap="square" lIns="0" tIns="0" rIns="0" bIns="0" rtlCol="0" anchor="ctr"/>
          <a:lstStyle/>
          <a:p>
            <a:pPr algn="l" indent="0" marL="0">
              <a:lnSpc>
                <a:spcPct val="100000"/>
              </a:lnSpc>
              <a:buNone/>
            </a:pPr>
            <a:r>
              <a:rPr lang="en-US" sz="1150" dirty="0">
                <a:solidFill>
                  <a:srgbClr val="5A6B75"/>
                </a:solidFill>
                <a:latin typeface="Calibri" pitchFamily="34" charset="0"/>
                <a:ea typeface="Calibri" pitchFamily="34" charset="-122"/>
                <a:cs typeface="Calibri" pitchFamily="34" charset="-120"/>
              </a:rPr>
              <a:t>assist, accelerate and de-risk product work</a:t>
            </a:r>
            <a:endParaRPr lang="en-US" sz="1150" dirty="0"/>
          </a:p>
        </p:txBody>
      </p:sp>
      <p:sp>
        <p:nvSpPr>
          <p:cNvPr id="74" name="shape-70"/>
          <p:cNvSpPr/>
          <p:nvPr/>
        </p:nvSpPr>
        <p:spPr>
          <a:xfrm>
            <a:off x="7772400" y="3931920"/>
            <a:ext cx="3840480" cy="969264"/>
          </a:xfrm>
          <a:prstGeom prst="roundRect">
            <a:avLst>
              <a:gd name="adj" fmla="val 7547"/>
            </a:avLst>
          </a:prstGeom>
          <a:solidFill>
            <a:srgbClr val="FFFFFF"/>
          </a:solidFill>
          <a:ln w="15875">
            <a:solidFill>
              <a:srgbClr val="D4DBE0"/>
            </a:solidFill>
            <a:prstDash val="solid"/>
          </a:ln>
        </p:spPr>
      </p:sp>
      <p:pic>
        <p:nvPicPr>
          <p:cNvPr id="75" name="icon-71" descr="preencoded.png">    </p:cNvPr>
          <p:cNvPicPr>
            <a:picLocks noChangeAspect="1"/>
          </p:cNvPicPr>
          <p:nvPr/>
        </p:nvPicPr>
        <p:blipFill>
          <a:blip r:embed="rId3"/>
          <a:stretch>
            <a:fillRect/>
          </a:stretch>
        </p:blipFill>
        <p:spPr>
          <a:xfrm>
            <a:off x="7918704" y="4114800"/>
            <a:ext cx="219456" cy="219456"/>
          </a:xfrm>
          <a:prstGeom prst="rect">
            <a:avLst/>
          </a:prstGeom>
        </p:spPr>
      </p:pic>
      <p:sp>
        <p:nvSpPr>
          <p:cNvPr id="76" name="text-72"/>
          <p:cNvSpPr txBox="1"/>
          <p:nvPr/>
        </p:nvSpPr>
        <p:spPr>
          <a:xfrm>
            <a:off x="8247888" y="4041648"/>
            <a:ext cx="3236976" cy="457200"/>
          </a:xfrm>
          <a:prstGeom prst="rect">
            <a:avLst/>
          </a:prstGeom>
          <a:noFill/>
          <a:ln/>
        </p:spPr>
        <p:txBody>
          <a:bodyPr wrap="square" lIns="0" tIns="0" rIns="0" bIns="0" rtlCol="0" anchor="ctr"/>
          <a:lstStyle/>
          <a:p>
            <a:pPr algn="l" indent="0" marL="0">
              <a:lnSpc>
                <a:spcPct val="100000"/>
              </a:lnSpc>
              <a:buNone/>
            </a:pPr>
            <a:r>
              <a:rPr lang="en-US" sz="1350" b="1" dirty="0">
                <a:solidFill>
                  <a:srgbClr val="1C2B33"/>
                </a:solidFill>
                <a:latin typeface="Calibri" pitchFamily="34" charset="0"/>
                <a:ea typeface="Calibri" pitchFamily="34" charset="-122"/>
                <a:cs typeface="Calibri" pitchFamily="34" charset="-120"/>
              </a:rPr>
              <a:t>24×7 operations: extend the MSP, or a specialist partner</a:t>
            </a:r>
            <a:endParaRPr lang="en-US" sz="1350" dirty="0"/>
          </a:p>
        </p:txBody>
      </p:sp>
      <p:sp>
        <p:nvSpPr>
          <p:cNvPr id="77" name="text-73"/>
          <p:cNvSpPr txBox="1"/>
          <p:nvPr/>
        </p:nvSpPr>
        <p:spPr>
          <a:xfrm>
            <a:off x="7918704" y="4553712"/>
            <a:ext cx="3547872" cy="274320"/>
          </a:xfrm>
          <a:prstGeom prst="rect">
            <a:avLst/>
          </a:prstGeom>
          <a:noFill/>
          <a:ln/>
        </p:spPr>
        <p:txBody>
          <a:bodyPr wrap="square" lIns="0" tIns="0" rIns="0" bIns="0" rtlCol="0" anchor="ctr"/>
          <a:lstStyle/>
          <a:p>
            <a:pPr algn="l" indent="0" marL="0">
              <a:lnSpc>
                <a:spcPct val="100000"/>
              </a:lnSpc>
              <a:buNone/>
            </a:pPr>
            <a:r>
              <a:rPr lang="en-US" sz="1150" dirty="0">
                <a:solidFill>
                  <a:srgbClr val="5A6B75"/>
                </a:solidFill>
                <a:latin typeface="Calibri" pitchFamily="34" charset="0"/>
                <a:ea typeface="Calibri" pitchFamily="34" charset="-122"/>
                <a:cs typeface="Calibri" pitchFamily="34" charset="-120"/>
              </a:rPr>
              <a:t>a scope change for whoever runs the product, not a given</a:t>
            </a:r>
            <a:endParaRPr lang="en-US" sz="1150" dirty="0"/>
          </a:p>
        </p:txBody>
      </p:sp>
      <p:sp>
        <p:nvSpPr>
          <p:cNvPr id="78" name="shape-74"/>
          <p:cNvSpPr/>
          <p:nvPr/>
        </p:nvSpPr>
        <p:spPr>
          <a:xfrm>
            <a:off x="7772400" y="5010912"/>
            <a:ext cx="3840480" cy="1353312"/>
          </a:xfrm>
          <a:prstGeom prst="roundRect">
            <a:avLst>
              <a:gd name="adj" fmla="val 5405"/>
            </a:avLst>
          </a:prstGeom>
          <a:solidFill>
            <a:srgbClr val="FDF1E3"/>
          </a:solidFill>
          <a:ln w="12700">
            <a:solidFill>
              <a:srgbClr val="FDF1E3"/>
            </a:solidFill>
            <a:prstDash val="solid"/>
          </a:ln>
        </p:spPr>
      </p:sp>
      <p:sp>
        <p:nvSpPr>
          <p:cNvPr id="79" name="text-75"/>
          <p:cNvSpPr txBox="1"/>
          <p:nvPr/>
        </p:nvSpPr>
        <p:spPr>
          <a:xfrm>
            <a:off x="7918704" y="5138928"/>
            <a:ext cx="3547872" cy="182880"/>
          </a:xfrm>
          <a:prstGeom prst="rect">
            <a:avLst/>
          </a:prstGeom>
          <a:noFill/>
          <a:ln/>
        </p:spPr>
        <p:txBody>
          <a:bodyPr wrap="none" lIns="0" tIns="0" rIns="0" bIns="0" rtlCol="0" anchor="ctr"/>
          <a:lstStyle/>
          <a:p>
            <a:pPr algn="l" indent="0" marL="0">
              <a:lnSpc>
                <a:spcPct val="100000"/>
              </a:lnSpc>
              <a:buNone/>
            </a:pPr>
            <a:r>
              <a:rPr lang="en-US" sz="1100" b="1" spc="100" kern="0" dirty="0">
                <a:solidFill>
                  <a:srgbClr val="B45309"/>
                </a:solidFill>
                <a:latin typeface="Calibri" pitchFamily="34" charset="0"/>
                <a:ea typeface="Calibri" pitchFamily="34" charset="-122"/>
                <a:cs typeface="Calibri" pitchFamily="34" charset="-120"/>
              </a:rPr>
              <a:t>BOUGHT, NOT BUILT — WHAT THE PROGRAMME ADDS TO THE MSP</a:t>
            </a:r>
            <a:endParaRPr lang="en-US" sz="1100" dirty="0"/>
          </a:p>
        </p:txBody>
      </p:sp>
      <p:sp>
        <p:nvSpPr>
          <p:cNvPr id="80" name="oval-76"/>
          <p:cNvSpPr/>
          <p:nvPr/>
        </p:nvSpPr>
        <p:spPr>
          <a:xfrm>
            <a:off x="7941564" y="5472684"/>
            <a:ext cx="64008" cy="64008"/>
          </a:xfrm>
          <a:prstGeom prst="ellipse">
            <a:avLst/>
          </a:prstGeom>
          <a:solidFill>
            <a:srgbClr val="B45309"/>
          </a:solidFill>
          <a:ln w="12700">
            <a:solidFill>
              <a:srgbClr val="B45309"/>
            </a:solidFill>
            <a:prstDash val="solid"/>
          </a:ln>
        </p:spPr>
      </p:sp>
      <p:sp>
        <p:nvSpPr>
          <p:cNvPr id="81" name="text-77"/>
          <p:cNvSpPr txBox="1"/>
          <p:nvPr/>
        </p:nvSpPr>
        <p:spPr>
          <a:xfrm>
            <a:off x="8101584" y="5394960"/>
            <a:ext cx="3364992" cy="219456"/>
          </a:xfrm>
          <a:prstGeom prst="rect">
            <a:avLst/>
          </a:prstGeom>
          <a:noFill/>
          <a:ln/>
        </p:spPr>
        <p:txBody>
          <a:bodyPr wrap="non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Product monitoring and on-call, 24×7</a:t>
            </a:r>
            <a:endParaRPr lang="en-US" sz="1100" dirty="0"/>
          </a:p>
        </p:txBody>
      </p:sp>
      <p:sp>
        <p:nvSpPr>
          <p:cNvPr id="82" name="oval-78"/>
          <p:cNvSpPr/>
          <p:nvPr/>
        </p:nvSpPr>
        <p:spPr>
          <a:xfrm>
            <a:off x="7941564" y="5710428"/>
            <a:ext cx="64008" cy="64008"/>
          </a:xfrm>
          <a:prstGeom prst="ellipse">
            <a:avLst/>
          </a:prstGeom>
          <a:solidFill>
            <a:srgbClr val="B45309"/>
          </a:solidFill>
          <a:ln w="12700">
            <a:solidFill>
              <a:srgbClr val="B45309"/>
            </a:solidFill>
            <a:prstDash val="solid"/>
          </a:ln>
        </p:spPr>
      </p:sp>
      <p:sp>
        <p:nvSpPr>
          <p:cNvPr id="83" name="text-79"/>
          <p:cNvSpPr txBox="1"/>
          <p:nvPr/>
        </p:nvSpPr>
        <p:spPr>
          <a:xfrm>
            <a:off x="8101584" y="5632704"/>
            <a:ext cx="3364992" cy="219456"/>
          </a:xfrm>
          <a:prstGeom prst="rect">
            <a:avLst/>
          </a:prstGeom>
          <a:noFill/>
          <a:ln/>
        </p:spPr>
        <p:txBody>
          <a:bodyPr wrap="non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Security monitoring and incident response (SOC)</a:t>
            </a:r>
            <a:endParaRPr lang="en-US" sz="1100" dirty="0"/>
          </a:p>
        </p:txBody>
      </p:sp>
      <p:sp>
        <p:nvSpPr>
          <p:cNvPr id="84" name="oval-80"/>
          <p:cNvSpPr/>
          <p:nvPr/>
        </p:nvSpPr>
        <p:spPr>
          <a:xfrm>
            <a:off x="7941564" y="5948172"/>
            <a:ext cx="64008" cy="64008"/>
          </a:xfrm>
          <a:prstGeom prst="ellipse">
            <a:avLst/>
          </a:prstGeom>
          <a:solidFill>
            <a:srgbClr val="B45309"/>
          </a:solidFill>
          <a:ln w="12700">
            <a:solidFill>
              <a:srgbClr val="B45309"/>
            </a:solidFill>
            <a:prstDash val="solid"/>
          </a:ln>
        </p:spPr>
      </p:sp>
      <p:sp>
        <p:nvSpPr>
          <p:cNvPr id="85" name="text-81"/>
          <p:cNvSpPr txBox="1"/>
          <p:nvPr/>
        </p:nvSpPr>
        <p:spPr>
          <a:xfrm>
            <a:off x="8101584" y="5870448"/>
            <a:ext cx="3364992" cy="219456"/>
          </a:xfrm>
          <a:prstGeom prst="rect">
            <a:avLst/>
          </a:prstGeom>
          <a:noFill/>
          <a:ln/>
        </p:spPr>
        <p:txBody>
          <a:bodyPr wrap="non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Platform run: cloud estate, patching, cost</a:t>
            </a:r>
            <a:endParaRPr lang="en-US" sz="1100" dirty="0"/>
          </a:p>
        </p:txBody>
      </p:sp>
      <p:sp>
        <p:nvSpPr>
          <p:cNvPr id="86" name="oval-82"/>
          <p:cNvSpPr/>
          <p:nvPr/>
        </p:nvSpPr>
        <p:spPr>
          <a:xfrm>
            <a:off x="7941564" y="6185916"/>
            <a:ext cx="64008" cy="64008"/>
          </a:xfrm>
          <a:prstGeom prst="ellipse">
            <a:avLst/>
          </a:prstGeom>
          <a:solidFill>
            <a:srgbClr val="B45309"/>
          </a:solidFill>
          <a:ln w="12700">
            <a:solidFill>
              <a:srgbClr val="B45309"/>
            </a:solidFill>
            <a:prstDash val="solid"/>
          </a:ln>
        </p:spPr>
      </p:sp>
      <p:sp>
        <p:nvSpPr>
          <p:cNvPr id="87" name="text-83"/>
          <p:cNvSpPr txBox="1"/>
          <p:nvPr/>
        </p:nvSpPr>
        <p:spPr>
          <a:xfrm>
            <a:off x="8101584" y="6108192"/>
            <a:ext cx="3364992" cy="219456"/>
          </a:xfrm>
          <a:prstGeom prst="rect">
            <a:avLst/>
          </a:prstGeom>
          <a:noFill/>
          <a:ln/>
        </p:spPr>
        <p:txBody>
          <a:bodyPr wrap="non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Commodity run: CRM, shop, finance, reporting</a:t>
            </a:r>
            <a:endParaRPr lang="en-US" sz="1100" dirty="0"/>
          </a:p>
        </p:txBody>
      </p:sp>
      <p:sp>
        <p:nvSpPr>
          <p:cNvPr id="88" name="text-84"/>
          <p:cNvSpPr txBox="1"/>
          <p:nvPr/>
        </p:nvSpPr>
        <p:spPr>
          <a:xfrm>
            <a:off x="548640" y="6419088"/>
            <a:ext cx="11064240" cy="164592"/>
          </a:xfrm>
          <a:prstGeom prst="rect">
            <a:avLst/>
          </a:prstGeom>
          <a:noFill/>
          <a:ln/>
        </p:spPr>
        <p:txBody>
          <a:bodyPr wrap="square" lIns="0" tIns="0" rIns="0" bIns="0" rtlCol="0" anchor="ctr"/>
          <a:lstStyle/>
          <a:p>
            <a:pPr algn="l" indent="0" marL="0">
              <a:lnSpc>
                <a:spcPct val="100000"/>
              </a:lnSpc>
              <a:buNone/>
            </a:pPr>
            <a:r>
              <a:rPr lang="en-US" sz="1100" i="1" dirty="0">
                <a:solidFill>
                  <a:srgbClr val="5A6B75"/>
                </a:solidFill>
                <a:latin typeface="Calibri" pitchFamily="34" charset="0"/>
                <a:ea typeface="Calibri" pitchFamily="34" charset="-122"/>
                <a:cs typeface="Calibri" pitchFamily="34" charset="-120"/>
              </a:rPr>
              <a:t>Responsibilities, not an approved hiring plan. Specialist research or design is bought ad hoc; audits, penetration testing and certification are bought separately from the MSP.</a:t>
            </a:r>
            <a:endParaRPr lang="en-US" sz="11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Modernisation">
  <a:themeElements>
    <a:clrScheme name="Modernisation">
      <a:dk1>
        <a:srgbClr val="1C2B33"/>
      </a:dk1>
      <a:lt1>
        <a:srgbClr val="FFFFFF"/>
      </a:lt1>
      <a:dk2>
        <a:srgbClr val="5A6B75"/>
      </a:dk2>
      <a:lt2>
        <a:srgbClr val="EEF2F4"/>
      </a:lt2>
      <a:accent1>
        <a:srgbClr val="0F766E"/>
      </a:accent1>
      <a:accent2>
        <a:srgbClr val="B45309"/>
      </a:accent2>
      <a:accent3>
        <a:srgbClr val="D6ECE9"/>
      </a:accent3>
      <a:accent4>
        <a:srgbClr val="D4DBE0"/>
      </a:accent4>
      <a:accent5>
        <a:srgbClr val="134E4A"/>
      </a:accent5>
      <a:accent6>
        <a:srgbClr val="FDF1E3"/>
      </a:accent6>
      <a:hlink>
        <a:srgbClr val="0F766E"/>
      </a:hlink>
      <a:folHlink>
        <a:srgbClr val="0F766E"/>
      </a:folHlink>
    </a:clrScheme>
    <a:fontScheme name="Modernisat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Leading the digital modernisation programme</dc:title>
  <dc:subject>PptxGenJS Presentation</dc:subject>
  <dc:creator>PptxGenJS</dc:creator>
  <cp:lastModifiedBy>PptxGenJS</cp:lastModifiedBy>
  <cp:revision>1</cp:revision>
  <dcterms:created xsi:type="dcterms:W3CDTF">2026-10-15T23:00:03Z</dcterms:created>
  <dcterms:modified xsi:type="dcterms:W3CDTF">2026-10-15T23:00:03Z</dcterms:modified>
</cp:coreProperties>
</file>
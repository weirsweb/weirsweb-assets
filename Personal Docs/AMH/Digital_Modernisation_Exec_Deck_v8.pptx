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(from the source material)
- Direction: from a publishing model to a digital product platform. The strategy material frames this as an inflection point, visible only in hindsight.
- The target architecture is a vendor proposal, not yet owner-assessed. The target date is fixed. The proposed team is a CTO plus roughly 4.6 FTE.
- Current estate: a public website, a content/SaaS authoring product, a CRM behind them. An MSP is in place; some things are SaaS, some in-house.
HOW TO TALK TO THE CURVE
- The decision to move curves is made; the work is execution without losing today's revenue, customers or content integrity. The pivot is agreed; what is not yet settled is the shape of what we build and how we work.
HYPOTHESIS STATEMENT (new on this slide)
- Say it out loud before moving on: every design and staffing statement that follows is a hypothesis; Gates 1 and 2 test it before anything is built. This is what reconciles the solution slides with the delivery argument.
THE THREE PHASES (and what each means for this programme)
- Understand (days 1–30): two baselines — the technology and product baseline, and the ways-of-working baseline (processes, SOPs, SLAs, mandated requirements). Inventory what is live, in flight and contracted; read the proposal with its author.
- Stabilise (days 31–60): keep today running — no big bang. Tier the architecture (slide 2). Confirm, re-scope or stop in-flight work, each with a reason. Put the operating rhythm in place in week two, not week twelve.
- Accelerate (days 61–90 →): first assured delivery on the bullet-proof core; the backward plan to the date agreed with partners.
- Momentum rule: nothing that works today stops until its replacement is proven; nothing new starts without an owner and a gate.
ASSUMPTIONS (mine, to be challenged)
- Authoritative content is the core asset; commerce, identity and CRM are plumbing.
- Most build and all commodity operations will come from partners; the in-house team owns judgement, design and assurance.
- A board and a risk committee exist and the programme reports into them.
- Editorial and content operations sit outside this role; the content platform (as technology) is in scope.
- Some in-flight work will be confirmed, some re-scoped, some stopped.
TO CONFIRM IN THE FIRST 30 DAYS
- Which partners beyond the MSP are contracted, and for what. Which third-party integrations are live and must be preserved. What is in flight, its state and owner. The split of individual, institutional and embedded customers and revenue. Run cost and end-of-life dates for current systems.
[PROMPT] Opening example: a time you inherited an agreed direction mid-flight and kept momentum while reshaping it. One sentence here, detail on slide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GATES
- Gate 1 (day 30) — two baselines. Technology and product: systems, architecture, integrations, contracts, partners, run cost, product offerings and licence model, what is in flight. Ways of working: business processes and SOPs, SLAs and any mandated requirements, hand-offs and where time is actually spent, today's ceremonies and what each produces. Output: a one-page baseline and a confirmed list of what is in flight.
- Gate 2 (day 60) — the fit test and decisions. Agree a preferred target way of working with AI woven in. Then ask of the proposed architecture: does it support that way of working; where does it hinder it; what tooling and AI would help or hinder. Tiering confirmed; Tier A design confirmed; in-flight work confirmed, re-scoped or stopped; partner scope and commercials agreed; the backward plan to the date drafted with partners. Output: the plan the organisation will be held to, with its risks.
- Gate 3 (day 90) — first assured delivery. Candidate: the identity and entitlement foundation, or the content pipeline — whichever the baseline shows is the constraint. Output: proof the path works end to end on something real.
WHY TWO BASELINES
- The vendor proposal captures technologies and products. It does not capture how the organisation works, and that is where the AI and commodity-tool savings live. Systems thinking applies to both: you cannot judge whether a target architecture is right without knowing what it has to support.
- The ways-of-working baseline is the ceremony audit applied to the organisation: for each process, what does it produce that could not come from the data or the tooling?
NOT IN THE FIRST 90 DAYS
- Commit to the vendor architecture before the fit test; migrate customer data or re-platform; hire beyond the minimum viable team; promise a refined date or cost before Gate 2; start any AI platform before its governance exists.
WHAT IS AT RISK IF A GATE SLIPS
- Gate 1: we plan on assumptions and in-flight spend continues unexamined. Gate 2: partners build to an unassessed design and the date becomes a hope. Gate 3: no proof the path works; cutover rehearsal arrives without rehearsal.
ASSUMPTIONS
- The fixed date allows at least two build waves and a cutover rehearsal after day 90. If it does not, Gate 2 brings a scope decision to the board.
[PROMPT] Fixed-date example: delivering to an external date by flexing scope through gates rather than flexing the date.
BRIDGE OUT
- 'The next three slides show what the assessment would weigh — one credible shape, not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FOR THIS SLIDE
- Everything here is illustrative and is tested at Gate 2. Present it as 'one credible shape the assessment would weigh', never as the design. The amber tag on the slide says so.
THE LENS (applied at Gate 2)
- The proposal draws one system. We should treat it as four kinds of thing, judged differently:
  A — USP product: the online product (web, desktop, mobile), content delivery and APIs into third-party systems. The moat. Investment is judged on commercials, opportunity and strategic alignment. Resilience: bullet-proof — this is life-critical reference content, not an arbitrary SLA.
  B — Content tooling: authoring and publishing SaaS. Integral and niche, but the content is the asset, not the tool. Judged on fit for authors, content portability and cost. Resilience: business hours; never the only copy of published content. No advantage is gained by building this better.
  C — Operational commodity: CRM, shop, internal ordering, finance and billing, reporting. Many products would do; building our own would be possible but senseless. The formula the right way round: cost, footprint and effort to maintain are judged against the operational efficiency gained. Select on best fit, price and extensibility. Resilience: standard, with no shared fate with A.
  X — Cross-cutting: identity, security, observability, service bus, integration standards (SSO/SAML or Shibboleth, LTI/LIS for universities, clinical standards where relevant). Investment inherits from the tiers it serves and is additionally judged on risk and reputational damage. Inherits A's posture wherever it sits in A's path.
THE AI LINE
- A: AI assists, accelerates, de-risks and streamlines product development — specification, code, test generation, review, release evidence. More capability from the same people.
- B: authoring assistance, consistency checks, publishing QA — always with human sign-off on authoritative content. Previously must-have tool features soften: choose the tool for content portability and let AI fill workflow gaps.
- C: AI woven into end-to-end operational practice — order handling, the enterprise-deal pricing step the proposal describes as "calculated via Excel and manually entered", reconciliation, reporting, support. Must-have feature lists shrink; the formula tilts further toward the cheapest fit.
- X: security review, observability triage, runbook automation. Reduces the 24×7 burden a team of six cannot carry alone, but is not a substitute for the MSP.
- Guardrail: AI output never reaches published content or production without a human gate. Adoption is measured on cycle time and quality, not on usage.
ASSUMPTIONS
- Which component lands in which tier is a Gate 2 outcome. The tiering and the availability stance are our assessment, not the vendor's framing. The source states no SLA.
[PROMPT] Commodity-over-build example: a CRM, billing or shop decision you made on price plus extensibility, and what it freed the team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 Illustrative, tested at Gate 2 (the amber tag). Present as one credible shape the assessment would weigh, not the design.
INTEGRATION HUB AND SPOKE (group 1, Isolate) — how to talk to it
- The product is the hub; authoring, identity and third-party APIs are synchronous spokes built to the product's standard; CRM, shop, ordering, finance and reporting sit behind the service bus on asynchronous events, so an outage there never stops the product.
FRAMING
- Five nines (99.999%, roughly five minutes of unavailability a year) is our position, argued from the nature of the content: clinicians rely on it at the point of care. It is a risk-appetite decision for the board, and the slide presents it as one. The source states no SLA.
- Isolation (hub and spoke, slide 3) is one of five kinds of protection. A single mechanism never gets a product to five nines.
THE FIVE GROUPS
1 Isolate — no shared fate: hub and spoke with commodity behind the bus; published content at the edge; entitlements cached with grace; a read-only degraded mode; bulkheads, circuit breakers and back-pressure so one slow dependency cannot take the product down.
2 Replicate — no single point: active-active across regions; stateless services with replicated data; an identity-provider outage plan; SaaS and vendor failover plans; capacity headroom proven by load testing.
3 Release safely — no big-bang change: feature switches (ship dark, release deliberately); blue/green deployment; canary by cohort with automated rollback; expand/contract schema changes; immutable, versioned content releases.
4 Detect and respond — minutes, not hours: SLOs and error budgets; synthetic checks from customer locations; runbooks with 24×7 on-call via the MSP; a status page and incident communications; game days and DR drills with stated RTO/RPO.
5 Protect the content — integrity above all: checksums and integrity checks on published content; copies held outside the authoring tool; replay from the bus after outages; an audit trail of what changed, when and by whom; AI-generated test evidence behind a human gate.
POSTURE BY TIER
- A: all five groups. B: groups 5 and 3 — business hours, vendor SLA, published copy held outside the tool. C: standard — maintenance windows, events replayed from the bus. X: inherits A wherever it sits in A's path — groups 1, 2 and 4.
- Cost sits where the risk is: this is also the argument for not over-engineering Tier C.
CANDIDATES DELIBERATELY LEFT OFF THE SLIDE
- Chaos engineering as a standing practice (beyond game days); multi-CDN is covered on slide 4b.
[PROMPT] Life-critical availability example: a clinical or health-information system you ran where downtime had patient consequences — what the operating discipline looked like and what it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 Illustrative, tested at Gate 2 (the amber tag). Present as one credible shape the assessment would weigh, not the design.
TWO HUB-AND-SPOKES, NOT ONE
- Slide 3 is the integration hub-and-spoke: the product versus everything else, across the whole architecture. This slide is the distribution hub-and-spoke inside the product: one publishing hub, many regional nodes.
THE FLOW
- Publishing hub: authoring → review → approve for content; build → test evidence → sign for code. The output is a release manifest that binds content vN and code vN together.
- Event log (as proposed, the bus): the manifest is published once and fanned out to every node. The product path needs the log to be immutable, ordered, retained and replayable — those are requirements, not a product choice.
- Regional nodes: each holds the content version, the app and an entitlement cache, and serves alone if the hub is down. Nodes are backups for each other. Region 3 is drawn as a standby that is rebuilt from the log rather than restored from backup.
- Multi-CDN edge: published content cached at the edge; anycast DNS with health-based routing sends users and third-party systems to the nearest healthy node.
ROLLBACK IN THIS WORLD
- Every node holds the last N manifests; rolling back is re-pointing to vN-1 — seconds, no redeploy. Content and code roll back together because the manifest binds them. A lost node is rebuilt by replaying the log from a known offset. Canary means publishing vN to one node or cohort, watching the SLO, then fanning out.
A CONSIDERATION, NOT A CHANGE
- The proposed service bus stays as proposed. The panel lists what each path needs: publish/rebuild needs replay; entitlement, usage and audit need ordering; Tier C workflows only need a queue; and whatever is chosen must be a managed service for a team of six.
- If the Gate 2 assessment shows the product path needs replay and ordering, a Kafka-class log (for example a managed Kafka-compatible service) is one option to evaluate. Do not present this as a decision.
ASSUMPTIONS
- The proposal's "API gateway / enterprise service bus" is undefined in the source; number and location of regions are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FOR THIS SLIDE
- Everything here is illustrative and is tested at Gate 2. Present it as 'one credible shape the assessment would weigh', never as the design. The amber tag on the slide says so.
WORKED BACKWARDS FROM TWO POINTS
- From the tiers: A needs engineering depth and platform resilience in-house; B needs a product owner for content tooling and a partner relationship; C needs configuration, integration and partner management, not builders; X needs DevSecOps and standards knowledge.
- From the CTO's responsibilities — strategy, architecture, digital transformation, project management, roadmap — everything else must sit with another role or a partner.
THE MINIMUM VIABLE TEAM
- CTO: strategy, architecture, transformation, project management, roadmap (all tiers).
- Lead Engineer: standards, development, maintenance, technical QA (A, X).
- Developer: development, maintenance, technical QA (A).
- DevSecOps Platform Engineer: security, platform, pipeline (X, A's resilience).
- Product: project, research, design (A, B).
- BA/QA: user testing, quality assurance, product assistance (A, C).
OPTIONS THE GATE 2 DECISION WOULD CHOOSE BETWEEN (previously framed as differences; now options) (CEO → CTO → Digital Product Owner + part-time BA, 0.6 PM, Technical Lead + DevOps Engineer)
- A second engineer instead of a 0.6 PM: Tier A needs two pairs of hands for five nines, and it removes the single-engineer key-person risk; project management sits with the CTO.
- AI token budget and adoption: any headcount beyond the six is converted into an AI budget aimed at assisting, accelerating and de-risking Tier A work, and at softening must-haves in B and C. Amount to be set against the headcount it replaces — not invented here.
- Product gains research and design; BA gains QA and user testing — the evidence at the gates has to come from somewhere.
NOT IN THE TEAM — PARTNER OR MSP
- 24×7 operations and on-call for the product; security operations; commodity configuration (CRM, shop, finance); content operations (outside this remit).
THINK DIFFERENTLY (if asked)
- Own judgement, not headcount: the in-house team decides what, why and whether; partners decide how.
- Key-person risk is the real risk: decisions written down, runbooks current, pairing with partners so nothing lives in one head.
- Operations is a product, not a project: platform operations and product ownership are standing capabilities; the PM role is temporary by design.
- Grow the differentiating layer: identity, entitlement and content APIs are what competitors cannot buy; buy everything else.
ASSUMPTIONS
- Both structures are proposals; roles are responsibilities, not an approved hiring plan.
[PROMPT] Partner/MSP example: running 24×7 through a partner while keeping design authority in-house — what the contract and the weekly review looked like. Also: building capability from a small start (EMIS, CallCredit) if the audience asks what "thin team" means in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OPERATING RHYTHM (assumes a board and risk committee exist; the programme reports into them)
- Board / Risk Committee — monthly or by exception: target date, funding envelope, risk appetite (including the availability stance), policy exceptions.
- Programme Steering — fortnightly: CEO, CTO, product owner, partner leads: priorities, trade-offs, partner performance, gate sign-off.
- Delivery and Partner Review — weekly: CTO, lead engineer, product, partner delivery leads: plan vs actual, blockers, assurance evidence, next week.
- Architecture decisions — per decision: what, why, options rejected, consequences; written down and visible to all.
- Governance that survives is the kind people would miss if it stopped: short, evidence-led, decisions written down.
DECISION RIGHTS (proposed, to agree with the CEO)
- Board/Risk: date, funding, risk appetite, policy exceptions. CEO: programme priorities between business outcomes; partner commercials. CTO: architecture, assurance gates, technical scope, partner technical direction. Partners: how they deliver within the agreed design and gates — not what or whether.
ASSURANCE GATES BY TIER
- Security and payments; data and privacy; content integrity; integration and operability; release readiness. Tier A passes all five on every increment; B passes data, content integrity and release; C passes security/payments, data and integration; X passes security, integration and release. Gates are evidence reviews owned by the lead engineer, not meetings.
MEASURES — DUAL FOCUS
- Inward (the team sees and improves): cycle time from decision to assured release; change failure, rework, time to recover; product availability and latency by region; AI judged on cycle time and quality, never on tokens.
- Upward (what passes each gate to Steering, Board and Risk): date confidence with the evidence behind it; availability against the agreed risk appetite and content-integrity incidents; top risks with owner and trend; spend vs plan; decisions pending and what each blocks.
- Outcomes, not activity: squads using AI, licences, tokens, headcount and tools deployed are inputs.
THE NEXT SIX MONTHS
- Months 1–2: two baselines, fit test, tiering decided. Months 3–4: first assured delivery on the core; partners delivering to the plan. Months 5–6: build waves, cutover rehearsal, date confidence reported to the board with evidence.
CONSTRAINTS
- Fixed date (scope flexes, the date does not); team of six; budget envelope to confirm; vendor dependency (one proposal author, one MSP, several SaaS); content operations capacity during migration; availability and payments scope across every channel.
SUCCESS AT THE DATE
- Customers, revenue and content integrity intact; the core live and bullet-proof; commodity cheap and quiet; decisions written down; Day 2 ready to start with its guardrails already set.
[PROMPT] Make-work-visible example (optional for this audience): the monitors-on-wheels story as the origin of "one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USE THIS SLIDE
- Do not walk the wall. Say: 'these are the things the proposal does not show yet; each is judged by its tier when its time comes; none is a commitment today.' Then take questions on any that interest the room.
DAY 1.5 — GAPS IN THE PROPOSED VIEW (each judged by its tier)
- Tier A: unified communications (email, SMS, in-app) — also the AI platform's channel later; product analytics and behavioural telemetry (what is used, where people struggle); in-app guidance and onboarding; inline surveys and sentiment; feature flags and progressive delivery (a Tier A prerequisite from slide 4, not a nice-to-have); search as a product capability; a developer and API portal for third parties and institutions; accessibility conformance and offline mode for mobile.
- Tier X: consent and preference management; a public status page and incident communications; integration standards — SSO/SAML (Shibboleth where universities require it), LTI/LIS for learning platforms, clinical standards where third-party systems expect them.
- Tier B: content versioning visible to customers — what changed, when, why.
- None of these is a major build on its own; the point is that the proposal captures systems, not the product experience or how the organisation will learn from use.
DAY 2
- Private AI platform, customer-facing: an assistant over authoritative content only, with citations and no generated clinical text. Governance (sources, scope, sign-off) is set before any build.
- Private AI platform, internal operations: the same platform woven into content, commerce and support processes — the operational AI described on slide 2.
- Subscription and user-update integration: as proposed; event-driven from the bus.
[PROMPT] Integration-standards example: an SSO, LTI or similar decision that opened a market segment (universities, institutions) — what it took and what it unlocked.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601968"/>
            <a:ext cx="41148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B75"/>
                </a:solidFil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601968"/>
            <a:ext cx="41148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B7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2.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2.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kicker"/>
          <p:cNvSpPr txBox="1"/>
          <p:nvPr/>
        </p:nvSpPr>
        <p:spPr>
          <a:xfrm>
            <a:off x="548640" y="402336"/>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1  ·  THE PATHWAY AND HOW I WOULD TAKE OWNERSHIP</a:t>
            </a:r>
            <a:endParaRPr lang="en-US" sz="800" dirty="0"/>
          </a:p>
        </p:txBody>
      </p:sp>
      <p:sp>
        <p:nvSpPr>
          <p:cNvPr id="3" name="title"/>
          <p:cNvSpPr txBox="1"/>
          <p:nvPr/>
        </p:nvSpPr>
        <p:spPr>
          <a:xfrm>
            <a:off x="548640" y="713232"/>
            <a:ext cx="11155680" cy="384048"/>
          </a:xfrm>
          <a:prstGeom prst="rect">
            <a:avLst/>
          </a:prstGeom>
          <a:noFill/>
          <a:ln/>
        </p:spPr>
        <p:txBody>
          <a:bodyPr wrap="none" lIns="0" tIns="0" rIns="0" bIns="0" rtlCol="0" anchor="ctr"/>
          <a:lstStyle/>
          <a:p>
            <a:pPr algn="l" indent="0" marL="0">
              <a:lnSpc>
                <a:spcPct val="100000"/>
              </a:lnSpc>
              <a:buNone/>
            </a:pPr>
            <a:r>
              <a:rPr lang="en-US" sz="2000" b="1" dirty="0">
                <a:solidFill>
                  <a:srgbClr val="1C2B33"/>
                </a:solidFill>
                <a:latin typeface="Calibri" pitchFamily="34" charset="0"/>
                <a:ea typeface="Calibri" pitchFamily="34" charset="-122"/>
                <a:cs typeface="Calibri" pitchFamily="34" charset="-120"/>
              </a:rPr>
              <a:t>The pathway is agreed; the job is to own it without stalling it</a:t>
            </a:r>
            <a:endParaRPr lang="en-US" sz="2000" dirty="0"/>
          </a:p>
        </p:txBody>
      </p:sp>
      <p:sp>
        <p:nvSpPr>
          <p:cNvPr id="4" name="line-0"/>
          <p:cNvSpPr/>
          <p:nvPr/>
        </p:nvSpPr>
        <p:spPr>
          <a:xfrm>
            <a:off x="1005840" y="1737360"/>
            <a:ext cx="0" cy="3474720"/>
          </a:xfrm>
          <a:prstGeom prst="line">
            <a:avLst/>
          </a:prstGeom>
          <a:noFill/>
          <a:ln w="19050">
            <a:solidFill>
              <a:srgbClr val="D4DBE0"/>
            </a:solidFill>
            <a:prstDash val="solid"/>
          </a:ln>
        </p:spPr>
      </p:sp>
      <p:sp>
        <p:nvSpPr>
          <p:cNvPr id="5" name="line-1"/>
          <p:cNvSpPr/>
          <p:nvPr/>
        </p:nvSpPr>
        <p:spPr>
          <a:xfrm>
            <a:off x="1005840" y="5212080"/>
            <a:ext cx="5669280" cy="0"/>
          </a:xfrm>
          <a:prstGeom prst="line">
            <a:avLst/>
          </a:prstGeom>
          <a:noFill/>
          <a:ln w="19050">
            <a:solidFill>
              <a:srgbClr val="D4DBE0"/>
            </a:solidFill>
            <a:prstDash val="solid"/>
          </a:ln>
        </p:spPr>
      </p:sp>
      <p:sp>
        <p:nvSpPr>
          <p:cNvPr id="6" name="text-2"/>
          <p:cNvSpPr txBox="1"/>
          <p:nvPr/>
        </p:nvSpPr>
        <p:spPr>
          <a:xfrm rot="16200000">
            <a:off x="585216" y="3383280"/>
            <a:ext cx="548640" cy="182880"/>
          </a:xfrm>
          <a:prstGeom prst="rect">
            <a:avLst/>
          </a:prstGeom>
          <a:noFill/>
          <a:ln/>
        </p:spPr>
        <p:txBody>
          <a:bodyPr wrap="square" lIns="0" tIns="0" rIns="0" bIns="0" rtlCol="0" anchor="ctr"/>
          <a:lstStyle/>
          <a:p>
            <a:pPr algn="ctr" indent="0" marL="0">
              <a:lnSpc>
                <a:spcPct val="100000"/>
              </a:lnSpc>
              <a:buNone/>
            </a:pPr>
            <a:r>
              <a:rPr lang="en-US" sz="850" spc="200" kern="0" dirty="0">
                <a:solidFill>
                  <a:srgbClr val="5A6B75"/>
                </a:solidFill>
                <a:latin typeface="Calibri" pitchFamily="34" charset="0"/>
                <a:ea typeface="Calibri" pitchFamily="34" charset="-122"/>
                <a:cs typeface="Calibri" pitchFamily="34" charset="-120"/>
              </a:rPr>
              <a:t>VALUE</a:t>
            </a:r>
            <a:endParaRPr lang="en-US" sz="850" dirty="0"/>
          </a:p>
        </p:txBody>
      </p:sp>
      <p:sp>
        <p:nvSpPr>
          <p:cNvPr id="7" name="text-3"/>
          <p:cNvSpPr txBox="1"/>
          <p:nvPr/>
        </p:nvSpPr>
        <p:spPr>
          <a:xfrm>
            <a:off x="6126480" y="5303520"/>
            <a:ext cx="548640" cy="164592"/>
          </a:xfrm>
          <a:prstGeom prst="rect">
            <a:avLst/>
          </a:prstGeom>
          <a:noFill/>
          <a:ln/>
        </p:spPr>
        <p:txBody>
          <a:bodyPr wrap="square" lIns="0" tIns="0" rIns="0" bIns="0" rtlCol="0" anchor="ctr"/>
          <a:lstStyle/>
          <a:p>
            <a:pPr algn="r" indent="0" marL="0">
              <a:lnSpc>
                <a:spcPct val="100000"/>
              </a:lnSpc>
              <a:buNone/>
            </a:pPr>
            <a:r>
              <a:rPr lang="en-US" sz="850" spc="200" kern="0" dirty="0">
                <a:solidFill>
                  <a:srgbClr val="5A6B75"/>
                </a:solidFill>
                <a:latin typeface="Calibri" pitchFamily="34" charset="0"/>
                <a:ea typeface="Calibri" pitchFamily="34" charset="-122"/>
                <a:cs typeface="Calibri" pitchFamily="34" charset="-120"/>
              </a:rPr>
              <a:t>TIME</a:t>
            </a:r>
            <a:endParaRPr lang="en-US" sz="850" dirty="0"/>
          </a:p>
        </p:txBody>
      </p:sp>
      <p:sp>
        <p:nvSpPr>
          <p:cNvPr id="8" name="line-4"/>
          <p:cNvSpPr/>
          <p:nvPr/>
        </p:nvSpPr>
        <p:spPr>
          <a:xfrm flipV="1">
            <a:off x="1005840" y="5102546"/>
            <a:ext cx="104215" cy="18094"/>
          </a:xfrm>
          <a:prstGeom prst="line">
            <a:avLst/>
          </a:prstGeom>
          <a:noFill/>
          <a:ln w="50800">
            <a:solidFill>
              <a:srgbClr val="5A6B75"/>
            </a:solidFill>
            <a:prstDash val="solid"/>
          </a:ln>
        </p:spPr>
      </p:sp>
      <p:sp>
        <p:nvSpPr>
          <p:cNvPr id="9" name="line-5"/>
          <p:cNvSpPr/>
          <p:nvPr/>
        </p:nvSpPr>
        <p:spPr>
          <a:xfrm flipV="1">
            <a:off x="1110055" y="5076013"/>
            <a:ext cx="100212" cy="26533"/>
          </a:xfrm>
          <a:prstGeom prst="line">
            <a:avLst/>
          </a:prstGeom>
          <a:noFill/>
          <a:ln w="50800">
            <a:solidFill>
              <a:srgbClr val="5A6B75"/>
            </a:solidFill>
            <a:prstDash val="solid"/>
          </a:ln>
        </p:spPr>
      </p:sp>
      <p:sp>
        <p:nvSpPr>
          <p:cNvPr id="10" name="line-6"/>
          <p:cNvSpPr/>
          <p:nvPr/>
        </p:nvSpPr>
        <p:spPr>
          <a:xfrm flipV="1">
            <a:off x="1210267" y="5041518"/>
            <a:ext cx="96460" cy="34495"/>
          </a:xfrm>
          <a:prstGeom prst="line">
            <a:avLst/>
          </a:prstGeom>
          <a:noFill/>
          <a:ln w="50800">
            <a:solidFill>
              <a:srgbClr val="5A6B75"/>
            </a:solidFill>
            <a:prstDash val="solid"/>
          </a:ln>
        </p:spPr>
      </p:sp>
      <p:sp>
        <p:nvSpPr>
          <p:cNvPr id="11" name="line-7"/>
          <p:cNvSpPr/>
          <p:nvPr/>
        </p:nvSpPr>
        <p:spPr>
          <a:xfrm flipV="1">
            <a:off x="1306727" y="4999537"/>
            <a:ext cx="92958" cy="41981"/>
          </a:xfrm>
          <a:prstGeom prst="line">
            <a:avLst/>
          </a:prstGeom>
          <a:noFill/>
          <a:ln w="50800">
            <a:solidFill>
              <a:srgbClr val="5A6B75"/>
            </a:solidFill>
            <a:prstDash val="solid"/>
          </a:ln>
        </p:spPr>
      </p:sp>
      <p:sp>
        <p:nvSpPr>
          <p:cNvPr id="12" name="line-8"/>
          <p:cNvSpPr/>
          <p:nvPr/>
        </p:nvSpPr>
        <p:spPr>
          <a:xfrm flipV="1">
            <a:off x="1399685" y="4950547"/>
            <a:ext cx="89705" cy="48990"/>
          </a:xfrm>
          <a:prstGeom prst="line">
            <a:avLst/>
          </a:prstGeom>
          <a:noFill/>
          <a:ln w="50800">
            <a:solidFill>
              <a:srgbClr val="5A6B75"/>
            </a:solidFill>
            <a:prstDash val="solid"/>
          </a:ln>
        </p:spPr>
      </p:sp>
      <p:sp>
        <p:nvSpPr>
          <p:cNvPr id="13" name="line-9"/>
          <p:cNvSpPr/>
          <p:nvPr/>
        </p:nvSpPr>
        <p:spPr>
          <a:xfrm flipV="1">
            <a:off x="1489390" y="4895026"/>
            <a:ext cx="86702" cy="55522"/>
          </a:xfrm>
          <a:prstGeom prst="line">
            <a:avLst/>
          </a:prstGeom>
          <a:noFill/>
          <a:ln w="50800">
            <a:solidFill>
              <a:srgbClr val="5A6B75"/>
            </a:solidFill>
            <a:prstDash val="solid"/>
          </a:ln>
        </p:spPr>
      </p:sp>
      <p:sp>
        <p:nvSpPr>
          <p:cNvPr id="14" name="line-10"/>
          <p:cNvSpPr/>
          <p:nvPr/>
        </p:nvSpPr>
        <p:spPr>
          <a:xfrm flipV="1">
            <a:off x="1576092" y="4833448"/>
            <a:ext cx="83949" cy="61577"/>
          </a:xfrm>
          <a:prstGeom prst="line">
            <a:avLst/>
          </a:prstGeom>
          <a:noFill/>
          <a:ln w="50800">
            <a:solidFill>
              <a:srgbClr val="5A6B75"/>
            </a:solidFill>
            <a:prstDash val="solid"/>
          </a:ln>
        </p:spPr>
      </p:sp>
      <p:sp>
        <p:nvSpPr>
          <p:cNvPr id="15" name="line-11"/>
          <p:cNvSpPr/>
          <p:nvPr/>
        </p:nvSpPr>
        <p:spPr>
          <a:xfrm flipV="1">
            <a:off x="1660040" y="4766292"/>
            <a:ext cx="81445" cy="67156"/>
          </a:xfrm>
          <a:prstGeom prst="line">
            <a:avLst/>
          </a:prstGeom>
          <a:noFill/>
          <a:ln w="50800">
            <a:solidFill>
              <a:srgbClr val="5A6B75"/>
            </a:solidFill>
            <a:prstDash val="solid"/>
          </a:ln>
        </p:spPr>
      </p:sp>
      <p:sp>
        <p:nvSpPr>
          <p:cNvPr id="16" name="line-12"/>
          <p:cNvSpPr/>
          <p:nvPr/>
        </p:nvSpPr>
        <p:spPr>
          <a:xfrm flipV="1">
            <a:off x="1741486" y="4694033"/>
            <a:ext cx="79192" cy="72259"/>
          </a:xfrm>
          <a:prstGeom prst="line">
            <a:avLst/>
          </a:prstGeom>
          <a:noFill/>
          <a:ln w="50800">
            <a:solidFill>
              <a:srgbClr val="5A6B75"/>
            </a:solidFill>
            <a:prstDash val="solid"/>
          </a:ln>
        </p:spPr>
      </p:sp>
      <p:sp>
        <p:nvSpPr>
          <p:cNvPr id="17" name="line-13"/>
          <p:cNvSpPr/>
          <p:nvPr/>
        </p:nvSpPr>
        <p:spPr>
          <a:xfrm flipV="1">
            <a:off x="1820678" y="4617149"/>
            <a:ext cx="77188" cy="76884"/>
          </a:xfrm>
          <a:prstGeom prst="line">
            <a:avLst/>
          </a:prstGeom>
          <a:noFill/>
          <a:ln w="50800">
            <a:solidFill>
              <a:srgbClr val="5A6B75"/>
            </a:solidFill>
            <a:prstDash val="solid"/>
          </a:ln>
        </p:spPr>
      </p:sp>
      <p:sp>
        <p:nvSpPr>
          <p:cNvPr id="18" name="line-14"/>
          <p:cNvSpPr/>
          <p:nvPr/>
        </p:nvSpPr>
        <p:spPr>
          <a:xfrm flipV="1">
            <a:off x="1897866" y="4536115"/>
            <a:ext cx="75434" cy="81034"/>
          </a:xfrm>
          <a:prstGeom prst="line">
            <a:avLst/>
          </a:prstGeom>
          <a:noFill/>
          <a:ln w="50800">
            <a:solidFill>
              <a:srgbClr val="5A6B75"/>
            </a:solidFill>
            <a:prstDash val="solid"/>
          </a:ln>
        </p:spPr>
      </p:sp>
      <p:sp>
        <p:nvSpPr>
          <p:cNvPr id="19" name="line-15"/>
          <p:cNvSpPr/>
          <p:nvPr/>
        </p:nvSpPr>
        <p:spPr>
          <a:xfrm flipV="1">
            <a:off x="1973300" y="4451409"/>
            <a:ext cx="73930" cy="84706"/>
          </a:xfrm>
          <a:prstGeom prst="line">
            <a:avLst/>
          </a:prstGeom>
          <a:noFill/>
          <a:ln w="50800">
            <a:solidFill>
              <a:srgbClr val="5A6B75"/>
            </a:solidFill>
            <a:prstDash val="solid"/>
          </a:ln>
        </p:spPr>
      </p:sp>
      <p:sp>
        <p:nvSpPr>
          <p:cNvPr id="20" name="line-16"/>
          <p:cNvSpPr/>
          <p:nvPr/>
        </p:nvSpPr>
        <p:spPr>
          <a:xfrm flipV="1">
            <a:off x="2047230" y="4363507"/>
            <a:ext cx="72676" cy="87902"/>
          </a:xfrm>
          <a:prstGeom prst="line">
            <a:avLst/>
          </a:prstGeom>
          <a:noFill/>
          <a:ln w="50800">
            <a:solidFill>
              <a:srgbClr val="5A6B75"/>
            </a:solidFill>
            <a:prstDash val="solid"/>
          </a:ln>
        </p:spPr>
      </p:sp>
      <p:sp>
        <p:nvSpPr>
          <p:cNvPr id="21" name="line-17"/>
          <p:cNvSpPr/>
          <p:nvPr/>
        </p:nvSpPr>
        <p:spPr>
          <a:xfrm flipV="1">
            <a:off x="2119906" y="4272886"/>
            <a:ext cx="71671" cy="90621"/>
          </a:xfrm>
          <a:prstGeom prst="line">
            <a:avLst/>
          </a:prstGeom>
          <a:noFill/>
          <a:ln w="50800">
            <a:solidFill>
              <a:srgbClr val="5A6B75"/>
            </a:solidFill>
            <a:prstDash val="solid"/>
          </a:ln>
        </p:spPr>
      </p:sp>
      <p:sp>
        <p:nvSpPr>
          <p:cNvPr id="22" name="line-18"/>
          <p:cNvSpPr/>
          <p:nvPr/>
        </p:nvSpPr>
        <p:spPr>
          <a:xfrm flipV="1">
            <a:off x="2191577" y="4180022"/>
            <a:ext cx="70916" cy="92864"/>
          </a:xfrm>
          <a:prstGeom prst="line">
            <a:avLst/>
          </a:prstGeom>
          <a:noFill/>
          <a:ln w="50800">
            <a:solidFill>
              <a:srgbClr val="5A6B75"/>
            </a:solidFill>
            <a:prstDash val="solid"/>
          </a:ln>
        </p:spPr>
      </p:sp>
      <p:sp>
        <p:nvSpPr>
          <p:cNvPr id="23" name="line-19"/>
          <p:cNvSpPr/>
          <p:nvPr/>
        </p:nvSpPr>
        <p:spPr>
          <a:xfrm flipV="1">
            <a:off x="2262493" y="4085393"/>
            <a:ext cx="70412" cy="94630"/>
          </a:xfrm>
          <a:prstGeom prst="line">
            <a:avLst/>
          </a:prstGeom>
          <a:noFill/>
          <a:ln w="50800">
            <a:solidFill>
              <a:srgbClr val="5A6B75"/>
            </a:solidFill>
            <a:prstDash val="solid"/>
          </a:ln>
        </p:spPr>
      </p:sp>
      <p:sp>
        <p:nvSpPr>
          <p:cNvPr id="24" name="line-20"/>
          <p:cNvSpPr/>
          <p:nvPr/>
        </p:nvSpPr>
        <p:spPr>
          <a:xfrm flipV="1">
            <a:off x="2332905" y="3989474"/>
            <a:ext cx="70156" cy="95919"/>
          </a:xfrm>
          <a:prstGeom prst="line">
            <a:avLst/>
          </a:prstGeom>
          <a:noFill/>
          <a:ln w="50800">
            <a:solidFill>
              <a:srgbClr val="5A6B75"/>
            </a:solidFill>
            <a:prstDash val="solid"/>
          </a:ln>
        </p:spPr>
      </p:sp>
      <p:sp>
        <p:nvSpPr>
          <p:cNvPr id="25" name="line-21"/>
          <p:cNvSpPr/>
          <p:nvPr/>
        </p:nvSpPr>
        <p:spPr>
          <a:xfrm flipV="1">
            <a:off x="2403062" y="3892743"/>
            <a:ext cx="70151" cy="96732"/>
          </a:xfrm>
          <a:prstGeom prst="line">
            <a:avLst/>
          </a:prstGeom>
          <a:noFill/>
          <a:ln w="50800">
            <a:solidFill>
              <a:srgbClr val="5A6B75"/>
            </a:solidFill>
            <a:prstDash val="solid"/>
          </a:ln>
        </p:spPr>
      </p:sp>
      <p:sp>
        <p:nvSpPr>
          <p:cNvPr id="26" name="line-22"/>
          <p:cNvSpPr/>
          <p:nvPr/>
        </p:nvSpPr>
        <p:spPr>
          <a:xfrm flipV="1">
            <a:off x="2473213" y="3795675"/>
            <a:ext cx="70396" cy="97068"/>
          </a:xfrm>
          <a:prstGeom prst="line">
            <a:avLst/>
          </a:prstGeom>
          <a:noFill/>
          <a:ln w="50800">
            <a:solidFill>
              <a:srgbClr val="5A6B75"/>
            </a:solidFill>
            <a:prstDash val="solid"/>
          </a:ln>
        </p:spPr>
      </p:sp>
      <p:sp>
        <p:nvSpPr>
          <p:cNvPr id="27" name="line-23"/>
          <p:cNvSpPr/>
          <p:nvPr/>
        </p:nvSpPr>
        <p:spPr>
          <a:xfrm flipV="1">
            <a:off x="2543608" y="3698748"/>
            <a:ext cx="70890" cy="96927"/>
          </a:xfrm>
          <a:prstGeom prst="line">
            <a:avLst/>
          </a:prstGeom>
          <a:noFill/>
          <a:ln w="50800">
            <a:solidFill>
              <a:srgbClr val="5A6B75"/>
            </a:solidFill>
            <a:prstDash val="solid"/>
          </a:ln>
        </p:spPr>
      </p:sp>
      <p:sp>
        <p:nvSpPr>
          <p:cNvPr id="28" name="line-24"/>
          <p:cNvSpPr/>
          <p:nvPr/>
        </p:nvSpPr>
        <p:spPr>
          <a:xfrm flipV="1">
            <a:off x="2614498" y="3602438"/>
            <a:ext cx="71634" cy="96310"/>
          </a:xfrm>
          <a:prstGeom prst="line">
            <a:avLst/>
          </a:prstGeom>
          <a:noFill/>
          <a:ln w="50800">
            <a:solidFill>
              <a:srgbClr val="5A6B75"/>
            </a:solidFill>
            <a:prstDash val="solid"/>
          </a:ln>
        </p:spPr>
      </p:sp>
      <p:sp>
        <p:nvSpPr>
          <p:cNvPr id="29" name="line-25"/>
          <p:cNvSpPr/>
          <p:nvPr/>
        </p:nvSpPr>
        <p:spPr>
          <a:xfrm flipV="1">
            <a:off x="2686132" y="3507222"/>
            <a:ext cx="72628" cy="95216"/>
          </a:xfrm>
          <a:prstGeom prst="line">
            <a:avLst/>
          </a:prstGeom>
          <a:noFill/>
          <a:ln w="50800">
            <a:solidFill>
              <a:srgbClr val="5A6B75"/>
            </a:solidFill>
            <a:prstDash val="solid"/>
          </a:ln>
        </p:spPr>
      </p:sp>
      <p:sp>
        <p:nvSpPr>
          <p:cNvPr id="30" name="line-26"/>
          <p:cNvSpPr/>
          <p:nvPr/>
        </p:nvSpPr>
        <p:spPr>
          <a:xfrm flipV="1">
            <a:off x="2758760" y="3413577"/>
            <a:ext cx="73872" cy="93645"/>
          </a:xfrm>
          <a:prstGeom prst="line">
            <a:avLst/>
          </a:prstGeom>
          <a:noFill/>
          <a:ln w="50800">
            <a:solidFill>
              <a:srgbClr val="5A6B75"/>
            </a:solidFill>
            <a:prstDash val="solid"/>
          </a:ln>
        </p:spPr>
      </p:sp>
      <p:sp>
        <p:nvSpPr>
          <p:cNvPr id="31" name="line-27"/>
          <p:cNvSpPr/>
          <p:nvPr/>
        </p:nvSpPr>
        <p:spPr>
          <a:xfrm flipV="1">
            <a:off x="2832632" y="3321979"/>
            <a:ext cx="75365" cy="91598"/>
          </a:xfrm>
          <a:prstGeom prst="line">
            <a:avLst/>
          </a:prstGeom>
          <a:noFill/>
          <a:ln w="50800">
            <a:solidFill>
              <a:srgbClr val="5A6B75"/>
            </a:solidFill>
            <a:prstDash val="solid"/>
          </a:ln>
        </p:spPr>
      </p:sp>
      <p:sp>
        <p:nvSpPr>
          <p:cNvPr id="32" name="line-28"/>
          <p:cNvSpPr/>
          <p:nvPr/>
        </p:nvSpPr>
        <p:spPr>
          <a:xfrm flipV="1">
            <a:off x="2907997" y="3232904"/>
            <a:ext cx="77108" cy="89075"/>
          </a:xfrm>
          <a:prstGeom prst="line">
            <a:avLst/>
          </a:prstGeom>
          <a:noFill/>
          <a:ln w="50800">
            <a:solidFill>
              <a:srgbClr val="5A6B75"/>
            </a:solidFill>
            <a:prstDash val="solid"/>
          </a:ln>
        </p:spPr>
      </p:sp>
      <p:sp>
        <p:nvSpPr>
          <p:cNvPr id="33" name="line-29"/>
          <p:cNvSpPr/>
          <p:nvPr/>
        </p:nvSpPr>
        <p:spPr>
          <a:xfrm flipV="1">
            <a:off x="2985105" y="3146830"/>
            <a:ext cx="79102" cy="86074"/>
          </a:xfrm>
          <a:prstGeom prst="line">
            <a:avLst/>
          </a:prstGeom>
          <a:noFill/>
          <a:ln w="50800">
            <a:solidFill>
              <a:srgbClr val="5A6B75"/>
            </a:solidFill>
            <a:prstDash val="solid"/>
          </a:ln>
        </p:spPr>
      </p:sp>
      <p:sp>
        <p:nvSpPr>
          <p:cNvPr id="34" name="line-30"/>
          <p:cNvSpPr/>
          <p:nvPr/>
        </p:nvSpPr>
        <p:spPr>
          <a:xfrm flipV="1">
            <a:off x="3064207" y="3064233"/>
            <a:ext cx="81344" cy="82597"/>
          </a:xfrm>
          <a:prstGeom prst="line">
            <a:avLst/>
          </a:prstGeom>
          <a:noFill/>
          <a:ln w="50800">
            <a:solidFill>
              <a:srgbClr val="5A6B75"/>
            </a:solidFill>
            <a:prstDash val="solid"/>
          </a:ln>
        </p:spPr>
      </p:sp>
      <p:sp>
        <p:nvSpPr>
          <p:cNvPr id="35" name="line-31"/>
          <p:cNvSpPr/>
          <p:nvPr/>
        </p:nvSpPr>
        <p:spPr>
          <a:xfrm flipV="1">
            <a:off x="3145551" y="2985589"/>
            <a:ext cx="83837" cy="78644"/>
          </a:xfrm>
          <a:prstGeom prst="line">
            <a:avLst/>
          </a:prstGeom>
          <a:noFill/>
          <a:ln w="50800">
            <a:solidFill>
              <a:srgbClr val="5A6B75"/>
            </a:solidFill>
            <a:prstDash val="solid"/>
          </a:ln>
        </p:spPr>
      </p:sp>
      <p:sp>
        <p:nvSpPr>
          <p:cNvPr id="36" name="line-32"/>
          <p:cNvSpPr/>
          <p:nvPr/>
        </p:nvSpPr>
        <p:spPr>
          <a:xfrm flipV="1">
            <a:off x="3229388" y="2911376"/>
            <a:ext cx="86580" cy="74213"/>
          </a:xfrm>
          <a:prstGeom prst="line">
            <a:avLst/>
          </a:prstGeom>
          <a:noFill/>
          <a:ln w="50800">
            <a:solidFill>
              <a:srgbClr val="5A6B75"/>
            </a:solidFill>
            <a:prstDash val="solid"/>
          </a:ln>
        </p:spPr>
      </p:sp>
      <p:sp>
        <p:nvSpPr>
          <p:cNvPr id="37" name="line-33"/>
          <p:cNvSpPr/>
          <p:nvPr/>
        </p:nvSpPr>
        <p:spPr>
          <a:xfrm flipV="1">
            <a:off x="3315968" y="2842070"/>
            <a:ext cx="89572" cy="69306"/>
          </a:xfrm>
          <a:prstGeom prst="line">
            <a:avLst/>
          </a:prstGeom>
          <a:noFill/>
          <a:ln w="50800">
            <a:solidFill>
              <a:srgbClr val="5A6B75"/>
            </a:solidFill>
            <a:prstDash val="solid"/>
          </a:ln>
        </p:spPr>
      </p:sp>
      <p:sp>
        <p:nvSpPr>
          <p:cNvPr id="38" name="line-34"/>
          <p:cNvSpPr/>
          <p:nvPr/>
        </p:nvSpPr>
        <p:spPr>
          <a:xfrm flipV="1">
            <a:off x="3405540" y="2778147"/>
            <a:ext cx="92814" cy="63923"/>
          </a:xfrm>
          <a:prstGeom prst="line">
            <a:avLst/>
          </a:prstGeom>
          <a:noFill/>
          <a:ln w="50800">
            <a:solidFill>
              <a:srgbClr val="5A6B75"/>
            </a:solidFill>
            <a:prstDash val="solid"/>
          </a:ln>
        </p:spPr>
      </p:sp>
      <p:sp>
        <p:nvSpPr>
          <p:cNvPr id="39" name="line-35"/>
          <p:cNvSpPr/>
          <p:nvPr/>
        </p:nvSpPr>
        <p:spPr>
          <a:xfrm flipV="1">
            <a:off x="3498354" y="2720084"/>
            <a:ext cx="96306" cy="58063"/>
          </a:xfrm>
          <a:prstGeom prst="line">
            <a:avLst/>
          </a:prstGeom>
          <a:noFill/>
          <a:ln w="50800">
            <a:solidFill>
              <a:srgbClr val="5A6B75"/>
            </a:solidFill>
            <a:prstDash val="solid"/>
          </a:ln>
        </p:spPr>
      </p:sp>
      <p:sp>
        <p:nvSpPr>
          <p:cNvPr id="40" name="line-36"/>
          <p:cNvSpPr/>
          <p:nvPr/>
        </p:nvSpPr>
        <p:spPr>
          <a:xfrm flipV="1">
            <a:off x="3594660" y="2668358"/>
            <a:ext cx="100048" cy="51726"/>
          </a:xfrm>
          <a:prstGeom prst="line">
            <a:avLst/>
          </a:prstGeom>
          <a:noFill/>
          <a:ln w="50800">
            <a:solidFill>
              <a:srgbClr val="5A6B75"/>
            </a:solidFill>
            <a:prstDash val="solid"/>
          </a:ln>
        </p:spPr>
      </p:sp>
      <p:sp>
        <p:nvSpPr>
          <p:cNvPr id="41" name="line-37"/>
          <p:cNvSpPr/>
          <p:nvPr/>
        </p:nvSpPr>
        <p:spPr>
          <a:xfrm flipV="1">
            <a:off x="3694708" y="2623446"/>
            <a:ext cx="104039" cy="44912"/>
          </a:xfrm>
          <a:prstGeom prst="line">
            <a:avLst/>
          </a:prstGeom>
          <a:noFill/>
          <a:ln w="50800">
            <a:solidFill>
              <a:srgbClr val="5A6B75"/>
            </a:solidFill>
            <a:prstDash val="solid"/>
          </a:ln>
        </p:spPr>
      </p:sp>
      <p:sp>
        <p:nvSpPr>
          <p:cNvPr id="42" name="line-38"/>
          <p:cNvSpPr/>
          <p:nvPr/>
        </p:nvSpPr>
        <p:spPr>
          <a:xfrm flipV="1">
            <a:off x="3798747" y="2585823"/>
            <a:ext cx="108281" cy="37622"/>
          </a:xfrm>
          <a:prstGeom prst="line">
            <a:avLst/>
          </a:prstGeom>
          <a:noFill/>
          <a:ln w="50800">
            <a:solidFill>
              <a:srgbClr val="5A6B75"/>
            </a:solidFill>
            <a:prstDash val="solid"/>
          </a:ln>
        </p:spPr>
      </p:sp>
      <p:sp>
        <p:nvSpPr>
          <p:cNvPr id="43" name="line-39"/>
          <p:cNvSpPr/>
          <p:nvPr/>
        </p:nvSpPr>
        <p:spPr>
          <a:xfrm flipV="1">
            <a:off x="3907028" y="2555967"/>
            <a:ext cx="112772" cy="29856"/>
          </a:xfrm>
          <a:prstGeom prst="line">
            <a:avLst/>
          </a:prstGeom>
          <a:noFill/>
          <a:ln w="50800">
            <a:solidFill>
              <a:srgbClr val="5A6B75"/>
            </a:solidFill>
            <a:prstDash val="solid"/>
          </a:ln>
        </p:spPr>
      </p:sp>
      <p:sp>
        <p:nvSpPr>
          <p:cNvPr id="44" name="line-40"/>
          <p:cNvSpPr/>
          <p:nvPr/>
        </p:nvSpPr>
        <p:spPr>
          <a:xfrm flipV="1">
            <a:off x="4019799" y="2534355"/>
            <a:ext cx="117513" cy="21612"/>
          </a:xfrm>
          <a:prstGeom prst="line">
            <a:avLst/>
          </a:prstGeom>
          <a:noFill/>
          <a:ln w="50800">
            <a:solidFill>
              <a:srgbClr val="5A6B75"/>
            </a:solidFill>
            <a:prstDash val="solid"/>
          </a:ln>
        </p:spPr>
      </p:sp>
      <p:sp>
        <p:nvSpPr>
          <p:cNvPr id="45" name="line-41"/>
          <p:cNvSpPr/>
          <p:nvPr/>
        </p:nvSpPr>
        <p:spPr>
          <a:xfrm flipV="1">
            <a:off x="4137312" y="2521463"/>
            <a:ext cx="122503" cy="12892"/>
          </a:xfrm>
          <a:prstGeom prst="line">
            <a:avLst/>
          </a:prstGeom>
          <a:noFill/>
          <a:ln w="50800">
            <a:solidFill>
              <a:srgbClr val="5A6B75"/>
            </a:solidFill>
            <a:prstDash val="solid"/>
          </a:ln>
        </p:spPr>
      </p:sp>
      <p:sp>
        <p:nvSpPr>
          <p:cNvPr id="46" name="line-42"/>
          <p:cNvSpPr/>
          <p:nvPr/>
        </p:nvSpPr>
        <p:spPr>
          <a:xfrm flipV="1">
            <a:off x="4259815" y="2517767"/>
            <a:ext cx="127744" cy="3696"/>
          </a:xfrm>
          <a:prstGeom prst="line">
            <a:avLst/>
          </a:prstGeom>
          <a:noFill/>
          <a:ln w="50800">
            <a:solidFill>
              <a:srgbClr val="5A6B75"/>
            </a:solidFill>
            <a:prstDash val="solid"/>
          </a:ln>
        </p:spPr>
      </p:sp>
      <p:sp>
        <p:nvSpPr>
          <p:cNvPr id="47" name="line-43"/>
          <p:cNvSpPr/>
          <p:nvPr/>
        </p:nvSpPr>
        <p:spPr>
          <a:xfrm>
            <a:off x="4387559" y="2517767"/>
            <a:ext cx="133234" cy="5977"/>
          </a:xfrm>
          <a:prstGeom prst="line">
            <a:avLst/>
          </a:prstGeom>
          <a:noFill/>
          <a:ln w="50800">
            <a:solidFill>
              <a:srgbClr val="5A6B75"/>
            </a:solidFill>
            <a:prstDash val="solid"/>
          </a:ln>
        </p:spPr>
      </p:sp>
      <p:sp>
        <p:nvSpPr>
          <p:cNvPr id="48" name="line-44"/>
          <p:cNvSpPr/>
          <p:nvPr/>
        </p:nvSpPr>
        <p:spPr>
          <a:xfrm flipV="1">
            <a:off x="3386938" y="5145060"/>
            <a:ext cx="83794" cy="12156"/>
          </a:xfrm>
          <a:prstGeom prst="line">
            <a:avLst/>
          </a:prstGeom>
          <a:noFill/>
          <a:ln w="63500">
            <a:solidFill>
              <a:srgbClr val="0F766E"/>
            </a:solidFill>
            <a:prstDash val="solid"/>
          </a:ln>
        </p:spPr>
      </p:sp>
      <p:sp>
        <p:nvSpPr>
          <p:cNvPr id="49" name="line-45"/>
          <p:cNvSpPr/>
          <p:nvPr/>
        </p:nvSpPr>
        <p:spPr>
          <a:xfrm flipV="1">
            <a:off x="3470731" y="5122654"/>
            <a:ext cx="81423" cy="22407"/>
          </a:xfrm>
          <a:prstGeom prst="line">
            <a:avLst/>
          </a:prstGeom>
          <a:noFill/>
          <a:ln w="63500">
            <a:solidFill>
              <a:srgbClr val="0F766E"/>
            </a:solidFill>
            <a:prstDash val="solid"/>
          </a:ln>
        </p:spPr>
      </p:sp>
      <p:sp>
        <p:nvSpPr>
          <p:cNvPr id="50" name="line-46"/>
          <p:cNvSpPr/>
          <p:nvPr/>
        </p:nvSpPr>
        <p:spPr>
          <a:xfrm flipV="1">
            <a:off x="3552155" y="5090513"/>
            <a:ext cx="79234" cy="32141"/>
          </a:xfrm>
          <a:prstGeom prst="line">
            <a:avLst/>
          </a:prstGeom>
          <a:noFill/>
          <a:ln w="63500">
            <a:solidFill>
              <a:srgbClr val="0F766E"/>
            </a:solidFill>
            <a:prstDash val="solid"/>
          </a:ln>
        </p:spPr>
      </p:sp>
      <p:sp>
        <p:nvSpPr>
          <p:cNvPr id="51" name="line-47"/>
          <p:cNvSpPr/>
          <p:nvPr/>
        </p:nvSpPr>
        <p:spPr>
          <a:xfrm flipV="1">
            <a:off x="3631388" y="5049152"/>
            <a:ext cx="77224" cy="41360"/>
          </a:xfrm>
          <a:prstGeom prst="line">
            <a:avLst/>
          </a:prstGeom>
          <a:noFill/>
          <a:ln w="63500">
            <a:solidFill>
              <a:srgbClr val="0F766E"/>
            </a:solidFill>
            <a:prstDash val="solid"/>
          </a:ln>
        </p:spPr>
      </p:sp>
      <p:sp>
        <p:nvSpPr>
          <p:cNvPr id="52" name="line-48"/>
          <p:cNvSpPr/>
          <p:nvPr/>
        </p:nvSpPr>
        <p:spPr>
          <a:xfrm flipV="1">
            <a:off x="3708613" y="4999089"/>
            <a:ext cx="75396" cy="50063"/>
          </a:xfrm>
          <a:prstGeom prst="line">
            <a:avLst/>
          </a:prstGeom>
          <a:noFill/>
          <a:ln w="63500">
            <a:solidFill>
              <a:srgbClr val="0F766E"/>
            </a:solidFill>
            <a:prstDash val="solid"/>
          </a:ln>
        </p:spPr>
      </p:sp>
      <p:sp>
        <p:nvSpPr>
          <p:cNvPr id="53" name="line-49"/>
          <p:cNvSpPr/>
          <p:nvPr/>
        </p:nvSpPr>
        <p:spPr>
          <a:xfrm flipV="1">
            <a:off x="3784009" y="4940839"/>
            <a:ext cx="73748" cy="58250"/>
          </a:xfrm>
          <a:prstGeom prst="line">
            <a:avLst/>
          </a:prstGeom>
          <a:noFill/>
          <a:ln w="63500">
            <a:solidFill>
              <a:srgbClr val="0F766E"/>
            </a:solidFill>
            <a:prstDash val="solid"/>
          </a:ln>
        </p:spPr>
      </p:sp>
      <p:sp>
        <p:nvSpPr>
          <p:cNvPr id="54" name="line-50"/>
          <p:cNvSpPr/>
          <p:nvPr/>
        </p:nvSpPr>
        <p:spPr>
          <a:xfrm flipV="1">
            <a:off x="3857757" y="4874919"/>
            <a:ext cx="72282" cy="65921"/>
          </a:xfrm>
          <a:prstGeom prst="line">
            <a:avLst/>
          </a:prstGeom>
          <a:noFill/>
          <a:ln w="63500">
            <a:solidFill>
              <a:srgbClr val="0F766E"/>
            </a:solidFill>
            <a:prstDash val="solid"/>
          </a:ln>
        </p:spPr>
      </p:sp>
      <p:sp>
        <p:nvSpPr>
          <p:cNvPr id="55" name="line-51"/>
          <p:cNvSpPr/>
          <p:nvPr/>
        </p:nvSpPr>
        <p:spPr>
          <a:xfrm flipV="1">
            <a:off x="3930039" y="4801844"/>
            <a:ext cx="70995" cy="73075"/>
          </a:xfrm>
          <a:prstGeom prst="line">
            <a:avLst/>
          </a:prstGeom>
          <a:noFill/>
          <a:ln w="63500">
            <a:solidFill>
              <a:srgbClr val="0F766E"/>
            </a:solidFill>
            <a:prstDash val="solid"/>
          </a:ln>
        </p:spPr>
      </p:sp>
      <p:sp>
        <p:nvSpPr>
          <p:cNvPr id="56" name="line-52"/>
          <p:cNvSpPr/>
          <p:nvPr/>
        </p:nvSpPr>
        <p:spPr>
          <a:xfrm flipV="1">
            <a:off x="4001034" y="4722130"/>
            <a:ext cx="69890" cy="79714"/>
          </a:xfrm>
          <a:prstGeom prst="line">
            <a:avLst/>
          </a:prstGeom>
          <a:noFill/>
          <a:ln w="63500">
            <a:solidFill>
              <a:srgbClr val="0F766E"/>
            </a:solidFill>
            <a:prstDash val="solid"/>
          </a:ln>
        </p:spPr>
      </p:sp>
      <p:sp>
        <p:nvSpPr>
          <p:cNvPr id="57" name="line-53"/>
          <p:cNvSpPr/>
          <p:nvPr/>
        </p:nvSpPr>
        <p:spPr>
          <a:xfrm flipV="1">
            <a:off x="4070924" y="4636294"/>
            <a:ext cx="68965" cy="85836"/>
          </a:xfrm>
          <a:prstGeom prst="line">
            <a:avLst/>
          </a:prstGeom>
          <a:noFill/>
          <a:ln w="63500">
            <a:solidFill>
              <a:srgbClr val="0F766E"/>
            </a:solidFill>
            <a:prstDash val="solid"/>
          </a:ln>
        </p:spPr>
      </p:sp>
      <p:sp>
        <p:nvSpPr>
          <p:cNvPr id="58" name="line-54"/>
          <p:cNvSpPr/>
          <p:nvPr/>
        </p:nvSpPr>
        <p:spPr>
          <a:xfrm flipV="1">
            <a:off x="4139889" y="4544851"/>
            <a:ext cx="68221" cy="91443"/>
          </a:xfrm>
          <a:prstGeom prst="line">
            <a:avLst/>
          </a:prstGeom>
          <a:noFill/>
          <a:ln w="63500">
            <a:solidFill>
              <a:srgbClr val="0F766E"/>
            </a:solidFill>
            <a:prstDash val="solid"/>
          </a:ln>
        </p:spPr>
      </p:sp>
      <p:sp>
        <p:nvSpPr>
          <p:cNvPr id="59" name="line-55"/>
          <p:cNvSpPr/>
          <p:nvPr/>
        </p:nvSpPr>
        <p:spPr>
          <a:xfrm flipV="1">
            <a:off x="4208110" y="4448318"/>
            <a:ext cx="67658" cy="96533"/>
          </a:xfrm>
          <a:prstGeom prst="line">
            <a:avLst/>
          </a:prstGeom>
          <a:noFill/>
          <a:ln w="63500">
            <a:solidFill>
              <a:srgbClr val="0F766E"/>
            </a:solidFill>
            <a:prstDash val="solid"/>
          </a:ln>
        </p:spPr>
      </p:sp>
      <p:sp>
        <p:nvSpPr>
          <p:cNvPr id="60" name="line-56"/>
          <p:cNvSpPr/>
          <p:nvPr/>
        </p:nvSpPr>
        <p:spPr>
          <a:xfrm flipV="1">
            <a:off x="4275767" y="4347211"/>
            <a:ext cx="67275" cy="101107"/>
          </a:xfrm>
          <a:prstGeom prst="line">
            <a:avLst/>
          </a:prstGeom>
          <a:noFill/>
          <a:ln w="63500">
            <a:solidFill>
              <a:srgbClr val="0F766E"/>
            </a:solidFill>
            <a:prstDash val="solid"/>
          </a:ln>
        </p:spPr>
      </p:sp>
      <p:sp>
        <p:nvSpPr>
          <p:cNvPr id="61" name="line-57"/>
          <p:cNvSpPr/>
          <p:nvPr/>
        </p:nvSpPr>
        <p:spPr>
          <a:xfrm flipV="1">
            <a:off x="4343042" y="4242046"/>
            <a:ext cx="67073" cy="105165"/>
          </a:xfrm>
          <a:prstGeom prst="line">
            <a:avLst/>
          </a:prstGeom>
          <a:noFill/>
          <a:ln w="63500">
            <a:solidFill>
              <a:srgbClr val="0F766E"/>
            </a:solidFill>
            <a:prstDash val="solid"/>
          </a:ln>
        </p:spPr>
      </p:sp>
      <p:sp>
        <p:nvSpPr>
          <p:cNvPr id="62" name="line-58"/>
          <p:cNvSpPr/>
          <p:nvPr/>
        </p:nvSpPr>
        <p:spPr>
          <a:xfrm flipV="1">
            <a:off x="4410115" y="4133338"/>
            <a:ext cx="67052" cy="108708"/>
          </a:xfrm>
          <a:prstGeom prst="line">
            <a:avLst/>
          </a:prstGeom>
          <a:noFill/>
          <a:ln w="63500">
            <a:solidFill>
              <a:srgbClr val="0F766E"/>
            </a:solidFill>
            <a:prstDash val="solid"/>
          </a:ln>
        </p:spPr>
      </p:sp>
      <p:sp>
        <p:nvSpPr>
          <p:cNvPr id="63" name="line-59"/>
          <p:cNvSpPr/>
          <p:nvPr/>
        </p:nvSpPr>
        <p:spPr>
          <a:xfrm flipV="1">
            <a:off x="4477167" y="4021604"/>
            <a:ext cx="67211" cy="111734"/>
          </a:xfrm>
          <a:prstGeom prst="line">
            <a:avLst/>
          </a:prstGeom>
          <a:noFill/>
          <a:ln w="63500">
            <a:solidFill>
              <a:srgbClr val="0F766E"/>
            </a:solidFill>
            <a:prstDash val="solid"/>
          </a:ln>
        </p:spPr>
      </p:sp>
      <p:sp>
        <p:nvSpPr>
          <p:cNvPr id="64" name="line-60"/>
          <p:cNvSpPr/>
          <p:nvPr/>
        </p:nvSpPr>
        <p:spPr>
          <a:xfrm flipV="1">
            <a:off x="4544378" y="3907361"/>
            <a:ext cx="67551" cy="114244"/>
          </a:xfrm>
          <a:prstGeom prst="line">
            <a:avLst/>
          </a:prstGeom>
          <a:noFill/>
          <a:ln w="63500">
            <a:solidFill>
              <a:srgbClr val="0F766E"/>
            </a:solidFill>
            <a:prstDash val="solid"/>
          </a:ln>
        </p:spPr>
      </p:sp>
      <p:sp>
        <p:nvSpPr>
          <p:cNvPr id="65" name="line-61"/>
          <p:cNvSpPr/>
          <p:nvPr/>
        </p:nvSpPr>
        <p:spPr>
          <a:xfrm flipV="1">
            <a:off x="4611929" y="3791123"/>
            <a:ext cx="68072" cy="116238"/>
          </a:xfrm>
          <a:prstGeom prst="line">
            <a:avLst/>
          </a:prstGeom>
          <a:noFill/>
          <a:ln w="63500">
            <a:solidFill>
              <a:srgbClr val="0F766E"/>
            </a:solidFill>
            <a:prstDash val="solid"/>
          </a:ln>
        </p:spPr>
      </p:sp>
      <p:sp>
        <p:nvSpPr>
          <p:cNvPr id="66" name="line-62"/>
          <p:cNvSpPr/>
          <p:nvPr/>
        </p:nvSpPr>
        <p:spPr>
          <a:xfrm flipV="1">
            <a:off x="4680001" y="3673407"/>
            <a:ext cx="68774" cy="117716"/>
          </a:xfrm>
          <a:prstGeom prst="line">
            <a:avLst/>
          </a:prstGeom>
          <a:noFill/>
          <a:ln w="63500">
            <a:solidFill>
              <a:srgbClr val="0F766E"/>
            </a:solidFill>
            <a:prstDash val="solid"/>
          </a:ln>
        </p:spPr>
      </p:sp>
      <p:sp>
        <p:nvSpPr>
          <p:cNvPr id="67" name="line-63"/>
          <p:cNvSpPr/>
          <p:nvPr/>
        </p:nvSpPr>
        <p:spPr>
          <a:xfrm flipV="1">
            <a:off x="4748775" y="3554730"/>
            <a:ext cx="69656" cy="118677"/>
          </a:xfrm>
          <a:prstGeom prst="line">
            <a:avLst/>
          </a:prstGeom>
          <a:noFill/>
          <a:ln w="63500">
            <a:solidFill>
              <a:srgbClr val="0F766E"/>
            </a:solidFill>
            <a:prstDash val="solid"/>
          </a:ln>
        </p:spPr>
      </p:sp>
      <p:sp>
        <p:nvSpPr>
          <p:cNvPr id="68" name="line-64"/>
          <p:cNvSpPr/>
          <p:nvPr/>
        </p:nvSpPr>
        <p:spPr>
          <a:xfrm flipV="1">
            <a:off x="4818431" y="3435607"/>
            <a:ext cx="70719" cy="119123"/>
          </a:xfrm>
          <a:prstGeom prst="line">
            <a:avLst/>
          </a:prstGeom>
          <a:noFill/>
          <a:ln w="63500">
            <a:solidFill>
              <a:srgbClr val="0F766E"/>
            </a:solidFill>
            <a:prstDash val="solid"/>
          </a:ln>
        </p:spPr>
      </p:sp>
      <p:sp>
        <p:nvSpPr>
          <p:cNvPr id="69" name="line-65"/>
          <p:cNvSpPr/>
          <p:nvPr/>
        </p:nvSpPr>
        <p:spPr>
          <a:xfrm flipV="1">
            <a:off x="4889150" y="3316554"/>
            <a:ext cx="71963" cy="119053"/>
          </a:xfrm>
          <a:prstGeom prst="line">
            <a:avLst/>
          </a:prstGeom>
          <a:noFill/>
          <a:ln w="63500">
            <a:solidFill>
              <a:srgbClr val="0F766E"/>
            </a:solidFill>
            <a:prstDash val="solid"/>
          </a:ln>
        </p:spPr>
      </p:sp>
      <p:sp>
        <p:nvSpPr>
          <p:cNvPr id="70" name="line-66"/>
          <p:cNvSpPr/>
          <p:nvPr/>
        </p:nvSpPr>
        <p:spPr>
          <a:xfrm flipV="1">
            <a:off x="4961112" y="3198087"/>
            <a:ext cx="73387" cy="118467"/>
          </a:xfrm>
          <a:prstGeom prst="line">
            <a:avLst/>
          </a:prstGeom>
          <a:noFill/>
          <a:ln w="63500">
            <a:solidFill>
              <a:srgbClr val="0F766E"/>
            </a:solidFill>
            <a:prstDash val="solid"/>
          </a:ln>
        </p:spPr>
      </p:sp>
      <p:sp>
        <p:nvSpPr>
          <p:cNvPr id="71" name="line-67"/>
          <p:cNvSpPr/>
          <p:nvPr/>
        </p:nvSpPr>
        <p:spPr>
          <a:xfrm flipV="1">
            <a:off x="5034499" y="3080723"/>
            <a:ext cx="74992" cy="117364"/>
          </a:xfrm>
          <a:prstGeom prst="line">
            <a:avLst/>
          </a:prstGeom>
          <a:noFill/>
          <a:ln w="63500">
            <a:solidFill>
              <a:srgbClr val="0F766E"/>
            </a:solidFill>
            <a:prstDash val="solid"/>
          </a:ln>
        </p:spPr>
      </p:sp>
      <p:sp>
        <p:nvSpPr>
          <p:cNvPr id="72" name="line-68"/>
          <p:cNvSpPr/>
          <p:nvPr/>
        </p:nvSpPr>
        <p:spPr>
          <a:xfrm flipV="1">
            <a:off x="5109492" y="2964978"/>
            <a:ext cx="76778" cy="115746"/>
          </a:xfrm>
          <a:prstGeom prst="line">
            <a:avLst/>
          </a:prstGeom>
          <a:noFill/>
          <a:ln w="63500">
            <a:solidFill>
              <a:srgbClr val="0F766E"/>
            </a:solidFill>
            <a:prstDash val="solid"/>
          </a:ln>
        </p:spPr>
      </p:sp>
      <p:sp>
        <p:nvSpPr>
          <p:cNvPr id="73" name="line-69"/>
          <p:cNvSpPr/>
          <p:nvPr/>
        </p:nvSpPr>
        <p:spPr>
          <a:xfrm flipV="1">
            <a:off x="5186270" y="2851367"/>
            <a:ext cx="78745" cy="113611"/>
          </a:xfrm>
          <a:prstGeom prst="line">
            <a:avLst/>
          </a:prstGeom>
          <a:noFill/>
          <a:ln w="63500">
            <a:solidFill>
              <a:srgbClr val="0F766E"/>
            </a:solidFill>
            <a:prstDash val="solid"/>
          </a:ln>
        </p:spPr>
      </p:sp>
      <p:sp>
        <p:nvSpPr>
          <p:cNvPr id="74" name="line-70"/>
          <p:cNvSpPr/>
          <p:nvPr/>
        </p:nvSpPr>
        <p:spPr>
          <a:xfrm flipV="1">
            <a:off x="5265014" y="2740406"/>
            <a:ext cx="80892" cy="110960"/>
          </a:xfrm>
          <a:prstGeom prst="line">
            <a:avLst/>
          </a:prstGeom>
          <a:noFill/>
          <a:ln w="63500">
            <a:solidFill>
              <a:srgbClr val="0F766E"/>
            </a:solidFill>
            <a:prstDash val="solid"/>
          </a:ln>
        </p:spPr>
      </p:sp>
      <p:sp>
        <p:nvSpPr>
          <p:cNvPr id="75" name="line-71"/>
          <p:cNvSpPr/>
          <p:nvPr/>
        </p:nvSpPr>
        <p:spPr>
          <a:xfrm flipV="1">
            <a:off x="5345906" y="2632612"/>
            <a:ext cx="83220" cy="107794"/>
          </a:xfrm>
          <a:prstGeom prst="line">
            <a:avLst/>
          </a:prstGeom>
          <a:noFill/>
          <a:ln w="63500">
            <a:solidFill>
              <a:srgbClr val="0F766E"/>
            </a:solidFill>
            <a:prstDash val="solid"/>
          </a:ln>
        </p:spPr>
      </p:sp>
      <p:sp>
        <p:nvSpPr>
          <p:cNvPr id="76" name="line-72"/>
          <p:cNvSpPr/>
          <p:nvPr/>
        </p:nvSpPr>
        <p:spPr>
          <a:xfrm flipV="1">
            <a:off x="5429126" y="2528501"/>
            <a:ext cx="85728" cy="104111"/>
          </a:xfrm>
          <a:prstGeom prst="line">
            <a:avLst/>
          </a:prstGeom>
          <a:noFill/>
          <a:ln w="63500">
            <a:solidFill>
              <a:srgbClr val="0F766E"/>
            </a:solidFill>
            <a:prstDash val="solid"/>
          </a:ln>
        </p:spPr>
      </p:sp>
      <p:sp>
        <p:nvSpPr>
          <p:cNvPr id="77" name="line-73"/>
          <p:cNvSpPr/>
          <p:nvPr/>
        </p:nvSpPr>
        <p:spPr>
          <a:xfrm flipV="1">
            <a:off x="5514854" y="2428589"/>
            <a:ext cx="88418" cy="99912"/>
          </a:xfrm>
          <a:prstGeom prst="line">
            <a:avLst/>
          </a:prstGeom>
          <a:noFill/>
          <a:ln w="63500">
            <a:solidFill>
              <a:srgbClr val="0F766E"/>
            </a:solidFill>
            <a:prstDash val="solid"/>
          </a:ln>
        </p:spPr>
      </p:sp>
      <p:sp>
        <p:nvSpPr>
          <p:cNvPr id="78" name="line-74"/>
          <p:cNvSpPr/>
          <p:nvPr/>
        </p:nvSpPr>
        <p:spPr>
          <a:xfrm flipV="1">
            <a:off x="5603272" y="2333392"/>
            <a:ext cx="91288" cy="95197"/>
          </a:xfrm>
          <a:prstGeom prst="line">
            <a:avLst/>
          </a:prstGeom>
          <a:noFill/>
          <a:ln w="63500">
            <a:solidFill>
              <a:srgbClr val="0F766E"/>
            </a:solidFill>
            <a:prstDash val="solid"/>
          </a:ln>
        </p:spPr>
      </p:sp>
      <p:sp>
        <p:nvSpPr>
          <p:cNvPr id="79" name="line-75"/>
          <p:cNvSpPr/>
          <p:nvPr/>
        </p:nvSpPr>
        <p:spPr>
          <a:xfrm flipV="1">
            <a:off x="5694560" y="2243426"/>
            <a:ext cx="94339" cy="89966"/>
          </a:xfrm>
          <a:prstGeom prst="line">
            <a:avLst/>
          </a:prstGeom>
          <a:noFill/>
          <a:ln w="63500">
            <a:solidFill>
              <a:srgbClr val="0F766E"/>
            </a:solidFill>
            <a:prstDash val="solid"/>
          </a:ln>
        </p:spPr>
      </p:sp>
      <p:sp>
        <p:nvSpPr>
          <p:cNvPr id="80" name="line-76"/>
          <p:cNvSpPr/>
          <p:nvPr/>
        </p:nvSpPr>
        <p:spPr>
          <a:xfrm flipV="1">
            <a:off x="5788898" y="2159206"/>
            <a:ext cx="97570" cy="84219"/>
          </a:xfrm>
          <a:prstGeom prst="line">
            <a:avLst/>
          </a:prstGeom>
          <a:noFill/>
          <a:ln w="63500">
            <a:solidFill>
              <a:srgbClr val="0F766E"/>
            </a:solidFill>
            <a:prstDash val="solid"/>
          </a:ln>
        </p:spPr>
      </p:sp>
      <p:sp>
        <p:nvSpPr>
          <p:cNvPr id="81" name="line-77"/>
          <p:cNvSpPr/>
          <p:nvPr/>
        </p:nvSpPr>
        <p:spPr>
          <a:xfrm flipV="1">
            <a:off x="5886468" y="2081250"/>
            <a:ext cx="100982" cy="77956"/>
          </a:xfrm>
          <a:prstGeom prst="line">
            <a:avLst/>
          </a:prstGeom>
          <a:noFill/>
          <a:ln w="63500">
            <a:solidFill>
              <a:srgbClr val="0F766E"/>
            </a:solidFill>
            <a:prstDash val="solid"/>
          </a:ln>
        </p:spPr>
      </p:sp>
      <p:sp>
        <p:nvSpPr>
          <p:cNvPr id="82" name="line-78"/>
          <p:cNvSpPr/>
          <p:nvPr/>
        </p:nvSpPr>
        <p:spPr>
          <a:xfrm flipV="1">
            <a:off x="5987451" y="2010073"/>
            <a:ext cx="104575" cy="71177"/>
          </a:xfrm>
          <a:prstGeom prst="line">
            <a:avLst/>
          </a:prstGeom>
          <a:noFill/>
          <a:ln w="63500">
            <a:solidFill>
              <a:srgbClr val="0F766E"/>
            </a:solidFill>
            <a:prstDash val="solid"/>
          </a:ln>
        </p:spPr>
      </p:sp>
      <p:sp>
        <p:nvSpPr>
          <p:cNvPr id="83" name="line-79"/>
          <p:cNvSpPr/>
          <p:nvPr/>
        </p:nvSpPr>
        <p:spPr>
          <a:xfrm flipV="1">
            <a:off x="6092026" y="1946191"/>
            <a:ext cx="108349" cy="63882"/>
          </a:xfrm>
          <a:prstGeom prst="line">
            <a:avLst/>
          </a:prstGeom>
          <a:noFill/>
          <a:ln w="63500">
            <a:solidFill>
              <a:srgbClr val="0F766E"/>
            </a:solidFill>
            <a:prstDash val="solid"/>
          </a:ln>
        </p:spPr>
      </p:sp>
      <p:sp>
        <p:nvSpPr>
          <p:cNvPr id="84" name="line-80"/>
          <p:cNvSpPr/>
          <p:nvPr/>
        </p:nvSpPr>
        <p:spPr>
          <a:xfrm flipV="1">
            <a:off x="6200374" y="1890120"/>
            <a:ext cx="112303" cy="56071"/>
          </a:xfrm>
          <a:prstGeom prst="line">
            <a:avLst/>
          </a:prstGeom>
          <a:noFill/>
          <a:ln w="63500">
            <a:solidFill>
              <a:srgbClr val="0F766E"/>
            </a:solidFill>
            <a:prstDash val="solid"/>
          </a:ln>
        </p:spPr>
      </p:sp>
      <p:sp>
        <p:nvSpPr>
          <p:cNvPr id="85" name="line-81"/>
          <p:cNvSpPr/>
          <p:nvPr/>
        </p:nvSpPr>
        <p:spPr>
          <a:xfrm flipV="1">
            <a:off x="6312678" y="1842377"/>
            <a:ext cx="116438" cy="47743"/>
          </a:xfrm>
          <a:prstGeom prst="line">
            <a:avLst/>
          </a:prstGeom>
          <a:noFill/>
          <a:ln w="63500">
            <a:solidFill>
              <a:srgbClr val="0F766E"/>
            </a:solidFill>
            <a:prstDash val="solid"/>
          </a:ln>
        </p:spPr>
      </p:sp>
      <p:sp>
        <p:nvSpPr>
          <p:cNvPr id="86" name="line-82"/>
          <p:cNvSpPr/>
          <p:nvPr/>
        </p:nvSpPr>
        <p:spPr>
          <a:xfrm flipV="1">
            <a:off x="6429116" y="1803477"/>
            <a:ext cx="120754" cy="38900"/>
          </a:xfrm>
          <a:prstGeom prst="line">
            <a:avLst/>
          </a:prstGeom>
          <a:noFill/>
          <a:ln w="63500">
            <a:solidFill>
              <a:srgbClr val="0F766E"/>
            </a:solidFill>
            <a:prstDash val="solid"/>
          </a:ln>
        </p:spPr>
      </p:sp>
      <p:sp>
        <p:nvSpPr>
          <p:cNvPr id="87" name="line-83"/>
          <p:cNvSpPr/>
          <p:nvPr/>
        </p:nvSpPr>
        <p:spPr>
          <a:xfrm flipV="1">
            <a:off x="6549870" y="1773936"/>
            <a:ext cx="125250" cy="29541"/>
          </a:xfrm>
          <a:prstGeom prst="line">
            <a:avLst/>
          </a:prstGeom>
          <a:noFill/>
          <a:ln w="63500">
            <a:solidFill>
              <a:srgbClr val="0F766E"/>
            </a:solidFill>
            <a:prstDash val="solid"/>
          </a:ln>
        </p:spPr>
      </p:sp>
      <p:sp>
        <p:nvSpPr>
          <p:cNvPr id="88" name="text-84"/>
          <p:cNvSpPr txBox="1"/>
          <p:nvPr/>
        </p:nvSpPr>
        <p:spPr>
          <a:xfrm>
            <a:off x="1152144" y="4517136"/>
            <a:ext cx="2011680" cy="201168"/>
          </a:xfrm>
          <a:prstGeom prst="rect">
            <a:avLst/>
          </a:prstGeom>
          <a:noFill/>
          <a:ln/>
        </p:spPr>
        <p:txBody>
          <a:bodyPr wrap="square" lIns="0" tIns="0" rIns="0" bIns="0" rtlCol="0" anchor="ctr"/>
          <a:lstStyle/>
          <a:p>
            <a:pPr algn="l" indent="0" marL="0">
              <a:lnSpc>
                <a:spcPct val="100000"/>
              </a:lnSpc>
              <a:buNone/>
            </a:pPr>
            <a:r>
              <a:rPr lang="en-US" sz="1200" b="1" dirty="0">
                <a:solidFill>
                  <a:srgbClr val="5A6B75"/>
                </a:solidFill>
                <a:latin typeface="Calibri" pitchFamily="34" charset="0"/>
                <a:ea typeface="Calibri" pitchFamily="34" charset="-122"/>
                <a:cs typeface="Calibri" pitchFamily="34" charset="-120"/>
              </a:rPr>
              <a:t>Publishing model</a:t>
            </a:r>
            <a:endParaRPr lang="en-US" sz="1200" dirty="0"/>
          </a:p>
        </p:txBody>
      </p:sp>
      <p:sp>
        <p:nvSpPr>
          <p:cNvPr id="89" name="text-85"/>
          <p:cNvSpPr txBox="1"/>
          <p:nvPr/>
        </p:nvSpPr>
        <p:spPr>
          <a:xfrm>
            <a:off x="1152144" y="4736592"/>
            <a:ext cx="914400" cy="164592"/>
          </a:xfrm>
          <a:prstGeom prst="rect">
            <a:avLst/>
          </a:prstGeom>
          <a:noFill/>
          <a:ln/>
        </p:spPr>
        <p:txBody>
          <a:bodyPr wrap="square" lIns="0" tIns="0" rIns="0" bIns="0" rtlCol="0" anchor="ctr"/>
          <a:lstStyle/>
          <a:p>
            <a:pPr algn="l" indent="0" marL="0">
              <a:lnSpc>
                <a:spcPct val="100000"/>
              </a:lnSpc>
              <a:buNone/>
            </a:pPr>
            <a:r>
              <a:rPr lang="en-US" sz="950" dirty="0">
                <a:solidFill>
                  <a:srgbClr val="5A6B75"/>
                </a:solidFill>
                <a:latin typeface="Calibri" pitchFamily="34" charset="0"/>
                <a:ea typeface="Calibri" pitchFamily="34" charset="-122"/>
                <a:cs typeface="Calibri" pitchFamily="34" charset="-120"/>
              </a:rPr>
              <a:t>today</a:t>
            </a:r>
            <a:endParaRPr lang="en-US" sz="950" dirty="0"/>
          </a:p>
        </p:txBody>
      </p:sp>
      <p:sp>
        <p:nvSpPr>
          <p:cNvPr id="90" name="text-86"/>
          <p:cNvSpPr txBox="1"/>
          <p:nvPr/>
        </p:nvSpPr>
        <p:spPr>
          <a:xfrm>
            <a:off x="4297680" y="2596896"/>
            <a:ext cx="2286000" cy="201168"/>
          </a:xfrm>
          <a:prstGeom prst="rect">
            <a:avLst/>
          </a:prstGeom>
          <a:noFill/>
          <a:ln/>
        </p:spPr>
        <p:txBody>
          <a:bodyPr wrap="square" lIns="0" tIns="0" rIns="0" bIns="0" rtlCol="0" anchor="ctr"/>
          <a:lstStyle/>
          <a:p>
            <a:pPr algn="r" indent="0" marL="0">
              <a:lnSpc>
                <a:spcPct val="100000"/>
              </a:lnSpc>
              <a:buNone/>
            </a:pPr>
            <a:r>
              <a:rPr lang="en-US" sz="1200" b="1" dirty="0">
                <a:solidFill>
                  <a:srgbClr val="0F766E"/>
                </a:solidFill>
                <a:latin typeface="Calibri" pitchFamily="34" charset="0"/>
                <a:ea typeface="Calibri" pitchFamily="34" charset="-122"/>
                <a:cs typeface="Calibri" pitchFamily="34" charset="-120"/>
              </a:rPr>
              <a:t>Digital product platform</a:t>
            </a:r>
            <a:endParaRPr lang="en-US" sz="1200" dirty="0"/>
          </a:p>
        </p:txBody>
      </p:sp>
      <p:sp>
        <p:nvSpPr>
          <p:cNvPr id="91" name="text-87"/>
          <p:cNvSpPr txBox="1"/>
          <p:nvPr/>
        </p:nvSpPr>
        <p:spPr>
          <a:xfrm>
            <a:off x="4297680" y="2816352"/>
            <a:ext cx="2286000" cy="164592"/>
          </a:xfrm>
          <a:prstGeom prst="rect">
            <a:avLst/>
          </a:prstGeom>
          <a:noFill/>
          <a:ln/>
        </p:spPr>
        <p:txBody>
          <a:bodyPr wrap="square" lIns="0" tIns="0" rIns="0" bIns="0" rtlCol="0" anchor="ctr"/>
          <a:lstStyle/>
          <a:p>
            <a:pPr algn="r" indent="0" marL="0">
              <a:lnSpc>
                <a:spcPct val="100000"/>
              </a:lnSpc>
              <a:buNone/>
            </a:pPr>
            <a:r>
              <a:rPr lang="en-US" sz="950" dirty="0">
                <a:solidFill>
                  <a:srgbClr val="0F766E"/>
                </a:solidFill>
                <a:latin typeface="Calibri" pitchFamily="34" charset="0"/>
                <a:ea typeface="Calibri" pitchFamily="34" charset="-122"/>
                <a:cs typeface="Calibri" pitchFamily="34" charset="-120"/>
              </a:rPr>
              <a:t>the agreed direction</a:t>
            </a:r>
            <a:endParaRPr lang="en-US" sz="950" dirty="0"/>
          </a:p>
        </p:txBody>
      </p:sp>
      <p:sp>
        <p:nvSpPr>
          <p:cNvPr id="92" name="oval-88"/>
          <p:cNvSpPr/>
          <p:nvPr/>
        </p:nvSpPr>
        <p:spPr>
          <a:xfrm>
            <a:off x="2268897" y="4021385"/>
            <a:ext cx="128016" cy="128016"/>
          </a:xfrm>
          <a:prstGeom prst="ellipse">
            <a:avLst/>
          </a:prstGeom>
          <a:solidFill>
            <a:srgbClr val="1C2B33"/>
          </a:solidFill>
          <a:ln w="12700">
            <a:solidFill>
              <a:srgbClr val="1C2B33"/>
            </a:solidFill>
            <a:prstDash val="solid"/>
          </a:ln>
        </p:spPr>
      </p:sp>
      <p:sp>
        <p:nvSpPr>
          <p:cNvPr id="93" name="text-89"/>
          <p:cNvSpPr txBox="1"/>
          <p:nvPr/>
        </p:nvSpPr>
        <p:spPr>
          <a:xfrm>
            <a:off x="2442633" y="3865937"/>
            <a:ext cx="1463040" cy="164592"/>
          </a:xfrm>
          <a:prstGeom prst="rect">
            <a:avLst/>
          </a:prstGeom>
          <a:noFill/>
          <a:ln/>
        </p:spPr>
        <p:txBody>
          <a:bodyPr wrap="square" lIns="0" tIns="0" rIns="0" bIns="0" rtlCol="0" anchor="ctr"/>
          <a:lstStyle/>
          <a:p>
            <a:pPr algn="l" indent="0" marL="0">
              <a:lnSpc>
                <a:spcPct val="100000"/>
              </a:lnSpc>
              <a:buNone/>
            </a:pPr>
            <a:r>
              <a:rPr lang="en-US" sz="950" b="1" dirty="0">
                <a:solidFill>
                  <a:srgbClr val="1C2B33"/>
                </a:solidFill>
                <a:latin typeface="Calibri" pitchFamily="34" charset="0"/>
                <a:ea typeface="Calibri" pitchFamily="34" charset="-122"/>
                <a:cs typeface="Calibri" pitchFamily="34" charset="-120"/>
              </a:rPr>
              <a:t>Inflection point</a:t>
            </a:r>
            <a:endParaRPr lang="en-US" sz="950" dirty="0"/>
          </a:p>
        </p:txBody>
      </p:sp>
      <p:sp>
        <p:nvSpPr>
          <p:cNvPr id="94" name="line-90"/>
          <p:cNvSpPr/>
          <p:nvPr/>
        </p:nvSpPr>
        <p:spPr>
          <a:xfrm flipV="1">
            <a:off x="3694708" y="2635987"/>
            <a:ext cx="92637" cy="32372"/>
          </a:xfrm>
          <a:prstGeom prst="line">
            <a:avLst/>
          </a:prstGeom>
          <a:noFill/>
          <a:ln w="31750">
            <a:solidFill>
              <a:srgbClr val="B45309"/>
            </a:solidFill>
            <a:prstDash val="sysDash"/>
          </a:ln>
        </p:spPr>
      </p:sp>
      <p:sp>
        <p:nvSpPr>
          <p:cNvPr id="95" name="line-91"/>
          <p:cNvSpPr/>
          <p:nvPr/>
        </p:nvSpPr>
        <p:spPr>
          <a:xfrm flipV="1">
            <a:off x="3787345" y="2630312"/>
            <a:ext cx="86541" cy="5675"/>
          </a:xfrm>
          <a:prstGeom prst="line">
            <a:avLst/>
          </a:prstGeom>
          <a:noFill/>
          <a:ln w="31750">
            <a:solidFill>
              <a:srgbClr val="B45309"/>
            </a:solidFill>
            <a:prstDash val="sysDash"/>
          </a:ln>
        </p:spPr>
      </p:sp>
      <p:sp>
        <p:nvSpPr>
          <p:cNvPr id="96" name="line-92"/>
          <p:cNvSpPr/>
          <p:nvPr/>
        </p:nvSpPr>
        <p:spPr>
          <a:xfrm>
            <a:off x="3873886" y="2630312"/>
            <a:ext cx="80445" cy="21022"/>
          </a:xfrm>
          <a:prstGeom prst="line">
            <a:avLst/>
          </a:prstGeom>
          <a:noFill/>
          <a:ln w="31750">
            <a:solidFill>
              <a:srgbClr val="B45309"/>
            </a:solidFill>
            <a:prstDash val="sysDash"/>
          </a:ln>
        </p:spPr>
      </p:sp>
      <p:sp>
        <p:nvSpPr>
          <p:cNvPr id="97" name="line-93"/>
          <p:cNvSpPr/>
          <p:nvPr/>
        </p:nvSpPr>
        <p:spPr>
          <a:xfrm>
            <a:off x="3954330" y="2651334"/>
            <a:ext cx="74349" cy="47719"/>
          </a:xfrm>
          <a:prstGeom prst="line">
            <a:avLst/>
          </a:prstGeom>
          <a:noFill/>
          <a:ln w="31750">
            <a:solidFill>
              <a:srgbClr val="B45309"/>
            </a:solidFill>
            <a:prstDash val="sysDash"/>
          </a:ln>
        </p:spPr>
      </p:sp>
      <p:sp>
        <p:nvSpPr>
          <p:cNvPr id="98" name="line-94"/>
          <p:cNvSpPr/>
          <p:nvPr/>
        </p:nvSpPr>
        <p:spPr>
          <a:xfrm>
            <a:off x="4028679" y="2699054"/>
            <a:ext cx="68253" cy="74416"/>
          </a:xfrm>
          <a:prstGeom prst="line">
            <a:avLst/>
          </a:prstGeom>
          <a:noFill/>
          <a:ln w="31750">
            <a:solidFill>
              <a:srgbClr val="B45309"/>
            </a:solidFill>
            <a:prstDash val="sysDash"/>
          </a:ln>
        </p:spPr>
      </p:sp>
      <p:sp>
        <p:nvSpPr>
          <p:cNvPr id="99" name="line-95"/>
          <p:cNvSpPr/>
          <p:nvPr/>
        </p:nvSpPr>
        <p:spPr>
          <a:xfrm>
            <a:off x="4096932" y="2773470"/>
            <a:ext cx="62157" cy="101113"/>
          </a:xfrm>
          <a:prstGeom prst="line">
            <a:avLst/>
          </a:prstGeom>
          <a:noFill/>
          <a:ln w="31750">
            <a:solidFill>
              <a:srgbClr val="B45309"/>
            </a:solidFill>
            <a:prstDash val="sysDash"/>
          </a:ln>
        </p:spPr>
      </p:sp>
      <p:sp>
        <p:nvSpPr>
          <p:cNvPr id="100" name="line-96"/>
          <p:cNvSpPr/>
          <p:nvPr/>
        </p:nvSpPr>
        <p:spPr>
          <a:xfrm>
            <a:off x="4159089" y="2874583"/>
            <a:ext cx="56061" cy="127810"/>
          </a:xfrm>
          <a:prstGeom prst="line">
            <a:avLst/>
          </a:prstGeom>
          <a:noFill/>
          <a:ln w="31750">
            <a:solidFill>
              <a:srgbClr val="B45309"/>
            </a:solidFill>
            <a:prstDash val="sysDash"/>
          </a:ln>
        </p:spPr>
      </p:sp>
      <p:sp>
        <p:nvSpPr>
          <p:cNvPr id="101" name="line-97"/>
          <p:cNvSpPr/>
          <p:nvPr/>
        </p:nvSpPr>
        <p:spPr>
          <a:xfrm>
            <a:off x="4215150" y="3002393"/>
            <a:ext cx="49965" cy="154507"/>
          </a:xfrm>
          <a:prstGeom prst="line">
            <a:avLst/>
          </a:prstGeom>
          <a:noFill/>
          <a:ln w="31750">
            <a:solidFill>
              <a:srgbClr val="B45309"/>
            </a:solidFill>
            <a:prstDash val="sysDash"/>
          </a:ln>
        </p:spPr>
      </p:sp>
      <p:sp>
        <p:nvSpPr>
          <p:cNvPr id="102" name="line-98"/>
          <p:cNvSpPr/>
          <p:nvPr/>
        </p:nvSpPr>
        <p:spPr>
          <a:xfrm>
            <a:off x="4265115" y="3156900"/>
            <a:ext cx="43869" cy="181204"/>
          </a:xfrm>
          <a:prstGeom prst="line">
            <a:avLst/>
          </a:prstGeom>
          <a:noFill/>
          <a:ln w="31750">
            <a:solidFill>
              <a:srgbClr val="B45309"/>
            </a:solidFill>
            <a:prstDash val="sysDash"/>
          </a:ln>
        </p:spPr>
      </p:sp>
      <p:sp>
        <p:nvSpPr>
          <p:cNvPr id="103" name="line-99"/>
          <p:cNvSpPr/>
          <p:nvPr/>
        </p:nvSpPr>
        <p:spPr>
          <a:xfrm>
            <a:off x="4308984" y="3338104"/>
            <a:ext cx="37773" cy="207901"/>
          </a:xfrm>
          <a:prstGeom prst="line">
            <a:avLst/>
          </a:prstGeom>
          <a:noFill/>
          <a:ln w="31750">
            <a:solidFill>
              <a:srgbClr val="B45309"/>
            </a:solidFill>
            <a:prstDash val="sysDash"/>
          </a:ln>
        </p:spPr>
      </p:sp>
      <p:sp>
        <p:nvSpPr>
          <p:cNvPr id="104" name="line-100"/>
          <p:cNvSpPr/>
          <p:nvPr/>
        </p:nvSpPr>
        <p:spPr>
          <a:xfrm>
            <a:off x="4346757" y="3546005"/>
            <a:ext cx="31677" cy="234598"/>
          </a:xfrm>
          <a:prstGeom prst="line">
            <a:avLst/>
          </a:prstGeom>
          <a:noFill/>
          <a:ln w="31750">
            <a:solidFill>
              <a:srgbClr val="B45309"/>
            </a:solidFill>
            <a:prstDash val="sysDash"/>
          </a:ln>
        </p:spPr>
      </p:sp>
      <p:sp>
        <p:nvSpPr>
          <p:cNvPr id="105" name="line-101"/>
          <p:cNvSpPr/>
          <p:nvPr/>
        </p:nvSpPr>
        <p:spPr>
          <a:xfrm>
            <a:off x="4378434" y="3780603"/>
            <a:ext cx="25581" cy="261295"/>
          </a:xfrm>
          <a:prstGeom prst="line">
            <a:avLst/>
          </a:prstGeom>
          <a:noFill/>
          <a:ln w="31750">
            <a:solidFill>
              <a:srgbClr val="B45309"/>
            </a:solidFill>
            <a:prstDash val="sysDash"/>
          </a:ln>
        </p:spPr>
      </p:sp>
      <p:sp>
        <p:nvSpPr>
          <p:cNvPr id="106" name="tri-102"/>
          <p:cNvSpPr/>
          <p:nvPr/>
        </p:nvSpPr>
        <p:spPr>
          <a:xfrm rot="8100000">
            <a:off x="4312575" y="3968746"/>
            <a:ext cx="146304" cy="146304"/>
          </a:xfrm>
          <a:prstGeom prst="triangle">
            <a:avLst/>
          </a:prstGeom>
          <a:solidFill>
            <a:srgbClr val="B45309"/>
          </a:solidFill>
          <a:ln w="12700">
            <a:solidFill>
              <a:srgbClr val="B45309"/>
            </a:solidFill>
            <a:prstDash val="solid"/>
          </a:ln>
        </p:spPr>
      </p:sp>
      <p:sp>
        <p:nvSpPr>
          <p:cNvPr id="107" name="text-103"/>
          <p:cNvSpPr txBox="1"/>
          <p:nvPr/>
        </p:nvSpPr>
        <p:spPr>
          <a:xfrm>
            <a:off x="1774468" y="2266022"/>
            <a:ext cx="1828800" cy="182880"/>
          </a:xfrm>
          <a:prstGeom prst="rect">
            <a:avLst/>
          </a:prstGeom>
          <a:noFill/>
          <a:ln/>
        </p:spPr>
        <p:txBody>
          <a:bodyPr wrap="square" lIns="0" tIns="0" rIns="0" bIns="0" rtlCol="0" anchor="ctr"/>
          <a:lstStyle/>
          <a:p>
            <a:pPr algn="r" indent="0" marL="0">
              <a:lnSpc>
                <a:spcPct val="100000"/>
              </a:lnSpc>
              <a:buNone/>
            </a:pPr>
            <a:r>
              <a:rPr lang="en-US" sz="1100" b="1" dirty="0">
                <a:solidFill>
                  <a:srgbClr val="B45309"/>
                </a:solidFill>
                <a:latin typeface="Calibri" pitchFamily="34" charset="0"/>
                <a:ea typeface="Calibri" pitchFamily="34" charset="-122"/>
                <a:cs typeface="Calibri" pitchFamily="34" charset="-120"/>
              </a:rPr>
              <a:t>The pivot — agreed</a:t>
            </a:r>
            <a:endParaRPr lang="en-US" sz="1100" dirty="0"/>
          </a:p>
        </p:txBody>
      </p:sp>
      <p:sp>
        <p:nvSpPr>
          <p:cNvPr id="108" name="line-104"/>
          <p:cNvSpPr/>
          <p:nvPr/>
        </p:nvSpPr>
        <p:spPr>
          <a:xfrm>
            <a:off x="6400800" y="3108960"/>
            <a:ext cx="0" cy="2103120"/>
          </a:xfrm>
          <a:prstGeom prst="line">
            <a:avLst/>
          </a:prstGeom>
          <a:noFill/>
          <a:ln w="19050">
            <a:solidFill>
              <a:srgbClr val="B45309"/>
            </a:solidFill>
            <a:prstDash val="sysDash"/>
          </a:ln>
        </p:spPr>
      </p:sp>
      <p:sp>
        <p:nvSpPr>
          <p:cNvPr id="109" name="text-105"/>
          <p:cNvSpPr txBox="1"/>
          <p:nvPr/>
        </p:nvSpPr>
        <p:spPr>
          <a:xfrm>
            <a:off x="5669280" y="5486400"/>
            <a:ext cx="1463040" cy="164592"/>
          </a:xfrm>
          <a:prstGeom prst="rect">
            <a:avLst/>
          </a:prstGeom>
          <a:noFill/>
          <a:ln/>
        </p:spPr>
        <p:txBody>
          <a:bodyPr wrap="square" lIns="0" tIns="0" rIns="0" bIns="0" rtlCol="0" anchor="ctr"/>
          <a:lstStyle/>
          <a:p>
            <a:pPr algn="ctr" indent="0" marL="0">
              <a:lnSpc>
                <a:spcPct val="100000"/>
              </a:lnSpc>
              <a:buNone/>
            </a:pPr>
            <a:r>
              <a:rPr lang="en-US" sz="950" b="1" dirty="0">
                <a:solidFill>
                  <a:srgbClr val="B45309"/>
                </a:solidFill>
                <a:latin typeface="Calibri" pitchFamily="34" charset="0"/>
                <a:ea typeface="Calibri" pitchFamily="34" charset="-122"/>
                <a:cs typeface="Calibri" pitchFamily="34" charset="-120"/>
              </a:rPr>
              <a:t>fixed target date</a:t>
            </a:r>
            <a:endParaRPr lang="en-US" sz="950" dirty="0"/>
          </a:p>
        </p:txBody>
      </p:sp>
      <p:sp>
        <p:nvSpPr>
          <p:cNvPr id="110" name="shape-106"/>
          <p:cNvSpPr/>
          <p:nvPr/>
        </p:nvSpPr>
        <p:spPr>
          <a:xfrm>
            <a:off x="7315200" y="1463040"/>
            <a:ext cx="4297680" cy="1078992"/>
          </a:xfrm>
          <a:prstGeom prst="roundRect">
            <a:avLst>
              <a:gd name="adj" fmla="val 6780"/>
            </a:avLst>
          </a:prstGeom>
          <a:solidFill>
            <a:srgbClr val="D6ECE9"/>
          </a:solidFill>
          <a:ln w="12700">
            <a:solidFill>
              <a:srgbClr val="D6ECE9"/>
            </a:solidFill>
            <a:prstDash val="solid"/>
          </a:ln>
        </p:spPr>
      </p:sp>
      <p:pic>
        <p:nvPicPr>
          <p:cNvPr id="111" name="icon-107" descr="preencoded.png">    </p:cNvPr>
          <p:cNvPicPr>
            <a:picLocks noChangeAspect="1"/>
          </p:cNvPicPr>
          <p:nvPr/>
        </p:nvPicPr>
        <p:blipFill>
          <a:blip r:embed="rId1"/>
          <a:stretch>
            <a:fillRect/>
          </a:stretch>
        </p:blipFill>
        <p:spPr>
          <a:xfrm>
            <a:off x="7534656" y="1682496"/>
            <a:ext cx="274320" cy="274320"/>
          </a:xfrm>
          <a:prstGeom prst="rect">
            <a:avLst/>
          </a:prstGeom>
        </p:spPr>
      </p:pic>
      <p:sp>
        <p:nvSpPr>
          <p:cNvPr id="112" name="text-108"/>
          <p:cNvSpPr txBox="1"/>
          <p:nvPr/>
        </p:nvSpPr>
        <p:spPr>
          <a:xfrm>
            <a:off x="7955280" y="1627632"/>
            <a:ext cx="2743200" cy="274320"/>
          </a:xfrm>
          <a:prstGeom prst="rect">
            <a:avLst/>
          </a:prstGeom>
          <a:noFill/>
          <a:ln/>
        </p:spPr>
        <p:txBody>
          <a:bodyPr wrap="square" lIns="0" tIns="0" rIns="0" bIns="0" rtlCol="0" anchor="ctr"/>
          <a:lstStyle/>
          <a:p>
            <a:pPr algn="l" indent="0" marL="0">
              <a:lnSpc>
                <a:spcPct val="100000"/>
              </a:lnSpc>
              <a:buNone/>
            </a:pPr>
            <a:r>
              <a:rPr lang="en-US" sz="1750" b="1" dirty="0">
                <a:solidFill>
                  <a:srgbClr val="1C2B33"/>
                </a:solidFill>
                <a:latin typeface="Calibri" pitchFamily="34" charset="0"/>
                <a:ea typeface="Calibri" pitchFamily="34" charset="-122"/>
                <a:cs typeface="Calibri" pitchFamily="34" charset="-120"/>
              </a:rPr>
              <a:t>Understand</a:t>
            </a:r>
            <a:endParaRPr lang="en-US" sz="1750" dirty="0"/>
          </a:p>
        </p:txBody>
      </p:sp>
      <p:sp>
        <p:nvSpPr>
          <p:cNvPr id="113" name="text-109"/>
          <p:cNvSpPr txBox="1"/>
          <p:nvPr/>
        </p:nvSpPr>
        <p:spPr>
          <a:xfrm>
            <a:off x="7955280" y="1920240"/>
            <a:ext cx="2743200" cy="146304"/>
          </a:xfrm>
          <a:prstGeom prst="rect">
            <a:avLst/>
          </a:prstGeom>
          <a:noFill/>
          <a:ln/>
        </p:spPr>
        <p:txBody>
          <a:bodyPr wrap="square" lIns="0" tIns="0" rIns="0" bIns="0" rtlCol="0" anchor="ctr"/>
          <a:lstStyle/>
          <a:p>
            <a:pPr algn="l" indent="0" marL="0">
              <a:lnSpc>
                <a:spcPct val="100000"/>
              </a:lnSpc>
              <a:buNone/>
            </a:pPr>
            <a:r>
              <a:rPr lang="en-US" sz="850" b="1" spc="200" kern="0" dirty="0">
                <a:solidFill>
                  <a:srgbClr val="0F766E"/>
                </a:solidFill>
                <a:latin typeface="Calibri" pitchFamily="34" charset="0"/>
                <a:ea typeface="Calibri" pitchFamily="34" charset="-122"/>
                <a:cs typeface="Calibri" pitchFamily="34" charset="-120"/>
              </a:rPr>
              <a:t>DAYS 1–30</a:t>
            </a:r>
            <a:endParaRPr lang="en-US" sz="850" dirty="0"/>
          </a:p>
        </p:txBody>
      </p:sp>
      <p:sp>
        <p:nvSpPr>
          <p:cNvPr id="114" name="text-110"/>
          <p:cNvSpPr txBox="1"/>
          <p:nvPr/>
        </p:nvSpPr>
        <p:spPr>
          <a:xfrm>
            <a:off x="7955280" y="2121408"/>
            <a:ext cx="3474720" cy="365760"/>
          </a:xfrm>
          <a:prstGeom prst="rect">
            <a:avLst/>
          </a:prstGeom>
          <a:noFill/>
          <a:ln/>
        </p:spPr>
        <p:txBody>
          <a:bodyPr wrap="square" lIns="0" tIns="0" rIns="0" bIns="0" rtlCol="0" anchor="t"/>
          <a:lstStyle/>
          <a:p>
            <a:pPr algn="l" indent="0" marL="0">
              <a:lnSpc>
                <a:spcPct val="100000"/>
              </a:lnSpc>
              <a:buNone/>
            </a:pPr>
            <a:r>
              <a:rPr lang="en-US" sz="1150" dirty="0">
                <a:solidFill>
                  <a:srgbClr val="1C2B33"/>
                </a:solidFill>
                <a:latin typeface="Calibri" pitchFamily="34" charset="0"/>
                <a:ea typeface="Calibri" pitchFamily="34" charset="-122"/>
                <a:cs typeface="Calibri" pitchFamily="34" charset="-120"/>
              </a:rPr>
              <a:t>two baselines: the technology and the ways of working</a:t>
            </a:r>
            <a:endParaRPr lang="en-US" sz="1150" dirty="0"/>
          </a:p>
        </p:txBody>
      </p:sp>
      <p:sp>
        <p:nvSpPr>
          <p:cNvPr id="115" name="shape-111"/>
          <p:cNvSpPr/>
          <p:nvPr/>
        </p:nvSpPr>
        <p:spPr>
          <a:xfrm>
            <a:off x="7315200" y="2743200"/>
            <a:ext cx="4297680" cy="1078992"/>
          </a:xfrm>
          <a:prstGeom prst="roundRect">
            <a:avLst>
              <a:gd name="adj" fmla="val 6780"/>
            </a:avLst>
          </a:prstGeom>
          <a:solidFill>
            <a:srgbClr val="0F766E"/>
          </a:solidFill>
          <a:ln w="12700">
            <a:solidFill>
              <a:srgbClr val="0F766E"/>
            </a:solidFill>
            <a:prstDash val="solid"/>
          </a:ln>
        </p:spPr>
      </p:sp>
      <p:pic>
        <p:nvPicPr>
          <p:cNvPr id="116" name="icon-112" descr="preencoded.png">    </p:cNvPr>
          <p:cNvPicPr>
            <a:picLocks noChangeAspect="1"/>
          </p:cNvPicPr>
          <p:nvPr/>
        </p:nvPicPr>
        <p:blipFill>
          <a:blip r:embed="rId2"/>
          <a:stretch>
            <a:fillRect/>
          </a:stretch>
        </p:blipFill>
        <p:spPr>
          <a:xfrm>
            <a:off x="7534656" y="2962656"/>
            <a:ext cx="274320" cy="274320"/>
          </a:xfrm>
          <a:prstGeom prst="rect">
            <a:avLst/>
          </a:prstGeom>
        </p:spPr>
      </p:pic>
      <p:sp>
        <p:nvSpPr>
          <p:cNvPr id="117" name="text-113"/>
          <p:cNvSpPr txBox="1"/>
          <p:nvPr/>
        </p:nvSpPr>
        <p:spPr>
          <a:xfrm>
            <a:off x="7955280" y="2907792"/>
            <a:ext cx="2743200" cy="274320"/>
          </a:xfrm>
          <a:prstGeom prst="rect">
            <a:avLst/>
          </a:prstGeom>
          <a:noFill/>
          <a:ln/>
        </p:spPr>
        <p:txBody>
          <a:bodyPr wrap="square" lIns="0" tIns="0" rIns="0" bIns="0" rtlCol="0" anchor="ctr"/>
          <a:lstStyle/>
          <a:p>
            <a:pPr algn="l" indent="0" marL="0">
              <a:lnSpc>
                <a:spcPct val="100000"/>
              </a:lnSpc>
              <a:buNone/>
            </a:pPr>
            <a:r>
              <a:rPr lang="en-US" sz="1750" b="1" dirty="0">
                <a:solidFill>
                  <a:srgbClr val="FFFFFF"/>
                </a:solidFill>
                <a:latin typeface="Calibri" pitchFamily="34" charset="0"/>
                <a:ea typeface="Calibri" pitchFamily="34" charset="-122"/>
                <a:cs typeface="Calibri" pitchFamily="34" charset="-120"/>
              </a:rPr>
              <a:t>Stabilise</a:t>
            </a:r>
            <a:endParaRPr lang="en-US" sz="1750" dirty="0"/>
          </a:p>
        </p:txBody>
      </p:sp>
      <p:sp>
        <p:nvSpPr>
          <p:cNvPr id="118" name="text-114"/>
          <p:cNvSpPr txBox="1"/>
          <p:nvPr/>
        </p:nvSpPr>
        <p:spPr>
          <a:xfrm>
            <a:off x="7955280" y="3200400"/>
            <a:ext cx="2743200" cy="146304"/>
          </a:xfrm>
          <a:prstGeom prst="rect">
            <a:avLst/>
          </a:prstGeom>
          <a:noFill/>
          <a:ln/>
        </p:spPr>
        <p:txBody>
          <a:bodyPr wrap="square" lIns="0" tIns="0" rIns="0" bIns="0" rtlCol="0" anchor="ctr"/>
          <a:lstStyle/>
          <a:p>
            <a:pPr algn="l" indent="0" marL="0">
              <a:lnSpc>
                <a:spcPct val="100000"/>
              </a:lnSpc>
              <a:buNone/>
            </a:pPr>
            <a:r>
              <a:rPr lang="en-US" sz="850" b="1" spc="200" kern="0" dirty="0">
                <a:solidFill>
                  <a:srgbClr val="CFE8E5"/>
                </a:solidFill>
                <a:latin typeface="Calibri" pitchFamily="34" charset="0"/>
                <a:ea typeface="Calibri" pitchFamily="34" charset="-122"/>
                <a:cs typeface="Calibri" pitchFamily="34" charset="-120"/>
              </a:rPr>
              <a:t>DAYS 31–60</a:t>
            </a:r>
            <a:endParaRPr lang="en-US" sz="850" dirty="0"/>
          </a:p>
        </p:txBody>
      </p:sp>
      <p:sp>
        <p:nvSpPr>
          <p:cNvPr id="119" name="text-115"/>
          <p:cNvSpPr txBox="1"/>
          <p:nvPr/>
        </p:nvSpPr>
        <p:spPr>
          <a:xfrm>
            <a:off x="7955280" y="3401568"/>
            <a:ext cx="3474720" cy="365760"/>
          </a:xfrm>
          <a:prstGeom prst="rect">
            <a:avLst/>
          </a:prstGeom>
          <a:noFill/>
          <a:ln/>
        </p:spPr>
        <p:txBody>
          <a:bodyPr wrap="square" lIns="0" tIns="0" rIns="0" bIns="0" rtlCol="0" anchor="t"/>
          <a:lstStyle/>
          <a:p>
            <a:pPr algn="l" indent="0" marL="0">
              <a:lnSpc>
                <a:spcPct val="100000"/>
              </a:lnSpc>
              <a:buNone/>
            </a:pPr>
            <a:r>
              <a:rPr lang="en-US" sz="1150" dirty="0">
                <a:solidFill>
                  <a:srgbClr val="FFFFFF"/>
                </a:solidFill>
                <a:latin typeface="Calibri" pitchFamily="34" charset="0"/>
                <a:ea typeface="Calibri" pitchFamily="34" charset="-122"/>
                <a:cs typeface="Calibri" pitchFamily="34" charset="-120"/>
              </a:rPr>
              <a:t>keep today running; assess the proposal; confirm, re-scope or stop</a:t>
            </a:r>
            <a:endParaRPr lang="en-US" sz="1150" dirty="0"/>
          </a:p>
        </p:txBody>
      </p:sp>
      <p:sp>
        <p:nvSpPr>
          <p:cNvPr id="120" name="shape-116"/>
          <p:cNvSpPr/>
          <p:nvPr/>
        </p:nvSpPr>
        <p:spPr>
          <a:xfrm>
            <a:off x="7315200" y="4023360"/>
            <a:ext cx="4297680" cy="1078992"/>
          </a:xfrm>
          <a:prstGeom prst="roundRect">
            <a:avLst>
              <a:gd name="adj" fmla="val 6780"/>
            </a:avLst>
          </a:prstGeom>
          <a:solidFill>
            <a:srgbClr val="134E4A"/>
          </a:solidFill>
          <a:ln w="12700">
            <a:solidFill>
              <a:srgbClr val="134E4A"/>
            </a:solidFill>
            <a:prstDash val="solid"/>
          </a:ln>
        </p:spPr>
      </p:sp>
      <p:pic>
        <p:nvPicPr>
          <p:cNvPr id="121" name="icon-117" descr="preencoded.png">    </p:cNvPr>
          <p:cNvPicPr>
            <a:picLocks noChangeAspect="1"/>
          </p:cNvPicPr>
          <p:nvPr/>
        </p:nvPicPr>
        <p:blipFill>
          <a:blip r:embed="rId3"/>
          <a:stretch>
            <a:fillRect/>
          </a:stretch>
        </p:blipFill>
        <p:spPr>
          <a:xfrm>
            <a:off x="7534656" y="4242816"/>
            <a:ext cx="274320" cy="274320"/>
          </a:xfrm>
          <a:prstGeom prst="rect">
            <a:avLst/>
          </a:prstGeom>
        </p:spPr>
      </p:pic>
      <p:sp>
        <p:nvSpPr>
          <p:cNvPr id="122" name="text-118"/>
          <p:cNvSpPr txBox="1"/>
          <p:nvPr/>
        </p:nvSpPr>
        <p:spPr>
          <a:xfrm>
            <a:off x="7955280" y="4187952"/>
            <a:ext cx="2743200" cy="274320"/>
          </a:xfrm>
          <a:prstGeom prst="rect">
            <a:avLst/>
          </a:prstGeom>
          <a:noFill/>
          <a:ln/>
        </p:spPr>
        <p:txBody>
          <a:bodyPr wrap="square" lIns="0" tIns="0" rIns="0" bIns="0" rtlCol="0" anchor="ctr"/>
          <a:lstStyle/>
          <a:p>
            <a:pPr algn="l" indent="0" marL="0">
              <a:lnSpc>
                <a:spcPct val="100000"/>
              </a:lnSpc>
              <a:buNone/>
            </a:pPr>
            <a:r>
              <a:rPr lang="en-US" sz="1750" b="1" dirty="0">
                <a:solidFill>
                  <a:srgbClr val="FFFFFF"/>
                </a:solidFill>
                <a:latin typeface="Calibri" pitchFamily="34" charset="0"/>
                <a:ea typeface="Calibri" pitchFamily="34" charset="-122"/>
                <a:cs typeface="Calibri" pitchFamily="34" charset="-120"/>
              </a:rPr>
              <a:t>Accelerate</a:t>
            </a:r>
            <a:endParaRPr lang="en-US" sz="1750" dirty="0"/>
          </a:p>
        </p:txBody>
      </p:sp>
      <p:sp>
        <p:nvSpPr>
          <p:cNvPr id="123" name="text-119"/>
          <p:cNvSpPr txBox="1"/>
          <p:nvPr/>
        </p:nvSpPr>
        <p:spPr>
          <a:xfrm>
            <a:off x="7955280" y="4480560"/>
            <a:ext cx="2743200" cy="146304"/>
          </a:xfrm>
          <a:prstGeom prst="rect">
            <a:avLst/>
          </a:prstGeom>
          <a:noFill/>
          <a:ln/>
        </p:spPr>
        <p:txBody>
          <a:bodyPr wrap="square" lIns="0" tIns="0" rIns="0" bIns="0" rtlCol="0" anchor="ctr"/>
          <a:lstStyle/>
          <a:p>
            <a:pPr algn="l" indent="0" marL="0">
              <a:lnSpc>
                <a:spcPct val="100000"/>
              </a:lnSpc>
              <a:buNone/>
            </a:pPr>
            <a:r>
              <a:rPr lang="en-US" sz="850" b="1" spc="200" kern="0" dirty="0">
                <a:solidFill>
                  <a:srgbClr val="CFE8E5"/>
                </a:solidFill>
                <a:latin typeface="Calibri" pitchFamily="34" charset="0"/>
                <a:ea typeface="Calibri" pitchFamily="34" charset="-122"/>
                <a:cs typeface="Calibri" pitchFamily="34" charset="-120"/>
              </a:rPr>
              <a:t>DAYS 61–90 →</a:t>
            </a:r>
            <a:endParaRPr lang="en-US" sz="850" dirty="0"/>
          </a:p>
        </p:txBody>
      </p:sp>
      <p:sp>
        <p:nvSpPr>
          <p:cNvPr id="124" name="text-120"/>
          <p:cNvSpPr txBox="1"/>
          <p:nvPr/>
        </p:nvSpPr>
        <p:spPr>
          <a:xfrm>
            <a:off x="7955280" y="4681728"/>
            <a:ext cx="3474720" cy="365760"/>
          </a:xfrm>
          <a:prstGeom prst="rect">
            <a:avLst/>
          </a:prstGeom>
          <a:noFill/>
          <a:ln/>
        </p:spPr>
        <p:txBody>
          <a:bodyPr wrap="square" lIns="0" tIns="0" rIns="0" bIns="0" rtlCol="0" anchor="t"/>
          <a:lstStyle/>
          <a:p>
            <a:pPr algn="l" indent="0" marL="0">
              <a:lnSpc>
                <a:spcPct val="100000"/>
              </a:lnSpc>
              <a:buNone/>
            </a:pPr>
            <a:r>
              <a:rPr lang="en-US" sz="1150" dirty="0">
                <a:solidFill>
                  <a:srgbClr val="FFFFFF"/>
                </a:solidFill>
                <a:latin typeface="Calibri" pitchFamily="34" charset="0"/>
                <a:ea typeface="Calibri" pitchFamily="34" charset="-122"/>
                <a:cs typeface="Calibri" pitchFamily="34" charset="-120"/>
              </a:rPr>
              <a:t>first assured delivery; the plan to the date</a:t>
            </a:r>
            <a:endParaRPr lang="en-US" sz="1150" dirty="0"/>
          </a:p>
        </p:txBody>
      </p:sp>
      <p:sp>
        <p:nvSpPr>
          <p:cNvPr id="125" name="shape-121"/>
          <p:cNvSpPr/>
          <p:nvPr/>
        </p:nvSpPr>
        <p:spPr>
          <a:xfrm>
            <a:off x="7315200" y="5248656"/>
            <a:ext cx="4297680" cy="768096"/>
          </a:xfrm>
          <a:prstGeom prst="roundRect">
            <a:avLst>
              <a:gd name="adj" fmla="val 9524"/>
            </a:avLst>
          </a:prstGeom>
          <a:solidFill>
            <a:srgbClr val="FDF1E3"/>
          </a:solidFill>
          <a:ln w="12700">
            <a:solidFill>
              <a:srgbClr val="FDF1E3"/>
            </a:solidFill>
            <a:prstDash val="solid"/>
          </a:ln>
        </p:spPr>
      </p:sp>
      <p:sp>
        <p:nvSpPr>
          <p:cNvPr id="126" name="text-122"/>
          <p:cNvSpPr txBox="1"/>
          <p:nvPr/>
        </p:nvSpPr>
        <p:spPr>
          <a:xfrm>
            <a:off x="7498080" y="5303520"/>
            <a:ext cx="3931920" cy="658368"/>
          </a:xfrm>
          <a:prstGeom prst="rect">
            <a:avLst/>
          </a:prstGeom>
          <a:noFill/>
          <a:ln/>
        </p:spPr>
        <p:txBody>
          <a:bodyPr wrap="square" lIns="0" tIns="0" rIns="0" bIns="0" rtlCol="0" anchor="ctr"/>
          <a:lstStyle/>
          <a:p>
            <a:pPr algn="l" indent="0" marL="0">
              <a:lnSpc>
                <a:spcPct val="100000"/>
              </a:lnSpc>
              <a:buNone/>
            </a:pPr>
            <a:r>
              <a:rPr lang="en-US" sz="1150" b="1" dirty="0">
                <a:solidFill>
                  <a:srgbClr val="B45309"/>
                </a:solidFill>
                <a:latin typeface="Calibri" pitchFamily="34" charset="0"/>
                <a:ea typeface="Calibri" pitchFamily="34" charset="-122"/>
                <a:cs typeface="Calibri" pitchFamily="34" charset="-120"/>
              </a:rPr>
              <a:t>Every design and staffing statement that follows is a hypothesis. Gates 1 and 2 test it before anything is built.</a:t>
            </a:r>
            <a:endParaRPr lang="en-US" sz="1150" dirty="0"/>
          </a:p>
        </p:txBody>
      </p:sp>
      <p:sp>
        <p:nvSpPr>
          <p:cNvPr id="127" name="text-123"/>
          <p:cNvSpPr txBox="1"/>
          <p:nvPr/>
        </p:nvSpPr>
        <p:spPr>
          <a:xfrm>
            <a:off x="7315200" y="6108192"/>
            <a:ext cx="4297680" cy="182880"/>
          </a:xfrm>
          <a:prstGeom prst="rect">
            <a:avLst/>
          </a:prstGeom>
          <a:noFill/>
          <a:ln/>
        </p:spPr>
        <p:txBody>
          <a:bodyPr wrap="square" lIns="0" tIns="0" rIns="0" bIns="0" rtlCol="0" anchor="ctr"/>
          <a:lstStyle/>
          <a:p>
            <a:pPr algn="l" indent="0" marL="0">
              <a:lnSpc>
                <a:spcPct val="100000"/>
              </a:lnSpc>
              <a:buNone/>
            </a:pPr>
            <a:r>
              <a:rPr lang="en-US" sz="950" i="1" dirty="0">
                <a:solidFill>
                  <a:srgbClr val="5A6B75"/>
                </a:solidFill>
                <a:latin typeface="Calibri" pitchFamily="34" charset="0"/>
                <a:ea typeface="Calibri" pitchFamily="34" charset="-122"/>
                <a:cs typeface="Calibri" pitchFamily="34" charset="-120"/>
              </a:rPr>
              <a:t>Nothing that works today stops until its replacement is proven.</a:t>
            </a:r>
            <a:endParaRPr lang="en-US" sz="950" dirty="0"/>
          </a:p>
        </p:txBody>
      </p:sp>
      <p:sp>
        <p:nvSpPr>
          <p:cNvPr id="128" name="version-stamp"/>
          <p:cNvSpPr txBox="1"/>
          <p:nvPr/>
        </p:nvSpPr>
        <p:spPr>
          <a:xfrm>
            <a:off x="548640" y="6656832"/>
            <a:ext cx="6400800" cy="146304"/>
          </a:xfrm>
          <a:prstGeom prst="rect">
            <a:avLst/>
          </a:prstGeom>
          <a:noFill/>
          <a:ln/>
        </p:spPr>
        <p:txBody>
          <a:bodyPr wrap="square" lIns="0" tIns="0" rIns="0" bIns="0" rtlCol="0" anchor="ctr"/>
          <a:lstStyle/>
          <a:p>
            <a:pPr algn="l" indent="0" marL="0">
              <a:lnSpc>
                <a:spcPct val="100000"/>
              </a:lnSpc>
              <a:buNone/>
            </a:pPr>
            <a:r>
              <a:rPr lang="en-US" sz="700" dirty="0">
                <a:solidFill>
                  <a:srgbClr val="5A6B75"/>
                </a:solidFill>
                <a:latin typeface="Calibri" pitchFamily="34" charset="0"/>
                <a:ea typeface="Calibri" pitchFamily="34" charset="-122"/>
                <a:cs typeface="Calibri" pitchFamily="34" charset="-120"/>
              </a:rPr>
              <a:t>Modernisation deck · Slide 1 · native · 2026-10-15</a:t>
            </a:r>
            <a:endParaRPr lang="en-US" sz="700" dirty="0"/>
          </a:p>
        </p:txBody>
      </p:sp>
      <p:sp>
        <p:nvSpPr>
          <p:cNvPr id="25" name="Slide Number Placeholder 0"/>
          <p:cNvSpPr>
            <a:spLocks noGrp="1"/>
          </p:cNvSpPr>
          <p:nvPr>
            <p:ph type="sldNum" sz="quarter" idx="4294967295"/>
          </p:nvPr>
        </p:nvSpPr>
        <p:spPr>
          <a:xfrm>
            <a:off x="11247120" y="6601968"/>
            <a:ext cx="41148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B75"/>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kicker"/>
          <p:cNvSpPr txBox="1"/>
          <p:nvPr/>
        </p:nvSpPr>
        <p:spPr>
          <a:xfrm>
            <a:off x="548640" y="402336"/>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2  ·  THE FIRST 90 DAYS: TWO BASELINES, THE FIT TEST, FIRST ASSURED DELIVERY</a:t>
            </a:r>
            <a:endParaRPr lang="en-US" sz="800" dirty="0"/>
          </a:p>
        </p:txBody>
      </p:sp>
      <p:sp>
        <p:nvSpPr>
          <p:cNvPr id="3" name="title"/>
          <p:cNvSpPr txBox="1"/>
          <p:nvPr/>
        </p:nvSpPr>
        <p:spPr>
          <a:xfrm>
            <a:off x="548640" y="713232"/>
            <a:ext cx="11155680" cy="384048"/>
          </a:xfrm>
          <a:prstGeom prst="rect">
            <a:avLst/>
          </a:prstGeom>
          <a:noFill/>
          <a:ln/>
        </p:spPr>
        <p:txBody>
          <a:bodyPr wrap="none" lIns="0" tIns="0" rIns="0" bIns="0" rtlCol="0" anchor="ctr"/>
          <a:lstStyle/>
          <a:p>
            <a:pPr algn="l" indent="0" marL="0">
              <a:lnSpc>
                <a:spcPct val="100000"/>
              </a:lnSpc>
              <a:buNone/>
            </a:pPr>
            <a:r>
              <a:rPr lang="en-US" sz="2000" b="1" dirty="0">
                <a:solidFill>
                  <a:srgbClr val="1C2B33"/>
                </a:solidFill>
                <a:latin typeface="Calibri" pitchFamily="34" charset="0"/>
                <a:ea typeface="Calibri" pitchFamily="34" charset="-122"/>
                <a:cs typeface="Calibri" pitchFamily="34" charset="-120"/>
              </a:rPr>
              <a:t>Capture how the organisation works as carefully as what it runs — then decide what to build</a:t>
            </a:r>
            <a:endParaRPr lang="en-US" sz="2000" dirty="0"/>
          </a:p>
        </p:txBody>
      </p:sp>
      <p:sp>
        <p:nvSpPr>
          <p:cNvPr id="4" name="line-0"/>
          <p:cNvSpPr/>
          <p:nvPr/>
        </p:nvSpPr>
        <p:spPr>
          <a:xfrm>
            <a:off x="548640" y="1828800"/>
            <a:ext cx="10698480" cy="0"/>
          </a:xfrm>
          <a:prstGeom prst="line">
            <a:avLst/>
          </a:prstGeom>
          <a:noFill/>
          <a:ln w="50800">
            <a:solidFill>
              <a:srgbClr val="D4DBE0"/>
            </a:solidFill>
            <a:prstDash val="solid"/>
          </a:ln>
        </p:spPr>
      </p:sp>
      <p:sp>
        <p:nvSpPr>
          <p:cNvPr id="5" name="tri-1"/>
          <p:cNvSpPr/>
          <p:nvPr/>
        </p:nvSpPr>
        <p:spPr>
          <a:xfrm rot="5400000">
            <a:off x="11228832" y="1719072"/>
            <a:ext cx="219456" cy="219456"/>
          </a:xfrm>
          <a:prstGeom prst="triangle">
            <a:avLst/>
          </a:prstGeom>
          <a:solidFill>
            <a:srgbClr val="D4DBE0"/>
          </a:solidFill>
          <a:ln w="12700">
            <a:solidFill>
              <a:srgbClr val="D4DBE0"/>
            </a:solidFill>
            <a:prstDash val="solid"/>
          </a:ln>
        </p:spPr>
      </p:sp>
      <p:sp>
        <p:nvSpPr>
          <p:cNvPr id="6" name="shape-2"/>
          <p:cNvSpPr/>
          <p:nvPr/>
        </p:nvSpPr>
        <p:spPr>
          <a:xfrm>
            <a:off x="548640" y="1805940"/>
            <a:ext cx="5303520" cy="45720"/>
          </a:xfrm>
          <a:prstGeom prst="rect">
            <a:avLst/>
          </a:prstGeom>
          <a:solidFill>
            <a:srgbClr val="0F766E"/>
          </a:solidFill>
          <a:ln w="12700">
            <a:solidFill>
              <a:srgbClr val="0F766E"/>
            </a:solidFill>
            <a:prstDash val="solid"/>
          </a:ln>
        </p:spPr>
      </p:sp>
      <p:sp>
        <p:nvSpPr>
          <p:cNvPr id="7" name="oval-3"/>
          <p:cNvSpPr/>
          <p:nvPr/>
        </p:nvSpPr>
        <p:spPr>
          <a:xfrm>
            <a:off x="466344" y="1746504"/>
            <a:ext cx="164592" cy="164592"/>
          </a:xfrm>
          <a:prstGeom prst="ellipse">
            <a:avLst/>
          </a:prstGeom>
          <a:solidFill>
            <a:srgbClr val="5A6B75"/>
          </a:solidFill>
          <a:ln w="12700">
            <a:solidFill>
              <a:srgbClr val="5A6B75"/>
            </a:solidFill>
            <a:prstDash val="solid"/>
          </a:ln>
        </p:spPr>
      </p:sp>
      <p:sp>
        <p:nvSpPr>
          <p:cNvPr id="8" name="text-4"/>
          <p:cNvSpPr txBox="1"/>
          <p:nvPr/>
        </p:nvSpPr>
        <p:spPr>
          <a:xfrm>
            <a:off x="-274320" y="1389888"/>
            <a:ext cx="1645920" cy="182880"/>
          </a:xfrm>
          <a:prstGeom prst="rect">
            <a:avLst/>
          </a:prstGeom>
          <a:noFill/>
          <a:ln/>
        </p:spPr>
        <p:txBody>
          <a:bodyPr wrap="square" lIns="0" tIns="0" rIns="0" bIns="0" rtlCol="0" anchor="ctr"/>
          <a:lstStyle/>
          <a:p>
            <a:pPr algn="ctr" indent="0" marL="0">
              <a:lnSpc>
                <a:spcPct val="100000"/>
              </a:lnSpc>
              <a:buNone/>
            </a:pPr>
            <a:r>
              <a:rPr lang="en-US" sz="1000" b="1" dirty="0">
                <a:solidFill>
                  <a:srgbClr val="5A6B75"/>
                </a:solidFill>
                <a:latin typeface="Calibri" pitchFamily="34" charset="0"/>
                <a:ea typeface="Calibri" pitchFamily="34" charset="-122"/>
                <a:cs typeface="Calibri" pitchFamily="34" charset="-120"/>
              </a:rPr>
              <a:t>Today</a:t>
            </a:r>
            <a:endParaRPr lang="en-US" sz="1000" dirty="0"/>
          </a:p>
        </p:txBody>
      </p:sp>
      <p:sp>
        <p:nvSpPr>
          <p:cNvPr id="9" name="oval-5"/>
          <p:cNvSpPr/>
          <p:nvPr/>
        </p:nvSpPr>
        <p:spPr>
          <a:xfrm>
            <a:off x="2130552" y="1645920"/>
            <a:ext cx="365760" cy="365760"/>
          </a:xfrm>
          <a:prstGeom prst="ellipse">
            <a:avLst/>
          </a:prstGeom>
          <a:solidFill>
            <a:srgbClr val="0F766E"/>
          </a:solidFill>
          <a:ln w="12700">
            <a:solidFill>
              <a:srgbClr val="0F766E"/>
            </a:solidFill>
            <a:prstDash val="solid"/>
          </a:ln>
        </p:spPr>
      </p:sp>
      <p:sp>
        <p:nvSpPr>
          <p:cNvPr id="10" name="text-6"/>
          <p:cNvSpPr txBox="1"/>
          <p:nvPr/>
        </p:nvSpPr>
        <p:spPr>
          <a:xfrm>
            <a:off x="2130552" y="1719072"/>
            <a:ext cx="365760" cy="219456"/>
          </a:xfrm>
          <a:prstGeom prst="rect">
            <a:avLst/>
          </a:prstGeom>
          <a:noFill/>
          <a:ln/>
        </p:spPr>
        <p:txBody>
          <a:bodyPr wrap="square" lIns="0" tIns="0" rIns="0" bIns="0" rtlCol="0" anchor="ctr"/>
          <a:lstStyle/>
          <a:p>
            <a:pPr algn="ctr" indent="0" marL="0">
              <a:lnSpc>
                <a:spcPct val="100000"/>
              </a:lnSpc>
              <a:buNone/>
            </a:pPr>
            <a:r>
              <a:rPr lang="en-US" sz="1150" b="1" dirty="0">
                <a:solidFill>
                  <a:srgbClr val="FFFFFF"/>
                </a:solidFill>
                <a:latin typeface="Calibri" pitchFamily="34" charset="0"/>
                <a:ea typeface="Calibri" pitchFamily="34" charset="-122"/>
                <a:cs typeface="Calibri" pitchFamily="34" charset="-120"/>
              </a:rPr>
              <a:t>G1</a:t>
            </a:r>
            <a:endParaRPr lang="en-US" sz="1150" dirty="0"/>
          </a:p>
        </p:txBody>
      </p:sp>
      <p:sp>
        <p:nvSpPr>
          <p:cNvPr id="11" name="text-7"/>
          <p:cNvSpPr txBox="1"/>
          <p:nvPr/>
        </p:nvSpPr>
        <p:spPr>
          <a:xfrm>
            <a:off x="1490472" y="1389888"/>
            <a:ext cx="1645920" cy="182880"/>
          </a:xfrm>
          <a:prstGeom prst="rect">
            <a:avLst/>
          </a:prstGeom>
          <a:noFill/>
          <a:ln/>
        </p:spPr>
        <p:txBody>
          <a:bodyPr wrap="square" lIns="0" tIns="0" rIns="0" bIns="0" rtlCol="0" anchor="ctr"/>
          <a:lstStyle/>
          <a:p>
            <a:pPr algn="ctr" indent="0" marL="0">
              <a:lnSpc>
                <a:spcPct val="100000"/>
              </a:lnSpc>
              <a:buNone/>
            </a:pPr>
            <a:r>
              <a:rPr lang="en-US" sz="1000" b="1" dirty="0">
                <a:solidFill>
                  <a:srgbClr val="0F766E"/>
                </a:solidFill>
                <a:latin typeface="Calibri" pitchFamily="34" charset="0"/>
                <a:ea typeface="Calibri" pitchFamily="34" charset="-122"/>
                <a:cs typeface="Calibri" pitchFamily="34" charset="-120"/>
              </a:rPr>
              <a:t>Day 30</a:t>
            </a:r>
            <a:endParaRPr lang="en-US" sz="1000" dirty="0"/>
          </a:p>
        </p:txBody>
      </p:sp>
      <p:sp>
        <p:nvSpPr>
          <p:cNvPr id="12" name="text-8"/>
          <p:cNvSpPr txBox="1"/>
          <p:nvPr/>
        </p:nvSpPr>
        <p:spPr>
          <a:xfrm>
            <a:off x="1307592" y="2121408"/>
            <a:ext cx="2011680" cy="182880"/>
          </a:xfrm>
          <a:prstGeom prst="rect">
            <a:avLst/>
          </a:prstGeom>
          <a:noFill/>
          <a:ln/>
        </p:spPr>
        <p:txBody>
          <a:bodyPr wrap="square" lIns="0" tIns="0" rIns="0" bIns="0" rtlCol="0" anchor="ctr"/>
          <a:lstStyle/>
          <a:p>
            <a:pPr algn="ctr" indent="0" marL="0">
              <a:lnSpc>
                <a:spcPct val="100000"/>
              </a:lnSpc>
              <a:buNone/>
            </a:pPr>
            <a:r>
              <a:rPr lang="en-US" sz="1100" b="1" dirty="0">
                <a:solidFill>
                  <a:srgbClr val="1C2B33"/>
                </a:solidFill>
                <a:latin typeface="Calibri" pitchFamily="34" charset="0"/>
                <a:ea typeface="Calibri" pitchFamily="34" charset="-122"/>
                <a:cs typeface="Calibri" pitchFamily="34" charset="-120"/>
              </a:rPr>
              <a:t>Two baselines</a:t>
            </a:r>
            <a:endParaRPr lang="en-US" sz="1100" dirty="0"/>
          </a:p>
        </p:txBody>
      </p:sp>
      <p:sp>
        <p:nvSpPr>
          <p:cNvPr id="13" name="oval-9"/>
          <p:cNvSpPr/>
          <p:nvPr/>
        </p:nvSpPr>
        <p:spPr>
          <a:xfrm>
            <a:off x="3895344" y="1645920"/>
            <a:ext cx="365760" cy="365760"/>
          </a:xfrm>
          <a:prstGeom prst="ellipse">
            <a:avLst/>
          </a:prstGeom>
          <a:solidFill>
            <a:srgbClr val="0F766E"/>
          </a:solidFill>
          <a:ln w="12700">
            <a:solidFill>
              <a:srgbClr val="0F766E"/>
            </a:solidFill>
            <a:prstDash val="solid"/>
          </a:ln>
        </p:spPr>
      </p:sp>
      <p:sp>
        <p:nvSpPr>
          <p:cNvPr id="14" name="text-10"/>
          <p:cNvSpPr txBox="1"/>
          <p:nvPr/>
        </p:nvSpPr>
        <p:spPr>
          <a:xfrm>
            <a:off x="3895344" y="1719072"/>
            <a:ext cx="365760" cy="219456"/>
          </a:xfrm>
          <a:prstGeom prst="rect">
            <a:avLst/>
          </a:prstGeom>
          <a:noFill/>
          <a:ln/>
        </p:spPr>
        <p:txBody>
          <a:bodyPr wrap="square" lIns="0" tIns="0" rIns="0" bIns="0" rtlCol="0" anchor="ctr"/>
          <a:lstStyle/>
          <a:p>
            <a:pPr algn="ctr" indent="0" marL="0">
              <a:lnSpc>
                <a:spcPct val="100000"/>
              </a:lnSpc>
              <a:buNone/>
            </a:pPr>
            <a:r>
              <a:rPr lang="en-US" sz="1150" b="1" dirty="0">
                <a:solidFill>
                  <a:srgbClr val="FFFFFF"/>
                </a:solidFill>
                <a:latin typeface="Calibri" pitchFamily="34" charset="0"/>
                <a:ea typeface="Calibri" pitchFamily="34" charset="-122"/>
                <a:cs typeface="Calibri" pitchFamily="34" charset="-120"/>
              </a:rPr>
              <a:t>G2</a:t>
            </a:r>
            <a:endParaRPr lang="en-US" sz="1150" dirty="0"/>
          </a:p>
        </p:txBody>
      </p:sp>
      <p:sp>
        <p:nvSpPr>
          <p:cNvPr id="15" name="text-11"/>
          <p:cNvSpPr txBox="1"/>
          <p:nvPr/>
        </p:nvSpPr>
        <p:spPr>
          <a:xfrm>
            <a:off x="3255264" y="1389888"/>
            <a:ext cx="1645920" cy="182880"/>
          </a:xfrm>
          <a:prstGeom prst="rect">
            <a:avLst/>
          </a:prstGeom>
          <a:noFill/>
          <a:ln/>
        </p:spPr>
        <p:txBody>
          <a:bodyPr wrap="square" lIns="0" tIns="0" rIns="0" bIns="0" rtlCol="0" anchor="ctr"/>
          <a:lstStyle/>
          <a:p>
            <a:pPr algn="ctr" indent="0" marL="0">
              <a:lnSpc>
                <a:spcPct val="100000"/>
              </a:lnSpc>
              <a:buNone/>
            </a:pPr>
            <a:r>
              <a:rPr lang="en-US" sz="1000" b="1" dirty="0">
                <a:solidFill>
                  <a:srgbClr val="0F766E"/>
                </a:solidFill>
                <a:latin typeface="Calibri" pitchFamily="34" charset="0"/>
                <a:ea typeface="Calibri" pitchFamily="34" charset="-122"/>
                <a:cs typeface="Calibri" pitchFamily="34" charset="-120"/>
              </a:rPr>
              <a:t>Day 60</a:t>
            </a:r>
            <a:endParaRPr lang="en-US" sz="1000" dirty="0"/>
          </a:p>
        </p:txBody>
      </p:sp>
      <p:sp>
        <p:nvSpPr>
          <p:cNvPr id="16" name="text-12"/>
          <p:cNvSpPr txBox="1"/>
          <p:nvPr/>
        </p:nvSpPr>
        <p:spPr>
          <a:xfrm>
            <a:off x="3072384" y="2121408"/>
            <a:ext cx="2011680" cy="182880"/>
          </a:xfrm>
          <a:prstGeom prst="rect">
            <a:avLst/>
          </a:prstGeom>
          <a:noFill/>
          <a:ln/>
        </p:spPr>
        <p:txBody>
          <a:bodyPr wrap="square" lIns="0" tIns="0" rIns="0" bIns="0" rtlCol="0" anchor="ctr"/>
          <a:lstStyle/>
          <a:p>
            <a:pPr algn="ctr" indent="0" marL="0">
              <a:lnSpc>
                <a:spcPct val="100000"/>
              </a:lnSpc>
              <a:buNone/>
            </a:pPr>
            <a:r>
              <a:rPr lang="en-US" sz="1100" b="1" dirty="0">
                <a:solidFill>
                  <a:srgbClr val="1C2B33"/>
                </a:solidFill>
                <a:latin typeface="Calibri" pitchFamily="34" charset="0"/>
                <a:ea typeface="Calibri" pitchFamily="34" charset="-122"/>
                <a:cs typeface="Calibri" pitchFamily="34" charset="-120"/>
              </a:rPr>
              <a:t>Fit test and decisions</a:t>
            </a:r>
            <a:endParaRPr lang="en-US" sz="1100" dirty="0"/>
          </a:p>
        </p:txBody>
      </p:sp>
      <p:sp>
        <p:nvSpPr>
          <p:cNvPr id="17" name="oval-13"/>
          <p:cNvSpPr/>
          <p:nvPr/>
        </p:nvSpPr>
        <p:spPr>
          <a:xfrm>
            <a:off x="5669280" y="1645920"/>
            <a:ext cx="365760" cy="365760"/>
          </a:xfrm>
          <a:prstGeom prst="ellipse">
            <a:avLst/>
          </a:prstGeom>
          <a:solidFill>
            <a:srgbClr val="134E4A"/>
          </a:solidFill>
          <a:ln w="12700">
            <a:solidFill>
              <a:srgbClr val="134E4A"/>
            </a:solidFill>
            <a:prstDash val="solid"/>
          </a:ln>
        </p:spPr>
      </p:sp>
      <p:sp>
        <p:nvSpPr>
          <p:cNvPr id="18" name="text-14"/>
          <p:cNvSpPr txBox="1"/>
          <p:nvPr/>
        </p:nvSpPr>
        <p:spPr>
          <a:xfrm>
            <a:off x="5669280" y="1719072"/>
            <a:ext cx="365760" cy="219456"/>
          </a:xfrm>
          <a:prstGeom prst="rect">
            <a:avLst/>
          </a:prstGeom>
          <a:noFill/>
          <a:ln/>
        </p:spPr>
        <p:txBody>
          <a:bodyPr wrap="square" lIns="0" tIns="0" rIns="0" bIns="0" rtlCol="0" anchor="ctr"/>
          <a:lstStyle/>
          <a:p>
            <a:pPr algn="ctr" indent="0" marL="0">
              <a:lnSpc>
                <a:spcPct val="100000"/>
              </a:lnSpc>
              <a:buNone/>
            </a:pPr>
            <a:r>
              <a:rPr lang="en-US" sz="1150" b="1" dirty="0">
                <a:solidFill>
                  <a:srgbClr val="FFFFFF"/>
                </a:solidFill>
                <a:latin typeface="Calibri" pitchFamily="34" charset="0"/>
                <a:ea typeface="Calibri" pitchFamily="34" charset="-122"/>
                <a:cs typeface="Calibri" pitchFamily="34" charset="-120"/>
              </a:rPr>
              <a:t>G3</a:t>
            </a:r>
            <a:endParaRPr lang="en-US" sz="1150" dirty="0"/>
          </a:p>
        </p:txBody>
      </p:sp>
      <p:sp>
        <p:nvSpPr>
          <p:cNvPr id="19" name="text-15"/>
          <p:cNvSpPr txBox="1"/>
          <p:nvPr/>
        </p:nvSpPr>
        <p:spPr>
          <a:xfrm>
            <a:off x="5029200" y="1389888"/>
            <a:ext cx="1645920" cy="182880"/>
          </a:xfrm>
          <a:prstGeom prst="rect">
            <a:avLst/>
          </a:prstGeom>
          <a:noFill/>
          <a:ln/>
        </p:spPr>
        <p:txBody>
          <a:bodyPr wrap="square" lIns="0" tIns="0" rIns="0" bIns="0" rtlCol="0" anchor="ctr"/>
          <a:lstStyle/>
          <a:p>
            <a:pPr algn="ctr" indent="0" marL="0">
              <a:lnSpc>
                <a:spcPct val="100000"/>
              </a:lnSpc>
              <a:buNone/>
            </a:pPr>
            <a:r>
              <a:rPr lang="en-US" sz="1000" b="1" dirty="0">
                <a:solidFill>
                  <a:srgbClr val="134E4A"/>
                </a:solidFill>
                <a:latin typeface="Calibri" pitchFamily="34" charset="0"/>
                <a:ea typeface="Calibri" pitchFamily="34" charset="-122"/>
                <a:cs typeface="Calibri" pitchFamily="34" charset="-120"/>
              </a:rPr>
              <a:t>Day 90</a:t>
            </a:r>
            <a:endParaRPr lang="en-US" sz="1000" dirty="0"/>
          </a:p>
        </p:txBody>
      </p:sp>
      <p:sp>
        <p:nvSpPr>
          <p:cNvPr id="20" name="text-16"/>
          <p:cNvSpPr txBox="1"/>
          <p:nvPr/>
        </p:nvSpPr>
        <p:spPr>
          <a:xfrm>
            <a:off x="4846320" y="2121408"/>
            <a:ext cx="2011680" cy="182880"/>
          </a:xfrm>
          <a:prstGeom prst="rect">
            <a:avLst/>
          </a:prstGeom>
          <a:noFill/>
          <a:ln/>
        </p:spPr>
        <p:txBody>
          <a:bodyPr wrap="square" lIns="0" tIns="0" rIns="0" bIns="0" rtlCol="0" anchor="ctr"/>
          <a:lstStyle/>
          <a:p>
            <a:pPr algn="ctr" indent="0" marL="0">
              <a:lnSpc>
                <a:spcPct val="100000"/>
              </a:lnSpc>
              <a:buNone/>
            </a:pPr>
            <a:r>
              <a:rPr lang="en-US" sz="1100" b="1" dirty="0">
                <a:solidFill>
                  <a:srgbClr val="1C2B33"/>
                </a:solidFill>
                <a:latin typeface="Calibri" pitchFamily="34" charset="0"/>
                <a:ea typeface="Calibri" pitchFamily="34" charset="-122"/>
                <a:cs typeface="Calibri" pitchFamily="34" charset="-120"/>
              </a:rPr>
              <a:t>First assured delivery</a:t>
            </a:r>
            <a:endParaRPr lang="en-US" sz="1100" dirty="0"/>
          </a:p>
        </p:txBody>
      </p:sp>
      <p:sp>
        <p:nvSpPr>
          <p:cNvPr id="21" name="oval-17"/>
          <p:cNvSpPr/>
          <p:nvPr/>
        </p:nvSpPr>
        <p:spPr>
          <a:xfrm>
            <a:off x="7781544" y="1746504"/>
            <a:ext cx="164592" cy="164592"/>
          </a:xfrm>
          <a:prstGeom prst="ellipse">
            <a:avLst/>
          </a:prstGeom>
          <a:solidFill>
            <a:srgbClr val="5A6B75"/>
          </a:solidFill>
          <a:ln w="12700">
            <a:solidFill>
              <a:srgbClr val="5A6B75"/>
            </a:solidFill>
            <a:prstDash val="solid"/>
          </a:ln>
        </p:spPr>
      </p:sp>
      <p:sp>
        <p:nvSpPr>
          <p:cNvPr id="22" name="text-18"/>
          <p:cNvSpPr txBox="1"/>
          <p:nvPr/>
        </p:nvSpPr>
        <p:spPr>
          <a:xfrm>
            <a:off x="7040880" y="1389888"/>
            <a:ext cx="1645920" cy="182880"/>
          </a:xfrm>
          <a:prstGeom prst="rect">
            <a:avLst/>
          </a:prstGeom>
          <a:noFill/>
          <a:ln/>
        </p:spPr>
        <p:txBody>
          <a:bodyPr wrap="square" lIns="0" tIns="0" rIns="0" bIns="0" rtlCol="0" anchor="ctr"/>
          <a:lstStyle/>
          <a:p>
            <a:pPr algn="ctr" indent="0" marL="0">
              <a:lnSpc>
                <a:spcPct val="100000"/>
              </a:lnSpc>
              <a:buNone/>
            </a:pPr>
            <a:r>
              <a:rPr lang="en-US" sz="1000" b="1" dirty="0">
                <a:solidFill>
                  <a:srgbClr val="5A6B75"/>
                </a:solidFill>
                <a:latin typeface="Calibri" pitchFamily="34" charset="0"/>
                <a:ea typeface="Calibri" pitchFamily="34" charset="-122"/>
                <a:cs typeface="Calibri" pitchFamily="34" charset="-120"/>
              </a:rPr>
              <a:t>Build waves</a:t>
            </a:r>
            <a:endParaRPr lang="en-US" sz="1000" dirty="0"/>
          </a:p>
        </p:txBody>
      </p:sp>
      <p:sp>
        <p:nvSpPr>
          <p:cNvPr id="23" name="oval-19"/>
          <p:cNvSpPr/>
          <p:nvPr/>
        </p:nvSpPr>
        <p:spPr>
          <a:xfrm>
            <a:off x="9518904" y="1746504"/>
            <a:ext cx="164592" cy="164592"/>
          </a:xfrm>
          <a:prstGeom prst="ellipse">
            <a:avLst/>
          </a:prstGeom>
          <a:solidFill>
            <a:srgbClr val="5A6B75"/>
          </a:solidFill>
          <a:ln w="12700">
            <a:solidFill>
              <a:srgbClr val="5A6B75"/>
            </a:solidFill>
            <a:prstDash val="solid"/>
          </a:ln>
        </p:spPr>
      </p:sp>
      <p:sp>
        <p:nvSpPr>
          <p:cNvPr id="24" name="text-20"/>
          <p:cNvSpPr txBox="1"/>
          <p:nvPr/>
        </p:nvSpPr>
        <p:spPr>
          <a:xfrm>
            <a:off x="8778240" y="1389888"/>
            <a:ext cx="1645920" cy="182880"/>
          </a:xfrm>
          <a:prstGeom prst="rect">
            <a:avLst/>
          </a:prstGeom>
          <a:noFill/>
          <a:ln/>
        </p:spPr>
        <p:txBody>
          <a:bodyPr wrap="square" lIns="0" tIns="0" rIns="0" bIns="0" rtlCol="0" anchor="ctr"/>
          <a:lstStyle/>
          <a:p>
            <a:pPr algn="ctr" indent="0" marL="0">
              <a:lnSpc>
                <a:spcPct val="100000"/>
              </a:lnSpc>
              <a:buNone/>
            </a:pPr>
            <a:r>
              <a:rPr lang="en-US" sz="1000" b="1" dirty="0">
                <a:solidFill>
                  <a:srgbClr val="5A6B75"/>
                </a:solidFill>
                <a:latin typeface="Calibri" pitchFamily="34" charset="0"/>
                <a:ea typeface="Calibri" pitchFamily="34" charset="-122"/>
                <a:cs typeface="Calibri" pitchFamily="34" charset="-120"/>
              </a:rPr>
              <a:t>Cutover rehearsal</a:t>
            </a:r>
            <a:endParaRPr lang="en-US" sz="1000" dirty="0"/>
          </a:p>
        </p:txBody>
      </p:sp>
      <p:sp>
        <p:nvSpPr>
          <p:cNvPr id="25" name="oval-21"/>
          <p:cNvSpPr/>
          <p:nvPr/>
        </p:nvSpPr>
        <p:spPr>
          <a:xfrm>
            <a:off x="10954512" y="1719072"/>
            <a:ext cx="219456" cy="219456"/>
          </a:xfrm>
          <a:prstGeom prst="ellipse">
            <a:avLst/>
          </a:prstGeom>
          <a:solidFill>
            <a:srgbClr val="B45309"/>
          </a:solidFill>
          <a:ln w="12700">
            <a:solidFill>
              <a:srgbClr val="B45309"/>
            </a:solidFill>
            <a:prstDash val="solid"/>
          </a:ln>
        </p:spPr>
      </p:sp>
      <p:sp>
        <p:nvSpPr>
          <p:cNvPr id="26" name="text-22"/>
          <p:cNvSpPr txBox="1"/>
          <p:nvPr/>
        </p:nvSpPr>
        <p:spPr>
          <a:xfrm>
            <a:off x="10241280" y="1389888"/>
            <a:ext cx="1645920" cy="182880"/>
          </a:xfrm>
          <a:prstGeom prst="rect">
            <a:avLst/>
          </a:prstGeom>
          <a:noFill/>
          <a:ln/>
        </p:spPr>
        <p:txBody>
          <a:bodyPr wrap="square" lIns="0" tIns="0" rIns="0" bIns="0" rtlCol="0" anchor="ctr"/>
          <a:lstStyle/>
          <a:p>
            <a:pPr algn="ctr" indent="0" marL="0">
              <a:lnSpc>
                <a:spcPct val="100000"/>
              </a:lnSpc>
              <a:buNone/>
            </a:pPr>
            <a:r>
              <a:rPr lang="en-US" sz="1000" b="1" dirty="0">
                <a:solidFill>
                  <a:srgbClr val="B45309"/>
                </a:solidFill>
                <a:latin typeface="Calibri" pitchFamily="34" charset="0"/>
                <a:ea typeface="Calibri" pitchFamily="34" charset="-122"/>
                <a:cs typeface="Calibri" pitchFamily="34" charset="-120"/>
              </a:rPr>
              <a:t>Target date</a:t>
            </a:r>
            <a:endParaRPr lang="en-US" sz="1000" dirty="0"/>
          </a:p>
        </p:txBody>
      </p:sp>
      <p:sp>
        <p:nvSpPr>
          <p:cNvPr id="27" name="shape-23"/>
          <p:cNvSpPr/>
          <p:nvPr/>
        </p:nvSpPr>
        <p:spPr>
          <a:xfrm>
            <a:off x="548640" y="2651760"/>
            <a:ext cx="3474720" cy="1828800"/>
          </a:xfrm>
          <a:prstGeom prst="roundRect">
            <a:avLst>
              <a:gd name="adj" fmla="val 4000"/>
            </a:avLst>
          </a:prstGeom>
          <a:solidFill>
            <a:srgbClr val="EEF2F4"/>
          </a:solidFill>
          <a:ln w="12700">
            <a:solidFill>
              <a:srgbClr val="EEF2F4"/>
            </a:solidFill>
            <a:prstDash val="solid"/>
          </a:ln>
        </p:spPr>
      </p:sp>
      <p:pic>
        <p:nvPicPr>
          <p:cNvPr id="28" name="icon-24" descr="preencoded.png">    </p:cNvPr>
          <p:cNvPicPr>
            <a:picLocks noChangeAspect="1"/>
          </p:cNvPicPr>
          <p:nvPr/>
        </p:nvPicPr>
        <p:blipFill>
          <a:blip r:embed="rId1"/>
          <a:stretch>
            <a:fillRect/>
          </a:stretch>
        </p:blipFill>
        <p:spPr>
          <a:xfrm>
            <a:off x="713232" y="2834640"/>
            <a:ext cx="201168" cy="201168"/>
          </a:xfrm>
          <a:prstGeom prst="rect">
            <a:avLst/>
          </a:prstGeom>
        </p:spPr>
      </p:pic>
      <p:sp>
        <p:nvSpPr>
          <p:cNvPr id="29" name="text-25"/>
          <p:cNvSpPr txBox="1"/>
          <p:nvPr/>
        </p:nvSpPr>
        <p:spPr>
          <a:xfrm>
            <a:off x="1005840" y="2834640"/>
            <a:ext cx="2926080" cy="219456"/>
          </a:xfrm>
          <a:prstGeom prst="rect">
            <a:avLst/>
          </a:prstGeom>
          <a:noFill/>
          <a:ln/>
        </p:spPr>
        <p:txBody>
          <a:bodyPr wrap="square" lIns="0" tIns="0" rIns="0" bIns="0" rtlCol="0" anchor="ctr"/>
          <a:lstStyle/>
          <a:p>
            <a:pPr algn="l" indent="0" marL="0">
              <a:lnSpc>
                <a:spcPct val="100000"/>
              </a:lnSpc>
              <a:buNone/>
            </a:pPr>
            <a:r>
              <a:rPr lang="en-US" sz="1150" b="1" dirty="0">
                <a:solidFill>
                  <a:srgbClr val="1C2B33"/>
                </a:solidFill>
                <a:latin typeface="Calibri" pitchFamily="34" charset="0"/>
                <a:ea typeface="Calibri" pitchFamily="34" charset="-122"/>
                <a:cs typeface="Calibri" pitchFamily="34" charset="-120"/>
              </a:rPr>
              <a:t>Technology and product baseline</a:t>
            </a:r>
            <a:endParaRPr lang="en-US" sz="1150" dirty="0"/>
          </a:p>
        </p:txBody>
      </p:sp>
      <p:sp>
        <p:nvSpPr>
          <p:cNvPr id="30" name="oval-26"/>
          <p:cNvSpPr/>
          <p:nvPr/>
        </p:nvSpPr>
        <p:spPr>
          <a:xfrm>
            <a:off x="740664" y="3246120"/>
            <a:ext cx="54864" cy="54864"/>
          </a:xfrm>
          <a:prstGeom prst="ellipse">
            <a:avLst/>
          </a:prstGeom>
          <a:solidFill>
            <a:srgbClr val="0F766E"/>
          </a:solidFill>
          <a:ln w="12700">
            <a:solidFill>
              <a:srgbClr val="0F766E"/>
            </a:solidFill>
            <a:prstDash val="solid"/>
          </a:ln>
        </p:spPr>
      </p:sp>
      <p:sp>
        <p:nvSpPr>
          <p:cNvPr id="31" name="text-27"/>
          <p:cNvSpPr txBox="1"/>
          <p:nvPr/>
        </p:nvSpPr>
        <p:spPr>
          <a:xfrm>
            <a:off x="877824" y="3182112"/>
            <a:ext cx="3017520" cy="182880"/>
          </a:xfrm>
          <a:prstGeom prst="rect">
            <a:avLst/>
          </a:prstGeom>
          <a:noFill/>
          <a:ln/>
        </p:spPr>
        <p:txBody>
          <a:bodyPr wrap="square" lIns="0" tIns="0" rIns="0" bIns="0" rtlCol="0" anchor="ctr"/>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Systems, architecture, integrations</a:t>
            </a:r>
            <a:endParaRPr lang="en-US" sz="1100" dirty="0"/>
          </a:p>
        </p:txBody>
      </p:sp>
      <p:sp>
        <p:nvSpPr>
          <p:cNvPr id="32" name="oval-28"/>
          <p:cNvSpPr/>
          <p:nvPr/>
        </p:nvSpPr>
        <p:spPr>
          <a:xfrm>
            <a:off x="740664" y="3483864"/>
            <a:ext cx="54864" cy="54864"/>
          </a:xfrm>
          <a:prstGeom prst="ellipse">
            <a:avLst/>
          </a:prstGeom>
          <a:solidFill>
            <a:srgbClr val="0F766E"/>
          </a:solidFill>
          <a:ln w="12700">
            <a:solidFill>
              <a:srgbClr val="0F766E"/>
            </a:solidFill>
            <a:prstDash val="solid"/>
          </a:ln>
        </p:spPr>
      </p:sp>
      <p:sp>
        <p:nvSpPr>
          <p:cNvPr id="33" name="text-29"/>
          <p:cNvSpPr txBox="1"/>
          <p:nvPr/>
        </p:nvSpPr>
        <p:spPr>
          <a:xfrm>
            <a:off x="877824" y="3419856"/>
            <a:ext cx="3017520" cy="182880"/>
          </a:xfrm>
          <a:prstGeom prst="rect">
            <a:avLst/>
          </a:prstGeom>
          <a:noFill/>
          <a:ln/>
        </p:spPr>
        <p:txBody>
          <a:bodyPr wrap="square" lIns="0" tIns="0" rIns="0" bIns="0" rtlCol="0" anchor="ctr"/>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Contracts, partners, run cost</a:t>
            </a:r>
            <a:endParaRPr lang="en-US" sz="1100" dirty="0"/>
          </a:p>
        </p:txBody>
      </p:sp>
      <p:sp>
        <p:nvSpPr>
          <p:cNvPr id="34" name="oval-30"/>
          <p:cNvSpPr/>
          <p:nvPr/>
        </p:nvSpPr>
        <p:spPr>
          <a:xfrm>
            <a:off x="740664" y="3721608"/>
            <a:ext cx="54864" cy="54864"/>
          </a:xfrm>
          <a:prstGeom prst="ellipse">
            <a:avLst/>
          </a:prstGeom>
          <a:solidFill>
            <a:srgbClr val="0F766E"/>
          </a:solidFill>
          <a:ln w="12700">
            <a:solidFill>
              <a:srgbClr val="0F766E"/>
            </a:solidFill>
            <a:prstDash val="solid"/>
          </a:ln>
        </p:spPr>
      </p:sp>
      <p:sp>
        <p:nvSpPr>
          <p:cNvPr id="35" name="text-31"/>
          <p:cNvSpPr txBox="1"/>
          <p:nvPr/>
        </p:nvSpPr>
        <p:spPr>
          <a:xfrm>
            <a:off x="877824" y="3657600"/>
            <a:ext cx="3017520" cy="182880"/>
          </a:xfrm>
          <a:prstGeom prst="rect">
            <a:avLst/>
          </a:prstGeom>
          <a:noFill/>
          <a:ln/>
        </p:spPr>
        <p:txBody>
          <a:bodyPr wrap="square" lIns="0" tIns="0" rIns="0" bIns="0" rtlCol="0" anchor="ctr"/>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Product offerings and licence model</a:t>
            </a:r>
            <a:endParaRPr lang="en-US" sz="1100" dirty="0"/>
          </a:p>
        </p:txBody>
      </p:sp>
      <p:sp>
        <p:nvSpPr>
          <p:cNvPr id="36" name="oval-32"/>
          <p:cNvSpPr/>
          <p:nvPr/>
        </p:nvSpPr>
        <p:spPr>
          <a:xfrm>
            <a:off x="740664" y="3959352"/>
            <a:ext cx="54864" cy="54864"/>
          </a:xfrm>
          <a:prstGeom prst="ellipse">
            <a:avLst/>
          </a:prstGeom>
          <a:solidFill>
            <a:srgbClr val="0F766E"/>
          </a:solidFill>
          <a:ln w="12700">
            <a:solidFill>
              <a:srgbClr val="0F766E"/>
            </a:solidFill>
            <a:prstDash val="solid"/>
          </a:ln>
        </p:spPr>
      </p:sp>
      <p:sp>
        <p:nvSpPr>
          <p:cNvPr id="37" name="text-33"/>
          <p:cNvSpPr txBox="1"/>
          <p:nvPr/>
        </p:nvSpPr>
        <p:spPr>
          <a:xfrm>
            <a:off x="877824" y="3895344"/>
            <a:ext cx="3017520" cy="182880"/>
          </a:xfrm>
          <a:prstGeom prst="rect">
            <a:avLst/>
          </a:prstGeom>
          <a:noFill/>
          <a:ln/>
        </p:spPr>
        <p:txBody>
          <a:bodyPr wrap="square" lIns="0" tIns="0" rIns="0" bIns="0" rtlCol="0" anchor="ctr"/>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What is in flight</a:t>
            </a:r>
            <a:endParaRPr lang="en-US" sz="1100" dirty="0"/>
          </a:p>
        </p:txBody>
      </p:sp>
      <p:sp>
        <p:nvSpPr>
          <p:cNvPr id="38" name="shape-34"/>
          <p:cNvSpPr/>
          <p:nvPr/>
        </p:nvSpPr>
        <p:spPr>
          <a:xfrm>
            <a:off x="4206240" y="2651760"/>
            <a:ext cx="3474720" cy="1828800"/>
          </a:xfrm>
          <a:prstGeom prst="roundRect">
            <a:avLst>
              <a:gd name="adj" fmla="val 4000"/>
            </a:avLst>
          </a:prstGeom>
          <a:solidFill>
            <a:srgbClr val="D6ECE9"/>
          </a:solidFill>
          <a:ln w="12700">
            <a:solidFill>
              <a:srgbClr val="D6ECE9"/>
            </a:solidFill>
            <a:prstDash val="solid"/>
          </a:ln>
        </p:spPr>
      </p:sp>
      <p:pic>
        <p:nvPicPr>
          <p:cNvPr id="39" name="icon-35" descr="preencoded.png">    </p:cNvPr>
          <p:cNvPicPr>
            <a:picLocks noChangeAspect="1"/>
          </p:cNvPicPr>
          <p:nvPr/>
        </p:nvPicPr>
        <p:blipFill>
          <a:blip r:embed="rId2"/>
          <a:stretch>
            <a:fillRect/>
          </a:stretch>
        </p:blipFill>
        <p:spPr>
          <a:xfrm>
            <a:off x="4370832" y="2834640"/>
            <a:ext cx="201168" cy="201168"/>
          </a:xfrm>
          <a:prstGeom prst="rect">
            <a:avLst/>
          </a:prstGeom>
        </p:spPr>
      </p:pic>
      <p:sp>
        <p:nvSpPr>
          <p:cNvPr id="40" name="text-36"/>
          <p:cNvSpPr txBox="1"/>
          <p:nvPr/>
        </p:nvSpPr>
        <p:spPr>
          <a:xfrm>
            <a:off x="4663440" y="2834640"/>
            <a:ext cx="2926080" cy="219456"/>
          </a:xfrm>
          <a:prstGeom prst="rect">
            <a:avLst/>
          </a:prstGeom>
          <a:noFill/>
          <a:ln/>
        </p:spPr>
        <p:txBody>
          <a:bodyPr wrap="square" lIns="0" tIns="0" rIns="0" bIns="0" rtlCol="0" anchor="ctr"/>
          <a:lstStyle/>
          <a:p>
            <a:pPr algn="l" indent="0" marL="0">
              <a:lnSpc>
                <a:spcPct val="100000"/>
              </a:lnSpc>
              <a:buNone/>
            </a:pPr>
            <a:r>
              <a:rPr lang="en-US" sz="1150" b="1" dirty="0">
                <a:solidFill>
                  <a:srgbClr val="1C2B33"/>
                </a:solidFill>
                <a:latin typeface="Calibri" pitchFamily="34" charset="0"/>
                <a:ea typeface="Calibri" pitchFamily="34" charset="-122"/>
                <a:cs typeface="Calibri" pitchFamily="34" charset="-120"/>
              </a:rPr>
              <a:t>Ways-of-working baseline</a:t>
            </a:r>
            <a:endParaRPr lang="en-US" sz="1150" dirty="0"/>
          </a:p>
        </p:txBody>
      </p:sp>
      <p:sp>
        <p:nvSpPr>
          <p:cNvPr id="41" name="oval-37"/>
          <p:cNvSpPr/>
          <p:nvPr/>
        </p:nvSpPr>
        <p:spPr>
          <a:xfrm>
            <a:off x="4398264" y="3246120"/>
            <a:ext cx="54864" cy="54864"/>
          </a:xfrm>
          <a:prstGeom prst="ellipse">
            <a:avLst/>
          </a:prstGeom>
          <a:solidFill>
            <a:srgbClr val="0F766E"/>
          </a:solidFill>
          <a:ln w="12700">
            <a:solidFill>
              <a:srgbClr val="0F766E"/>
            </a:solidFill>
            <a:prstDash val="solid"/>
          </a:ln>
        </p:spPr>
      </p:sp>
      <p:sp>
        <p:nvSpPr>
          <p:cNvPr id="42" name="text-38"/>
          <p:cNvSpPr txBox="1"/>
          <p:nvPr/>
        </p:nvSpPr>
        <p:spPr>
          <a:xfrm>
            <a:off x="4535424" y="3182112"/>
            <a:ext cx="3017520" cy="182880"/>
          </a:xfrm>
          <a:prstGeom prst="rect">
            <a:avLst/>
          </a:prstGeom>
          <a:noFill/>
          <a:ln/>
        </p:spPr>
        <p:txBody>
          <a:bodyPr wrap="square" lIns="0" tIns="0" rIns="0" bIns="0" rtlCol="0" anchor="ctr"/>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Business processes and SOPs</a:t>
            </a:r>
            <a:endParaRPr lang="en-US" sz="1100" dirty="0"/>
          </a:p>
        </p:txBody>
      </p:sp>
      <p:sp>
        <p:nvSpPr>
          <p:cNvPr id="43" name="oval-39"/>
          <p:cNvSpPr/>
          <p:nvPr/>
        </p:nvSpPr>
        <p:spPr>
          <a:xfrm>
            <a:off x="4398264" y="3483864"/>
            <a:ext cx="54864" cy="54864"/>
          </a:xfrm>
          <a:prstGeom prst="ellipse">
            <a:avLst/>
          </a:prstGeom>
          <a:solidFill>
            <a:srgbClr val="0F766E"/>
          </a:solidFill>
          <a:ln w="12700">
            <a:solidFill>
              <a:srgbClr val="0F766E"/>
            </a:solidFill>
            <a:prstDash val="solid"/>
          </a:ln>
        </p:spPr>
      </p:sp>
      <p:sp>
        <p:nvSpPr>
          <p:cNvPr id="44" name="text-40"/>
          <p:cNvSpPr txBox="1"/>
          <p:nvPr/>
        </p:nvSpPr>
        <p:spPr>
          <a:xfrm>
            <a:off x="4535424" y="3419856"/>
            <a:ext cx="3017520" cy="182880"/>
          </a:xfrm>
          <a:prstGeom prst="rect">
            <a:avLst/>
          </a:prstGeom>
          <a:noFill/>
          <a:ln/>
        </p:spPr>
        <p:txBody>
          <a:bodyPr wrap="square" lIns="0" tIns="0" rIns="0" bIns="0" rtlCol="0" anchor="ctr"/>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SLAs and any mandated requirements</a:t>
            </a:r>
            <a:endParaRPr lang="en-US" sz="1100" dirty="0"/>
          </a:p>
        </p:txBody>
      </p:sp>
      <p:sp>
        <p:nvSpPr>
          <p:cNvPr id="45" name="oval-41"/>
          <p:cNvSpPr/>
          <p:nvPr/>
        </p:nvSpPr>
        <p:spPr>
          <a:xfrm>
            <a:off x="4398264" y="3721608"/>
            <a:ext cx="54864" cy="54864"/>
          </a:xfrm>
          <a:prstGeom prst="ellipse">
            <a:avLst/>
          </a:prstGeom>
          <a:solidFill>
            <a:srgbClr val="0F766E"/>
          </a:solidFill>
          <a:ln w="12700">
            <a:solidFill>
              <a:srgbClr val="0F766E"/>
            </a:solidFill>
            <a:prstDash val="solid"/>
          </a:ln>
        </p:spPr>
      </p:sp>
      <p:sp>
        <p:nvSpPr>
          <p:cNvPr id="46" name="text-42"/>
          <p:cNvSpPr txBox="1"/>
          <p:nvPr/>
        </p:nvSpPr>
        <p:spPr>
          <a:xfrm>
            <a:off x="4535424" y="3657600"/>
            <a:ext cx="3017520" cy="182880"/>
          </a:xfrm>
          <a:prstGeom prst="rect">
            <a:avLst/>
          </a:prstGeom>
          <a:noFill/>
          <a:ln/>
        </p:spPr>
        <p:txBody>
          <a:bodyPr wrap="square" lIns="0" tIns="0" rIns="0" bIns="0" rtlCol="0" anchor="ctr"/>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Hand-offs and where time is spent</a:t>
            </a:r>
            <a:endParaRPr lang="en-US" sz="1100" dirty="0"/>
          </a:p>
        </p:txBody>
      </p:sp>
      <p:sp>
        <p:nvSpPr>
          <p:cNvPr id="47" name="oval-43"/>
          <p:cNvSpPr/>
          <p:nvPr/>
        </p:nvSpPr>
        <p:spPr>
          <a:xfrm>
            <a:off x="4398264" y="3959352"/>
            <a:ext cx="54864" cy="54864"/>
          </a:xfrm>
          <a:prstGeom prst="ellipse">
            <a:avLst/>
          </a:prstGeom>
          <a:solidFill>
            <a:srgbClr val="0F766E"/>
          </a:solidFill>
          <a:ln w="12700">
            <a:solidFill>
              <a:srgbClr val="0F766E"/>
            </a:solidFill>
            <a:prstDash val="solid"/>
          </a:ln>
        </p:spPr>
      </p:sp>
      <p:sp>
        <p:nvSpPr>
          <p:cNvPr id="48" name="text-44"/>
          <p:cNvSpPr txBox="1"/>
          <p:nvPr/>
        </p:nvSpPr>
        <p:spPr>
          <a:xfrm>
            <a:off x="4535424" y="3895344"/>
            <a:ext cx="3017520" cy="182880"/>
          </a:xfrm>
          <a:prstGeom prst="rect">
            <a:avLst/>
          </a:prstGeom>
          <a:noFill/>
          <a:ln/>
        </p:spPr>
        <p:txBody>
          <a:bodyPr wrap="square" lIns="0" tIns="0" rIns="0" bIns="0" rtlCol="0" anchor="ctr"/>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Today’s ceremonies — what each produces</a:t>
            </a:r>
            <a:endParaRPr lang="en-US" sz="1100" dirty="0"/>
          </a:p>
        </p:txBody>
      </p:sp>
      <p:sp>
        <p:nvSpPr>
          <p:cNvPr id="49" name="tri-45"/>
          <p:cNvSpPr/>
          <p:nvPr/>
        </p:nvSpPr>
        <p:spPr>
          <a:xfrm rot="5400000">
            <a:off x="7872984" y="3483864"/>
            <a:ext cx="164592" cy="164592"/>
          </a:xfrm>
          <a:prstGeom prst="triangle">
            <a:avLst/>
          </a:prstGeom>
          <a:solidFill>
            <a:srgbClr val="5A6B75"/>
          </a:solidFill>
          <a:ln w="12700">
            <a:solidFill>
              <a:srgbClr val="5A6B75"/>
            </a:solidFill>
            <a:prstDash val="solid"/>
          </a:ln>
        </p:spPr>
      </p:sp>
      <p:sp>
        <p:nvSpPr>
          <p:cNvPr id="50" name="shape-46"/>
          <p:cNvSpPr/>
          <p:nvPr/>
        </p:nvSpPr>
        <p:spPr>
          <a:xfrm>
            <a:off x="8138160" y="2651760"/>
            <a:ext cx="3474720" cy="1828800"/>
          </a:xfrm>
          <a:prstGeom prst="roundRect">
            <a:avLst>
              <a:gd name="adj" fmla="val 4000"/>
            </a:avLst>
          </a:prstGeom>
          <a:solidFill>
            <a:srgbClr val="134E4A"/>
          </a:solidFill>
          <a:ln w="12700">
            <a:solidFill>
              <a:srgbClr val="134E4A"/>
            </a:solidFill>
            <a:prstDash val="solid"/>
          </a:ln>
        </p:spPr>
      </p:sp>
      <p:sp>
        <p:nvSpPr>
          <p:cNvPr id="51" name="text-47"/>
          <p:cNvSpPr txBox="1"/>
          <p:nvPr/>
        </p:nvSpPr>
        <p:spPr>
          <a:xfrm>
            <a:off x="8321040" y="2834640"/>
            <a:ext cx="3108960" cy="219456"/>
          </a:xfrm>
          <a:prstGeom prst="rect">
            <a:avLst/>
          </a:prstGeom>
          <a:noFill/>
          <a:ln/>
        </p:spPr>
        <p:txBody>
          <a:bodyPr wrap="square" lIns="0" tIns="0" rIns="0" bIns="0" rtlCol="0" anchor="ctr"/>
          <a:lstStyle/>
          <a:p>
            <a:pPr algn="l" indent="0" marL="0">
              <a:lnSpc>
                <a:spcPct val="100000"/>
              </a:lnSpc>
              <a:buNone/>
            </a:pPr>
            <a:r>
              <a:rPr lang="en-US" sz="1150" b="1" dirty="0">
                <a:solidFill>
                  <a:srgbClr val="FFFFFF"/>
                </a:solidFill>
                <a:latin typeface="Calibri" pitchFamily="34" charset="0"/>
                <a:ea typeface="Calibri" pitchFamily="34" charset="-122"/>
                <a:cs typeface="Calibri" pitchFamily="34" charset="-120"/>
              </a:rPr>
              <a:t>The fit test — at Gate 2</a:t>
            </a:r>
            <a:endParaRPr lang="en-US" sz="1150" dirty="0"/>
          </a:p>
        </p:txBody>
      </p:sp>
      <p:sp>
        <p:nvSpPr>
          <p:cNvPr id="52" name="text-48"/>
          <p:cNvSpPr txBox="1"/>
          <p:nvPr/>
        </p:nvSpPr>
        <p:spPr>
          <a:xfrm>
            <a:off x="8321040" y="3182112"/>
            <a:ext cx="3108960" cy="219456"/>
          </a:xfrm>
          <a:prstGeom prst="rect">
            <a:avLst/>
          </a:prstGeom>
          <a:noFill/>
          <a:ln/>
        </p:spPr>
        <p:txBody>
          <a:bodyPr wrap="square" lIns="0" tIns="0" rIns="0" bIns="0" rtlCol="0" anchor="ctr"/>
          <a:lstStyle/>
          <a:p>
            <a:pPr algn="l" indent="0" marL="0">
              <a:lnSpc>
                <a:spcPct val="100000"/>
              </a:lnSpc>
              <a:buNone/>
            </a:pPr>
            <a:r>
              <a:rPr lang="en-US" sz="1100" dirty="0">
                <a:solidFill>
                  <a:srgbClr val="CFE8E5"/>
                </a:solidFill>
                <a:latin typeface="Calibri" pitchFamily="34" charset="0"/>
                <a:ea typeface="Calibri" pitchFamily="34" charset="-122"/>
                <a:cs typeface="Calibri" pitchFamily="34" charset="-120"/>
              </a:rPr>
              <a:t>Agree the target way of working, with AI woven in</a:t>
            </a:r>
            <a:endParaRPr lang="en-US" sz="1100" dirty="0"/>
          </a:p>
        </p:txBody>
      </p:sp>
      <p:sp>
        <p:nvSpPr>
          <p:cNvPr id="53" name="text-49"/>
          <p:cNvSpPr txBox="1"/>
          <p:nvPr/>
        </p:nvSpPr>
        <p:spPr>
          <a:xfrm>
            <a:off x="8321040" y="3438144"/>
            <a:ext cx="3108960" cy="219456"/>
          </a:xfrm>
          <a:prstGeom prst="rect">
            <a:avLst/>
          </a:prstGeom>
          <a:noFill/>
          <a:ln/>
        </p:spPr>
        <p:txBody>
          <a:bodyPr wrap="square" lIns="0" tIns="0" rIns="0" bIns="0" rtlCol="0" anchor="ctr"/>
          <a:lstStyle/>
          <a:p>
            <a:pPr algn="l" indent="0" marL="0">
              <a:lnSpc>
                <a:spcPct val="100000"/>
              </a:lnSpc>
              <a:buNone/>
            </a:pPr>
            <a:r>
              <a:rPr lang="en-US" sz="1100" b="1" dirty="0">
                <a:solidFill>
                  <a:srgbClr val="FFFFFF"/>
                </a:solidFill>
                <a:latin typeface="Calibri" pitchFamily="34" charset="0"/>
                <a:ea typeface="Calibri" pitchFamily="34" charset="-122"/>
                <a:cs typeface="Calibri" pitchFamily="34" charset="-120"/>
              </a:rPr>
              <a:t>Does the proposed architecture support it?</a:t>
            </a:r>
            <a:endParaRPr lang="en-US" sz="1100" dirty="0"/>
          </a:p>
        </p:txBody>
      </p:sp>
      <p:sp>
        <p:nvSpPr>
          <p:cNvPr id="54" name="text-50"/>
          <p:cNvSpPr txBox="1"/>
          <p:nvPr/>
        </p:nvSpPr>
        <p:spPr>
          <a:xfrm>
            <a:off x="8321040" y="3694176"/>
            <a:ext cx="3108960" cy="219456"/>
          </a:xfrm>
          <a:prstGeom prst="rect">
            <a:avLst/>
          </a:prstGeom>
          <a:noFill/>
          <a:ln/>
        </p:spPr>
        <p:txBody>
          <a:bodyPr wrap="square" lIns="0" tIns="0" rIns="0" bIns="0" rtlCol="0" anchor="ctr"/>
          <a:lstStyle/>
          <a:p>
            <a:pPr algn="l" indent="0" marL="0">
              <a:lnSpc>
                <a:spcPct val="100000"/>
              </a:lnSpc>
              <a:buNone/>
            </a:pPr>
            <a:r>
              <a:rPr lang="en-US" sz="1100" b="1" dirty="0">
                <a:solidFill>
                  <a:srgbClr val="FFFFFF"/>
                </a:solidFill>
                <a:latin typeface="Calibri" pitchFamily="34" charset="0"/>
                <a:ea typeface="Calibri" pitchFamily="34" charset="-122"/>
                <a:cs typeface="Calibri" pitchFamily="34" charset="-120"/>
              </a:rPr>
              <a:t>Where does it hinder it?</a:t>
            </a:r>
            <a:endParaRPr lang="en-US" sz="1100" dirty="0"/>
          </a:p>
        </p:txBody>
      </p:sp>
      <p:sp>
        <p:nvSpPr>
          <p:cNvPr id="55" name="text-51"/>
          <p:cNvSpPr txBox="1"/>
          <p:nvPr/>
        </p:nvSpPr>
        <p:spPr>
          <a:xfrm>
            <a:off x="8321040" y="3950208"/>
            <a:ext cx="3108960" cy="219456"/>
          </a:xfrm>
          <a:prstGeom prst="rect">
            <a:avLst/>
          </a:prstGeom>
          <a:noFill/>
          <a:ln/>
        </p:spPr>
        <p:txBody>
          <a:bodyPr wrap="square" lIns="0" tIns="0" rIns="0" bIns="0" rtlCol="0" anchor="ctr"/>
          <a:lstStyle/>
          <a:p>
            <a:pPr algn="l" indent="0" marL="0">
              <a:lnSpc>
                <a:spcPct val="100000"/>
              </a:lnSpc>
              <a:buNone/>
            </a:pPr>
            <a:r>
              <a:rPr lang="en-US" sz="1100" b="1" dirty="0">
                <a:solidFill>
                  <a:srgbClr val="FFFFFF"/>
                </a:solidFill>
                <a:latin typeface="Calibri" pitchFamily="34" charset="0"/>
                <a:ea typeface="Calibri" pitchFamily="34" charset="-122"/>
                <a:cs typeface="Calibri" pitchFamily="34" charset="-120"/>
              </a:rPr>
              <a:t>What tooling and AI help or hinder?</a:t>
            </a:r>
            <a:endParaRPr lang="en-US" sz="1100" dirty="0"/>
          </a:p>
        </p:txBody>
      </p:sp>
      <p:sp>
        <p:nvSpPr>
          <p:cNvPr id="56" name="shape-52"/>
          <p:cNvSpPr/>
          <p:nvPr/>
        </p:nvSpPr>
        <p:spPr>
          <a:xfrm>
            <a:off x="548640" y="4754880"/>
            <a:ext cx="11064240" cy="1371600"/>
          </a:xfrm>
          <a:prstGeom prst="roundRect">
            <a:avLst>
              <a:gd name="adj" fmla="val 5333"/>
            </a:avLst>
          </a:prstGeom>
          <a:solidFill>
            <a:srgbClr val="FDF1E3"/>
          </a:solidFill>
          <a:ln w="12700">
            <a:solidFill>
              <a:srgbClr val="FDF1E3"/>
            </a:solidFill>
            <a:prstDash val="solid"/>
          </a:ln>
        </p:spPr>
      </p:sp>
      <p:pic>
        <p:nvPicPr>
          <p:cNvPr id="57" name="icon-53" descr="preencoded.png">    </p:cNvPr>
          <p:cNvPicPr>
            <a:picLocks noChangeAspect="1"/>
          </p:cNvPicPr>
          <p:nvPr/>
        </p:nvPicPr>
        <p:blipFill>
          <a:blip r:embed="rId3"/>
          <a:stretch>
            <a:fillRect/>
          </a:stretch>
        </p:blipFill>
        <p:spPr>
          <a:xfrm>
            <a:off x="768096" y="4956048"/>
            <a:ext cx="201168" cy="201168"/>
          </a:xfrm>
          <a:prstGeom prst="rect">
            <a:avLst/>
          </a:prstGeom>
        </p:spPr>
      </p:pic>
      <p:sp>
        <p:nvSpPr>
          <p:cNvPr id="58" name="text-54"/>
          <p:cNvSpPr txBox="1"/>
          <p:nvPr/>
        </p:nvSpPr>
        <p:spPr>
          <a:xfrm>
            <a:off x="1060704" y="4974336"/>
            <a:ext cx="4572000" cy="182880"/>
          </a:xfrm>
          <a:prstGeom prst="rect">
            <a:avLst/>
          </a:prstGeom>
          <a:noFill/>
          <a:ln/>
        </p:spPr>
        <p:txBody>
          <a:bodyPr wrap="square" lIns="0" tIns="0" rIns="0" bIns="0" rtlCol="0" anchor="ctr"/>
          <a:lstStyle/>
          <a:p>
            <a:pPr algn="l" indent="0" marL="0">
              <a:lnSpc>
                <a:spcPct val="100000"/>
              </a:lnSpc>
              <a:buNone/>
            </a:pPr>
            <a:r>
              <a:rPr lang="en-US" sz="950" b="1" spc="200" kern="0" dirty="0">
                <a:solidFill>
                  <a:srgbClr val="B45309"/>
                </a:solidFill>
                <a:latin typeface="Calibri" pitchFamily="34" charset="0"/>
                <a:ea typeface="Calibri" pitchFamily="34" charset="-122"/>
                <a:cs typeface="Calibri" pitchFamily="34" charset="-120"/>
              </a:rPr>
              <a:t>NOT IN THE FIRST 90 DAYS</a:t>
            </a:r>
            <a:endParaRPr lang="en-US" sz="950" dirty="0"/>
          </a:p>
        </p:txBody>
      </p:sp>
      <p:sp>
        <p:nvSpPr>
          <p:cNvPr id="59" name="oval-55"/>
          <p:cNvSpPr/>
          <p:nvPr/>
        </p:nvSpPr>
        <p:spPr>
          <a:xfrm>
            <a:off x="777240" y="5367528"/>
            <a:ext cx="54864" cy="54864"/>
          </a:xfrm>
          <a:prstGeom prst="ellipse">
            <a:avLst/>
          </a:prstGeom>
          <a:solidFill>
            <a:srgbClr val="B45309"/>
          </a:solidFill>
          <a:ln w="12700">
            <a:solidFill>
              <a:srgbClr val="B45309"/>
            </a:solidFill>
            <a:prstDash val="solid"/>
          </a:ln>
        </p:spPr>
      </p:sp>
      <p:sp>
        <p:nvSpPr>
          <p:cNvPr id="60" name="text-56"/>
          <p:cNvSpPr txBox="1"/>
          <p:nvPr/>
        </p:nvSpPr>
        <p:spPr>
          <a:xfrm>
            <a:off x="914400" y="5303520"/>
            <a:ext cx="5120640" cy="182880"/>
          </a:xfrm>
          <a:prstGeom prst="rect">
            <a:avLst/>
          </a:prstGeom>
          <a:noFill/>
          <a:ln/>
        </p:spPr>
        <p:txBody>
          <a:bodyPr wrap="square" lIns="0" tIns="0" rIns="0" bIns="0" rtlCol="0" anchor="ctr"/>
          <a:lstStyle/>
          <a:p>
            <a:pPr algn="l" indent="0" marL="0">
              <a:lnSpc>
                <a:spcPct val="100000"/>
              </a:lnSpc>
              <a:buNone/>
            </a:pPr>
            <a:r>
              <a:rPr lang="en-US" sz="1150" dirty="0">
                <a:solidFill>
                  <a:srgbClr val="1C2B33"/>
                </a:solidFill>
                <a:latin typeface="Calibri" pitchFamily="34" charset="0"/>
                <a:ea typeface="Calibri" pitchFamily="34" charset="-122"/>
                <a:cs typeface="Calibri" pitchFamily="34" charset="-120"/>
              </a:rPr>
              <a:t>Commit to the vendor architecture before the fit test</a:t>
            </a:r>
            <a:endParaRPr lang="en-US" sz="1150" dirty="0"/>
          </a:p>
        </p:txBody>
      </p:sp>
      <p:sp>
        <p:nvSpPr>
          <p:cNvPr id="61" name="oval-57"/>
          <p:cNvSpPr/>
          <p:nvPr/>
        </p:nvSpPr>
        <p:spPr>
          <a:xfrm>
            <a:off x="6263640" y="5367528"/>
            <a:ext cx="54864" cy="54864"/>
          </a:xfrm>
          <a:prstGeom prst="ellipse">
            <a:avLst/>
          </a:prstGeom>
          <a:solidFill>
            <a:srgbClr val="B45309"/>
          </a:solidFill>
          <a:ln w="12700">
            <a:solidFill>
              <a:srgbClr val="B45309"/>
            </a:solidFill>
            <a:prstDash val="solid"/>
          </a:ln>
        </p:spPr>
      </p:sp>
      <p:sp>
        <p:nvSpPr>
          <p:cNvPr id="62" name="text-58"/>
          <p:cNvSpPr txBox="1"/>
          <p:nvPr/>
        </p:nvSpPr>
        <p:spPr>
          <a:xfrm>
            <a:off x="6400800" y="5303520"/>
            <a:ext cx="5120640" cy="182880"/>
          </a:xfrm>
          <a:prstGeom prst="rect">
            <a:avLst/>
          </a:prstGeom>
          <a:noFill/>
          <a:ln/>
        </p:spPr>
        <p:txBody>
          <a:bodyPr wrap="square" lIns="0" tIns="0" rIns="0" bIns="0" rtlCol="0" anchor="ctr"/>
          <a:lstStyle/>
          <a:p>
            <a:pPr algn="l" indent="0" marL="0">
              <a:lnSpc>
                <a:spcPct val="100000"/>
              </a:lnSpc>
              <a:buNone/>
            </a:pPr>
            <a:r>
              <a:rPr lang="en-US" sz="1150" dirty="0">
                <a:solidFill>
                  <a:srgbClr val="1C2B33"/>
                </a:solidFill>
                <a:latin typeface="Calibri" pitchFamily="34" charset="0"/>
                <a:ea typeface="Calibri" pitchFamily="34" charset="-122"/>
                <a:cs typeface="Calibri" pitchFamily="34" charset="-120"/>
              </a:rPr>
              <a:t>Migrate customer data or re-platform</a:t>
            </a:r>
            <a:endParaRPr lang="en-US" sz="1150" dirty="0"/>
          </a:p>
        </p:txBody>
      </p:sp>
      <p:sp>
        <p:nvSpPr>
          <p:cNvPr id="63" name="oval-59"/>
          <p:cNvSpPr/>
          <p:nvPr/>
        </p:nvSpPr>
        <p:spPr>
          <a:xfrm>
            <a:off x="777240" y="5605272"/>
            <a:ext cx="54864" cy="54864"/>
          </a:xfrm>
          <a:prstGeom prst="ellipse">
            <a:avLst/>
          </a:prstGeom>
          <a:solidFill>
            <a:srgbClr val="B45309"/>
          </a:solidFill>
          <a:ln w="12700">
            <a:solidFill>
              <a:srgbClr val="B45309"/>
            </a:solidFill>
            <a:prstDash val="solid"/>
          </a:ln>
        </p:spPr>
      </p:sp>
      <p:sp>
        <p:nvSpPr>
          <p:cNvPr id="64" name="text-60"/>
          <p:cNvSpPr txBox="1"/>
          <p:nvPr/>
        </p:nvSpPr>
        <p:spPr>
          <a:xfrm>
            <a:off x="914400" y="5541264"/>
            <a:ext cx="5120640" cy="182880"/>
          </a:xfrm>
          <a:prstGeom prst="rect">
            <a:avLst/>
          </a:prstGeom>
          <a:noFill/>
          <a:ln/>
        </p:spPr>
        <p:txBody>
          <a:bodyPr wrap="square" lIns="0" tIns="0" rIns="0" bIns="0" rtlCol="0" anchor="ctr"/>
          <a:lstStyle/>
          <a:p>
            <a:pPr algn="l" indent="0" marL="0">
              <a:lnSpc>
                <a:spcPct val="100000"/>
              </a:lnSpc>
              <a:buNone/>
            </a:pPr>
            <a:r>
              <a:rPr lang="en-US" sz="1150" dirty="0">
                <a:solidFill>
                  <a:srgbClr val="1C2B33"/>
                </a:solidFill>
                <a:latin typeface="Calibri" pitchFamily="34" charset="0"/>
                <a:ea typeface="Calibri" pitchFamily="34" charset="-122"/>
                <a:cs typeface="Calibri" pitchFamily="34" charset="-120"/>
              </a:rPr>
              <a:t>Hire beyond the minimum viable team</a:t>
            </a:r>
            <a:endParaRPr lang="en-US" sz="1150" dirty="0"/>
          </a:p>
        </p:txBody>
      </p:sp>
      <p:sp>
        <p:nvSpPr>
          <p:cNvPr id="65" name="oval-61"/>
          <p:cNvSpPr/>
          <p:nvPr/>
        </p:nvSpPr>
        <p:spPr>
          <a:xfrm>
            <a:off x="6263640" y="5605272"/>
            <a:ext cx="54864" cy="54864"/>
          </a:xfrm>
          <a:prstGeom prst="ellipse">
            <a:avLst/>
          </a:prstGeom>
          <a:solidFill>
            <a:srgbClr val="B45309"/>
          </a:solidFill>
          <a:ln w="12700">
            <a:solidFill>
              <a:srgbClr val="B45309"/>
            </a:solidFill>
            <a:prstDash val="solid"/>
          </a:ln>
        </p:spPr>
      </p:sp>
      <p:sp>
        <p:nvSpPr>
          <p:cNvPr id="66" name="text-62"/>
          <p:cNvSpPr txBox="1"/>
          <p:nvPr/>
        </p:nvSpPr>
        <p:spPr>
          <a:xfrm>
            <a:off x="6400800" y="5541264"/>
            <a:ext cx="5120640" cy="182880"/>
          </a:xfrm>
          <a:prstGeom prst="rect">
            <a:avLst/>
          </a:prstGeom>
          <a:noFill/>
          <a:ln/>
        </p:spPr>
        <p:txBody>
          <a:bodyPr wrap="square" lIns="0" tIns="0" rIns="0" bIns="0" rtlCol="0" anchor="ctr"/>
          <a:lstStyle/>
          <a:p>
            <a:pPr algn="l" indent="0" marL="0">
              <a:lnSpc>
                <a:spcPct val="100000"/>
              </a:lnSpc>
              <a:buNone/>
            </a:pPr>
            <a:r>
              <a:rPr lang="en-US" sz="1150" dirty="0">
                <a:solidFill>
                  <a:srgbClr val="1C2B33"/>
                </a:solidFill>
                <a:latin typeface="Calibri" pitchFamily="34" charset="0"/>
                <a:ea typeface="Calibri" pitchFamily="34" charset="-122"/>
                <a:cs typeface="Calibri" pitchFamily="34" charset="-120"/>
              </a:rPr>
              <a:t>Promise a refined date or cost before Gate 2</a:t>
            </a:r>
            <a:endParaRPr lang="en-US" sz="1150" dirty="0"/>
          </a:p>
        </p:txBody>
      </p:sp>
      <p:sp>
        <p:nvSpPr>
          <p:cNvPr id="67" name="text-63"/>
          <p:cNvSpPr txBox="1"/>
          <p:nvPr/>
        </p:nvSpPr>
        <p:spPr>
          <a:xfrm>
            <a:off x="768096" y="5888736"/>
            <a:ext cx="9144000" cy="164592"/>
          </a:xfrm>
          <a:prstGeom prst="rect">
            <a:avLst/>
          </a:prstGeom>
          <a:noFill/>
          <a:ln/>
        </p:spPr>
        <p:txBody>
          <a:bodyPr wrap="square" lIns="0" tIns="0" rIns="0" bIns="0" rtlCol="0" anchor="ctr"/>
          <a:lstStyle/>
          <a:p>
            <a:pPr algn="l" indent="0" marL="0">
              <a:lnSpc>
                <a:spcPct val="100000"/>
              </a:lnSpc>
              <a:buNone/>
            </a:pPr>
            <a:r>
              <a:rPr lang="en-US" sz="850" i="1" dirty="0">
                <a:solidFill>
                  <a:srgbClr val="5A6B75"/>
                </a:solidFill>
                <a:latin typeface="Calibri" pitchFamily="34" charset="0"/>
                <a:ea typeface="Calibri" pitchFamily="34" charset="-122"/>
                <a:cs typeface="Calibri" pitchFamily="34" charset="-120"/>
              </a:rPr>
              <a:t>The slides that follow show what the assessment would weigh — one credible shape, not the answer.</a:t>
            </a:r>
            <a:endParaRPr lang="en-US" sz="850" dirty="0"/>
          </a:p>
        </p:txBody>
      </p:sp>
      <p:sp>
        <p:nvSpPr>
          <p:cNvPr id="68" name="version-stamp"/>
          <p:cNvSpPr txBox="1"/>
          <p:nvPr/>
        </p:nvSpPr>
        <p:spPr>
          <a:xfrm>
            <a:off x="548640" y="6656832"/>
            <a:ext cx="6400800" cy="146304"/>
          </a:xfrm>
          <a:prstGeom prst="rect">
            <a:avLst/>
          </a:prstGeom>
          <a:noFill/>
          <a:ln/>
        </p:spPr>
        <p:txBody>
          <a:bodyPr wrap="square" lIns="0" tIns="0" rIns="0" bIns="0" rtlCol="0" anchor="ctr"/>
          <a:lstStyle/>
          <a:p>
            <a:pPr algn="l" indent="0" marL="0">
              <a:lnSpc>
                <a:spcPct val="100000"/>
              </a:lnSpc>
              <a:buNone/>
            </a:pPr>
            <a:r>
              <a:rPr lang="en-US" sz="700" dirty="0">
                <a:solidFill>
                  <a:srgbClr val="5A6B75"/>
                </a:solidFill>
                <a:latin typeface="Calibri" pitchFamily="34" charset="0"/>
                <a:ea typeface="Calibri" pitchFamily="34" charset="-122"/>
                <a:cs typeface="Calibri" pitchFamily="34" charset="-120"/>
              </a:rPr>
              <a:t>Modernisation deck · Slide 2 · native · 2026-10-15</a:t>
            </a:r>
            <a:endParaRPr lang="en-US" sz="700" dirty="0"/>
          </a:p>
        </p:txBody>
      </p:sp>
      <p:sp>
        <p:nvSpPr>
          <p:cNvPr id="25" name="Slide Number Placeholder 0"/>
          <p:cNvSpPr>
            <a:spLocks noGrp="1"/>
          </p:cNvSpPr>
          <p:nvPr>
            <p:ph type="sldNum" sz="quarter" idx="4294967295"/>
          </p:nvPr>
        </p:nvSpPr>
        <p:spPr>
          <a:xfrm>
            <a:off x="11247120" y="6601968"/>
            <a:ext cx="41148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B7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kicker"/>
          <p:cNvSpPr txBox="1"/>
          <p:nvPr/>
        </p:nvSpPr>
        <p:spPr>
          <a:xfrm>
            <a:off x="548640" y="402336"/>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3  ·  THE THREE QUESTIONS GATE 2 ASKS OF EVERY COMPONENT</a:t>
            </a:r>
            <a:endParaRPr lang="en-US" sz="800" dirty="0"/>
          </a:p>
        </p:txBody>
      </p:sp>
      <p:sp>
        <p:nvSpPr>
          <p:cNvPr id="3" name="title"/>
          <p:cNvSpPr txBox="1"/>
          <p:nvPr/>
        </p:nvSpPr>
        <p:spPr>
          <a:xfrm>
            <a:off x="548640" y="713232"/>
            <a:ext cx="11155680" cy="384048"/>
          </a:xfrm>
          <a:prstGeom prst="rect">
            <a:avLst/>
          </a:prstGeom>
          <a:noFill/>
          <a:ln/>
        </p:spPr>
        <p:txBody>
          <a:bodyPr wrap="none" lIns="0" tIns="0" rIns="0" bIns="0" rtlCol="0" anchor="ctr"/>
          <a:lstStyle/>
          <a:p>
            <a:pPr algn="l" indent="0" marL="0">
              <a:lnSpc>
                <a:spcPct val="100000"/>
              </a:lnSpc>
              <a:buNone/>
            </a:pPr>
            <a:r>
              <a:rPr lang="en-US" sz="2000" b="1" dirty="0">
                <a:solidFill>
                  <a:srgbClr val="1C2B33"/>
                </a:solidFill>
                <a:latin typeface="Calibri" pitchFamily="34" charset="0"/>
                <a:ea typeface="Calibri" pitchFamily="34" charset="-122"/>
                <a:cs typeface="Calibri" pitchFamily="34" charset="-120"/>
              </a:rPr>
              <a:t>Not one system: the first answer decides the rules for the other two; AI is a bonus on every row</a:t>
            </a:r>
            <a:endParaRPr lang="en-US" sz="2000" dirty="0"/>
          </a:p>
        </p:txBody>
      </p:sp>
      <p:sp>
        <p:nvSpPr>
          <p:cNvPr id="4" name="shape-0"/>
          <p:cNvSpPr/>
          <p:nvPr/>
        </p:nvSpPr>
        <p:spPr>
          <a:xfrm>
            <a:off x="9820656" y="384048"/>
            <a:ext cx="1792224" cy="182880"/>
          </a:xfrm>
          <a:prstGeom prst="roundRect">
            <a:avLst>
              <a:gd name="adj" fmla="val 50000"/>
            </a:avLst>
          </a:prstGeom>
          <a:solidFill>
            <a:srgbClr val="FDF1E3"/>
          </a:solidFill>
          <a:ln w="9525">
            <a:solidFill>
              <a:srgbClr val="B45309"/>
            </a:solidFill>
            <a:prstDash val="solid"/>
          </a:ln>
        </p:spPr>
      </p:sp>
      <p:sp>
        <p:nvSpPr>
          <p:cNvPr id="5" name="text-1"/>
          <p:cNvSpPr txBox="1"/>
          <p:nvPr/>
        </p:nvSpPr>
        <p:spPr>
          <a:xfrm>
            <a:off x="9820656" y="384048"/>
            <a:ext cx="1792224" cy="182880"/>
          </a:xfrm>
          <a:prstGeom prst="rect">
            <a:avLst/>
          </a:prstGeom>
          <a:noFill/>
          <a:ln/>
        </p:spPr>
        <p:txBody>
          <a:bodyPr wrap="square" lIns="0" tIns="0" rIns="0" bIns="0" rtlCol="0" anchor="ctr"/>
          <a:lstStyle/>
          <a:p>
            <a:pPr algn="ctr" indent="0" marL="0">
              <a:lnSpc>
                <a:spcPct val="100000"/>
              </a:lnSpc>
              <a:buNone/>
            </a:pPr>
            <a:r>
              <a:rPr lang="en-US" sz="750" b="1" spc="100" kern="0" dirty="0">
                <a:solidFill>
                  <a:srgbClr val="B45309"/>
                </a:solidFill>
                <a:latin typeface="Calibri" pitchFamily="34" charset="0"/>
                <a:ea typeface="Calibri" pitchFamily="34" charset="-122"/>
                <a:cs typeface="Calibri" pitchFamily="34" charset="-120"/>
              </a:rPr>
              <a:t>ILLUSTRATIVE — TESTED AT GATE 2</a:t>
            </a:r>
            <a:endParaRPr lang="en-US" sz="750" dirty="0"/>
          </a:p>
        </p:txBody>
      </p:sp>
      <p:sp>
        <p:nvSpPr>
          <p:cNvPr id="6" name="shape-2"/>
          <p:cNvSpPr/>
          <p:nvPr/>
        </p:nvSpPr>
        <p:spPr>
          <a:xfrm>
            <a:off x="548640" y="1554480"/>
            <a:ext cx="3291840" cy="603504"/>
          </a:xfrm>
          <a:prstGeom prst="roundRect">
            <a:avLst>
              <a:gd name="adj" fmla="val 50000"/>
            </a:avLst>
          </a:prstGeom>
          <a:solidFill>
            <a:srgbClr val="134E4A"/>
          </a:solidFill>
          <a:ln w="12700">
            <a:solidFill>
              <a:srgbClr val="134E4A"/>
            </a:solidFill>
            <a:prstDash val="solid"/>
          </a:ln>
        </p:spPr>
      </p:sp>
      <p:sp>
        <p:nvSpPr>
          <p:cNvPr id="7" name="text-3"/>
          <p:cNvSpPr txBox="1"/>
          <p:nvPr/>
        </p:nvSpPr>
        <p:spPr>
          <a:xfrm>
            <a:off x="749808" y="1554480"/>
            <a:ext cx="274320" cy="603504"/>
          </a:xfrm>
          <a:prstGeom prst="rect">
            <a:avLst/>
          </a:prstGeom>
          <a:noFill/>
          <a:ln/>
        </p:spPr>
        <p:txBody>
          <a:bodyPr wrap="square" lIns="0" tIns="0" rIns="0" bIns="0" rtlCol="0" anchor="ctr"/>
          <a:lstStyle/>
          <a:p>
            <a:pPr algn="l" indent="0" marL="0">
              <a:lnSpc>
                <a:spcPct val="100000"/>
              </a:lnSpc>
              <a:buNone/>
            </a:pPr>
            <a:r>
              <a:rPr lang="en-US" sz="1350" b="1" dirty="0">
                <a:solidFill>
                  <a:srgbClr val="CFE8E5"/>
                </a:solidFill>
                <a:latin typeface="Calibri" pitchFamily="34" charset="0"/>
                <a:ea typeface="Calibri" pitchFamily="34" charset="-122"/>
                <a:cs typeface="Calibri" pitchFamily="34" charset="-120"/>
              </a:rPr>
              <a:t>1</a:t>
            </a:r>
            <a:endParaRPr lang="en-US" sz="1350" dirty="0"/>
          </a:p>
        </p:txBody>
      </p:sp>
      <p:sp>
        <p:nvSpPr>
          <p:cNvPr id="8" name="text-4"/>
          <p:cNvSpPr txBox="1"/>
          <p:nvPr/>
        </p:nvSpPr>
        <p:spPr>
          <a:xfrm>
            <a:off x="950976" y="1554480"/>
            <a:ext cx="2779776" cy="603504"/>
          </a:xfrm>
          <a:prstGeom prst="rect">
            <a:avLst/>
          </a:prstGeom>
          <a:noFill/>
          <a:ln/>
        </p:spPr>
        <p:txBody>
          <a:bodyPr wrap="square" lIns="0" tIns="0" rIns="0" bIns="0" rtlCol="0" anchor="ctr"/>
          <a:lstStyle/>
          <a:p>
            <a:pPr algn="ctr" indent="0" marL="0">
              <a:lnSpc>
                <a:spcPct val="100000"/>
              </a:lnSpc>
              <a:buNone/>
            </a:pPr>
            <a:r>
              <a:rPr lang="en-US" sz="1200" b="1" dirty="0">
                <a:solidFill>
                  <a:srgbClr val="FFFFFF"/>
                </a:solidFill>
                <a:latin typeface="Calibri" pitchFamily="34" charset="0"/>
                <a:ea typeface="Calibri" pitchFamily="34" charset="-122"/>
                <a:cs typeface="Calibri" pitchFamily="34" charset="-120"/>
              </a:rPr>
              <a:t>What kind of thing is it?</a:t>
            </a:r>
            <a:endParaRPr lang="en-US" sz="1200" dirty="0"/>
          </a:p>
        </p:txBody>
      </p:sp>
      <p:sp>
        <p:nvSpPr>
          <p:cNvPr id="9" name="tri-5"/>
          <p:cNvSpPr/>
          <p:nvPr/>
        </p:nvSpPr>
        <p:spPr>
          <a:xfrm rot="5400000">
            <a:off x="3913632" y="1783080"/>
            <a:ext cx="146304" cy="146304"/>
          </a:xfrm>
          <a:prstGeom prst="triangle">
            <a:avLst/>
          </a:prstGeom>
          <a:solidFill>
            <a:srgbClr val="5A6B75"/>
          </a:solidFill>
          <a:ln w="12700">
            <a:solidFill>
              <a:srgbClr val="5A6B75"/>
            </a:solidFill>
            <a:prstDash val="solid"/>
          </a:ln>
        </p:spPr>
      </p:sp>
      <p:sp>
        <p:nvSpPr>
          <p:cNvPr id="10" name="shape-6"/>
          <p:cNvSpPr/>
          <p:nvPr/>
        </p:nvSpPr>
        <p:spPr>
          <a:xfrm>
            <a:off x="4114800" y="1554480"/>
            <a:ext cx="2286000" cy="603504"/>
          </a:xfrm>
          <a:prstGeom prst="roundRect">
            <a:avLst>
              <a:gd name="adj" fmla="val 50000"/>
            </a:avLst>
          </a:prstGeom>
          <a:solidFill>
            <a:srgbClr val="134E4A"/>
          </a:solidFill>
          <a:ln w="12700">
            <a:solidFill>
              <a:srgbClr val="134E4A"/>
            </a:solidFill>
            <a:prstDash val="solid"/>
          </a:ln>
        </p:spPr>
      </p:sp>
      <p:sp>
        <p:nvSpPr>
          <p:cNvPr id="11" name="text-7"/>
          <p:cNvSpPr txBox="1"/>
          <p:nvPr/>
        </p:nvSpPr>
        <p:spPr>
          <a:xfrm>
            <a:off x="4315968" y="1554480"/>
            <a:ext cx="274320" cy="603504"/>
          </a:xfrm>
          <a:prstGeom prst="rect">
            <a:avLst/>
          </a:prstGeom>
          <a:noFill/>
          <a:ln/>
        </p:spPr>
        <p:txBody>
          <a:bodyPr wrap="square" lIns="0" tIns="0" rIns="0" bIns="0" rtlCol="0" anchor="ctr"/>
          <a:lstStyle/>
          <a:p>
            <a:pPr algn="l" indent="0" marL="0">
              <a:lnSpc>
                <a:spcPct val="100000"/>
              </a:lnSpc>
              <a:buNone/>
            </a:pPr>
            <a:r>
              <a:rPr lang="en-US" sz="1350" b="1" dirty="0">
                <a:solidFill>
                  <a:srgbClr val="CFE8E5"/>
                </a:solidFill>
                <a:latin typeface="Calibri" pitchFamily="34" charset="0"/>
                <a:ea typeface="Calibri" pitchFamily="34" charset="-122"/>
                <a:cs typeface="Calibri" pitchFamily="34" charset="-120"/>
              </a:rPr>
              <a:t>2</a:t>
            </a:r>
            <a:endParaRPr lang="en-US" sz="1350" dirty="0"/>
          </a:p>
        </p:txBody>
      </p:sp>
      <p:sp>
        <p:nvSpPr>
          <p:cNvPr id="12" name="text-8"/>
          <p:cNvSpPr txBox="1"/>
          <p:nvPr/>
        </p:nvSpPr>
        <p:spPr>
          <a:xfrm>
            <a:off x="4517136" y="1554480"/>
            <a:ext cx="1773936" cy="603504"/>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What is spending judged on?</a:t>
            </a:r>
            <a:endParaRPr lang="en-US" sz="1100" dirty="0"/>
          </a:p>
        </p:txBody>
      </p:sp>
      <p:sp>
        <p:nvSpPr>
          <p:cNvPr id="13" name="tri-9"/>
          <p:cNvSpPr/>
          <p:nvPr/>
        </p:nvSpPr>
        <p:spPr>
          <a:xfrm rot="5400000">
            <a:off x="6473952" y="1783080"/>
            <a:ext cx="146304" cy="146304"/>
          </a:xfrm>
          <a:prstGeom prst="triangle">
            <a:avLst/>
          </a:prstGeom>
          <a:solidFill>
            <a:srgbClr val="5A6B75"/>
          </a:solidFill>
          <a:ln w="12700">
            <a:solidFill>
              <a:srgbClr val="5A6B75"/>
            </a:solidFill>
            <a:prstDash val="solid"/>
          </a:ln>
        </p:spPr>
      </p:sp>
      <p:sp>
        <p:nvSpPr>
          <p:cNvPr id="14" name="shape-10"/>
          <p:cNvSpPr/>
          <p:nvPr/>
        </p:nvSpPr>
        <p:spPr>
          <a:xfrm>
            <a:off x="6675120" y="1554480"/>
            <a:ext cx="2286000" cy="603504"/>
          </a:xfrm>
          <a:prstGeom prst="roundRect">
            <a:avLst>
              <a:gd name="adj" fmla="val 50000"/>
            </a:avLst>
          </a:prstGeom>
          <a:solidFill>
            <a:srgbClr val="134E4A"/>
          </a:solidFill>
          <a:ln w="12700">
            <a:solidFill>
              <a:srgbClr val="134E4A"/>
            </a:solidFill>
            <a:prstDash val="solid"/>
          </a:ln>
        </p:spPr>
      </p:sp>
      <p:sp>
        <p:nvSpPr>
          <p:cNvPr id="15" name="text-11"/>
          <p:cNvSpPr txBox="1"/>
          <p:nvPr/>
        </p:nvSpPr>
        <p:spPr>
          <a:xfrm>
            <a:off x="6876288" y="1554480"/>
            <a:ext cx="274320" cy="603504"/>
          </a:xfrm>
          <a:prstGeom prst="rect">
            <a:avLst/>
          </a:prstGeom>
          <a:noFill/>
          <a:ln/>
        </p:spPr>
        <p:txBody>
          <a:bodyPr wrap="square" lIns="0" tIns="0" rIns="0" bIns="0" rtlCol="0" anchor="ctr"/>
          <a:lstStyle/>
          <a:p>
            <a:pPr algn="l" indent="0" marL="0">
              <a:lnSpc>
                <a:spcPct val="100000"/>
              </a:lnSpc>
              <a:buNone/>
            </a:pPr>
            <a:r>
              <a:rPr lang="en-US" sz="1350" b="1" dirty="0">
                <a:solidFill>
                  <a:srgbClr val="CFE8E5"/>
                </a:solidFill>
                <a:latin typeface="Calibri" pitchFamily="34" charset="0"/>
                <a:ea typeface="Calibri" pitchFamily="34" charset="-122"/>
                <a:cs typeface="Calibri" pitchFamily="34" charset="-120"/>
              </a:rPr>
              <a:t>3</a:t>
            </a:r>
            <a:endParaRPr lang="en-US" sz="1350" dirty="0"/>
          </a:p>
        </p:txBody>
      </p:sp>
      <p:sp>
        <p:nvSpPr>
          <p:cNvPr id="16" name="text-12"/>
          <p:cNvSpPr txBox="1"/>
          <p:nvPr/>
        </p:nvSpPr>
        <p:spPr>
          <a:xfrm>
            <a:off x="7077456" y="1554480"/>
            <a:ext cx="1773936" cy="603504"/>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How resilient must it be?</a:t>
            </a:r>
            <a:endParaRPr lang="en-US" sz="1100" dirty="0"/>
          </a:p>
        </p:txBody>
      </p:sp>
      <p:sp>
        <p:nvSpPr>
          <p:cNvPr id="17" name="shape-13"/>
          <p:cNvSpPr/>
          <p:nvPr/>
        </p:nvSpPr>
        <p:spPr>
          <a:xfrm>
            <a:off x="9326880" y="1554480"/>
            <a:ext cx="2103120" cy="603504"/>
          </a:xfrm>
          <a:prstGeom prst="roundRect">
            <a:avLst>
              <a:gd name="adj" fmla="val 50000"/>
            </a:avLst>
          </a:prstGeom>
          <a:ln w="19050">
            <a:solidFill>
              <a:srgbClr val="0F766E"/>
            </a:solidFill>
            <a:prstDash val="sysDash"/>
          </a:ln>
        </p:spPr>
      </p:sp>
      <p:sp>
        <p:nvSpPr>
          <p:cNvPr id="18" name="text-14"/>
          <p:cNvSpPr txBox="1"/>
          <p:nvPr/>
        </p:nvSpPr>
        <p:spPr>
          <a:xfrm>
            <a:off x="9326880" y="1664208"/>
            <a:ext cx="2103120" cy="146304"/>
          </a:xfrm>
          <a:prstGeom prst="rect">
            <a:avLst/>
          </a:prstGeom>
          <a:noFill/>
          <a:ln/>
        </p:spPr>
        <p:txBody>
          <a:bodyPr wrap="square" lIns="0" tIns="0" rIns="0" bIns="0" rtlCol="0" anchor="ctr"/>
          <a:lstStyle/>
          <a:p>
            <a:pPr algn="ctr"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BONUS, NOT A RULE</a:t>
            </a:r>
            <a:endParaRPr lang="en-US" sz="800" dirty="0"/>
          </a:p>
        </p:txBody>
      </p:sp>
      <p:sp>
        <p:nvSpPr>
          <p:cNvPr id="19" name="text-15"/>
          <p:cNvSpPr txBox="1"/>
          <p:nvPr/>
        </p:nvSpPr>
        <p:spPr>
          <a:xfrm>
            <a:off x="9326880" y="1847088"/>
            <a:ext cx="2103120" cy="219456"/>
          </a:xfrm>
          <a:prstGeom prst="rect">
            <a:avLst/>
          </a:prstGeom>
          <a:noFill/>
          <a:ln/>
        </p:spPr>
        <p:txBody>
          <a:bodyPr wrap="square" lIns="0" tIns="0" rIns="0" bIns="0" rtlCol="0" anchor="ctr"/>
          <a:lstStyle/>
          <a:p>
            <a:pPr algn="ctr" indent="0" marL="0">
              <a:lnSpc>
                <a:spcPct val="100000"/>
              </a:lnSpc>
              <a:buNone/>
            </a:pPr>
            <a:r>
              <a:rPr lang="en-US" sz="1150" b="1" dirty="0">
                <a:solidFill>
                  <a:srgbClr val="0F766E"/>
                </a:solidFill>
                <a:latin typeface="Calibri" pitchFamily="34" charset="0"/>
                <a:ea typeface="Calibri" pitchFamily="34" charset="-122"/>
                <a:cs typeface="Calibri" pitchFamily="34" charset="-120"/>
              </a:rPr>
              <a:t>Where AI can help</a:t>
            </a:r>
            <a:endParaRPr lang="en-US" sz="1150" dirty="0"/>
          </a:p>
        </p:txBody>
      </p:sp>
      <p:sp>
        <p:nvSpPr>
          <p:cNvPr id="20" name="shape-16"/>
          <p:cNvSpPr/>
          <p:nvPr/>
        </p:nvSpPr>
        <p:spPr>
          <a:xfrm>
            <a:off x="548640" y="2395728"/>
            <a:ext cx="3291840" cy="768096"/>
          </a:xfrm>
          <a:prstGeom prst="roundRect">
            <a:avLst>
              <a:gd name="adj" fmla="val 9524"/>
            </a:avLst>
          </a:prstGeom>
          <a:solidFill>
            <a:srgbClr val="EEF2F4"/>
          </a:solidFill>
          <a:ln w="12700">
            <a:solidFill>
              <a:srgbClr val="EEF2F4"/>
            </a:solidFill>
            <a:prstDash val="solid"/>
          </a:ln>
        </p:spPr>
      </p:sp>
      <p:sp>
        <p:nvSpPr>
          <p:cNvPr id="21" name="shape-17"/>
          <p:cNvSpPr/>
          <p:nvPr/>
        </p:nvSpPr>
        <p:spPr>
          <a:xfrm>
            <a:off x="548640" y="2395728"/>
            <a:ext cx="402336" cy="768096"/>
          </a:xfrm>
          <a:prstGeom prst="roundRect">
            <a:avLst>
              <a:gd name="adj" fmla="val 18182"/>
            </a:avLst>
          </a:prstGeom>
          <a:solidFill>
            <a:srgbClr val="134E4A"/>
          </a:solidFill>
          <a:ln w="12700">
            <a:solidFill>
              <a:srgbClr val="134E4A"/>
            </a:solidFill>
            <a:prstDash val="solid"/>
          </a:ln>
        </p:spPr>
      </p:sp>
      <p:sp>
        <p:nvSpPr>
          <p:cNvPr id="22" name="shape-18"/>
          <p:cNvSpPr/>
          <p:nvPr/>
        </p:nvSpPr>
        <p:spPr>
          <a:xfrm>
            <a:off x="877824" y="2395728"/>
            <a:ext cx="73152" cy="768096"/>
          </a:xfrm>
          <a:prstGeom prst="rect">
            <a:avLst/>
          </a:prstGeom>
          <a:solidFill>
            <a:srgbClr val="134E4A"/>
          </a:solidFill>
          <a:ln w="12700">
            <a:solidFill>
              <a:srgbClr val="134E4A"/>
            </a:solidFill>
            <a:prstDash val="solid"/>
          </a:ln>
        </p:spPr>
      </p:sp>
      <p:sp>
        <p:nvSpPr>
          <p:cNvPr id="23" name="text-19"/>
          <p:cNvSpPr txBox="1"/>
          <p:nvPr/>
        </p:nvSpPr>
        <p:spPr>
          <a:xfrm>
            <a:off x="548640" y="2395728"/>
            <a:ext cx="402336" cy="768096"/>
          </a:xfrm>
          <a:prstGeom prst="rect">
            <a:avLst/>
          </a:prstGeom>
          <a:noFill/>
          <a:ln/>
        </p:spPr>
        <p:txBody>
          <a:bodyPr wrap="square" lIns="0" tIns="0" rIns="0" bIns="0" rtlCol="0" anchor="ctr"/>
          <a:lstStyle/>
          <a:p>
            <a:pPr algn="ctr" indent="0" marL="0">
              <a:lnSpc>
                <a:spcPct val="100000"/>
              </a:lnSpc>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24" name="text-20"/>
          <p:cNvSpPr txBox="1"/>
          <p:nvPr/>
        </p:nvSpPr>
        <p:spPr>
          <a:xfrm>
            <a:off x="1060704" y="2395728"/>
            <a:ext cx="2670048" cy="768096"/>
          </a:xfrm>
          <a:prstGeom prst="rect">
            <a:avLst/>
          </a:prstGeom>
          <a:noFill/>
          <a:ln/>
        </p:spPr>
        <p:txBody>
          <a:bodyPr wrap="square" lIns="0" tIns="0" rIns="0" bIns="0" rtlCol="0" anchor="ctr"/>
          <a:lstStyle/>
          <a:p>
            <a:pPr algn="l" indent="0" marL="0">
              <a:lnSpc>
                <a:spcPct val="100000"/>
              </a:lnSpc>
              <a:buNone/>
            </a:pPr>
            <a:r>
              <a:rPr lang="en-US" sz="1000" b="1" dirty="0">
                <a:solidFill>
                  <a:srgbClr val="1C2B33"/>
                </a:solidFill>
                <a:latin typeface="Calibri" pitchFamily="34" charset="0"/>
                <a:ea typeface="Calibri" pitchFamily="34" charset="-122"/>
                <a:cs typeface="Calibri" pitchFamily="34" charset="-120"/>
              </a:rPr>
              <a:t>AMH Online — web, desktop, mobile, and the APIs into third-party systems</a:t>
            </a:r>
            <a:endParaRPr lang="en-US" sz="1000" dirty="0"/>
          </a:p>
        </p:txBody>
      </p:sp>
      <p:sp>
        <p:nvSpPr>
          <p:cNvPr id="25" name="shape-21"/>
          <p:cNvSpPr/>
          <p:nvPr/>
        </p:nvSpPr>
        <p:spPr>
          <a:xfrm>
            <a:off x="4114800" y="2395728"/>
            <a:ext cx="2286000" cy="768096"/>
          </a:xfrm>
          <a:prstGeom prst="roundRect">
            <a:avLst>
              <a:gd name="adj" fmla="val 9524"/>
            </a:avLst>
          </a:prstGeom>
          <a:solidFill>
            <a:srgbClr val="FFFFFF"/>
          </a:solidFill>
          <a:ln w="15875">
            <a:solidFill>
              <a:srgbClr val="D4DBE0"/>
            </a:solidFill>
            <a:prstDash val="solid"/>
          </a:ln>
        </p:spPr>
      </p:sp>
      <p:sp>
        <p:nvSpPr>
          <p:cNvPr id="26" name="text-22"/>
          <p:cNvSpPr txBox="1"/>
          <p:nvPr/>
        </p:nvSpPr>
        <p:spPr>
          <a:xfrm>
            <a:off x="4206240" y="2395728"/>
            <a:ext cx="2103120" cy="768096"/>
          </a:xfrm>
          <a:prstGeom prst="rect">
            <a:avLst/>
          </a:prstGeom>
          <a:noFill/>
          <a:ln/>
        </p:spPr>
        <p:txBody>
          <a:bodyPr wrap="square" lIns="0" tIns="0" rIns="0" bIns="0" rtlCol="0" anchor="ctr"/>
          <a:lstStyle/>
          <a:p>
            <a:pPr algn="ctr" indent="0" marL="0">
              <a:lnSpc>
                <a:spcPct val="100000"/>
              </a:lnSpc>
              <a:buNone/>
            </a:pPr>
            <a:r>
              <a:rPr lang="en-US" sz="1050" b="1" dirty="0">
                <a:solidFill>
                  <a:srgbClr val="1C2B33"/>
                </a:solidFill>
                <a:latin typeface="Calibri" pitchFamily="34" charset="0"/>
                <a:ea typeface="Calibri" pitchFamily="34" charset="-122"/>
                <a:cs typeface="Calibri" pitchFamily="34" charset="-120"/>
              </a:rPr>
              <a:t>Commercials, opportunity, strategy</a:t>
            </a:r>
            <a:endParaRPr lang="en-US" sz="1050" dirty="0"/>
          </a:p>
        </p:txBody>
      </p:sp>
      <p:sp>
        <p:nvSpPr>
          <p:cNvPr id="27" name="shape-23"/>
          <p:cNvSpPr/>
          <p:nvPr/>
        </p:nvSpPr>
        <p:spPr>
          <a:xfrm>
            <a:off x="6675120" y="2395728"/>
            <a:ext cx="2286000" cy="768096"/>
          </a:xfrm>
          <a:prstGeom prst="roundRect">
            <a:avLst>
              <a:gd name="adj" fmla="val 9524"/>
            </a:avLst>
          </a:prstGeom>
          <a:solidFill>
            <a:srgbClr val="FFFFFF"/>
          </a:solidFill>
          <a:ln w="15875">
            <a:solidFill>
              <a:srgbClr val="D4DBE0"/>
            </a:solidFill>
            <a:prstDash val="solid"/>
          </a:ln>
        </p:spPr>
      </p:sp>
      <p:sp>
        <p:nvSpPr>
          <p:cNvPr id="28" name="text-24"/>
          <p:cNvSpPr txBox="1"/>
          <p:nvPr/>
        </p:nvSpPr>
        <p:spPr>
          <a:xfrm>
            <a:off x="6766560" y="2395728"/>
            <a:ext cx="2103120" cy="768096"/>
          </a:xfrm>
          <a:prstGeom prst="rect">
            <a:avLst/>
          </a:prstGeom>
          <a:noFill/>
          <a:ln/>
        </p:spPr>
        <p:txBody>
          <a:bodyPr wrap="square" lIns="0" tIns="0" rIns="0" bIns="0" rtlCol="0" anchor="ctr"/>
          <a:lstStyle/>
          <a:p>
            <a:pPr algn="ctr" indent="0" marL="0">
              <a:lnSpc>
                <a:spcPct val="100000"/>
              </a:lnSpc>
              <a:buNone/>
            </a:pPr>
            <a:r>
              <a:rPr lang="en-US" sz="1050" b="1" dirty="0">
                <a:solidFill>
                  <a:srgbClr val="134E4A"/>
                </a:solidFill>
                <a:latin typeface="Calibri" pitchFamily="34" charset="0"/>
                <a:ea typeface="Calibri" pitchFamily="34" charset="-122"/>
                <a:cs typeface="Calibri" pitchFamily="34" charset="-120"/>
              </a:rPr>
              <a:t>Bullet-proof: life-critical content</a:t>
            </a:r>
            <a:endParaRPr lang="en-US" sz="1050" dirty="0"/>
          </a:p>
        </p:txBody>
      </p:sp>
      <p:sp>
        <p:nvSpPr>
          <p:cNvPr id="29" name="tri-25"/>
          <p:cNvSpPr/>
          <p:nvPr/>
        </p:nvSpPr>
        <p:spPr>
          <a:xfrm rot="5400000">
            <a:off x="3913632" y="2715768"/>
            <a:ext cx="128016" cy="128016"/>
          </a:xfrm>
          <a:prstGeom prst="triangle">
            <a:avLst/>
          </a:prstGeom>
          <a:solidFill>
            <a:srgbClr val="D4DBE0"/>
          </a:solidFill>
          <a:ln w="12700">
            <a:solidFill>
              <a:srgbClr val="D4DBE0"/>
            </a:solidFill>
            <a:prstDash val="solid"/>
          </a:ln>
        </p:spPr>
      </p:sp>
      <p:sp>
        <p:nvSpPr>
          <p:cNvPr id="30" name="tri-26"/>
          <p:cNvSpPr/>
          <p:nvPr/>
        </p:nvSpPr>
        <p:spPr>
          <a:xfrm rot="5400000">
            <a:off x="6473952" y="2715768"/>
            <a:ext cx="128016" cy="128016"/>
          </a:xfrm>
          <a:prstGeom prst="triangle">
            <a:avLst/>
          </a:prstGeom>
          <a:solidFill>
            <a:srgbClr val="D4DBE0"/>
          </a:solidFill>
          <a:ln w="12700">
            <a:solidFill>
              <a:srgbClr val="D4DBE0"/>
            </a:solidFill>
            <a:prstDash val="solid"/>
          </a:ln>
        </p:spPr>
      </p:sp>
      <p:sp>
        <p:nvSpPr>
          <p:cNvPr id="31" name="shape-27"/>
          <p:cNvSpPr/>
          <p:nvPr/>
        </p:nvSpPr>
        <p:spPr>
          <a:xfrm>
            <a:off x="9326880" y="2395728"/>
            <a:ext cx="2103120" cy="768096"/>
          </a:xfrm>
          <a:prstGeom prst="roundRect">
            <a:avLst>
              <a:gd name="adj" fmla="val 9524"/>
            </a:avLst>
          </a:prstGeom>
          <a:solidFill>
            <a:srgbClr val="D6ECE9"/>
          </a:solidFill>
          <a:ln w="15875">
            <a:solidFill>
              <a:srgbClr val="0F766E"/>
            </a:solidFill>
            <a:prstDash val="sysDash"/>
          </a:ln>
        </p:spPr>
      </p:sp>
      <p:sp>
        <p:nvSpPr>
          <p:cNvPr id="32" name="oval-28"/>
          <p:cNvSpPr/>
          <p:nvPr/>
        </p:nvSpPr>
        <p:spPr>
          <a:xfrm>
            <a:off x="9427464" y="2679192"/>
            <a:ext cx="201168" cy="201168"/>
          </a:xfrm>
          <a:prstGeom prst="ellipse">
            <a:avLst/>
          </a:prstGeom>
          <a:solidFill>
            <a:srgbClr val="0F766E"/>
          </a:solidFill>
          <a:ln w="12700">
            <a:solidFill>
              <a:srgbClr val="0F766E"/>
            </a:solidFill>
            <a:prstDash val="solid"/>
          </a:ln>
        </p:spPr>
      </p:sp>
      <p:sp>
        <p:nvSpPr>
          <p:cNvPr id="33" name="text-29"/>
          <p:cNvSpPr txBox="1"/>
          <p:nvPr/>
        </p:nvSpPr>
        <p:spPr>
          <a:xfrm>
            <a:off x="9427464" y="2679192"/>
            <a:ext cx="201168" cy="201168"/>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34" name="text-30"/>
          <p:cNvSpPr txBox="1"/>
          <p:nvPr/>
        </p:nvSpPr>
        <p:spPr>
          <a:xfrm>
            <a:off x="9729216" y="2395728"/>
            <a:ext cx="1609344" cy="768096"/>
          </a:xfrm>
          <a:prstGeom prst="rect">
            <a:avLst/>
          </a:prstGeom>
          <a:noFill/>
          <a:ln/>
        </p:spPr>
        <p:txBody>
          <a:bodyPr wrap="square" lIns="0" tIns="0" rIns="0" bIns="0" rtlCol="0" anchor="ctr"/>
          <a:lstStyle/>
          <a:p>
            <a:pPr algn="l" indent="0" marL="0">
              <a:lnSpc>
                <a:spcPct val="100000"/>
              </a:lnSpc>
              <a:buNone/>
            </a:pPr>
            <a:r>
              <a:rPr lang="en-US" sz="950" dirty="0">
                <a:solidFill>
                  <a:srgbClr val="134E4A"/>
                </a:solidFill>
                <a:latin typeface="Calibri" pitchFamily="34" charset="0"/>
                <a:ea typeface="Calibri" pitchFamily="34" charset="-122"/>
                <a:cs typeface="Calibri" pitchFamily="34" charset="-120"/>
              </a:rPr>
              <a:t>Accelerate and de-risk product work</a:t>
            </a:r>
            <a:endParaRPr lang="en-US" sz="950" dirty="0"/>
          </a:p>
        </p:txBody>
      </p:sp>
      <p:sp>
        <p:nvSpPr>
          <p:cNvPr id="35" name="shape-31"/>
          <p:cNvSpPr/>
          <p:nvPr/>
        </p:nvSpPr>
        <p:spPr>
          <a:xfrm>
            <a:off x="548640" y="3255264"/>
            <a:ext cx="3291840" cy="768096"/>
          </a:xfrm>
          <a:prstGeom prst="roundRect">
            <a:avLst>
              <a:gd name="adj" fmla="val 9524"/>
            </a:avLst>
          </a:prstGeom>
          <a:solidFill>
            <a:srgbClr val="EEF2F4"/>
          </a:solidFill>
          <a:ln w="12700">
            <a:solidFill>
              <a:srgbClr val="EEF2F4"/>
            </a:solidFill>
            <a:prstDash val="solid"/>
          </a:ln>
        </p:spPr>
      </p:sp>
      <p:sp>
        <p:nvSpPr>
          <p:cNvPr id="36" name="shape-32"/>
          <p:cNvSpPr/>
          <p:nvPr/>
        </p:nvSpPr>
        <p:spPr>
          <a:xfrm>
            <a:off x="548640" y="3255264"/>
            <a:ext cx="402336" cy="768096"/>
          </a:xfrm>
          <a:prstGeom prst="roundRect">
            <a:avLst>
              <a:gd name="adj" fmla="val 18182"/>
            </a:avLst>
          </a:prstGeom>
          <a:solidFill>
            <a:srgbClr val="0F766E"/>
          </a:solidFill>
          <a:ln w="12700">
            <a:solidFill>
              <a:srgbClr val="0F766E"/>
            </a:solidFill>
            <a:prstDash val="solid"/>
          </a:ln>
        </p:spPr>
      </p:sp>
      <p:sp>
        <p:nvSpPr>
          <p:cNvPr id="37" name="shape-33"/>
          <p:cNvSpPr/>
          <p:nvPr/>
        </p:nvSpPr>
        <p:spPr>
          <a:xfrm>
            <a:off x="877824" y="3255264"/>
            <a:ext cx="73152" cy="768096"/>
          </a:xfrm>
          <a:prstGeom prst="rect">
            <a:avLst/>
          </a:prstGeom>
          <a:solidFill>
            <a:srgbClr val="0F766E"/>
          </a:solidFill>
          <a:ln w="12700">
            <a:solidFill>
              <a:srgbClr val="0F766E"/>
            </a:solidFill>
            <a:prstDash val="solid"/>
          </a:ln>
        </p:spPr>
      </p:sp>
      <p:sp>
        <p:nvSpPr>
          <p:cNvPr id="38" name="text-34"/>
          <p:cNvSpPr txBox="1"/>
          <p:nvPr/>
        </p:nvSpPr>
        <p:spPr>
          <a:xfrm>
            <a:off x="548640" y="3255264"/>
            <a:ext cx="402336" cy="768096"/>
          </a:xfrm>
          <a:prstGeom prst="rect">
            <a:avLst/>
          </a:prstGeom>
          <a:noFill/>
          <a:ln/>
        </p:spPr>
        <p:txBody>
          <a:bodyPr wrap="square" lIns="0" tIns="0" rIns="0" bIns="0" rtlCol="0" anchor="ctr"/>
          <a:lstStyle/>
          <a:p>
            <a:pPr algn="ctr" indent="0" marL="0">
              <a:lnSpc>
                <a:spcPct val="100000"/>
              </a:lnSpc>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39" name="text-35"/>
          <p:cNvSpPr txBox="1"/>
          <p:nvPr/>
        </p:nvSpPr>
        <p:spPr>
          <a:xfrm>
            <a:off x="1060704" y="3255264"/>
            <a:ext cx="2670048" cy="768096"/>
          </a:xfrm>
          <a:prstGeom prst="rect">
            <a:avLst/>
          </a:prstGeom>
          <a:noFill/>
          <a:ln/>
        </p:spPr>
        <p:txBody>
          <a:bodyPr wrap="square" lIns="0" tIns="0" rIns="0" bIns="0" rtlCol="0" anchor="ctr"/>
          <a:lstStyle/>
          <a:p>
            <a:pPr algn="l" indent="0" marL="0">
              <a:lnSpc>
                <a:spcPct val="100000"/>
              </a:lnSpc>
              <a:buNone/>
            </a:pPr>
            <a:r>
              <a:rPr lang="en-US" sz="1000" b="1" dirty="0">
                <a:solidFill>
                  <a:srgbClr val="1C2B33"/>
                </a:solidFill>
                <a:latin typeface="Calibri" pitchFamily="34" charset="0"/>
                <a:ea typeface="Calibri" pitchFamily="34" charset="-122"/>
                <a:cs typeface="Calibri" pitchFamily="34" charset="-120"/>
              </a:rPr>
              <a:t>Quark Content and PriXM — authoring and publishing</a:t>
            </a:r>
            <a:endParaRPr lang="en-US" sz="1000" dirty="0"/>
          </a:p>
        </p:txBody>
      </p:sp>
      <p:sp>
        <p:nvSpPr>
          <p:cNvPr id="40" name="shape-36"/>
          <p:cNvSpPr/>
          <p:nvPr/>
        </p:nvSpPr>
        <p:spPr>
          <a:xfrm>
            <a:off x="4114800" y="3255264"/>
            <a:ext cx="2286000" cy="768096"/>
          </a:xfrm>
          <a:prstGeom prst="roundRect">
            <a:avLst>
              <a:gd name="adj" fmla="val 9524"/>
            </a:avLst>
          </a:prstGeom>
          <a:solidFill>
            <a:srgbClr val="FFFFFF"/>
          </a:solidFill>
          <a:ln w="15875">
            <a:solidFill>
              <a:srgbClr val="D4DBE0"/>
            </a:solidFill>
            <a:prstDash val="solid"/>
          </a:ln>
        </p:spPr>
      </p:sp>
      <p:sp>
        <p:nvSpPr>
          <p:cNvPr id="41" name="text-37"/>
          <p:cNvSpPr txBox="1"/>
          <p:nvPr/>
        </p:nvSpPr>
        <p:spPr>
          <a:xfrm>
            <a:off x="4206240" y="3255264"/>
            <a:ext cx="2103120" cy="768096"/>
          </a:xfrm>
          <a:prstGeom prst="rect">
            <a:avLst/>
          </a:prstGeom>
          <a:noFill/>
          <a:ln/>
        </p:spPr>
        <p:txBody>
          <a:bodyPr wrap="square" lIns="0" tIns="0" rIns="0" bIns="0" rtlCol="0" anchor="ctr"/>
          <a:lstStyle/>
          <a:p>
            <a:pPr algn="ctr" indent="0" marL="0">
              <a:lnSpc>
                <a:spcPct val="100000"/>
              </a:lnSpc>
              <a:buNone/>
            </a:pPr>
            <a:r>
              <a:rPr lang="en-US" sz="1050" b="1" dirty="0">
                <a:solidFill>
                  <a:srgbClr val="1C2B33"/>
                </a:solidFill>
                <a:latin typeface="Calibri" pitchFamily="34" charset="0"/>
                <a:ea typeface="Calibri" pitchFamily="34" charset="-122"/>
                <a:cs typeface="Calibri" pitchFamily="34" charset="-120"/>
              </a:rPr>
              <a:t>Fit for authors, portability, cost</a:t>
            </a:r>
            <a:endParaRPr lang="en-US" sz="1050" dirty="0"/>
          </a:p>
        </p:txBody>
      </p:sp>
      <p:sp>
        <p:nvSpPr>
          <p:cNvPr id="42" name="shape-38"/>
          <p:cNvSpPr/>
          <p:nvPr/>
        </p:nvSpPr>
        <p:spPr>
          <a:xfrm>
            <a:off x="6675120" y="3255264"/>
            <a:ext cx="2286000" cy="768096"/>
          </a:xfrm>
          <a:prstGeom prst="roundRect">
            <a:avLst>
              <a:gd name="adj" fmla="val 9524"/>
            </a:avLst>
          </a:prstGeom>
          <a:solidFill>
            <a:srgbClr val="FFFFFF"/>
          </a:solidFill>
          <a:ln w="15875">
            <a:solidFill>
              <a:srgbClr val="D4DBE0"/>
            </a:solidFill>
            <a:prstDash val="solid"/>
          </a:ln>
        </p:spPr>
      </p:sp>
      <p:sp>
        <p:nvSpPr>
          <p:cNvPr id="43" name="text-39"/>
          <p:cNvSpPr txBox="1"/>
          <p:nvPr/>
        </p:nvSpPr>
        <p:spPr>
          <a:xfrm>
            <a:off x="6766560" y="3255264"/>
            <a:ext cx="2103120" cy="768096"/>
          </a:xfrm>
          <a:prstGeom prst="rect">
            <a:avLst/>
          </a:prstGeom>
          <a:noFill/>
          <a:ln/>
        </p:spPr>
        <p:txBody>
          <a:bodyPr wrap="square" lIns="0" tIns="0" rIns="0" bIns="0" rtlCol="0" anchor="ctr"/>
          <a:lstStyle/>
          <a:p>
            <a:pPr algn="ctr" indent="0" marL="0">
              <a:lnSpc>
                <a:spcPct val="100000"/>
              </a:lnSpc>
              <a:buNone/>
            </a:pPr>
            <a:r>
              <a:rPr lang="en-US" sz="1050" b="1" dirty="0">
                <a:solidFill>
                  <a:srgbClr val="1C2B33"/>
                </a:solidFill>
                <a:latin typeface="Calibri" pitchFamily="34" charset="0"/>
                <a:ea typeface="Calibri" pitchFamily="34" charset="-122"/>
                <a:cs typeface="Calibri" pitchFamily="34" charset="-120"/>
              </a:rPr>
              <a:t>Business hours; never the only copy</a:t>
            </a:r>
            <a:endParaRPr lang="en-US" sz="1050" dirty="0"/>
          </a:p>
        </p:txBody>
      </p:sp>
      <p:sp>
        <p:nvSpPr>
          <p:cNvPr id="44" name="tri-40"/>
          <p:cNvSpPr/>
          <p:nvPr/>
        </p:nvSpPr>
        <p:spPr>
          <a:xfrm rot="5400000">
            <a:off x="3913632" y="3575304"/>
            <a:ext cx="128016" cy="128016"/>
          </a:xfrm>
          <a:prstGeom prst="triangle">
            <a:avLst/>
          </a:prstGeom>
          <a:solidFill>
            <a:srgbClr val="D4DBE0"/>
          </a:solidFill>
          <a:ln w="12700">
            <a:solidFill>
              <a:srgbClr val="D4DBE0"/>
            </a:solidFill>
            <a:prstDash val="solid"/>
          </a:ln>
        </p:spPr>
      </p:sp>
      <p:sp>
        <p:nvSpPr>
          <p:cNvPr id="45" name="tri-41"/>
          <p:cNvSpPr/>
          <p:nvPr/>
        </p:nvSpPr>
        <p:spPr>
          <a:xfrm rot="5400000">
            <a:off x="6473952" y="3575304"/>
            <a:ext cx="128016" cy="128016"/>
          </a:xfrm>
          <a:prstGeom prst="triangle">
            <a:avLst/>
          </a:prstGeom>
          <a:solidFill>
            <a:srgbClr val="D4DBE0"/>
          </a:solidFill>
          <a:ln w="12700">
            <a:solidFill>
              <a:srgbClr val="D4DBE0"/>
            </a:solidFill>
            <a:prstDash val="solid"/>
          </a:ln>
        </p:spPr>
      </p:sp>
      <p:sp>
        <p:nvSpPr>
          <p:cNvPr id="46" name="shape-42"/>
          <p:cNvSpPr/>
          <p:nvPr/>
        </p:nvSpPr>
        <p:spPr>
          <a:xfrm>
            <a:off x="9326880" y="3255264"/>
            <a:ext cx="2103120" cy="768096"/>
          </a:xfrm>
          <a:prstGeom prst="roundRect">
            <a:avLst>
              <a:gd name="adj" fmla="val 9524"/>
            </a:avLst>
          </a:prstGeom>
          <a:solidFill>
            <a:srgbClr val="D6ECE9"/>
          </a:solidFill>
          <a:ln w="15875">
            <a:solidFill>
              <a:srgbClr val="0F766E"/>
            </a:solidFill>
            <a:prstDash val="sysDash"/>
          </a:ln>
        </p:spPr>
      </p:sp>
      <p:sp>
        <p:nvSpPr>
          <p:cNvPr id="47" name="oval-43"/>
          <p:cNvSpPr/>
          <p:nvPr/>
        </p:nvSpPr>
        <p:spPr>
          <a:xfrm>
            <a:off x="9427464" y="3538728"/>
            <a:ext cx="201168" cy="201168"/>
          </a:xfrm>
          <a:prstGeom prst="ellipse">
            <a:avLst/>
          </a:prstGeom>
          <a:solidFill>
            <a:srgbClr val="0F766E"/>
          </a:solidFill>
          <a:ln w="12700">
            <a:solidFill>
              <a:srgbClr val="0F766E"/>
            </a:solidFill>
            <a:prstDash val="solid"/>
          </a:ln>
        </p:spPr>
      </p:sp>
      <p:sp>
        <p:nvSpPr>
          <p:cNvPr id="48" name="text-44"/>
          <p:cNvSpPr txBox="1"/>
          <p:nvPr/>
        </p:nvSpPr>
        <p:spPr>
          <a:xfrm>
            <a:off x="9427464" y="3538728"/>
            <a:ext cx="201168" cy="201168"/>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49" name="text-45"/>
          <p:cNvSpPr txBox="1"/>
          <p:nvPr/>
        </p:nvSpPr>
        <p:spPr>
          <a:xfrm>
            <a:off x="9729216" y="3255264"/>
            <a:ext cx="1609344" cy="768096"/>
          </a:xfrm>
          <a:prstGeom prst="rect">
            <a:avLst/>
          </a:prstGeom>
          <a:noFill/>
          <a:ln/>
        </p:spPr>
        <p:txBody>
          <a:bodyPr wrap="square" lIns="0" tIns="0" rIns="0" bIns="0" rtlCol="0" anchor="ctr"/>
          <a:lstStyle/>
          <a:p>
            <a:pPr algn="l" indent="0" marL="0">
              <a:lnSpc>
                <a:spcPct val="100000"/>
              </a:lnSpc>
              <a:buNone/>
            </a:pPr>
            <a:r>
              <a:rPr lang="en-US" sz="950" dirty="0">
                <a:solidFill>
                  <a:srgbClr val="134E4A"/>
                </a:solidFill>
                <a:latin typeface="Calibri" pitchFamily="34" charset="0"/>
                <a:ea typeface="Calibri" pitchFamily="34" charset="-122"/>
                <a:cs typeface="Calibri" pitchFamily="34" charset="-120"/>
              </a:rPr>
              <a:t>Author assistance; human sign-off</a:t>
            </a:r>
            <a:endParaRPr lang="en-US" sz="950" dirty="0"/>
          </a:p>
        </p:txBody>
      </p:sp>
      <p:sp>
        <p:nvSpPr>
          <p:cNvPr id="50" name="shape-46"/>
          <p:cNvSpPr/>
          <p:nvPr/>
        </p:nvSpPr>
        <p:spPr>
          <a:xfrm>
            <a:off x="548640" y="4114800"/>
            <a:ext cx="3291840" cy="768096"/>
          </a:xfrm>
          <a:prstGeom prst="roundRect">
            <a:avLst>
              <a:gd name="adj" fmla="val 9524"/>
            </a:avLst>
          </a:prstGeom>
          <a:solidFill>
            <a:srgbClr val="EEF2F4"/>
          </a:solidFill>
          <a:ln w="12700">
            <a:solidFill>
              <a:srgbClr val="EEF2F4"/>
            </a:solidFill>
            <a:prstDash val="solid"/>
          </a:ln>
        </p:spPr>
      </p:sp>
      <p:sp>
        <p:nvSpPr>
          <p:cNvPr id="51" name="shape-47"/>
          <p:cNvSpPr/>
          <p:nvPr/>
        </p:nvSpPr>
        <p:spPr>
          <a:xfrm>
            <a:off x="548640" y="4114800"/>
            <a:ext cx="402336" cy="768096"/>
          </a:xfrm>
          <a:prstGeom prst="roundRect">
            <a:avLst>
              <a:gd name="adj" fmla="val 18182"/>
            </a:avLst>
          </a:prstGeom>
          <a:solidFill>
            <a:srgbClr val="8A99A3"/>
          </a:solidFill>
          <a:ln w="12700">
            <a:solidFill>
              <a:srgbClr val="8A99A3"/>
            </a:solidFill>
            <a:prstDash val="solid"/>
          </a:ln>
        </p:spPr>
      </p:sp>
      <p:sp>
        <p:nvSpPr>
          <p:cNvPr id="52" name="shape-48"/>
          <p:cNvSpPr/>
          <p:nvPr/>
        </p:nvSpPr>
        <p:spPr>
          <a:xfrm>
            <a:off x="877824" y="4114800"/>
            <a:ext cx="73152" cy="768096"/>
          </a:xfrm>
          <a:prstGeom prst="rect">
            <a:avLst/>
          </a:prstGeom>
          <a:solidFill>
            <a:srgbClr val="8A99A3"/>
          </a:solidFill>
          <a:ln w="12700">
            <a:solidFill>
              <a:srgbClr val="8A99A3"/>
            </a:solidFill>
            <a:prstDash val="solid"/>
          </a:ln>
        </p:spPr>
      </p:sp>
      <p:sp>
        <p:nvSpPr>
          <p:cNvPr id="53" name="text-49"/>
          <p:cNvSpPr txBox="1"/>
          <p:nvPr/>
        </p:nvSpPr>
        <p:spPr>
          <a:xfrm>
            <a:off x="548640" y="4114800"/>
            <a:ext cx="402336" cy="768096"/>
          </a:xfrm>
          <a:prstGeom prst="rect">
            <a:avLst/>
          </a:prstGeom>
          <a:noFill/>
          <a:ln/>
        </p:spPr>
        <p:txBody>
          <a:bodyPr wrap="square" lIns="0" tIns="0" rIns="0" bIns="0" rtlCol="0" anchor="ctr"/>
          <a:lstStyle/>
          <a:p>
            <a:pPr algn="ctr" indent="0" marL="0">
              <a:lnSpc>
                <a:spcPct val="100000"/>
              </a:lnSpc>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54" name="text-50"/>
          <p:cNvSpPr txBox="1"/>
          <p:nvPr/>
        </p:nvSpPr>
        <p:spPr>
          <a:xfrm>
            <a:off x="1060704" y="4114800"/>
            <a:ext cx="2670048" cy="768096"/>
          </a:xfrm>
          <a:prstGeom prst="rect">
            <a:avLst/>
          </a:prstGeom>
          <a:noFill/>
          <a:ln/>
        </p:spPr>
        <p:txBody>
          <a:bodyPr wrap="square" lIns="0" tIns="0" rIns="0" bIns="0" rtlCol="0" anchor="ctr"/>
          <a:lstStyle/>
          <a:p>
            <a:pPr algn="l" indent="0" marL="0">
              <a:lnSpc>
                <a:spcPct val="100000"/>
              </a:lnSpc>
              <a:buNone/>
            </a:pPr>
            <a:r>
              <a:rPr lang="en-US" sz="1000" b="1" dirty="0">
                <a:solidFill>
                  <a:srgbClr val="1C2B33"/>
                </a:solidFill>
                <a:latin typeface="Calibri" pitchFamily="34" charset="0"/>
                <a:ea typeface="Calibri" pitchFamily="34" charset="-122"/>
                <a:cs typeface="Calibri" pitchFamily="34" charset="-120"/>
              </a:rPr>
              <a:t>D365 / Dataverse, WooCommerce shop, D365 internal shop, Wiise, Power BI</a:t>
            </a:r>
            <a:endParaRPr lang="en-US" sz="1000" dirty="0"/>
          </a:p>
        </p:txBody>
      </p:sp>
      <p:sp>
        <p:nvSpPr>
          <p:cNvPr id="55" name="shape-51"/>
          <p:cNvSpPr/>
          <p:nvPr/>
        </p:nvSpPr>
        <p:spPr>
          <a:xfrm>
            <a:off x="4114800" y="4114800"/>
            <a:ext cx="2286000" cy="768096"/>
          </a:xfrm>
          <a:prstGeom prst="roundRect">
            <a:avLst>
              <a:gd name="adj" fmla="val 9524"/>
            </a:avLst>
          </a:prstGeom>
          <a:solidFill>
            <a:srgbClr val="FFFFFF"/>
          </a:solidFill>
          <a:ln w="15875">
            <a:solidFill>
              <a:srgbClr val="D4DBE0"/>
            </a:solidFill>
            <a:prstDash val="solid"/>
          </a:ln>
        </p:spPr>
      </p:sp>
      <p:sp>
        <p:nvSpPr>
          <p:cNvPr id="56" name="text-52"/>
          <p:cNvSpPr txBox="1"/>
          <p:nvPr/>
        </p:nvSpPr>
        <p:spPr>
          <a:xfrm>
            <a:off x="4206240" y="4114800"/>
            <a:ext cx="2103120" cy="768096"/>
          </a:xfrm>
          <a:prstGeom prst="rect">
            <a:avLst/>
          </a:prstGeom>
          <a:noFill/>
          <a:ln/>
        </p:spPr>
        <p:txBody>
          <a:bodyPr wrap="square" lIns="0" tIns="0" rIns="0" bIns="0" rtlCol="0" anchor="ctr"/>
          <a:lstStyle/>
          <a:p>
            <a:pPr algn="ctr" indent="0" marL="0">
              <a:lnSpc>
                <a:spcPct val="100000"/>
              </a:lnSpc>
              <a:buNone/>
            </a:pPr>
            <a:r>
              <a:rPr lang="en-US" sz="1050" b="1" dirty="0">
                <a:solidFill>
                  <a:srgbClr val="1C2B33"/>
                </a:solidFill>
                <a:latin typeface="Calibri" pitchFamily="34" charset="0"/>
                <a:ea typeface="Calibri" pitchFamily="34" charset="-122"/>
                <a:cs typeface="Calibri" pitchFamily="34" charset="-120"/>
              </a:rPr>
              <a:t>Cost and effort vs efficiency gained</a:t>
            </a:r>
            <a:endParaRPr lang="en-US" sz="1050" dirty="0"/>
          </a:p>
        </p:txBody>
      </p:sp>
      <p:sp>
        <p:nvSpPr>
          <p:cNvPr id="57" name="shape-53"/>
          <p:cNvSpPr/>
          <p:nvPr/>
        </p:nvSpPr>
        <p:spPr>
          <a:xfrm>
            <a:off x="6675120" y="4114800"/>
            <a:ext cx="2286000" cy="768096"/>
          </a:xfrm>
          <a:prstGeom prst="roundRect">
            <a:avLst>
              <a:gd name="adj" fmla="val 9524"/>
            </a:avLst>
          </a:prstGeom>
          <a:solidFill>
            <a:srgbClr val="FFFFFF"/>
          </a:solidFill>
          <a:ln w="15875">
            <a:solidFill>
              <a:srgbClr val="D4DBE0"/>
            </a:solidFill>
            <a:prstDash val="solid"/>
          </a:ln>
        </p:spPr>
      </p:sp>
      <p:sp>
        <p:nvSpPr>
          <p:cNvPr id="58" name="text-54"/>
          <p:cNvSpPr txBox="1"/>
          <p:nvPr/>
        </p:nvSpPr>
        <p:spPr>
          <a:xfrm>
            <a:off x="6766560" y="4114800"/>
            <a:ext cx="2103120" cy="768096"/>
          </a:xfrm>
          <a:prstGeom prst="rect">
            <a:avLst/>
          </a:prstGeom>
          <a:noFill/>
          <a:ln/>
        </p:spPr>
        <p:txBody>
          <a:bodyPr wrap="square" lIns="0" tIns="0" rIns="0" bIns="0" rtlCol="0" anchor="ctr"/>
          <a:lstStyle/>
          <a:p>
            <a:pPr algn="ctr" indent="0" marL="0">
              <a:lnSpc>
                <a:spcPct val="100000"/>
              </a:lnSpc>
              <a:buNone/>
            </a:pPr>
            <a:r>
              <a:rPr lang="en-US" sz="1050" b="1" dirty="0">
                <a:solidFill>
                  <a:srgbClr val="1C2B33"/>
                </a:solidFill>
                <a:latin typeface="Calibri" pitchFamily="34" charset="0"/>
                <a:ea typeface="Calibri" pitchFamily="34" charset="-122"/>
                <a:cs typeface="Calibri" pitchFamily="34" charset="-120"/>
              </a:rPr>
              <a:t>Standard; no shared fate with A</a:t>
            </a:r>
            <a:endParaRPr lang="en-US" sz="1050" dirty="0"/>
          </a:p>
        </p:txBody>
      </p:sp>
      <p:sp>
        <p:nvSpPr>
          <p:cNvPr id="59" name="tri-55"/>
          <p:cNvSpPr/>
          <p:nvPr/>
        </p:nvSpPr>
        <p:spPr>
          <a:xfrm rot="5400000">
            <a:off x="3913632" y="4434840"/>
            <a:ext cx="128016" cy="128016"/>
          </a:xfrm>
          <a:prstGeom prst="triangle">
            <a:avLst/>
          </a:prstGeom>
          <a:solidFill>
            <a:srgbClr val="D4DBE0"/>
          </a:solidFill>
          <a:ln w="12700">
            <a:solidFill>
              <a:srgbClr val="D4DBE0"/>
            </a:solidFill>
            <a:prstDash val="solid"/>
          </a:ln>
        </p:spPr>
      </p:sp>
      <p:sp>
        <p:nvSpPr>
          <p:cNvPr id="60" name="tri-56"/>
          <p:cNvSpPr/>
          <p:nvPr/>
        </p:nvSpPr>
        <p:spPr>
          <a:xfrm rot="5400000">
            <a:off x="6473952" y="4434840"/>
            <a:ext cx="128016" cy="128016"/>
          </a:xfrm>
          <a:prstGeom prst="triangle">
            <a:avLst/>
          </a:prstGeom>
          <a:solidFill>
            <a:srgbClr val="D4DBE0"/>
          </a:solidFill>
          <a:ln w="12700">
            <a:solidFill>
              <a:srgbClr val="D4DBE0"/>
            </a:solidFill>
            <a:prstDash val="solid"/>
          </a:ln>
        </p:spPr>
      </p:sp>
      <p:sp>
        <p:nvSpPr>
          <p:cNvPr id="61" name="shape-57"/>
          <p:cNvSpPr/>
          <p:nvPr/>
        </p:nvSpPr>
        <p:spPr>
          <a:xfrm>
            <a:off x="9326880" y="4114800"/>
            <a:ext cx="2103120" cy="768096"/>
          </a:xfrm>
          <a:prstGeom prst="roundRect">
            <a:avLst>
              <a:gd name="adj" fmla="val 9524"/>
            </a:avLst>
          </a:prstGeom>
          <a:solidFill>
            <a:srgbClr val="D6ECE9"/>
          </a:solidFill>
          <a:ln w="15875">
            <a:solidFill>
              <a:srgbClr val="0F766E"/>
            </a:solidFill>
            <a:prstDash val="sysDash"/>
          </a:ln>
        </p:spPr>
      </p:sp>
      <p:sp>
        <p:nvSpPr>
          <p:cNvPr id="62" name="oval-58"/>
          <p:cNvSpPr/>
          <p:nvPr/>
        </p:nvSpPr>
        <p:spPr>
          <a:xfrm>
            <a:off x="9427464" y="4398264"/>
            <a:ext cx="201168" cy="201168"/>
          </a:xfrm>
          <a:prstGeom prst="ellipse">
            <a:avLst/>
          </a:prstGeom>
          <a:solidFill>
            <a:srgbClr val="0F766E"/>
          </a:solidFill>
          <a:ln w="12700">
            <a:solidFill>
              <a:srgbClr val="0F766E"/>
            </a:solidFill>
            <a:prstDash val="solid"/>
          </a:ln>
        </p:spPr>
      </p:sp>
      <p:sp>
        <p:nvSpPr>
          <p:cNvPr id="63" name="text-59"/>
          <p:cNvSpPr txBox="1"/>
          <p:nvPr/>
        </p:nvSpPr>
        <p:spPr>
          <a:xfrm>
            <a:off x="9427464" y="4398264"/>
            <a:ext cx="201168" cy="201168"/>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64" name="text-60"/>
          <p:cNvSpPr txBox="1"/>
          <p:nvPr/>
        </p:nvSpPr>
        <p:spPr>
          <a:xfrm>
            <a:off x="9729216" y="4114800"/>
            <a:ext cx="1609344" cy="768096"/>
          </a:xfrm>
          <a:prstGeom prst="rect">
            <a:avLst/>
          </a:prstGeom>
          <a:noFill/>
          <a:ln/>
        </p:spPr>
        <p:txBody>
          <a:bodyPr wrap="square" lIns="0" tIns="0" rIns="0" bIns="0" rtlCol="0" anchor="ctr"/>
          <a:lstStyle/>
          <a:p>
            <a:pPr algn="l" indent="0" marL="0">
              <a:lnSpc>
                <a:spcPct val="100000"/>
              </a:lnSpc>
              <a:buNone/>
            </a:pPr>
            <a:r>
              <a:rPr lang="en-US" sz="950" dirty="0">
                <a:solidFill>
                  <a:srgbClr val="134E4A"/>
                </a:solidFill>
                <a:latin typeface="Calibri" pitchFamily="34" charset="0"/>
                <a:ea typeface="Calibri" pitchFamily="34" charset="-122"/>
                <a:cs typeface="Calibri" pitchFamily="34" charset="-120"/>
              </a:rPr>
              <a:t>Woven into process; must-haves shrink</a:t>
            </a:r>
            <a:endParaRPr lang="en-US" sz="950" dirty="0"/>
          </a:p>
        </p:txBody>
      </p:sp>
      <p:sp>
        <p:nvSpPr>
          <p:cNvPr id="65" name="shape-61"/>
          <p:cNvSpPr/>
          <p:nvPr/>
        </p:nvSpPr>
        <p:spPr>
          <a:xfrm>
            <a:off x="548640" y="4974336"/>
            <a:ext cx="3291840" cy="768096"/>
          </a:xfrm>
          <a:prstGeom prst="roundRect">
            <a:avLst>
              <a:gd name="adj" fmla="val 9524"/>
            </a:avLst>
          </a:prstGeom>
          <a:solidFill>
            <a:srgbClr val="FDF1E3"/>
          </a:solidFill>
          <a:ln w="12700">
            <a:solidFill>
              <a:srgbClr val="FDF1E3"/>
            </a:solidFill>
            <a:prstDash val="solid"/>
          </a:ln>
        </p:spPr>
      </p:sp>
      <p:sp>
        <p:nvSpPr>
          <p:cNvPr id="66" name="shape-62"/>
          <p:cNvSpPr/>
          <p:nvPr/>
        </p:nvSpPr>
        <p:spPr>
          <a:xfrm>
            <a:off x="548640" y="4974336"/>
            <a:ext cx="402336" cy="768096"/>
          </a:xfrm>
          <a:prstGeom prst="roundRect">
            <a:avLst>
              <a:gd name="adj" fmla="val 18182"/>
            </a:avLst>
          </a:prstGeom>
          <a:solidFill>
            <a:srgbClr val="B45309"/>
          </a:solidFill>
          <a:ln w="12700">
            <a:solidFill>
              <a:srgbClr val="B45309"/>
            </a:solidFill>
            <a:prstDash val="solid"/>
          </a:ln>
        </p:spPr>
      </p:sp>
      <p:sp>
        <p:nvSpPr>
          <p:cNvPr id="67" name="shape-63"/>
          <p:cNvSpPr/>
          <p:nvPr/>
        </p:nvSpPr>
        <p:spPr>
          <a:xfrm>
            <a:off x="877824" y="4974336"/>
            <a:ext cx="73152" cy="768096"/>
          </a:xfrm>
          <a:prstGeom prst="rect">
            <a:avLst/>
          </a:prstGeom>
          <a:solidFill>
            <a:srgbClr val="B45309"/>
          </a:solidFill>
          <a:ln w="12700">
            <a:solidFill>
              <a:srgbClr val="B45309"/>
            </a:solidFill>
            <a:prstDash val="solid"/>
          </a:ln>
        </p:spPr>
      </p:sp>
      <p:sp>
        <p:nvSpPr>
          <p:cNvPr id="68" name="text-64"/>
          <p:cNvSpPr txBox="1"/>
          <p:nvPr/>
        </p:nvSpPr>
        <p:spPr>
          <a:xfrm>
            <a:off x="548640" y="4974336"/>
            <a:ext cx="402336" cy="768096"/>
          </a:xfrm>
          <a:prstGeom prst="rect">
            <a:avLst/>
          </a:prstGeom>
          <a:noFill/>
          <a:ln/>
        </p:spPr>
        <p:txBody>
          <a:bodyPr wrap="square" lIns="0" tIns="0" rIns="0" bIns="0" rtlCol="0" anchor="ctr"/>
          <a:lstStyle/>
          <a:p>
            <a:pPr algn="ctr" indent="0" marL="0">
              <a:lnSpc>
                <a:spcPct val="100000"/>
              </a:lnSpc>
              <a:buNone/>
            </a:pPr>
            <a:r>
              <a:rPr lang="en-US" sz="1600" b="1" dirty="0">
                <a:solidFill>
                  <a:srgbClr val="FFFFFF"/>
                </a:solidFill>
                <a:latin typeface="Calibri" pitchFamily="34" charset="0"/>
                <a:ea typeface="Calibri" pitchFamily="34" charset="-122"/>
                <a:cs typeface="Calibri" pitchFamily="34" charset="-120"/>
              </a:rPr>
              <a:t>X</a:t>
            </a:r>
            <a:endParaRPr lang="en-US" sz="1600" dirty="0"/>
          </a:p>
        </p:txBody>
      </p:sp>
      <p:sp>
        <p:nvSpPr>
          <p:cNvPr id="69" name="text-65"/>
          <p:cNvSpPr txBox="1"/>
          <p:nvPr/>
        </p:nvSpPr>
        <p:spPr>
          <a:xfrm>
            <a:off x="1060704" y="4974336"/>
            <a:ext cx="2670048" cy="768096"/>
          </a:xfrm>
          <a:prstGeom prst="rect">
            <a:avLst/>
          </a:prstGeom>
          <a:noFill/>
          <a:ln/>
        </p:spPr>
        <p:txBody>
          <a:bodyPr wrap="square" lIns="0" tIns="0" rIns="0" bIns="0" rtlCol="0" anchor="ctr"/>
          <a:lstStyle/>
          <a:p>
            <a:pPr algn="l" indent="0" marL="0">
              <a:lnSpc>
                <a:spcPct val="100000"/>
              </a:lnSpc>
              <a:buNone/>
            </a:pPr>
            <a:r>
              <a:rPr lang="en-US" sz="1000" b="1" dirty="0">
                <a:solidFill>
                  <a:srgbClr val="1C2B33"/>
                </a:solidFill>
                <a:latin typeface="Calibri" pitchFamily="34" charset="0"/>
                <a:ea typeface="Calibri" pitchFamily="34" charset="-122"/>
                <a:cs typeface="Calibri" pitchFamily="34" charset="-120"/>
              </a:rPr>
              <a:t>Azure identity and access plane, API gateway / service bus, monitoring, standards</a:t>
            </a:r>
            <a:endParaRPr lang="en-US" sz="1000" dirty="0"/>
          </a:p>
        </p:txBody>
      </p:sp>
      <p:sp>
        <p:nvSpPr>
          <p:cNvPr id="70" name="shape-66"/>
          <p:cNvSpPr/>
          <p:nvPr/>
        </p:nvSpPr>
        <p:spPr>
          <a:xfrm>
            <a:off x="4114800" y="4974336"/>
            <a:ext cx="2286000" cy="768096"/>
          </a:xfrm>
          <a:prstGeom prst="roundRect">
            <a:avLst>
              <a:gd name="adj" fmla="val 9524"/>
            </a:avLst>
          </a:prstGeom>
          <a:solidFill>
            <a:srgbClr val="FFFFFF"/>
          </a:solidFill>
          <a:ln w="15875">
            <a:solidFill>
              <a:srgbClr val="D4DBE0"/>
            </a:solidFill>
            <a:prstDash val="solid"/>
          </a:ln>
        </p:spPr>
      </p:sp>
      <p:sp>
        <p:nvSpPr>
          <p:cNvPr id="71" name="text-67"/>
          <p:cNvSpPr txBox="1"/>
          <p:nvPr/>
        </p:nvSpPr>
        <p:spPr>
          <a:xfrm>
            <a:off x="4206240" y="4974336"/>
            <a:ext cx="2103120" cy="768096"/>
          </a:xfrm>
          <a:prstGeom prst="rect">
            <a:avLst/>
          </a:prstGeom>
          <a:noFill/>
          <a:ln/>
        </p:spPr>
        <p:txBody>
          <a:bodyPr wrap="square" lIns="0" tIns="0" rIns="0" bIns="0" rtlCol="0" anchor="ctr"/>
          <a:lstStyle/>
          <a:p>
            <a:pPr algn="ctr" indent="0" marL="0">
              <a:lnSpc>
                <a:spcPct val="100000"/>
              </a:lnSpc>
              <a:buNone/>
            </a:pPr>
            <a:r>
              <a:rPr lang="en-US" sz="1050" b="1" dirty="0">
                <a:solidFill>
                  <a:srgbClr val="1C2B33"/>
                </a:solidFill>
                <a:latin typeface="Calibri" pitchFamily="34" charset="0"/>
                <a:ea typeface="Calibri" pitchFamily="34" charset="-122"/>
                <a:cs typeface="Calibri" pitchFamily="34" charset="-120"/>
              </a:rPr>
              <a:t>Inherits, plus risk and reputation</a:t>
            </a:r>
            <a:endParaRPr lang="en-US" sz="1050" dirty="0"/>
          </a:p>
        </p:txBody>
      </p:sp>
      <p:sp>
        <p:nvSpPr>
          <p:cNvPr id="72" name="shape-68"/>
          <p:cNvSpPr/>
          <p:nvPr/>
        </p:nvSpPr>
        <p:spPr>
          <a:xfrm>
            <a:off x="6675120" y="4974336"/>
            <a:ext cx="2286000" cy="768096"/>
          </a:xfrm>
          <a:prstGeom prst="roundRect">
            <a:avLst>
              <a:gd name="adj" fmla="val 9524"/>
            </a:avLst>
          </a:prstGeom>
          <a:solidFill>
            <a:srgbClr val="FFFFFF"/>
          </a:solidFill>
          <a:ln w="15875">
            <a:solidFill>
              <a:srgbClr val="D4DBE0"/>
            </a:solidFill>
            <a:prstDash val="solid"/>
          </a:ln>
        </p:spPr>
      </p:sp>
      <p:sp>
        <p:nvSpPr>
          <p:cNvPr id="73" name="text-69"/>
          <p:cNvSpPr txBox="1"/>
          <p:nvPr/>
        </p:nvSpPr>
        <p:spPr>
          <a:xfrm>
            <a:off x="6766560" y="4974336"/>
            <a:ext cx="2103120" cy="768096"/>
          </a:xfrm>
          <a:prstGeom prst="rect">
            <a:avLst/>
          </a:prstGeom>
          <a:noFill/>
          <a:ln/>
        </p:spPr>
        <p:txBody>
          <a:bodyPr wrap="square" lIns="0" tIns="0" rIns="0" bIns="0" rtlCol="0" anchor="ctr"/>
          <a:lstStyle/>
          <a:p>
            <a:pPr algn="ctr" indent="0" marL="0">
              <a:lnSpc>
                <a:spcPct val="100000"/>
              </a:lnSpc>
              <a:buNone/>
            </a:pPr>
            <a:r>
              <a:rPr lang="en-US" sz="1050" b="1" dirty="0">
                <a:solidFill>
                  <a:srgbClr val="1C2B33"/>
                </a:solidFill>
                <a:latin typeface="Calibri" pitchFamily="34" charset="0"/>
                <a:ea typeface="Calibri" pitchFamily="34" charset="-122"/>
                <a:cs typeface="Calibri" pitchFamily="34" charset="-120"/>
              </a:rPr>
              <a:t>Inherits A wherever it sits in A’s path</a:t>
            </a:r>
            <a:endParaRPr lang="en-US" sz="1050" dirty="0"/>
          </a:p>
        </p:txBody>
      </p:sp>
      <p:sp>
        <p:nvSpPr>
          <p:cNvPr id="74" name="tri-70"/>
          <p:cNvSpPr/>
          <p:nvPr/>
        </p:nvSpPr>
        <p:spPr>
          <a:xfrm rot="5400000">
            <a:off x="3913632" y="5294376"/>
            <a:ext cx="128016" cy="128016"/>
          </a:xfrm>
          <a:prstGeom prst="triangle">
            <a:avLst/>
          </a:prstGeom>
          <a:solidFill>
            <a:srgbClr val="D4DBE0"/>
          </a:solidFill>
          <a:ln w="12700">
            <a:solidFill>
              <a:srgbClr val="D4DBE0"/>
            </a:solidFill>
            <a:prstDash val="solid"/>
          </a:ln>
        </p:spPr>
      </p:sp>
      <p:sp>
        <p:nvSpPr>
          <p:cNvPr id="75" name="tri-71"/>
          <p:cNvSpPr/>
          <p:nvPr/>
        </p:nvSpPr>
        <p:spPr>
          <a:xfrm rot="5400000">
            <a:off x="6473952" y="5294376"/>
            <a:ext cx="128016" cy="128016"/>
          </a:xfrm>
          <a:prstGeom prst="triangle">
            <a:avLst/>
          </a:prstGeom>
          <a:solidFill>
            <a:srgbClr val="D4DBE0"/>
          </a:solidFill>
          <a:ln w="12700">
            <a:solidFill>
              <a:srgbClr val="D4DBE0"/>
            </a:solidFill>
            <a:prstDash val="solid"/>
          </a:ln>
        </p:spPr>
      </p:sp>
      <p:sp>
        <p:nvSpPr>
          <p:cNvPr id="76" name="shape-72"/>
          <p:cNvSpPr/>
          <p:nvPr/>
        </p:nvSpPr>
        <p:spPr>
          <a:xfrm>
            <a:off x="9326880" y="4974336"/>
            <a:ext cx="2103120" cy="768096"/>
          </a:xfrm>
          <a:prstGeom prst="roundRect">
            <a:avLst>
              <a:gd name="adj" fmla="val 9524"/>
            </a:avLst>
          </a:prstGeom>
          <a:solidFill>
            <a:srgbClr val="D6ECE9"/>
          </a:solidFill>
          <a:ln w="15875">
            <a:solidFill>
              <a:srgbClr val="0F766E"/>
            </a:solidFill>
            <a:prstDash val="sysDash"/>
          </a:ln>
        </p:spPr>
      </p:sp>
      <p:sp>
        <p:nvSpPr>
          <p:cNvPr id="77" name="oval-73"/>
          <p:cNvSpPr/>
          <p:nvPr/>
        </p:nvSpPr>
        <p:spPr>
          <a:xfrm>
            <a:off x="9427464" y="5257800"/>
            <a:ext cx="201168" cy="201168"/>
          </a:xfrm>
          <a:prstGeom prst="ellipse">
            <a:avLst/>
          </a:prstGeom>
          <a:solidFill>
            <a:srgbClr val="0F766E"/>
          </a:solidFill>
          <a:ln w="12700">
            <a:solidFill>
              <a:srgbClr val="0F766E"/>
            </a:solidFill>
            <a:prstDash val="solid"/>
          </a:ln>
        </p:spPr>
      </p:sp>
      <p:sp>
        <p:nvSpPr>
          <p:cNvPr id="78" name="text-74"/>
          <p:cNvSpPr txBox="1"/>
          <p:nvPr/>
        </p:nvSpPr>
        <p:spPr>
          <a:xfrm>
            <a:off x="9427464" y="5257800"/>
            <a:ext cx="201168" cy="201168"/>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79" name="text-75"/>
          <p:cNvSpPr txBox="1"/>
          <p:nvPr/>
        </p:nvSpPr>
        <p:spPr>
          <a:xfrm>
            <a:off x="9729216" y="4974336"/>
            <a:ext cx="1609344" cy="768096"/>
          </a:xfrm>
          <a:prstGeom prst="rect">
            <a:avLst/>
          </a:prstGeom>
          <a:noFill/>
          <a:ln/>
        </p:spPr>
        <p:txBody>
          <a:bodyPr wrap="square" lIns="0" tIns="0" rIns="0" bIns="0" rtlCol="0" anchor="ctr"/>
          <a:lstStyle/>
          <a:p>
            <a:pPr algn="l" indent="0" marL="0">
              <a:lnSpc>
                <a:spcPct val="100000"/>
              </a:lnSpc>
              <a:buNone/>
            </a:pPr>
            <a:r>
              <a:rPr lang="en-US" sz="950" dirty="0">
                <a:solidFill>
                  <a:srgbClr val="134E4A"/>
                </a:solidFill>
                <a:latin typeface="Calibri" pitchFamily="34" charset="0"/>
                <a:ea typeface="Calibri" pitchFamily="34" charset="-122"/>
                <a:cs typeface="Calibri" pitchFamily="34" charset="-120"/>
              </a:rPr>
              <a:t>Review, triage, runbooks</a:t>
            </a:r>
            <a:endParaRPr lang="en-US" sz="950" dirty="0"/>
          </a:p>
        </p:txBody>
      </p:sp>
      <p:sp>
        <p:nvSpPr>
          <p:cNvPr id="80" name="text-76"/>
          <p:cNvSpPr txBox="1"/>
          <p:nvPr/>
        </p:nvSpPr>
        <p:spPr>
          <a:xfrm>
            <a:off x="548640" y="6217920"/>
            <a:ext cx="11064240" cy="164592"/>
          </a:xfrm>
          <a:prstGeom prst="rect">
            <a:avLst/>
          </a:prstGeom>
          <a:noFill/>
          <a:ln/>
        </p:spPr>
        <p:txBody>
          <a:bodyPr wrap="square" lIns="0" tIns="0" rIns="0" bIns="0" rtlCol="0" anchor="ctr"/>
          <a:lstStyle/>
          <a:p>
            <a:pPr algn="l" indent="0" marL="0">
              <a:lnSpc>
                <a:spcPct val="100000"/>
              </a:lnSpc>
              <a:buNone/>
            </a:pPr>
            <a:r>
              <a:rPr lang="en-US" sz="950" i="1" dirty="0">
                <a:solidFill>
                  <a:srgbClr val="5A6B75"/>
                </a:solidFill>
                <a:latin typeface="Calibri" pitchFamily="34" charset="0"/>
                <a:ea typeface="Calibri" pitchFamily="34" charset="-122"/>
                <a:cs typeface="Calibri" pitchFamily="34" charset="-120"/>
              </a:rPr>
              <a:t>Components as named in the vendor proposal; which lands where is a Gate 2 outcome. AI is additive on every row and never reaches published content or production without a human gate.</a:t>
            </a:r>
            <a:endParaRPr lang="en-US" sz="950" dirty="0"/>
          </a:p>
        </p:txBody>
      </p:sp>
      <p:sp>
        <p:nvSpPr>
          <p:cNvPr id="81" name="version-stamp"/>
          <p:cNvSpPr txBox="1"/>
          <p:nvPr/>
        </p:nvSpPr>
        <p:spPr>
          <a:xfrm>
            <a:off x="548640" y="6656832"/>
            <a:ext cx="6400800" cy="146304"/>
          </a:xfrm>
          <a:prstGeom prst="rect">
            <a:avLst/>
          </a:prstGeom>
          <a:noFill/>
          <a:ln/>
        </p:spPr>
        <p:txBody>
          <a:bodyPr wrap="square" lIns="0" tIns="0" rIns="0" bIns="0" rtlCol="0" anchor="ctr"/>
          <a:lstStyle/>
          <a:p>
            <a:pPr algn="l" indent="0" marL="0">
              <a:lnSpc>
                <a:spcPct val="100000"/>
              </a:lnSpc>
              <a:buNone/>
            </a:pPr>
            <a:r>
              <a:rPr lang="en-US" sz="700" dirty="0">
                <a:solidFill>
                  <a:srgbClr val="5A6B75"/>
                </a:solidFill>
                <a:latin typeface="Calibri" pitchFamily="34" charset="0"/>
                <a:ea typeface="Calibri" pitchFamily="34" charset="-122"/>
                <a:cs typeface="Calibri" pitchFamily="34" charset="-120"/>
              </a:rPr>
              <a:t>Modernisation deck · Slide 3 · native · 2026-10-15</a:t>
            </a:r>
            <a:endParaRPr lang="en-US" sz="700" dirty="0"/>
          </a:p>
        </p:txBody>
      </p:sp>
      <p:sp>
        <p:nvSpPr>
          <p:cNvPr id="25" name="Slide Number Placeholder 0"/>
          <p:cNvSpPr>
            <a:spLocks noGrp="1"/>
          </p:cNvSpPr>
          <p:nvPr>
            <p:ph type="sldNum" sz="quarter" idx="4294967295"/>
          </p:nvPr>
        </p:nvSpPr>
        <p:spPr>
          <a:xfrm>
            <a:off x="11247120" y="6601968"/>
            <a:ext cx="41148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B7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kicker"/>
          <p:cNvSpPr txBox="1"/>
          <p:nvPr/>
        </p:nvSpPr>
        <p:spPr>
          <a:xfrm>
            <a:off x="548640" y="402336"/>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4  ·  WHAT BULLET-PROOF WOULD TAKE: FIVE KINDS OF PROTECTION</a:t>
            </a:r>
            <a:endParaRPr lang="en-US" sz="800" dirty="0"/>
          </a:p>
        </p:txBody>
      </p:sp>
      <p:sp>
        <p:nvSpPr>
          <p:cNvPr id="3" name="title"/>
          <p:cNvSpPr txBox="1"/>
          <p:nvPr/>
        </p:nvSpPr>
        <p:spPr>
          <a:xfrm>
            <a:off x="548640" y="713232"/>
            <a:ext cx="11155680" cy="384048"/>
          </a:xfrm>
          <a:prstGeom prst="rect">
            <a:avLst/>
          </a:prstGeom>
          <a:noFill/>
          <a:ln/>
        </p:spPr>
        <p:txBody>
          <a:bodyPr wrap="none" lIns="0" tIns="0" rIns="0" bIns="0" rtlCol="0" anchor="ctr"/>
          <a:lstStyle/>
          <a:p>
            <a:pPr algn="l" indent="0" marL="0">
              <a:lnSpc>
                <a:spcPct val="100000"/>
              </a:lnSpc>
              <a:buNone/>
            </a:pPr>
            <a:r>
              <a:rPr lang="en-US" sz="2000" b="1" dirty="0">
                <a:solidFill>
                  <a:srgbClr val="1C2B33"/>
                </a:solidFill>
                <a:latin typeface="Calibri" pitchFamily="34" charset="0"/>
                <a:ea typeface="Calibri" pitchFamily="34" charset="-122"/>
                <a:cs typeface="Calibri" pitchFamily="34" charset="-120"/>
              </a:rPr>
              <a:t>If the board’s appetite for the product is five nines, this is the toolkit it would take</a:t>
            </a:r>
            <a:endParaRPr lang="en-US" sz="2000" dirty="0"/>
          </a:p>
        </p:txBody>
      </p:sp>
      <p:sp>
        <p:nvSpPr>
          <p:cNvPr id="4" name="shape-0"/>
          <p:cNvSpPr/>
          <p:nvPr/>
        </p:nvSpPr>
        <p:spPr>
          <a:xfrm>
            <a:off x="9820656" y="384048"/>
            <a:ext cx="1792224" cy="182880"/>
          </a:xfrm>
          <a:prstGeom prst="roundRect">
            <a:avLst>
              <a:gd name="adj" fmla="val 50000"/>
            </a:avLst>
          </a:prstGeom>
          <a:solidFill>
            <a:srgbClr val="FDF1E3"/>
          </a:solidFill>
          <a:ln w="9525">
            <a:solidFill>
              <a:srgbClr val="B45309"/>
            </a:solidFill>
            <a:prstDash val="solid"/>
          </a:ln>
        </p:spPr>
      </p:sp>
      <p:sp>
        <p:nvSpPr>
          <p:cNvPr id="5" name="text-1"/>
          <p:cNvSpPr txBox="1"/>
          <p:nvPr/>
        </p:nvSpPr>
        <p:spPr>
          <a:xfrm>
            <a:off x="9820656" y="384048"/>
            <a:ext cx="1792224" cy="182880"/>
          </a:xfrm>
          <a:prstGeom prst="rect">
            <a:avLst/>
          </a:prstGeom>
          <a:noFill/>
          <a:ln/>
        </p:spPr>
        <p:txBody>
          <a:bodyPr wrap="square" lIns="0" tIns="0" rIns="0" bIns="0" rtlCol="0" anchor="ctr"/>
          <a:lstStyle/>
          <a:p>
            <a:pPr algn="ctr" indent="0" marL="0">
              <a:lnSpc>
                <a:spcPct val="100000"/>
              </a:lnSpc>
              <a:buNone/>
            </a:pPr>
            <a:r>
              <a:rPr lang="en-US" sz="750" b="1" spc="100" kern="0" dirty="0">
                <a:solidFill>
                  <a:srgbClr val="B45309"/>
                </a:solidFill>
                <a:latin typeface="Calibri" pitchFamily="34" charset="0"/>
                <a:ea typeface="Calibri" pitchFamily="34" charset="-122"/>
                <a:cs typeface="Calibri" pitchFamily="34" charset="-120"/>
              </a:rPr>
              <a:t>ILLUSTRATIVE — TESTED AT GATE 2</a:t>
            </a:r>
            <a:endParaRPr lang="en-US" sz="750" dirty="0"/>
          </a:p>
        </p:txBody>
      </p:sp>
      <p:sp>
        <p:nvSpPr>
          <p:cNvPr id="6" name="shape-2"/>
          <p:cNvSpPr/>
          <p:nvPr/>
        </p:nvSpPr>
        <p:spPr>
          <a:xfrm>
            <a:off x="548640" y="1463040"/>
            <a:ext cx="2125066" cy="3657600"/>
          </a:xfrm>
          <a:prstGeom prst="roundRect">
            <a:avLst>
              <a:gd name="adj" fmla="val 3442"/>
            </a:avLst>
          </a:prstGeom>
          <a:solidFill>
            <a:srgbClr val="134E4A"/>
          </a:solidFill>
          <a:ln w="12700">
            <a:solidFill>
              <a:srgbClr val="134E4A"/>
            </a:solidFill>
            <a:prstDash val="solid"/>
          </a:ln>
        </p:spPr>
      </p:sp>
      <p:pic>
        <p:nvPicPr>
          <p:cNvPr id="7" name="icon-3" descr="preencoded.png">    </p:cNvPr>
          <p:cNvPicPr>
            <a:picLocks noChangeAspect="1"/>
          </p:cNvPicPr>
          <p:nvPr/>
        </p:nvPicPr>
        <p:blipFill>
          <a:blip r:embed="rId1"/>
          <a:stretch>
            <a:fillRect/>
          </a:stretch>
        </p:blipFill>
        <p:spPr>
          <a:xfrm>
            <a:off x="694944" y="1627632"/>
            <a:ext cx="219456" cy="219456"/>
          </a:xfrm>
          <a:prstGeom prst="rect">
            <a:avLst/>
          </a:prstGeom>
        </p:spPr>
      </p:pic>
      <p:sp>
        <p:nvSpPr>
          <p:cNvPr id="8" name="text-4"/>
          <p:cNvSpPr txBox="1"/>
          <p:nvPr/>
        </p:nvSpPr>
        <p:spPr>
          <a:xfrm>
            <a:off x="1005840" y="1627632"/>
            <a:ext cx="1576426" cy="237744"/>
          </a:xfrm>
          <a:prstGeom prst="rect">
            <a:avLst/>
          </a:prstGeom>
          <a:noFill/>
          <a:ln/>
        </p:spPr>
        <p:txBody>
          <a:bodyPr wrap="square" lIns="0" tIns="0" rIns="0" bIns="0" rtlCol="0" anchor="ctr"/>
          <a:lstStyle/>
          <a:p>
            <a:pPr algn="l" indent="0" marL="0">
              <a:lnSpc>
                <a:spcPct val="100000"/>
              </a:lnSpc>
              <a:buNone/>
            </a:pPr>
            <a:r>
              <a:rPr lang="en-US" sz="1150" b="1" dirty="0">
                <a:solidFill>
                  <a:srgbClr val="FFFFFF"/>
                </a:solidFill>
                <a:latin typeface="Calibri" pitchFamily="34" charset="0"/>
                <a:ea typeface="Calibri" pitchFamily="34" charset="-122"/>
                <a:cs typeface="Calibri" pitchFamily="34" charset="-120"/>
              </a:rPr>
              <a:t>1 · Isolate</a:t>
            </a:r>
            <a:endParaRPr lang="en-US" sz="1150" dirty="0"/>
          </a:p>
        </p:txBody>
      </p:sp>
      <p:sp>
        <p:nvSpPr>
          <p:cNvPr id="9" name="text-5"/>
          <p:cNvSpPr txBox="1"/>
          <p:nvPr/>
        </p:nvSpPr>
        <p:spPr>
          <a:xfrm>
            <a:off x="694944" y="1901952"/>
            <a:ext cx="1850746" cy="164592"/>
          </a:xfrm>
          <a:prstGeom prst="rect">
            <a:avLst/>
          </a:prstGeom>
          <a:noFill/>
          <a:ln/>
        </p:spPr>
        <p:txBody>
          <a:bodyPr wrap="square" lIns="0" tIns="0" rIns="0" bIns="0" rtlCol="0" anchor="ctr"/>
          <a:lstStyle/>
          <a:p>
            <a:pPr algn="l" indent="0" marL="0">
              <a:lnSpc>
                <a:spcPct val="100000"/>
              </a:lnSpc>
              <a:buNone/>
            </a:pPr>
            <a:r>
              <a:rPr lang="en-US" sz="850" i="1" dirty="0">
                <a:solidFill>
                  <a:srgbClr val="CFE8E5"/>
                </a:solidFill>
                <a:latin typeface="Calibri" pitchFamily="34" charset="0"/>
                <a:ea typeface="Calibri" pitchFamily="34" charset="-122"/>
                <a:cs typeface="Calibri" pitchFamily="34" charset="-120"/>
              </a:rPr>
              <a:t>no shared fate</a:t>
            </a:r>
            <a:endParaRPr lang="en-US" sz="850" dirty="0"/>
          </a:p>
        </p:txBody>
      </p:sp>
      <p:sp>
        <p:nvSpPr>
          <p:cNvPr id="10" name="shape-6"/>
          <p:cNvSpPr/>
          <p:nvPr/>
        </p:nvSpPr>
        <p:spPr>
          <a:xfrm>
            <a:off x="658368" y="2286000"/>
            <a:ext cx="1905610" cy="457200"/>
          </a:xfrm>
          <a:prstGeom prst="roundRect">
            <a:avLst>
              <a:gd name="adj" fmla="val 10000"/>
            </a:avLst>
          </a:prstGeom>
          <a:solidFill>
            <a:srgbClr val="2A6660"/>
          </a:solidFill>
          <a:ln w="12700">
            <a:solidFill>
              <a:srgbClr val="2A6660"/>
            </a:solidFill>
            <a:prstDash val="solid"/>
          </a:ln>
        </p:spPr>
      </p:sp>
      <p:sp>
        <p:nvSpPr>
          <p:cNvPr id="11" name="text-7"/>
          <p:cNvSpPr txBox="1"/>
          <p:nvPr/>
        </p:nvSpPr>
        <p:spPr>
          <a:xfrm>
            <a:off x="731520" y="232257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FFFFFF"/>
                </a:solidFill>
                <a:latin typeface="Calibri" pitchFamily="34" charset="0"/>
                <a:ea typeface="Calibri" pitchFamily="34" charset="-122"/>
                <a:cs typeface="Calibri" pitchFamily="34" charset="-120"/>
              </a:rPr>
              <a:t>Hub and spoke; commodity behind the bus</a:t>
            </a:r>
            <a:endParaRPr lang="en-US" sz="950" dirty="0"/>
          </a:p>
        </p:txBody>
      </p:sp>
      <p:sp>
        <p:nvSpPr>
          <p:cNvPr id="12" name="shape-8"/>
          <p:cNvSpPr/>
          <p:nvPr/>
        </p:nvSpPr>
        <p:spPr>
          <a:xfrm>
            <a:off x="658368" y="2834640"/>
            <a:ext cx="1905610" cy="457200"/>
          </a:xfrm>
          <a:prstGeom prst="roundRect">
            <a:avLst>
              <a:gd name="adj" fmla="val 10000"/>
            </a:avLst>
          </a:prstGeom>
          <a:solidFill>
            <a:srgbClr val="2A6660"/>
          </a:solidFill>
          <a:ln w="12700">
            <a:solidFill>
              <a:srgbClr val="2A6660"/>
            </a:solidFill>
            <a:prstDash val="solid"/>
          </a:ln>
        </p:spPr>
      </p:sp>
      <p:sp>
        <p:nvSpPr>
          <p:cNvPr id="13" name="text-9"/>
          <p:cNvSpPr txBox="1"/>
          <p:nvPr/>
        </p:nvSpPr>
        <p:spPr>
          <a:xfrm>
            <a:off x="731520" y="287121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FFFFFF"/>
                </a:solidFill>
                <a:latin typeface="Calibri" pitchFamily="34" charset="0"/>
                <a:ea typeface="Calibri" pitchFamily="34" charset="-122"/>
                <a:cs typeface="Calibri" pitchFamily="34" charset="-120"/>
              </a:rPr>
              <a:t>Published content at the edge (CDN)</a:t>
            </a:r>
            <a:endParaRPr lang="en-US" sz="950" dirty="0"/>
          </a:p>
        </p:txBody>
      </p:sp>
      <p:sp>
        <p:nvSpPr>
          <p:cNvPr id="14" name="shape-10"/>
          <p:cNvSpPr/>
          <p:nvPr/>
        </p:nvSpPr>
        <p:spPr>
          <a:xfrm>
            <a:off x="658368" y="3383280"/>
            <a:ext cx="1905610" cy="457200"/>
          </a:xfrm>
          <a:prstGeom prst="roundRect">
            <a:avLst>
              <a:gd name="adj" fmla="val 10000"/>
            </a:avLst>
          </a:prstGeom>
          <a:solidFill>
            <a:srgbClr val="2A6660"/>
          </a:solidFill>
          <a:ln w="12700">
            <a:solidFill>
              <a:srgbClr val="2A6660"/>
            </a:solidFill>
            <a:prstDash val="solid"/>
          </a:ln>
        </p:spPr>
      </p:sp>
      <p:sp>
        <p:nvSpPr>
          <p:cNvPr id="15" name="text-11"/>
          <p:cNvSpPr txBox="1"/>
          <p:nvPr/>
        </p:nvSpPr>
        <p:spPr>
          <a:xfrm>
            <a:off x="731520" y="341985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FFFFFF"/>
                </a:solidFill>
                <a:latin typeface="Calibri" pitchFamily="34" charset="0"/>
                <a:ea typeface="Calibri" pitchFamily="34" charset="-122"/>
                <a:cs typeface="Calibri" pitchFamily="34" charset="-120"/>
              </a:rPr>
              <a:t>Entitlements cached, with grace</a:t>
            </a:r>
            <a:endParaRPr lang="en-US" sz="950" dirty="0"/>
          </a:p>
        </p:txBody>
      </p:sp>
      <p:sp>
        <p:nvSpPr>
          <p:cNvPr id="16" name="shape-12"/>
          <p:cNvSpPr/>
          <p:nvPr/>
        </p:nvSpPr>
        <p:spPr>
          <a:xfrm>
            <a:off x="658368" y="3931920"/>
            <a:ext cx="1905610" cy="457200"/>
          </a:xfrm>
          <a:prstGeom prst="roundRect">
            <a:avLst>
              <a:gd name="adj" fmla="val 10000"/>
            </a:avLst>
          </a:prstGeom>
          <a:solidFill>
            <a:srgbClr val="2A6660"/>
          </a:solidFill>
          <a:ln w="12700">
            <a:solidFill>
              <a:srgbClr val="2A6660"/>
            </a:solidFill>
            <a:prstDash val="solid"/>
          </a:ln>
        </p:spPr>
      </p:sp>
      <p:sp>
        <p:nvSpPr>
          <p:cNvPr id="17" name="text-13"/>
          <p:cNvSpPr txBox="1"/>
          <p:nvPr/>
        </p:nvSpPr>
        <p:spPr>
          <a:xfrm>
            <a:off x="731520" y="396849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FFFFFF"/>
                </a:solidFill>
                <a:latin typeface="Calibri" pitchFamily="34" charset="0"/>
                <a:ea typeface="Calibri" pitchFamily="34" charset="-122"/>
                <a:cs typeface="Calibri" pitchFamily="34" charset="-120"/>
              </a:rPr>
              <a:t>Read-only degraded mode</a:t>
            </a:r>
            <a:endParaRPr lang="en-US" sz="950" dirty="0"/>
          </a:p>
        </p:txBody>
      </p:sp>
      <p:sp>
        <p:nvSpPr>
          <p:cNvPr id="18" name="shape-14"/>
          <p:cNvSpPr/>
          <p:nvPr/>
        </p:nvSpPr>
        <p:spPr>
          <a:xfrm>
            <a:off x="658368" y="4480560"/>
            <a:ext cx="1905610" cy="457200"/>
          </a:xfrm>
          <a:prstGeom prst="roundRect">
            <a:avLst>
              <a:gd name="adj" fmla="val 10000"/>
            </a:avLst>
          </a:prstGeom>
          <a:solidFill>
            <a:srgbClr val="2A6660"/>
          </a:solidFill>
          <a:ln w="12700">
            <a:solidFill>
              <a:srgbClr val="2A6660"/>
            </a:solidFill>
            <a:prstDash val="solid"/>
          </a:ln>
        </p:spPr>
      </p:sp>
      <p:sp>
        <p:nvSpPr>
          <p:cNvPr id="19" name="text-15"/>
          <p:cNvSpPr txBox="1"/>
          <p:nvPr/>
        </p:nvSpPr>
        <p:spPr>
          <a:xfrm>
            <a:off x="731520" y="451713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FFFFFF"/>
                </a:solidFill>
                <a:latin typeface="Calibri" pitchFamily="34" charset="0"/>
                <a:ea typeface="Calibri" pitchFamily="34" charset="-122"/>
                <a:cs typeface="Calibri" pitchFamily="34" charset="-120"/>
              </a:rPr>
              <a:t>Bulkheads, circuit breakers, back-pressure</a:t>
            </a:r>
            <a:endParaRPr lang="en-US" sz="950" dirty="0"/>
          </a:p>
        </p:txBody>
      </p:sp>
      <p:sp>
        <p:nvSpPr>
          <p:cNvPr id="20" name="shape-16"/>
          <p:cNvSpPr/>
          <p:nvPr/>
        </p:nvSpPr>
        <p:spPr>
          <a:xfrm>
            <a:off x="2783434" y="1463040"/>
            <a:ext cx="2125066" cy="3657600"/>
          </a:xfrm>
          <a:prstGeom prst="roundRect">
            <a:avLst>
              <a:gd name="adj" fmla="val 3442"/>
            </a:avLst>
          </a:prstGeom>
          <a:solidFill>
            <a:srgbClr val="EEF2F4"/>
          </a:solidFill>
          <a:ln w="12700">
            <a:solidFill>
              <a:srgbClr val="EEF2F4"/>
            </a:solidFill>
            <a:prstDash val="solid"/>
          </a:ln>
        </p:spPr>
      </p:sp>
      <p:pic>
        <p:nvPicPr>
          <p:cNvPr id="21" name="icon-17" descr="preencoded.png">    </p:cNvPr>
          <p:cNvPicPr>
            <a:picLocks noChangeAspect="1"/>
          </p:cNvPicPr>
          <p:nvPr/>
        </p:nvPicPr>
        <p:blipFill>
          <a:blip r:embed="rId2"/>
          <a:stretch>
            <a:fillRect/>
          </a:stretch>
        </p:blipFill>
        <p:spPr>
          <a:xfrm>
            <a:off x="2929738" y="1627632"/>
            <a:ext cx="219456" cy="219456"/>
          </a:xfrm>
          <a:prstGeom prst="rect">
            <a:avLst/>
          </a:prstGeom>
        </p:spPr>
      </p:pic>
      <p:sp>
        <p:nvSpPr>
          <p:cNvPr id="22" name="text-18"/>
          <p:cNvSpPr txBox="1"/>
          <p:nvPr/>
        </p:nvSpPr>
        <p:spPr>
          <a:xfrm>
            <a:off x="3240634" y="1627632"/>
            <a:ext cx="1576426" cy="237744"/>
          </a:xfrm>
          <a:prstGeom prst="rect">
            <a:avLst/>
          </a:prstGeom>
          <a:noFill/>
          <a:ln/>
        </p:spPr>
        <p:txBody>
          <a:bodyPr wrap="square" lIns="0" tIns="0" rIns="0" bIns="0" rtlCol="0" anchor="ctr"/>
          <a:lstStyle/>
          <a:p>
            <a:pPr algn="l" indent="0" marL="0">
              <a:lnSpc>
                <a:spcPct val="100000"/>
              </a:lnSpc>
              <a:buNone/>
            </a:pPr>
            <a:r>
              <a:rPr lang="en-US" sz="1150" b="1" dirty="0">
                <a:solidFill>
                  <a:srgbClr val="1C2B33"/>
                </a:solidFill>
                <a:latin typeface="Calibri" pitchFamily="34" charset="0"/>
                <a:ea typeface="Calibri" pitchFamily="34" charset="-122"/>
                <a:cs typeface="Calibri" pitchFamily="34" charset="-120"/>
              </a:rPr>
              <a:t>2 · Replicate</a:t>
            </a:r>
            <a:endParaRPr lang="en-US" sz="1150" dirty="0"/>
          </a:p>
        </p:txBody>
      </p:sp>
      <p:sp>
        <p:nvSpPr>
          <p:cNvPr id="23" name="text-19"/>
          <p:cNvSpPr txBox="1"/>
          <p:nvPr/>
        </p:nvSpPr>
        <p:spPr>
          <a:xfrm>
            <a:off x="2929738" y="1901952"/>
            <a:ext cx="1850746" cy="164592"/>
          </a:xfrm>
          <a:prstGeom prst="rect">
            <a:avLst/>
          </a:prstGeom>
          <a:noFill/>
          <a:ln/>
        </p:spPr>
        <p:txBody>
          <a:bodyPr wrap="square" lIns="0" tIns="0" rIns="0" bIns="0" rtlCol="0" anchor="ctr"/>
          <a:lstStyle/>
          <a:p>
            <a:pPr algn="l" indent="0" marL="0">
              <a:lnSpc>
                <a:spcPct val="100000"/>
              </a:lnSpc>
              <a:buNone/>
            </a:pPr>
            <a:r>
              <a:rPr lang="en-US" sz="850" i="1" dirty="0">
                <a:solidFill>
                  <a:srgbClr val="5A6B75"/>
                </a:solidFill>
                <a:latin typeface="Calibri" pitchFamily="34" charset="0"/>
                <a:ea typeface="Calibri" pitchFamily="34" charset="-122"/>
                <a:cs typeface="Calibri" pitchFamily="34" charset="-120"/>
              </a:rPr>
              <a:t>no single point</a:t>
            </a:r>
            <a:endParaRPr lang="en-US" sz="850" dirty="0"/>
          </a:p>
        </p:txBody>
      </p:sp>
      <p:sp>
        <p:nvSpPr>
          <p:cNvPr id="24" name="shape-20"/>
          <p:cNvSpPr/>
          <p:nvPr/>
        </p:nvSpPr>
        <p:spPr>
          <a:xfrm>
            <a:off x="2893162" y="2286000"/>
            <a:ext cx="1905610" cy="457200"/>
          </a:xfrm>
          <a:prstGeom prst="roundRect">
            <a:avLst>
              <a:gd name="adj" fmla="val 10000"/>
            </a:avLst>
          </a:prstGeom>
          <a:solidFill>
            <a:srgbClr val="FFFFFF"/>
          </a:solidFill>
          <a:ln w="12700">
            <a:solidFill>
              <a:srgbClr val="FFFFFF"/>
            </a:solidFill>
            <a:prstDash val="solid"/>
          </a:ln>
        </p:spPr>
      </p:sp>
      <p:sp>
        <p:nvSpPr>
          <p:cNvPr id="25" name="text-21"/>
          <p:cNvSpPr txBox="1"/>
          <p:nvPr/>
        </p:nvSpPr>
        <p:spPr>
          <a:xfrm>
            <a:off x="2966314" y="232257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Active-active across regions</a:t>
            </a:r>
            <a:endParaRPr lang="en-US" sz="950" dirty="0"/>
          </a:p>
        </p:txBody>
      </p:sp>
      <p:sp>
        <p:nvSpPr>
          <p:cNvPr id="26" name="shape-22"/>
          <p:cNvSpPr/>
          <p:nvPr/>
        </p:nvSpPr>
        <p:spPr>
          <a:xfrm>
            <a:off x="2893162" y="2834640"/>
            <a:ext cx="1905610" cy="457200"/>
          </a:xfrm>
          <a:prstGeom prst="roundRect">
            <a:avLst>
              <a:gd name="adj" fmla="val 10000"/>
            </a:avLst>
          </a:prstGeom>
          <a:solidFill>
            <a:srgbClr val="FFFFFF"/>
          </a:solidFill>
          <a:ln w="12700">
            <a:solidFill>
              <a:srgbClr val="FFFFFF"/>
            </a:solidFill>
            <a:prstDash val="solid"/>
          </a:ln>
        </p:spPr>
      </p:sp>
      <p:sp>
        <p:nvSpPr>
          <p:cNvPr id="27" name="text-23"/>
          <p:cNvSpPr txBox="1"/>
          <p:nvPr/>
        </p:nvSpPr>
        <p:spPr>
          <a:xfrm>
            <a:off x="2966314" y="287121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Stateless services, replicated data</a:t>
            </a:r>
            <a:endParaRPr lang="en-US" sz="950" dirty="0"/>
          </a:p>
        </p:txBody>
      </p:sp>
      <p:sp>
        <p:nvSpPr>
          <p:cNvPr id="28" name="shape-24"/>
          <p:cNvSpPr/>
          <p:nvPr/>
        </p:nvSpPr>
        <p:spPr>
          <a:xfrm>
            <a:off x="2893162" y="3383280"/>
            <a:ext cx="1905610" cy="457200"/>
          </a:xfrm>
          <a:prstGeom prst="roundRect">
            <a:avLst>
              <a:gd name="adj" fmla="val 10000"/>
            </a:avLst>
          </a:prstGeom>
          <a:solidFill>
            <a:srgbClr val="FFFFFF"/>
          </a:solidFill>
          <a:ln w="12700">
            <a:solidFill>
              <a:srgbClr val="FFFFFF"/>
            </a:solidFill>
            <a:prstDash val="solid"/>
          </a:ln>
        </p:spPr>
      </p:sp>
      <p:sp>
        <p:nvSpPr>
          <p:cNvPr id="29" name="text-25"/>
          <p:cNvSpPr txBox="1"/>
          <p:nvPr/>
        </p:nvSpPr>
        <p:spPr>
          <a:xfrm>
            <a:off x="2966314" y="341985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Identity-provider outage plan</a:t>
            </a:r>
            <a:endParaRPr lang="en-US" sz="950" dirty="0"/>
          </a:p>
        </p:txBody>
      </p:sp>
      <p:sp>
        <p:nvSpPr>
          <p:cNvPr id="30" name="shape-26"/>
          <p:cNvSpPr/>
          <p:nvPr/>
        </p:nvSpPr>
        <p:spPr>
          <a:xfrm>
            <a:off x="2893162" y="3931920"/>
            <a:ext cx="1905610" cy="457200"/>
          </a:xfrm>
          <a:prstGeom prst="roundRect">
            <a:avLst>
              <a:gd name="adj" fmla="val 10000"/>
            </a:avLst>
          </a:prstGeom>
          <a:solidFill>
            <a:srgbClr val="FFFFFF"/>
          </a:solidFill>
          <a:ln w="12700">
            <a:solidFill>
              <a:srgbClr val="FFFFFF"/>
            </a:solidFill>
            <a:prstDash val="solid"/>
          </a:ln>
        </p:spPr>
      </p:sp>
      <p:sp>
        <p:nvSpPr>
          <p:cNvPr id="31" name="text-27"/>
          <p:cNvSpPr txBox="1"/>
          <p:nvPr/>
        </p:nvSpPr>
        <p:spPr>
          <a:xfrm>
            <a:off x="2966314" y="396849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SaaS and vendor failover plans</a:t>
            </a:r>
            <a:endParaRPr lang="en-US" sz="950" dirty="0"/>
          </a:p>
        </p:txBody>
      </p:sp>
      <p:sp>
        <p:nvSpPr>
          <p:cNvPr id="32" name="shape-28"/>
          <p:cNvSpPr/>
          <p:nvPr/>
        </p:nvSpPr>
        <p:spPr>
          <a:xfrm>
            <a:off x="2893162" y="4480560"/>
            <a:ext cx="1905610" cy="457200"/>
          </a:xfrm>
          <a:prstGeom prst="roundRect">
            <a:avLst>
              <a:gd name="adj" fmla="val 10000"/>
            </a:avLst>
          </a:prstGeom>
          <a:solidFill>
            <a:srgbClr val="FFFFFF"/>
          </a:solidFill>
          <a:ln w="12700">
            <a:solidFill>
              <a:srgbClr val="FFFFFF"/>
            </a:solidFill>
            <a:prstDash val="solid"/>
          </a:ln>
        </p:spPr>
      </p:sp>
      <p:sp>
        <p:nvSpPr>
          <p:cNvPr id="33" name="text-29"/>
          <p:cNvSpPr txBox="1"/>
          <p:nvPr/>
        </p:nvSpPr>
        <p:spPr>
          <a:xfrm>
            <a:off x="2966314" y="451713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Capacity headroom and load testing</a:t>
            </a:r>
            <a:endParaRPr lang="en-US" sz="950" dirty="0"/>
          </a:p>
        </p:txBody>
      </p:sp>
      <p:sp>
        <p:nvSpPr>
          <p:cNvPr id="34" name="shape-30"/>
          <p:cNvSpPr/>
          <p:nvPr/>
        </p:nvSpPr>
        <p:spPr>
          <a:xfrm>
            <a:off x="5018227" y="1463040"/>
            <a:ext cx="2125066" cy="3657600"/>
          </a:xfrm>
          <a:prstGeom prst="roundRect">
            <a:avLst>
              <a:gd name="adj" fmla="val 3442"/>
            </a:avLst>
          </a:prstGeom>
          <a:solidFill>
            <a:srgbClr val="EEF2F4"/>
          </a:solidFill>
          <a:ln w="12700">
            <a:solidFill>
              <a:srgbClr val="EEF2F4"/>
            </a:solidFill>
            <a:prstDash val="solid"/>
          </a:ln>
        </p:spPr>
      </p:sp>
      <p:pic>
        <p:nvPicPr>
          <p:cNvPr id="35" name="icon-31" descr="preencoded.png">    </p:cNvPr>
          <p:cNvPicPr>
            <a:picLocks noChangeAspect="1"/>
          </p:cNvPicPr>
          <p:nvPr/>
        </p:nvPicPr>
        <p:blipFill>
          <a:blip r:embed="rId3"/>
          <a:stretch>
            <a:fillRect/>
          </a:stretch>
        </p:blipFill>
        <p:spPr>
          <a:xfrm>
            <a:off x="5164531" y="1627632"/>
            <a:ext cx="219456" cy="219456"/>
          </a:xfrm>
          <a:prstGeom prst="rect">
            <a:avLst/>
          </a:prstGeom>
        </p:spPr>
      </p:pic>
      <p:sp>
        <p:nvSpPr>
          <p:cNvPr id="36" name="text-32"/>
          <p:cNvSpPr txBox="1"/>
          <p:nvPr/>
        </p:nvSpPr>
        <p:spPr>
          <a:xfrm>
            <a:off x="5475427" y="1627632"/>
            <a:ext cx="1576426" cy="237744"/>
          </a:xfrm>
          <a:prstGeom prst="rect">
            <a:avLst/>
          </a:prstGeom>
          <a:noFill/>
          <a:ln/>
        </p:spPr>
        <p:txBody>
          <a:bodyPr wrap="square" lIns="0" tIns="0" rIns="0" bIns="0" rtlCol="0" anchor="ctr"/>
          <a:lstStyle/>
          <a:p>
            <a:pPr algn="l" indent="0" marL="0">
              <a:lnSpc>
                <a:spcPct val="100000"/>
              </a:lnSpc>
              <a:buNone/>
            </a:pPr>
            <a:r>
              <a:rPr lang="en-US" sz="1150" b="1" dirty="0">
                <a:solidFill>
                  <a:srgbClr val="1C2B33"/>
                </a:solidFill>
                <a:latin typeface="Calibri" pitchFamily="34" charset="0"/>
                <a:ea typeface="Calibri" pitchFamily="34" charset="-122"/>
                <a:cs typeface="Calibri" pitchFamily="34" charset="-120"/>
              </a:rPr>
              <a:t>3 · Release safely</a:t>
            </a:r>
            <a:endParaRPr lang="en-US" sz="1150" dirty="0"/>
          </a:p>
        </p:txBody>
      </p:sp>
      <p:sp>
        <p:nvSpPr>
          <p:cNvPr id="37" name="text-33"/>
          <p:cNvSpPr txBox="1"/>
          <p:nvPr/>
        </p:nvSpPr>
        <p:spPr>
          <a:xfrm>
            <a:off x="5164531" y="1901952"/>
            <a:ext cx="1850746" cy="164592"/>
          </a:xfrm>
          <a:prstGeom prst="rect">
            <a:avLst/>
          </a:prstGeom>
          <a:noFill/>
          <a:ln/>
        </p:spPr>
        <p:txBody>
          <a:bodyPr wrap="square" lIns="0" tIns="0" rIns="0" bIns="0" rtlCol="0" anchor="ctr"/>
          <a:lstStyle/>
          <a:p>
            <a:pPr algn="l" indent="0" marL="0">
              <a:lnSpc>
                <a:spcPct val="100000"/>
              </a:lnSpc>
              <a:buNone/>
            </a:pPr>
            <a:r>
              <a:rPr lang="en-US" sz="850" i="1" dirty="0">
                <a:solidFill>
                  <a:srgbClr val="5A6B75"/>
                </a:solidFill>
                <a:latin typeface="Calibri" pitchFamily="34" charset="0"/>
                <a:ea typeface="Calibri" pitchFamily="34" charset="-122"/>
                <a:cs typeface="Calibri" pitchFamily="34" charset="-120"/>
              </a:rPr>
              <a:t>no big-bang change</a:t>
            </a:r>
            <a:endParaRPr lang="en-US" sz="850" dirty="0"/>
          </a:p>
        </p:txBody>
      </p:sp>
      <p:sp>
        <p:nvSpPr>
          <p:cNvPr id="38" name="shape-34"/>
          <p:cNvSpPr/>
          <p:nvPr/>
        </p:nvSpPr>
        <p:spPr>
          <a:xfrm>
            <a:off x="5127955" y="2286000"/>
            <a:ext cx="1905610" cy="457200"/>
          </a:xfrm>
          <a:prstGeom prst="roundRect">
            <a:avLst>
              <a:gd name="adj" fmla="val 10000"/>
            </a:avLst>
          </a:prstGeom>
          <a:solidFill>
            <a:srgbClr val="FFFFFF"/>
          </a:solidFill>
          <a:ln w="12700">
            <a:solidFill>
              <a:srgbClr val="FFFFFF"/>
            </a:solidFill>
            <a:prstDash val="solid"/>
          </a:ln>
        </p:spPr>
      </p:sp>
      <p:sp>
        <p:nvSpPr>
          <p:cNvPr id="39" name="text-35"/>
          <p:cNvSpPr txBox="1"/>
          <p:nvPr/>
        </p:nvSpPr>
        <p:spPr>
          <a:xfrm>
            <a:off x="5201107" y="232257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Feature switches — ship dark, release deliberately</a:t>
            </a:r>
            <a:endParaRPr lang="en-US" sz="950" dirty="0"/>
          </a:p>
        </p:txBody>
      </p:sp>
      <p:sp>
        <p:nvSpPr>
          <p:cNvPr id="40" name="shape-36"/>
          <p:cNvSpPr/>
          <p:nvPr/>
        </p:nvSpPr>
        <p:spPr>
          <a:xfrm>
            <a:off x="5127955" y="2834640"/>
            <a:ext cx="1905610" cy="457200"/>
          </a:xfrm>
          <a:prstGeom prst="roundRect">
            <a:avLst>
              <a:gd name="adj" fmla="val 10000"/>
            </a:avLst>
          </a:prstGeom>
          <a:solidFill>
            <a:srgbClr val="FFFFFF"/>
          </a:solidFill>
          <a:ln w="12700">
            <a:solidFill>
              <a:srgbClr val="FFFFFF"/>
            </a:solidFill>
            <a:prstDash val="solid"/>
          </a:ln>
        </p:spPr>
      </p:sp>
      <p:sp>
        <p:nvSpPr>
          <p:cNvPr id="41" name="text-37"/>
          <p:cNvSpPr txBox="1"/>
          <p:nvPr/>
        </p:nvSpPr>
        <p:spPr>
          <a:xfrm>
            <a:off x="5201107" y="287121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Blue/green deployment</a:t>
            </a:r>
            <a:endParaRPr lang="en-US" sz="950" dirty="0"/>
          </a:p>
        </p:txBody>
      </p:sp>
      <p:sp>
        <p:nvSpPr>
          <p:cNvPr id="42" name="shape-38"/>
          <p:cNvSpPr/>
          <p:nvPr/>
        </p:nvSpPr>
        <p:spPr>
          <a:xfrm>
            <a:off x="5127955" y="3383280"/>
            <a:ext cx="1905610" cy="457200"/>
          </a:xfrm>
          <a:prstGeom prst="roundRect">
            <a:avLst>
              <a:gd name="adj" fmla="val 10000"/>
            </a:avLst>
          </a:prstGeom>
          <a:solidFill>
            <a:srgbClr val="FFFFFF"/>
          </a:solidFill>
          <a:ln w="12700">
            <a:solidFill>
              <a:srgbClr val="FFFFFF"/>
            </a:solidFill>
            <a:prstDash val="solid"/>
          </a:ln>
        </p:spPr>
      </p:sp>
      <p:sp>
        <p:nvSpPr>
          <p:cNvPr id="43" name="text-39"/>
          <p:cNvSpPr txBox="1"/>
          <p:nvPr/>
        </p:nvSpPr>
        <p:spPr>
          <a:xfrm>
            <a:off x="5201107" y="341985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Canary by cohort, automated rollback</a:t>
            </a:r>
            <a:endParaRPr lang="en-US" sz="950" dirty="0"/>
          </a:p>
        </p:txBody>
      </p:sp>
      <p:sp>
        <p:nvSpPr>
          <p:cNvPr id="44" name="shape-40"/>
          <p:cNvSpPr/>
          <p:nvPr/>
        </p:nvSpPr>
        <p:spPr>
          <a:xfrm>
            <a:off x="5127955" y="3931920"/>
            <a:ext cx="1905610" cy="457200"/>
          </a:xfrm>
          <a:prstGeom prst="roundRect">
            <a:avLst>
              <a:gd name="adj" fmla="val 10000"/>
            </a:avLst>
          </a:prstGeom>
          <a:solidFill>
            <a:srgbClr val="FFFFFF"/>
          </a:solidFill>
          <a:ln w="12700">
            <a:solidFill>
              <a:srgbClr val="FFFFFF"/>
            </a:solidFill>
            <a:prstDash val="solid"/>
          </a:ln>
        </p:spPr>
      </p:sp>
      <p:sp>
        <p:nvSpPr>
          <p:cNvPr id="45" name="text-41"/>
          <p:cNvSpPr txBox="1"/>
          <p:nvPr/>
        </p:nvSpPr>
        <p:spPr>
          <a:xfrm>
            <a:off x="5201107" y="396849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Expand/contract schema changes</a:t>
            </a:r>
            <a:endParaRPr lang="en-US" sz="950" dirty="0"/>
          </a:p>
        </p:txBody>
      </p:sp>
      <p:sp>
        <p:nvSpPr>
          <p:cNvPr id="46" name="shape-42"/>
          <p:cNvSpPr/>
          <p:nvPr/>
        </p:nvSpPr>
        <p:spPr>
          <a:xfrm>
            <a:off x="5127955" y="4480560"/>
            <a:ext cx="1905610" cy="457200"/>
          </a:xfrm>
          <a:prstGeom prst="roundRect">
            <a:avLst>
              <a:gd name="adj" fmla="val 10000"/>
            </a:avLst>
          </a:prstGeom>
          <a:solidFill>
            <a:srgbClr val="FFFFFF"/>
          </a:solidFill>
          <a:ln w="12700">
            <a:solidFill>
              <a:srgbClr val="FFFFFF"/>
            </a:solidFill>
            <a:prstDash val="solid"/>
          </a:ln>
        </p:spPr>
      </p:sp>
      <p:sp>
        <p:nvSpPr>
          <p:cNvPr id="47" name="text-43"/>
          <p:cNvSpPr txBox="1"/>
          <p:nvPr/>
        </p:nvSpPr>
        <p:spPr>
          <a:xfrm>
            <a:off x="5201107" y="451713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Immutable, versioned content releases</a:t>
            </a:r>
            <a:endParaRPr lang="en-US" sz="950" dirty="0"/>
          </a:p>
        </p:txBody>
      </p:sp>
      <p:sp>
        <p:nvSpPr>
          <p:cNvPr id="48" name="shape-44"/>
          <p:cNvSpPr/>
          <p:nvPr/>
        </p:nvSpPr>
        <p:spPr>
          <a:xfrm>
            <a:off x="7253021" y="1463040"/>
            <a:ext cx="2125066" cy="3657600"/>
          </a:xfrm>
          <a:prstGeom prst="roundRect">
            <a:avLst>
              <a:gd name="adj" fmla="val 3442"/>
            </a:avLst>
          </a:prstGeom>
          <a:solidFill>
            <a:srgbClr val="EEF2F4"/>
          </a:solidFill>
          <a:ln w="12700">
            <a:solidFill>
              <a:srgbClr val="EEF2F4"/>
            </a:solidFill>
            <a:prstDash val="solid"/>
          </a:ln>
        </p:spPr>
      </p:sp>
      <p:pic>
        <p:nvPicPr>
          <p:cNvPr id="49" name="icon-45" descr="preencoded.png">    </p:cNvPr>
          <p:cNvPicPr>
            <a:picLocks noChangeAspect="1"/>
          </p:cNvPicPr>
          <p:nvPr/>
        </p:nvPicPr>
        <p:blipFill>
          <a:blip r:embed="rId4"/>
          <a:stretch>
            <a:fillRect/>
          </a:stretch>
        </p:blipFill>
        <p:spPr>
          <a:xfrm>
            <a:off x="7399325" y="1627632"/>
            <a:ext cx="219456" cy="219456"/>
          </a:xfrm>
          <a:prstGeom prst="rect">
            <a:avLst/>
          </a:prstGeom>
        </p:spPr>
      </p:pic>
      <p:sp>
        <p:nvSpPr>
          <p:cNvPr id="50" name="text-46"/>
          <p:cNvSpPr txBox="1"/>
          <p:nvPr/>
        </p:nvSpPr>
        <p:spPr>
          <a:xfrm>
            <a:off x="7710221" y="1627632"/>
            <a:ext cx="1576426" cy="237744"/>
          </a:xfrm>
          <a:prstGeom prst="rect">
            <a:avLst/>
          </a:prstGeom>
          <a:noFill/>
          <a:ln/>
        </p:spPr>
        <p:txBody>
          <a:bodyPr wrap="square" lIns="0" tIns="0" rIns="0" bIns="0" rtlCol="0" anchor="ctr"/>
          <a:lstStyle/>
          <a:p>
            <a:pPr algn="l" indent="0" marL="0">
              <a:lnSpc>
                <a:spcPct val="100000"/>
              </a:lnSpc>
              <a:buNone/>
            </a:pPr>
            <a:r>
              <a:rPr lang="en-US" sz="1150" b="1" dirty="0">
                <a:solidFill>
                  <a:srgbClr val="1C2B33"/>
                </a:solidFill>
                <a:latin typeface="Calibri" pitchFamily="34" charset="0"/>
                <a:ea typeface="Calibri" pitchFamily="34" charset="-122"/>
                <a:cs typeface="Calibri" pitchFamily="34" charset="-120"/>
              </a:rPr>
              <a:t>4 · Detect and respond</a:t>
            </a:r>
            <a:endParaRPr lang="en-US" sz="1150" dirty="0"/>
          </a:p>
        </p:txBody>
      </p:sp>
      <p:sp>
        <p:nvSpPr>
          <p:cNvPr id="51" name="text-47"/>
          <p:cNvSpPr txBox="1"/>
          <p:nvPr/>
        </p:nvSpPr>
        <p:spPr>
          <a:xfrm>
            <a:off x="7399325" y="1901952"/>
            <a:ext cx="1850746" cy="164592"/>
          </a:xfrm>
          <a:prstGeom prst="rect">
            <a:avLst/>
          </a:prstGeom>
          <a:noFill/>
          <a:ln/>
        </p:spPr>
        <p:txBody>
          <a:bodyPr wrap="square" lIns="0" tIns="0" rIns="0" bIns="0" rtlCol="0" anchor="ctr"/>
          <a:lstStyle/>
          <a:p>
            <a:pPr algn="l" indent="0" marL="0">
              <a:lnSpc>
                <a:spcPct val="100000"/>
              </a:lnSpc>
              <a:buNone/>
            </a:pPr>
            <a:r>
              <a:rPr lang="en-US" sz="850" i="1" dirty="0">
                <a:solidFill>
                  <a:srgbClr val="5A6B75"/>
                </a:solidFill>
                <a:latin typeface="Calibri" pitchFamily="34" charset="0"/>
                <a:ea typeface="Calibri" pitchFamily="34" charset="-122"/>
                <a:cs typeface="Calibri" pitchFamily="34" charset="-120"/>
              </a:rPr>
              <a:t>minutes, not hours</a:t>
            </a:r>
            <a:endParaRPr lang="en-US" sz="850" dirty="0"/>
          </a:p>
        </p:txBody>
      </p:sp>
      <p:sp>
        <p:nvSpPr>
          <p:cNvPr id="52" name="shape-48"/>
          <p:cNvSpPr/>
          <p:nvPr/>
        </p:nvSpPr>
        <p:spPr>
          <a:xfrm>
            <a:off x="7362749" y="2286000"/>
            <a:ext cx="1905610" cy="457200"/>
          </a:xfrm>
          <a:prstGeom prst="roundRect">
            <a:avLst>
              <a:gd name="adj" fmla="val 10000"/>
            </a:avLst>
          </a:prstGeom>
          <a:solidFill>
            <a:srgbClr val="FFFFFF"/>
          </a:solidFill>
          <a:ln w="12700">
            <a:solidFill>
              <a:srgbClr val="FFFFFF"/>
            </a:solidFill>
            <a:prstDash val="solid"/>
          </a:ln>
        </p:spPr>
      </p:sp>
      <p:sp>
        <p:nvSpPr>
          <p:cNvPr id="53" name="text-49"/>
          <p:cNvSpPr txBox="1"/>
          <p:nvPr/>
        </p:nvSpPr>
        <p:spPr>
          <a:xfrm>
            <a:off x="7435901" y="232257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SLOs and error budgets</a:t>
            </a:r>
            <a:endParaRPr lang="en-US" sz="950" dirty="0"/>
          </a:p>
        </p:txBody>
      </p:sp>
      <p:sp>
        <p:nvSpPr>
          <p:cNvPr id="54" name="shape-50"/>
          <p:cNvSpPr/>
          <p:nvPr/>
        </p:nvSpPr>
        <p:spPr>
          <a:xfrm>
            <a:off x="7362749" y="2834640"/>
            <a:ext cx="1905610" cy="457200"/>
          </a:xfrm>
          <a:prstGeom prst="roundRect">
            <a:avLst>
              <a:gd name="adj" fmla="val 10000"/>
            </a:avLst>
          </a:prstGeom>
          <a:solidFill>
            <a:srgbClr val="FFFFFF"/>
          </a:solidFill>
          <a:ln w="12700">
            <a:solidFill>
              <a:srgbClr val="FFFFFF"/>
            </a:solidFill>
            <a:prstDash val="solid"/>
          </a:ln>
        </p:spPr>
      </p:sp>
      <p:sp>
        <p:nvSpPr>
          <p:cNvPr id="55" name="text-51"/>
          <p:cNvSpPr txBox="1"/>
          <p:nvPr/>
        </p:nvSpPr>
        <p:spPr>
          <a:xfrm>
            <a:off x="7435901" y="287121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Synthetic checks from customer locations</a:t>
            </a:r>
            <a:endParaRPr lang="en-US" sz="950" dirty="0"/>
          </a:p>
        </p:txBody>
      </p:sp>
      <p:sp>
        <p:nvSpPr>
          <p:cNvPr id="56" name="shape-52"/>
          <p:cNvSpPr/>
          <p:nvPr/>
        </p:nvSpPr>
        <p:spPr>
          <a:xfrm>
            <a:off x="7362749" y="3383280"/>
            <a:ext cx="1905610" cy="457200"/>
          </a:xfrm>
          <a:prstGeom prst="roundRect">
            <a:avLst>
              <a:gd name="adj" fmla="val 10000"/>
            </a:avLst>
          </a:prstGeom>
          <a:solidFill>
            <a:srgbClr val="FFFFFF"/>
          </a:solidFill>
          <a:ln w="12700">
            <a:solidFill>
              <a:srgbClr val="FFFFFF"/>
            </a:solidFill>
            <a:prstDash val="solid"/>
          </a:ln>
        </p:spPr>
      </p:sp>
      <p:sp>
        <p:nvSpPr>
          <p:cNvPr id="57" name="text-53"/>
          <p:cNvSpPr txBox="1"/>
          <p:nvPr/>
        </p:nvSpPr>
        <p:spPr>
          <a:xfrm>
            <a:off x="7435901" y="341985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Runbooks; 24×7 on-call via MSP</a:t>
            </a:r>
            <a:endParaRPr lang="en-US" sz="950" dirty="0"/>
          </a:p>
        </p:txBody>
      </p:sp>
      <p:sp>
        <p:nvSpPr>
          <p:cNvPr id="58" name="shape-54"/>
          <p:cNvSpPr/>
          <p:nvPr/>
        </p:nvSpPr>
        <p:spPr>
          <a:xfrm>
            <a:off x="7362749" y="3931920"/>
            <a:ext cx="1905610" cy="457200"/>
          </a:xfrm>
          <a:prstGeom prst="roundRect">
            <a:avLst>
              <a:gd name="adj" fmla="val 10000"/>
            </a:avLst>
          </a:prstGeom>
          <a:solidFill>
            <a:srgbClr val="FFFFFF"/>
          </a:solidFill>
          <a:ln w="12700">
            <a:solidFill>
              <a:srgbClr val="FFFFFF"/>
            </a:solidFill>
            <a:prstDash val="solid"/>
          </a:ln>
        </p:spPr>
      </p:sp>
      <p:sp>
        <p:nvSpPr>
          <p:cNvPr id="59" name="text-55"/>
          <p:cNvSpPr txBox="1"/>
          <p:nvPr/>
        </p:nvSpPr>
        <p:spPr>
          <a:xfrm>
            <a:off x="7435901" y="396849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Status page and incident comms</a:t>
            </a:r>
            <a:endParaRPr lang="en-US" sz="950" dirty="0"/>
          </a:p>
        </p:txBody>
      </p:sp>
      <p:sp>
        <p:nvSpPr>
          <p:cNvPr id="60" name="shape-56"/>
          <p:cNvSpPr/>
          <p:nvPr/>
        </p:nvSpPr>
        <p:spPr>
          <a:xfrm>
            <a:off x="7362749" y="4480560"/>
            <a:ext cx="1905610" cy="457200"/>
          </a:xfrm>
          <a:prstGeom prst="roundRect">
            <a:avLst>
              <a:gd name="adj" fmla="val 10000"/>
            </a:avLst>
          </a:prstGeom>
          <a:solidFill>
            <a:srgbClr val="FFFFFF"/>
          </a:solidFill>
          <a:ln w="12700">
            <a:solidFill>
              <a:srgbClr val="FFFFFF"/>
            </a:solidFill>
            <a:prstDash val="solid"/>
          </a:ln>
        </p:spPr>
      </p:sp>
      <p:sp>
        <p:nvSpPr>
          <p:cNvPr id="61" name="text-57"/>
          <p:cNvSpPr txBox="1"/>
          <p:nvPr/>
        </p:nvSpPr>
        <p:spPr>
          <a:xfrm>
            <a:off x="7435901" y="451713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Game days and DR drills (RTO/RPO)</a:t>
            </a:r>
            <a:endParaRPr lang="en-US" sz="950" dirty="0"/>
          </a:p>
        </p:txBody>
      </p:sp>
      <p:sp>
        <p:nvSpPr>
          <p:cNvPr id="62" name="shape-58"/>
          <p:cNvSpPr/>
          <p:nvPr/>
        </p:nvSpPr>
        <p:spPr>
          <a:xfrm>
            <a:off x="9487814" y="1463040"/>
            <a:ext cx="2125066" cy="3657600"/>
          </a:xfrm>
          <a:prstGeom prst="roundRect">
            <a:avLst>
              <a:gd name="adj" fmla="val 3442"/>
            </a:avLst>
          </a:prstGeom>
          <a:solidFill>
            <a:srgbClr val="EEF2F4"/>
          </a:solidFill>
          <a:ln w="12700">
            <a:solidFill>
              <a:srgbClr val="EEF2F4"/>
            </a:solidFill>
            <a:prstDash val="solid"/>
          </a:ln>
        </p:spPr>
      </p:sp>
      <p:pic>
        <p:nvPicPr>
          <p:cNvPr id="63" name="icon-59" descr="preencoded.png">    </p:cNvPr>
          <p:cNvPicPr>
            <a:picLocks noChangeAspect="1"/>
          </p:cNvPicPr>
          <p:nvPr/>
        </p:nvPicPr>
        <p:blipFill>
          <a:blip r:embed="rId5"/>
          <a:stretch>
            <a:fillRect/>
          </a:stretch>
        </p:blipFill>
        <p:spPr>
          <a:xfrm>
            <a:off x="9634118" y="1627632"/>
            <a:ext cx="219456" cy="219456"/>
          </a:xfrm>
          <a:prstGeom prst="rect">
            <a:avLst/>
          </a:prstGeom>
        </p:spPr>
      </p:pic>
      <p:sp>
        <p:nvSpPr>
          <p:cNvPr id="64" name="text-60"/>
          <p:cNvSpPr txBox="1"/>
          <p:nvPr/>
        </p:nvSpPr>
        <p:spPr>
          <a:xfrm>
            <a:off x="9945014" y="1627632"/>
            <a:ext cx="1576426" cy="237744"/>
          </a:xfrm>
          <a:prstGeom prst="rect">
            <a:avLst/>
          </a:prstGeom>
          <a:noFill/>
          <a:ln/>
        </p:spPr>
        <p:txBody>
          <a:bodyPr wrap="square" lIns="0" tIns="0" rIns="0" bIns="0" rtlCol="0" anchor="ctr"/>
          <a:lstStyle/>
          <a:p>
            <a:pPr algn="l" indent="0" marL="0">
              <a:lnSpc>
                <a:spcPct val="100000"/>
              </a:lnSpc>
              <a:buNone/>
            </a:pPr>
            <a:r>
              <a:rPr lang="en-US" sz="1150" b="1" dirty="0">
                <a:solidFill>
                  <a:srgbClr val="1C2B33"/>
                </a:solidFill>
                <a:latin typeface="Calibri" pitchFamily="34" charset="0"/>
                <a:ea typeface="Calibri" pitchFamily="34" charset="-122"/>
                <a:cs typeface="Calibri" pitchFamily="34" charset="-120"/>
              </a:rPr>
              <a:t>5 · Protect the content</a:t>
            </a:r>
            <a:endParaRPr lang="en-US" sz="1150" dirty="0"/>
          </a:p>
        </p:txBody>
      </p:sp>
      <p:sp>
        <p:nvSpPr>
          <p:cNvPr id="65" name="text-61"/>
          <p:cNvSpPr txBox="1"/>
          <p:nvPr/>
        </p:nvSpPr>
        <p:spPr>
          <a:xfrm>
            <a:off x="9634118" y="1901952"/>
            <a:ext cx="1850746" cy="164592"/>
          </a:xfrm>
          <a:prstGeom prst="rect">
            <a:avLst/>
          </a:prstGeom>
          <a:noFill/>
          <a:ln/>
        </p:spPr>
        <p:txBody>
          <a:bodyPr wrap="square" lIns="0" tIns="0" rIns="0" bIns="0" rtlCol="0" anchor="ctr"/>
          <a:lstStyle/>
          <a:p>
            <a:pPr algn="l" indent="0" marL="0">
              <a:lnSpc>
                <a:spcPct val="100000"/>
              </a:lnSpc>
              <a:buNone/>
            </a:pPr>
            <a:r>
              <a:rPr lang="en-US" sz="850" i="1" dirty="0">
                <a:solidFill>
                  <a:srgbClr val="5A6B75"/>
                </a:solidFill>
                <a:latin typeface="Calibri" pitchFamily="34" charset="0"/>
                <a:ea typeface="Calibri" pitchFamily="34" charset="-122"/>
                <a:cs typeface="Calibri" pitchFamily="34" charset="-120"/>
              </a:rPr>
              <a:t>integrity above all</a:t>
            </a:r>
            <a:endParaRPr lang="en-US" sz="850" dirty="0"/>
          </a:p>
        </p:txBody>
      </p:sp>
      <p:sp>
        <p:nvSpPr>
          <p:cNvPr id="66" name="shape-62"/>
          <p:cNvSpPr/>
          <p:nvPr/>
        </p:nvSpPr>
        <p:spPr>
          <a:xfrm>
            <a:off x="9597542" y="2286000"/>
            <a:ext cx="1905610" cy="457200"/>
          </a:xfrm>
          <a:prstGeom prst="roundRect">
            <a:avLst>
              <a:gd name="adj" fmla="val 10000"/>
            </a:avLst>
          </a:prstGeom>
          <a:solidFill>
            <a:srgbClr val="FFFFFF"/>
          </a:solidFill>
          <a:ln w="12700">
            <a:solidFill>
              <a:srgbClr val="FFFFFF"/>
            </a:solidFill>
            <a:prstDash val="solid"/>
          </a:ln>
        </p:spPr>
      </p:sp>
      <p:sp>
        <p:nvSpPr>
          <p:cNvPr id="67" name="text-63"/>
          <p:cNvSpPr txBox="1"/>
          <p:nvPr/>
        </p:nvSpPr>
        <p:spPr>
          <a:xfrm>
            <a:off x="9670694" y="232257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Content checksums and integrity checks</a:t>
            </a:r>
            <a:endParaRPr lang="en-US" sz="950" dirty="0"/>
          </a:p>
        </p:txBody>
      </p:sp>
      <p:sp>
        <p:nvSpPr>
          <p:cNvPr id="68" name="shape-64"/>
          <p:cNvSpPr/>
          <p:nvPr/>
        </p:nvSpPr>
        <p:spPr>
          <a:xfrm>
            <a:off x="9597542" y="2834640"/>
            <a:ext cx="1905610" cy="457200"/>
          </a:xfrm>
          <a:prstGeom prst="roundRect">
            <a:avLst>
              <a:gd name="adj" fmla="val 10000"/>
            </a:avLst>
          </a:prstGeom>
          <a:solidFill>
            <a:srgbClr val="FFFFFF"/>
          </a:solidFill>
          <a:ln w="12700">
            <a:solidFill>
              <a:srgbClr val="FFFFFF"/>
            </a:solidFill>
            <a:prstDash val="solid"/>
          </a:ln>
        </p:spPr>
      </p:sp>
      <p:sp>
        <p:nvSpPr>
          <p:cNvPr id="69" name="text-65"/>
          <p:cNvSpPr txBox="1"/>
          <p:nvPr/>
        </p:nvSpPr>
        <p:spPr>
          <a:xfrm>
            <a:off x="9670694" y="287121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Copies held outside the authoring tool</a:t>
            </a:r>
            <a:endParaRPr lang="en-US" sz="950" dirty="0"/>
          </a:p>
        </p:txBody>
      </p:sp>
      <p:sp>
        <p:nvSpPr>
          <p:cNvPr id="70" name="shape-66"/>
          <p:cNvSpPr/>
          <p:nvPr/>
        </p:nvSpPr>
        <p:spPr>
          <a:xfrm>
            <a:off x="9597542" y="3383280"/>
            <a:ext cx="1905610" cy="457200"/>
          </a:xfrm>
          <a:prstGeom prst="roundRect">
            <a:avLst>
              <a:gd name="adj" fmla="val 10000"/>
            </a:avLst>
          </a:prstGeom>
          <a:solidFill>
            <a:srgbClr val="FFFFFF"/>
          </a:solidFill>
          <a:ln w="12700">
            <a:solidFill>
              <a:srgbClr val="FFFFFF"/>
            </a:solidFill>
            <a:prstDash val="solid"/>
          </a:ln>
        </p:spPr>
      </p:sp>
      <p:sp>
        <p:nvSpPr>
          <p:cNvPr id="71" name="text-67"/>
          <p:cNvSpPr txBox="1"/>
          <p:nvPr/>
        </p:nvSpPr>
        <p:spPr>
          <a:xfrm>
            <a:off x="9670694" y="341985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Replay from the bus after outages</a:t>
            </a:r>
            <a:endParaRPr lang="en-US" sz="950" dirty="0"/>
          </a:p>
        </p:txBody>
      </p:sp>
      <p:sp>
        <p:nvSpPr>
          <p:cNvPr id="72" name="shape-68"/>
          <p:cNvSpPr/>
          <p:nvPr/>
        </p:nvSpPr>
        <p:spPr>
          <a:xfrm>
            <a:off x="9597542" y="3931920"/>
            <a:ext cx="1905610" cy="457200"/>
          </a:xfrm>
          <a:prstGeom prst="roundRect">
            <a:avLst>
              <a:gd name="adj" fmla="val 10000"/>
            </a:avLst>
          </a:prstGeom>
          <a:solidFill>
            <a:srgbClr val="FFFFFF"/>
          </a:solidFill>
          <a:ln w="12700">
            <a:solidFill>
              <a:srgbClr val="FFFFFF"/>
            </a:solidFill>
            <a:prstDash val="solid"/>
          </a:ln>
        </p:spPr>
      </p:sp>
      <p:sp>
        <p:nvSpPr>
          <p:cNvPr id="73" name="text-69"/>
          <p:cNvSpPr txBox="1"/>
          <p:nvPr/>
        </p:nvSpPr>
        <p:spPr>
          <a:xfrm>
            <a:off x="9670694" y="396849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Audit trail: what changed, when, who</a:t>
            </a:r>
            <a:endParaRPr lang="en-US" sz="950" dirty="0"/>
          </a:p>
        </p:txBody>
      </p:sp>
      <p:sp>
        <p:nvSpPr>
          <p:cNvPr id="74" name="shape-70"/>
          <p:cNvSpPr/>
          <p:nvPr/>
        </p:nvSpPr>
        <p:spPr>
          <a:xfrm>
            <a:off x="9597542" y="4480560"/>
            <a:ext cx="1905610" cy="457200"/>
          </a:xfrm>
          <a:prstGeom prst="roundRect">
            <a:avLst>
              <a:gd name="adj" fmla="val 10000"/>
            </a:avLst>
          </a:prstGeom>
          <a:solidFill>
            <a:srgbClr val="FFFFFF"/>
          </a:solidFill>
          <a:ln w="12700">
            <a:solidFill>
              <a:srgbClr val="FFFFFF"/>
            </a:solidFill>
            <a:prstDash val="solid"/>
          </a:ln>
        </p:spPr>
      </p:sp>
      <p:sp>
        <p:nvSpPr>
          <p:cNvPr id="75" name="text-71"/>
          <p:cNvSpPr txBox="1"/>
          <p:nvPr/>
        </p:nvSpPr>
        <p:spPr>
          <a:xfrm>
            <a:off x="9670694" y="451713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AI-generated test evidence, human gate</a:t>
            </a:r>
            <a:endParaRPr lang="en-US" sz="950" dirty="0"/>
          </a:p>
        </p:txBody>
      </p:sp>
      <p:sp>
        <p:nvSpPr>
          <p:cNvPr id="76" name="text-72"/>
          <p:cNvSpPr txBox="1"/>
          <p:nvPr/>
        </p:nvSpPr>
        <p:spPr>
          <a:xfrm>
            <a:off x="548640" y="5193792"/>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POSTURE BY TIER — THE TOOLKIT APPLIES IN FULL TO A, AND TO X WHEREVER IT SITS IN A’S PATH</a:t>
            </a:r>
            <a:endParaRPr lang="en-US" sz="800" dirty="0"/>
          </a:p>
        </p:txBody>
      </p:sp>
      <p:sp>
        <p:nvSpPr>
          <p:cNvPr id="77" name="shape-73"/>
          <p:cNvSpPr/>
          <p:nvPr/>
        </p:nvSpPr>
        <p:spPr>
          <a:xfrm>
            <a:off x="548640" y="5449824"/>
            <a:ext cx="2683764" cy="512064"/>
          </a:xfrm>
          <a:prstGeom prst="roundRect">
            <a:avLst>
              <a:gd name="adj" fmla="val 14286"/>
            </a:avLst>
          </a:prstGeom>
          <a:solidFill>
            <a:srgbClr val="EEF2F4"/>
          </a:solidFill>
          <a:ln w="12700">
            <a:solidFill>
              <a:srgbClr val="EEF2F4"/>
            </a:solidFill>
            <a:prstDash val="solid"/>
          </a:ln>
        </p:spPr>
      </p:sp>
      <p:sp>
        <p:nvSpPr>
          <p:cNvPr id="78" name="shape-74"/>
          <p:cNvSpPr/>
          <p:nvPr/>
        </p:nvSpPr>
        <p:spPr>
          <a:xfrm>
            <a:off x="548640" y="5449824"/>
            <a:ext cx="402336" cy="512064"/>
          </a:xfrm>
          <a:prstGeom prst="roundRect">
            <a:avLst>
              <a:gd name="adj" fmla="val 18182"/>
            </a:avLst>
          </a:prstGeom>
          <a:solidFill>
            <a:srgbClr val="134E4A"/>
          </a:solidFill>
          <a:ln w="12700">
            <a:solidFill>
              <a:srgbClr val="134E4A"/>
            </a:solidFill>
            <a:prstDash val="solid"/>
          </a:ln>
        </p:spPr>
      </p:sp>
      <p:sp>
        <p:nvSpPr>
          <p:cNvPr id="79" name="shape-75"/>
          <p:cNvSpPr/>
          <p:nvPr/>
        </p:nvSpPr>
        <p:spPr>
          <a:xfrm>
            <a:off x="877824" y="5449824"/>
            <a:ext cx="73152" cy="512064"/>
          </a:xfrm>
          <a:prstGeom prst="rect">
            <a:avLst/>
          </a:prstGeom>
          <a:solidFill>
            <a:srgbClr val="134E4A"/>
          </a:solidFill>
          <a:ln w="12700">
            <a:solidFill>
              <a:srgbClr val="134E4A"/>
            </a:solidFill>
            <a:prstDash val="solid"/>
          </a:ln>
        </p:spPr>
      </p:sp>
      <p:sp>
        <p:nvSpPr>
          <p:cNvPr id="80" name="text-76"/>
          <p:cNvSpPr txBox="1"/>
          <p:nvPr/>
        </p:nvSpPr>
        <p:spPr>
          <a:xfrm>
            <a:off x="548640" y="5449824"/>
            <a:ext cx="402336" cy="512064"/>
          </a:xfrm>
          <a:prstGeom prst="rect">
            <a:avLst/>
          </a:prstGeom>
          <a:noFill/>
          <a:ln/>
        </p:spPr>
        <p:txBody>
          <a:bodyPr wrap="square" lIns="0" tIns="0" rIns="0" bIns="0" rtlCol="0" anchor="ctr"/>
          <a:lstStyle/>
          <a:p>
            <a:pPr algn="ctr" indent="0" marL="0">
              <a:lnSpc>
                <a:spcPct val="100000"/>
              </a:lnSpc>
              <a:buNone/>
            </a:pPr>
            <a:r>
              <a:rPr lang="en-US" sz="1450" b="1" dirty="0">
                <a:solidFill>
                  <a:srgbClr val="FFFFFF"/>
                </a:solidFill>
                <a:latin typeface="Calibri" pitchFamily="34" charset="0"/>
                <a:ea typeface="Calibri" pitchFamily="34" charset="-122"/>
                <a:cs typeface="Calibri" pitchFamily="34" charset="-120"/>
              </a:rPr>
              <a:t>A</a:t>
            </a:r>
            <a:endParaRPr lang="en-US" sz="1450" dirty="0"/>
          </a:p>
        </p:txBody>
      </p:sp>
      <p:sp>
        <p:nvSpPr>
          <p:cNvPr id="81" name="text-77"/>
          <p:cNvSpPr txBox="1"/>
          <p:nvPr/>
        </p:nvSpPr>
        <p:spPr>
          <a:xfrm>
            <a:off x="1060704" y="5486400"/>
            <a:ext cx="2135124" cy="219456"/>
          </a:xfrm>
          <a:prstGeom prst="rect">
            <a:avLst/>
          </a:prstGeom>
          <a:noFill/>
          <a:ln/>
        </p:spPr>
        <p:txBody>
          <a:bodyPr wrap="square" lIns="0" tIns="0" rIns="0" bIns="0" rtlCol="0" anchor="ctr"/>
          <a:lstStyle/>
          <a:p>
            <a:pPr algn="l" indent="0" marL="0">
              <a:lnSpc>
                <a:spcPct val="100000"/>
              </a:lnSpc>
              <a:buNone/>
            </a:pPr>
            <a:r>
              <a:rPr lang="en-US" sz="1100" b="1" dirty="0">
                <a:solidFill>
                  <a:srgbClr val="1C2B33"/>
                </a:solidFill>
                <a:latin typeface="Calibri" pitchFamily="34" charset="0"/>
                <a:ea typeface="Calibri" pitchFamily="34" charset="-122"/>
                <a:cs typeface="Calibri" pitchFamily="34" charset="-120"/>
              </a:rPr>
              <a:t>Product</a:t>
            </a:r>
            <a:endParaRPr lang="en-US" sz="1100" dirty="0"/>
          </a:p>
        </p:txBody>
      </p:sp>
      <p:sp>
        <p:nvSpPr>
          <p:cNvPr id="82" name="text-78"/>
          <p:cNvSpPr txBox="1"/>
          <p:nvPr/>
        </p:nvSpPr>
        <p:spPr>
          <a:xfrm>
            <a:off x="1060704" y="5705856"/>
            <a:ext cx="2135124" cy="182880"/>
          </a:xfrm>
          <a:prstGeom prst="rect">
            <a:avLst/>
          </a:prstGeom>
          <a:noFill/>
          <a:ln/>
        </p:spPr>
        <p:txBody>
          <a:bodyPr wrap="square" lIns="0" tIns="0" rIns="0" bIns="0" rtlCol="0" anchor="ctr"/>
          <a:lstStyle/>
          <a:p>
            <a:pPr algn="l" indent="0" marL="0">
              <a:lnSpc>
                <a:spcPct val="100000"/>
              </a:lnSpc>
              <a:buNone/>
            </a:pPr>
            <a:r>
              <a:rPr lang="en-US" sz="900" dirty="0">
                <a:solidFill>
                  <a:srgbClr val="5A6B75"/>
                </a:solidFill>
                <a:latin typeface="Calibri" pitchFamily="34" charset="0"/>
                <a:ea typeface="Calibri" pitchFamily="34" charset="-122"/>
                <a:cs typeface="Calibri" pitchFamily="34" charset="-120"/>
              </a:rPr>
              <a:t>99.999% · ≈ 5 min a year · all five groups</a:t>
            </a:r>
            <a:endParaRPr lang="en-US" sz="900" dirty="0"/>
          </a:p>
        </p:txBody>
      </p:sp>
      <p:sp>
        <p:nvSpPr>
          <p:cNvPr id="83" name="shape-79"/>
          <p:cNvSpPr/>
          <p:nvPr/>
        </p:nvSpPr>
        <p:spPr>
          <a:xfrm>
            <a:off x="3342132" y="5449824"/>
            <a:ext cx="2683764" cy="512064"/>
          </a:xfrm>
          <a:prstGeom prst="roundRect">
            <a:avLst>
              <a:gd name="adj" fmla="val 14286"/>
            </a:avLst>
          </a:prstGeom>
          <a:solidFill>
            <a:srgbClr val="EEF2F4"/>
          </a:solidFill>
          <a:ln w="12700">
            <a:solidFill>
              <a:srgbClr val="EEF2F4"/>
            </a:solidFill>
            <a:prstDash val="solid"/>
          </a:ln>
        </p:spPr>
      </p:sp>
      <p:sp>
        <p:nvSpPr>
          <p:cNvPr id="84" name="shape-80"/>
          <p:cNvSpPr/>
          <p:nvPr/>
        </p:nvSpPr>
        <p:spPr>
          <a:xfrm>
            <a:off x="3342132" y="5449824"/>
            <a:ext cx="402336" cy="512064"/>
          </a:xfrm>
          <a:prstGeom prst="roundRect">
            <a:avLst>
              <a:gd name="adj" fmla="val 18182"/>
            </a:avLst>
          </a:prstGeom>
          <a:solidFill>
            <a:srgbClr val="0F766E"/>
          </a:solidFill>
          <a:ln w="12700">
            <a:solidFill>
              <a:srgbClr val="0F766E"/>
            </a:solidFill>
            <a:prstDash val="solid"/>
          </a:ln>
        </p:spPr>
      </p:sp>
      <p:sp>
        <p:nvSpPr>
          <p:cNvPr id="85" name="shape-81"/>
          <p:cNvSpPr/>
          <p:nvPr/>
        </p:nvSpPr>
        <p:spPr>
          <a:xfrm>
            <a:off x="3671316" y="5449824"/>
            <a:ext cx="73152" cy="512064"/>
          </a:xfrm>
          <a:prstGeom prst="rect">
            <a:avLst/>
          </a:prstGeom>
          <a:solidFill>
            <a:srgbClr val="0F766E"/>
          </a:solidFill>
          <a:ln w="12700">
            <a:solidFill>
              <a:srgbClr val="0F766E"/>
            </a:solidFill>
            <a:prstDash val="solid"/>
          </a:ln>
        </p:spPr>
      </p:sp>
      <p:sp>
        <p:nvSpPr>
          <p:cNvPr id="86" name="text-82"/>
          <p:cNvSpPr txBox="1"/>
          <p:nvPr/>
        </p:nvSpPr>
        <p:spPr>
          <a:xfrm>
            <a:off x="3342132" y="5449824"/>
            <a:ext cx="402336" cy="512064"/>
          </a:xfrm>
          <a:prstGeom prst="rect">
            <a:avLst/>
          </a:prstGeom>
          <a:noFill/>
          <a:ln/>
        </p:spPr>
        <p:txBody>
          <a:bodyPr wrap="square" lIns="0" tIns="0" rIns="0" bIns="0" rtlCol="0" anchor="ctr"/>
          <a:lstStyle/>
          <a:p>
            <a:pPr algn="ctr" indent="0" marL="0">
              <a:lnSpc>
                <a:spcPct val="100000"/>
              </a:lnSpc>
              <a:buNone/>
            </a:pPr>
            <a:r>
              <a:rPr lang="en-US" sz="1450" b="1" dirty="0">
                <a:solidFill>
                  <a:srgbClr val="FFFFFF"/>
                </a:solidFill>
                <a:latin typeface="Calibri" pitchFamily="34" charset="0"/>
                <a:ea typeface="Calibri" pitchFamily="34" charset="-122"/>
                <a:cs typeface="Calibri" pitchFamily="34" charset="-120"/>
              </a:rPr>
              <a:t>B</a:t>
            </a:r>
            <a:endParaRPr lang="en-US" sz="1450" dirty="0"/>
          </a:p>
        </p:txBody>
      </p:sp>
      <p:sp>
        <p:nvSpPr>
          <p:cNvPr id="87" name="text-83"/>
          <p:cNvSpPr txBox="1"/>
          <p:nvPr/>
        </p:nvSpPr>
        <p:spPr>
          <a:xfrm>
            <a:off x="3854196" y="5486400"/>
            <a:ext cx="2135124" cy="219456"/>
          </a:xfrm>
          <a:prstGeom prst="rect">
            <a:avLst/>
          </a:prstGeom>
          <a:noFill/>
          <a:ln/>
        </p:spPr>
        <p:txBody>
          <a:bodyPr wrap="square" lIns="0" tIns="0" rIns="0" bIns="0" rtlCol="0" anchor="ctr"/>
          <a:lstStyle/>
          <a:p>
            <a:pPr algn="l" indent="0" marL="0">
              <a:lnSpc>
                <a:spcPct val="100000"/>
              </a:lnSpc>
              <a:buNone/>
            </a:pPr>
            <a:r>
              <a:rPr lang="en-US" sz="1100" b="1" dirty="0">
                <a:solidFill>
                  <a:srgbClr val="1C2B33"/>
                </a:solidFill>
                <a:latin typeface="Calibri" pitchFamily="34" charset="0"/>
                <a:ea typeface="Calibri" pitchFamily="34" charset="-122"/>
                <a:cs typeface="Calibri" pitchFamily="34" charset="-120"/>
              </a:rPr>
              <a:t>Content tooling</a:t>
            </a:r>
            <a:endParaRPr lang="en-US" sz="1100" dirty="0"/>
          </a:p>
        </p:txBody>
      </p:sp>
      <p:sp>
        <p:nvSpPr>
          <p:cNvPr id="88" name="text-84"/>
          <p:cNvSpPr txBox="1"/>
          <p:nvPr/>
        </p:nvSpPr>
        <p:spPr>
          <a:xfrm>
            <a:off x="3854196" y="5705856"/>
            <a:ext cx="2135124" cy="182880"/>
          </a:xfrm>
          <a:prstGeom prst="rect">
            <a:avLst/>
          </a:prstGeom>
          <a:noFill/>
          <a:ln/>
        </p:spPr>
        <p:txBody>
          <a:bodyPr wrap="square" lIns="0" tIns="0" rIns="0" bIns="0" rtlCol="0" anchor="ctr"/>
          <a:lstStyle/>
          <a:p>
            <a:pPr algn="l" indent="0" marL="0">
              <a:lnSpc>
                <a:spcPct val="100000"/>
              </a:lnSpc>
              <a:buNone/>
            </a:pPr>
            <a:r>
              <a:rPr lang="en-US" sz="900" dirty="0">
                <a:solidFill>
                  <a:srgbClr val="5A6B75"/>
                </a:solidFill>
                <a:latin typeface="Calibri" pitchFamily="34" charset="0"/>
                <a:ea typeface="Calibri" pitchFamily="34" charset="-122"/>
                <a:cs typeface="Calibri" pitchFamily="34" charset="-120"/>
              </a:rPr>
              <a:t>business hours · groups 5 and 3 only</a:t>
            </a:r>
            <a:endParaRPr lang="en-US" sz="900" dirty="0"/>
          </a:p>
        </p:txBody>
      </p:sp>
      <p:sp>
        <p:nvSpPr>
          <p:cNvPr id="89" name="shape-85"/>
          <p:cNvSpPr/>
          <p:nvPr/>
        </p:nvSpPr>
        <p:spPr>
          <a:xfrm>
            <a:off x="6135624" y="5449824"/>
            <a:ext cx="2683764" cy="512064"/>
          </a:xfrm>
          <a:prstGeom prst="roundRect">
            <a:avLst>
              <a:gd name="adj" fmla="val 14286"/>
            </a:avLst>
          </a:prstGeom>
          <a:solidFill>
            <a:srgbClr val="EEF2F4"/>
          </a:solidFill>
          <a:ln w="12700">
            <a:solidFill>
              <a:srgbClr val="EEF2F4"/>
            </a:solidFill>
            <a:prstDash val="solid"/>
          </a:ln>
        </p:spPr>
      </p:sp>
      <p:sp>
        <p:nvSpPr>
          <p:cNvPr id="90" name="shape-86"/>
          <p:cNvSpPr/>
          <p:nvPr/>
        </p:nvSpPr>
        <p:spPr>
          <a:xfrm>
            <a:off x="6135624" y="5449824"/>
            <a:ext cx="402336" cy="512064"/>
          </a:xfrm>
          <a:prstGeom prst="roundRect">
            <a:avLst>
              <a:gd name="adj" fmla="val 18182"/>
            </a:avLst>
          </a:prstGeom>
          <a:solidFill>
            <a:srgbClr val="8A99A3"/>
          </a:solidFill>
          <a:ln w="12700">
            <a:solidFill>
              <a:srgbClr val="8A99A3"/>
            </a:solidFill>
            <a:prstDash val="solid"/>
          </a:ln>
        </p:spPr>
      </p:sp>
      <p:sp>
        <p:nvSpPr>
          <p:cNvPr id="91" name="shape-87"/>
          <p:cNvSpPr/>
          <p:nvPr/>
        </p:nvSpPr>
        <p:spPr>
          <a:xfrm>
            <a:off x="6464808" y="5449824"/>
            <a:ext cx="73152" cy="512064"/>
          </a:xfrm>
          <a:prstGeom prst="rect">
            <a:avLst/>
          </a:prstGeom>
          <a:solidFill>
            <a:srgbClr val="8A99A3"/>
          </a:solidFill>
          <a:ln w="12700">
            <a:solidFill>
              <a:srgbClr val="8A99A3"/>
            </a:solidFill>
            <a:prstDash val="solid"/>
          </a:ln>
        </p:spPr>
      </p:sp>
      <p:sp>
        <p:nvSpPr>
          <p:cNvPr id="92" name="text-88"/>
          <p:cNvSpPr txBox="1"/>
          <p:nvPr/>
        </p:nvSpPr>
        <p:spPr>
          <a:xfrm>
            <a:off x="6135624" y="5449824"/>
            <a:ext cx="402336" cy="512064"/>
          </a:xfrm>
          <a:prstGeom prst="rect">
            <a:avLst/>
          </a:prstGeom>
          <a:noFill/>
          <a:ln/>
        </p:spPr>
        <p:txBody>
          <a:bodyPr wrap="square" lIns="0" tIns="0" rIns="0" bIns="0" rtlCol="0" anchor="ctr"/>
          <a:lstStyle/>
          <a:p>
            <a:pPr algn="ctr" indent="0" marL="0">
              <a:lnSpc>
                <a:spcPct val="100000"/>
              </a:lnSpc>
              <a:buNone/>
            </a:pPr>
            <a:r>
              <a:rPr lang="en-US" sz="1450" b="1" dirty="0">
                <a:solidFill>
                  <a:srgbClr val="FFFFFF"/>
                </a:solidFill>
                <a:latin typeface="Calibri" pitchFamily="34" charset="0"/>
                <a:ea typeface="Calibri" pitchFamily="34" charset="-122"/>
                <a:cs typeface="Calibri" pitchFamily="34" charset="-120"/>
              </a:rPr>
              <a:t>C</a:t>
            </a:r>
            <a:endParaRPr lang="en-US" sz="1450" dirty="0"/>
          </a:p>
        </p:txBody>
      </p:sp>
      <p:sp>
        <p:nvSpPr>
          <p:cNvPr id="93" name="text-89"/>
          <p:cNvSpPr txBox="1"/>
          <p:nvPr/>
        </p:nvSpPr>
        <p:spPr>
          <a:xfrm>
            <a:off x="6647688" y="5486400"/>
            <a:ext cx="2135124" cy="219456"/>
          </a:xfrm>
          <a:prstGeom prst="rect">
            <a:avLst/>
          </a:prstGeom>
          <a:noFill/>
          <a:ln/>
        </p:spPr>
        <p:txBody>
          <a:bodyPr wrap="square" lIns="0" tIns="0" rIns="0" bIns="0" rtlCol="0" anchor="ctr"/>
          <a:lstStyle/>
          <a:p>
            <a:pPr algn="l" indent="0" marL="0">
              <a:lnSpc>
                <a:spcPct val="100000"/>
              </a:lnSpc>
              <a:buNone/>
            </a:pPr>
            <a:r>
              <a:rPr lang="en-US" sz="1100" b="1" dirty="0">
                <a:solidFill>
                  <a:srgbClr val="1C2B33"/>
                </a:solidFill>
                <a:latin typeface="Calibri" pitchFamily="34" charset="0"/>
                <a:ea typeface="Calibri" pitchFamily="34" charset="-122"/>
                <a:cs typeface="Calibri" pitchFamily="34" charset="-120"/>
              </a:rPr>
              <a:t>Commodity</a:t>
            </a:r>
            <a:endParaRPr lang="en-US" sz="1100" dirty="0"/>
          </a:p>
        </p:txBody>
      </p:sp>
      <p:sp>
        <p:nvSpPr>
          <p:cNvPr id="94" name="text-90"/>
          <p:cNvSpPr txBox="1"/>
          <p:nvPr/>
        </p:nvSpPr>
        <p:spPr>
          <a:xfrm>
            <a:off x="6647688" y="5705856"/>
            <a:ext cx="2135124" cy="182880"/>
          </a:xfrm>
          <a:prstGeom prst="rect">
            <a:avLst/>
          </a:prstGeom>
          <a:noFill/>
          <a:ln/>
        </p:spPr>
        <p:txBody>
          <a:bodyPr wrap="square" lIns="0" tIns="0" rIns="0" bIns="0" rtlCol="0" anchor="ctr"/>
          <a:lstStyle/>
          <a:p>
            <a:pPr algn="l" indent="0" marL="0">
              <a:lnSpc>
                <a:spcPct val="100000"/>
              </a:lnSpc>
              <a:buNone/>
            </a:pPr>
            <a:r>
              <a:rPr lang="en-US" sz="900" dirty="0">
                <a:solidFill>
                  <a:srgbClr val="5A6B75"/>
                </a:solidFill>
                <a:latin typeface="Calibri" pitchFamily="34" charset="0"/>
                <a:ea typeface="Calibri" pitchFamily="34" charset="-122"/>
                <a:cs typeface="Calibri" pitchFamily="34" charset="-120"/>
              </a:rPr>
              <a:t>standard · maintenance windows; bus replay</a:t>
            </a:r>
            <a:endParaRPr lang="en-US" sz="900" dirty="0"/>
          </a:p>
        </p:txBody>
      </p:sp>
      <p:sp>
        <p:nvSpPr>
          <p:cNvPr id="95" name="shape-91"/>
          <p:cNvSpPr/>
          <p:nvPr/>
        </p:nvSpPr>
        <p:spPr>
          <a:xfrm>
            <a:off x="8929116" y="5449824"/>
            <a:ext cx="2683764" cy="512064"/>
          </a:xfrm>
          <a:prstGeom prst="roundRect">
            <a:avLst>
              <a:gd name="adj" fmla="val 14286"/>
            </a:avLst>
          </a:prstGeom>
          <a:solidFill>
            <a:srgbClr val="FDF1E3"/>
          </a:solidFill>
          <a:ln w="12700">
            <a:solidFill>
              <a:srgbClr val="FDF1E3"/>
            </a:solidFill>
            <a:prstDash val="solid"/>
          </a:ln>
        </p:spPr>
      </p:sp>
      <p:sp>
        <p:nvSpPr>
          <p:cNvPr id="96" name="shape-92"/>
          <p:cNvSpPr/>
          <p:nvPr/>
        </p:nvSpPr>
        <p:spPr>
          <a:xfrm>
            <a:off x="8929116" y="5449824"/>
            <a:ext cx="402336" cy="512064"/>
          </a:xfrm>
          <a:prstGeom prst="roundRect">
            <a:avLst>
              <a:gd name="adj" fmla="val 18182"/>
            </a:avLst>
          </a:prstGeom>
          <a:solidFill>
            <a:srgbClr val="B45309"/>
          </a:solidFill>
          <a:ln w="12700">
            <a:solidFill>
              <a:srgbClr val="B45309"/>
            </a:solidFill>
            <a:prstDash val="solid"/>
          </a:ln>
        </p:spPr>
      </p:sp>
      <p:sp>
        <p:nvSpPr>
          <p:cNvPr id="97" name="shape-93"/>
          <p:cNvSpPr/>
          <p:nvPr/>
        </p:nvSpPr>
        <p:spPr>
          <a:xfrm>
            <a:off x="9258300" y="5449824"/>
            <a:ext cx="73152" cy="512064"/>
          </a:xfrm>
          <a:prstGeom prst="rect">
            <a:avLst/>
          </a:prstGeom>
          <a:solidFill>
            <a:srgbClr val="B45309"/>
          </a:solidFill>
          <a:ln w="12700">
            <a:solidFill>
              <a:srgbClr val="B45309"/>
            </a:solidFill>
            <a:prstDash val="solid"/>
          </a:ln>
        </p:spPr>
      </p:sp>
      <p:sp>
        <p:nvSpPr>
          <p:cNvPr id="98" name="text-94"/>
          <p:cNvSpPr txBox="1"/>
          <p:nvPr/>
        </p:nvSpPr>
        <p:spPr>
          <a:xfrm>
            <a:off x="8929116" y="5449824"/>
            <a:ext cx="402336" cy="512064"/>
          </a:xfrm>
          <a:prstGeom prst="rect">
            <a:avLst/>
          </a:prstGeom>
          <a:noFill/>
          <a:ln/>
        </p:spPr>
        <p:txBody>
          <a:bodyPr wrap="square" lIns="0" tIns="0" rIns="0" bIns="0" rtlCol="0" anchor="ctr"/>
          <a:lstStyle/>
          <a:p>
            <a:pPr algn="ctr" indent="0" marL="0">
              <a:lnSpc>
                <a:spcPct val="100000"/>
              </a:lnSpc>
              <a:buNone/>
            </a:pPr>
            <a:r>
              <a:rPr lang="en-US" sz="1450" b="1" dirty="0">
                <a:solidFill>
                  <a:srgbClr val="FFFFFF"/>
                </a:solidFill>
                <a:latin typeface="Calibri" pitchFamily="34" charset="0"/>
                <a:ea typeface="Calibri" pitchFamily="34" charset="-122"/>
                <a:cs typeface="Calibri" pitchFamily="34" charset="-120"/>
              </a:rPr>
              <a:t>X</a:t>
            </a:r>
            <a:endParaRPr lang="en-US" sz="1450" dirty="0"/>
          </a:p>
        </p:txBody>
      </p:sp>
      <p:sp>
        <p:nvSpPr>
          <p:cNvPr id="99" name="text-95"/>
          <p:cNvSpPr txBox="1"/>
          <p:nvPr/>
        </p:nvSpPr>
        <p:spPr>
          <a:xfrm>
            <a:off x="9441180" y="5486400"/>
            <a:ext cx="2135124" cy="219456"/>
          </a:xfrm>
          <a:prstGeom prst="rect">
            <a:avLst/>
          </a:prstGeom>
          <a:noFill/>
          <a:ln/>
        </p:spPr>
        <p:txBody>
          <a:bodyPr wrap="square" lIns="0" tIns="0" rIns="0" bIns="0" rtlCol="0" anchor="ctr"/>
          <a:lstStyle/>
          <a:p>
            <a:pPr algn="l" indent="0" marL="0">
              <a:lnSpc>
                <a:spcPct val="100000"/>
              </a:lnSpc>
              <a:buNone/>
            </a:pPr>
            <a:r>
              <a:rPr lang="en-US" sz="1100" b="1" dirty="0">
                <a:solidFill>
                  <a:srgbClr val="1C2B33"/>
                </a:solidFill>
                <a:latin typeface="Calibri" pitchFamily="34" charset="0"/>
                <a:ea typeface="Calibri" pitchFamily="34" charset="-122"/>
                <a:cs typeface="Calibri" pitchFamily="34" charset="-120"/>
              </a:rPr>
              <a:t>Cross-cutting</a:t>
            </a:r>
            <a:endParaRPr lang="en-US" sz="1100" dirty="0"/>
          </a:p>
        </p:txBody>
      </p:sp>
      <p:sp>
        <p:nvSpPr>
          <p:cNvPr id="100" name="text-96"/>
          <p:cNvSpPr txBox="1"/>
          <p:nvPr/>
        </p:nvSpPr>
        <p:spPr>
          <a:xfrm>
            <a:off x="9441180" y="5705856"/>
            <a:ext cx="2135124" cy="182880"/>
          </a:xfrm>
          <a:prstGeom prst="rect">
            <a:avLst/>
          </a:prstGeom>
          <a:noFill/>
          <a:ln/>
        </p:spPr>
        <p:txBody>
          <a:bodyPr wrap="square" lIns="0" tIns="0" rIns="0" bIns="0" rtlCol="0" anchor="ctr"/>
          <a:lstStyle/>
          <a:p>
            <a:pPr algn="l" indent="0" marL="0">
              <a:lnSpc>
                <a:spcPct val="100000"/>
              </a:lnSpc>
              <a:buNone/>
            </a:pPr>
            <a:r>
              <a:rPr lang="en-US" sz="900" dirty="0">
                <a:solidFill>
                  <a:srgbClr val="5A6B75"/>
                </a:solidFill>
                <a:latin typeface="Calibri" pitchFamily="34" charset="0"/>
                <a:ea typeface="Calibri" pitchFamily="34" charset="-122"/>
                <a:cs typeface="Calibri" pitchFamily="34" charset="-120"/>
              </a:rPr>
              <a:t>inherits A in A’s path · groups 1, 2, 4</a:t>
            </a:r>
            <a:endParaRPr lang="en-US" sz="900" dirty="0"/>
          </a:p>
        </p:txBody>
      </p:sp>
      <p:sp>
        <p:nvSpPr>
          <p:cNvPr id="101" name="text-97"/>
          <p:cNvSpPr txBox="1"/>
          <p:nvPr/>
        </p:nvSpPr>
        <p:spPr>
          <a:xfrm>
            <a:off x="548640" y="6217920"/>
            <a:ext cx="11064240" cy="164592"/>
          </a:xfrm>
          <a:prstGeom prst="rect">
            <a:avLst/>
          </a:prstGeom>
          <a:noFill/>
          <a:ln/>
        </p:spPr>
        <p:txBody>
          <a:bodyPr wrap="square" lIns="0" tIns="0" rIns="0" bIns="0" rtlCol="0" anchor="ctr"/>
          <a:lstStyle/>
          <a:p>
            <a:pPr algn="l" indent="0" marL="0">
              <a:lnSpc>
                <a:spcPct val="100000"/>
              </a:lnSpc>
              <a:buNone/>
            </a:pPr>
            <a:r>
              <a:rPr lang="en-US" sz="850" i="1" dirty="0">
                <a:solidFill>
                  <a:srgbClr val="5A6B75"/>
                </a:solidFill>
                <a:latin typeface="Calibri" pitchFamily="34" charset="0"/>
                <a:ea typeface="Calibri" pitchFamily="34" charset="-122"/>
                <a:cs typeface="Calibri" pitchFamily="34" charset="-120"/>
              </a:rPr>
              <a:t>Our position on availability, argued from the nature of the content; the source states no SLA. Which mechanisms apply, and in what order, is a Gate 2 outcome.</a:t>
            </a:r>
            <a:endParaRPr lang="en-US" sz="850" dirty="0"/>
          </a:p>
        </p:txBody>
      </p:sp>
      <p:sp>
        <p:nvSpPr>
          <p:cNvPr id="102" name="version-stamp"/>
          <p:cNvSpPr txBox="1"/>
          <p:nvPr/>
        </p:nvSpPr>
        <p:spPr>
          <a:xfrm>
            <a:off x="548640" y="6656832"/>
            <a:ext cx="6400800" cy="146304"/>
          </a:xfrm>
          <a:prstGeom prst="rect">
            <a:avLst/>
          </a:prstGeom>
          <a:noFill/>
          <a:ln/>
        </p:spPr>
        <p:txBody>
          <a:bodyPr wrap="square" lIns="0" tIns="0" rIns="0" bIns="0" rtlCol="0" anchor="ctr"/>
          <a:lstStyle/>
          <a:p>
            <a:pPr algn="l" indent="0" marL="0">
              <a:lnSpc>
                <a:spcPct val="100000"/>
              </a:lnSpc>
              <a:buNone/>
            </a:pPr>
            <a:r>
              <a:rPr lang="en-US" sz="700" dirty="0">
                <a:solidFill>
                  <a:srgbClr val="5A6B75"/>
                </a:solidFill>
                <a:latin typeface="Calibri" pitchFamily="34" charset="0"/>
                <a:ea typeface="Calibri" pitchFamily="34" charset="-122"/>
                <a:cs typeface="Calibri" pitchFamily="34" charset="-120"/>
              </a:rPr>
              <a:t>Modernisation deck · Slide 4 · native · 2026-10-15</a:t>
            </a:r>
            <a:endParaRPr lang="en-US" sz="700" dirty="0"/>
          </a:p>
        </p:txBody>
      </p:sp>
      <p:sp>
        <p:nvSpPr>
          <p:cNvPr id="25" name="Slide Number Placeholder 0"/>
          <p:cNvSpPr>
            <a:spLocks noGrp="1"/>
          </p:cNvSpPr>
          <p:nvPr>
            <p:ph type="sldNum" sz="quarter" idx="4294967295"/>
          </p:nvPr>
        </p:nvSpPr>
        <p:spPr>
          <a:xfrm>
            <a:off x="11247120" y="6601968"/>
            <a:ext cx="41148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B7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kicker"/>
          <p:cNvSpPr txBox="1"/>
          <p:nvPr/>
        </p:nvSpPr>
        <p:spPr>
          <a:xfrm>
            <a:off x="548640" y="402336"/>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5  ·  ONE CREDIBLE SHAPE FOR PUBLISHING AND ROLLBACK</a:t>
            </a:r>
            <a:endParaRPr lang="en-US" sz="800" dirty="0"/>
          </a:p>
        </p:txBody>
      </p:sp>
      <p:sp>
        <p:nvSpPr>
          <p:cNvPr id="3" name="title"/>
          <p:cNvSpPr txBox="1"/>
          <p:nvPr/>
        </p:nvSpPr>
        <p:spPr>
          <a:xfrm>
            <a:off x="548640" y="713232"/>
            <a:ext cx="11155680" cy="384048"/>
          </a:xfrm>
          <a:prstGeom prst="rect">
            <a:avLst/>
          </a:prstGeom>
          <a:noFill/>
          <a:ln/>
        </p:spPr>
        <p:txBody>
          <a:bodyPr wrap="none" lIns="0" tIns="0" rIns="0" bIns="0" rtlCol="0" anchor="ctr"/>
          <a:lstStyle/>
          <a:p>
            <a:pPr algn="l" indent="0" marL="0">
              <a:lnSpc>
                <a:spcPct val="100000"/>
              </a:lnSpc>
              <a:buNone/>
            </a:pPr>
            <a:r>
              <a:rPr lang="en-US" sz="2000" b="1" dirty="0">
                <a:solidFill>
                  <a:srgbClr val="1C2B33"/>
                </a:solidFill>
                <a:latin typeface="Calibri" pitchFamily="34" charset="0"/>
                <a:ea typeface="Calibri" pitchFamily="34" charset="-122"/>
                <a:cs typeface="Calibri" pitchFamily="34" charset="-120"/>
              </a:rPr>
              <a:t>A publishing hub, regional nodes that serve alone, rollback by re-point — one shape to weigh at Gate 2</a:t>
            </a:r>
            <a:endParaRPr lang="en-US" sz="2000" dirty="0"/>
          </a:p>
        </p:txBody>
      </p:sp>
      <p:sp>
        <p:nvSpPr>
          <p:cNvPr id="4" name="shape-0"/>
          <p:cNvSpPr/>
          <p:nvPr/>
        </p:nvSpPr>
        <p:spPr>
          <a:xfrm>
            <a:off x="9820656" y="384048"/>
            <a:ext cx="1792224" cy="182880"/>
          </a:xfrm>
          <a:prstGeom prst="roundRect">
            <a:avLst>
              <a:gd name="adj" fmla="val 50000"/>
            </a:avLst>
          </a:prstGeom>
          <a:solidFill>
            <a:srgbClr val="FDF1E3"/>
          </a:solidFill>
          <a:ln w="9525">
            <a:solidFill>
              <a:srgbClr val="B45309"/>
            </a:solidFill>
            <a:prstDash val="solid"/>
          </a:ln>
        </p:spPr>
      </p:sp>
      <p:sp>
        <p:nvSpPr>
          <p:cNvPr id="5" name="text-1"/>
          <p:cNvSpPr txBox="1"/>
          <p:nvPr/>
        </p:nvSpPr>
        <p:spPr>
          <a:xfrm>
            <a:off x="9820656" y="384048"/>
            <a:ext cx="1792224" cy="182880"/>
          </a:xfrm>
          <a:prstGeom prst="rect">
            <a:avLst/>
          </a:prstGeom>
          <a:noFill/>
          <a:ln/>
        </p:spPr>
        <p:txBody>
          <a:bodyPr wrap="square" lIns="0" tIns="0" rIns="0" bIns="0" rtlCol="0" anchor="ctr"/>
          <a:lstStyle/>
          <a:p>
            <a:pPr algn="ctr" indent="0" marL="0">
              <a:lnSpc>
                <a:spcPct val="100000"/>
              </a:lnSpc>
              <a:buNone/>
            </a:pPr>
            <a:r>
              <a:rPr lang="en-US" sz="750" b="1" spc="100" kern="0" dirty="0">
                <a:solidFill>
                  <a:srgbClr val="B45309"/>
                </a:solidFill>
                <a:latin typeface="Calibri" pitchFamily="34" charset="0"/>
                <a:ea typeface="Calibri" pitchFamily="34" charset="-122"/>
                <a:cs typeface="Calibri" pitchFamily="34" charset="-120"/>
              </a:rPr>
              <a:t>ILLUSTRATIVE — TESTED AT GATE 2</a:t>
            </a:r>
            <a:endParaRPr lang="en-US" sz="750" dirty="0"/>
          </a:p>
        </p:txBody>
      </p:sp>
      <p:sp>
        <p:nvSpPr>
          <p:cNvPr id="6" name="shape-2"/>
          <p:cNvSpPr/>
          <p:nvPr/>
        </p:nvSpPr>
        <p:spPr>
          <a:xfrm>
            <a:off x="548640" y="2286000"/>
            <a:ext cx="1828800" cy="1188720"/>
          </a:xfrm>
          <a:prstGeom prst="roundRect">
            <a:avLst>
              <a:gd name="adj" fmla="val 7692"/>
            </a:avLst>
          </a:prstGeom>
          <a:solidFill>
            <a:srgbClr val="134E4A"/>
          </a:solidFill>
          <a:ln w="12700">
            <a:solidFill>
              <a:srgbClr val="134E4A"/>
            </a:solidFill>
            <a:prstDash val="solid"/>
          </a:ln>
        </p:spPr>
      </p:sp>
      <p:pic>
        <p:nvPicPr>
          <p:cNvPr id="7" name="icon-3" descr="preencoded.png">    </p:cNvPr>
          <p:cNvPicPr>
            <a:picLocks noChangeAspect="1"/>
          </p:cNvPicPr>
          <p:nvPr/>
        </p:nvPicPr>
        <p:blipFill>
          <a:blip r:embed="rId1"/>
          <a:stretch>
            <a:fillRect/>
          </a:stretch>
        </p:blipFill>
        <p:spPr>
          <a:xfrm>
            <a:off x="694944" y="2432304"/>
            <a:ext cx="237744" cy="237744"/>
          </a:xfrm>
          <a:prstGeom prst="rect">
            <a:avLst/>
          </a:prstGeom>
        </p:spPr>
      </p:pic>
      <p:sp>
        <p:nvSpPr>
          <p:cNvPr id="8" name="text-4"/>
          <p:cNvSpPr txBox="1"/>
          <p:nvPr/>
        </p:nvSpPr>
        <p:spPr>
          <a:xfrm>
            <a:off x="1024128" y="2414016"/>
            <a:ext cx="1280160" cy="237744"/>
          </a:xfrm>
          <a:prstGeom prst="rect">
            <a:avLst/>
          </a:prstGeom>
          <a:noFill/>
          <a:ln/>
        </p:spPr>
        <p:txBody>
          <a:bodyPr wrap="square" lIns="0" tIns="0" rIns="0" bIns="0" rtlCol="0" anchor="ctr"/>
          <a:lstStyle/>
          <a:p>
            <a:pPr algn="l" indent="0" marL="0">
              <a:lnSpc>
                <a:spcPct val="100000"/>
              </a:lnSpc>
              <a:buNone/>
            </a:pPr>
            <a:r>
              <a:rPr lang="en-US" sz="1200" b="1" dirty="0">
                <a:solidFill>
                  <a:srgbClr val="FFFFFF"/>
                </a:solidFill>
                <a:latin typeface="Calibri" pitchFamily="34" charset="0"/>
                <a:ea typeface="Calibri" pitchFamily="34" charset="-122"/>
                <a:cs typeface="Calibri" pitchFamily="34" charset="-120"/>
              </a:rPr>
              <a:t>Publishing hub</a:t>
            </a:r>
            <a:endParaRPr lang="en-US" sz="1200" dirty="0"/>
          </a:p>
        </p:txBody>
      </p:sp>
      <p:sp>
        <p:nvSpPr>
          <p:cNvPr id="9" name="text-5"/>
          <p:cNvSpPr txBox="1"/>
          <p:nvPr/>
        </p:nvSpPr>
        <p:spPr>
          <a:xfrm>
            <a:off x="694944" y="2743200"/>
            <a:ext cx="1645920" cy="164592"/>
          </a:xfrm>
          <a:prstGeom prst="rect">
            <a:avLst/>
          </a:prstGeom>
          <a:noFill/>
          <a:ln/>
        </p:spPr>
        <p:txBody>
          <a:bodyPr wrap="square" lIns="0" tIns="0" rIns="0" bIns="0" rtlCol="0" anchor="ctr"/>
          <a:lstStyle/>
          <a:p>
            <a:pPr algn="l" indent="0" marL="0">
              <a:lnSpc>
                <a:spcPct val="100000"/>
              </a:lnSpc>
              <a:buNone/>
            </a:pPr>
            <a:r>
              <a:rPr lang="en-US" sz="850" dirty="0">
                <a:solidFill>
                  <a:srgbClr val="CFE8E5"/>
                </a:solidFill>
                <a:latin typeface="Calibri" pitchFamily="34" charset="0"/>
                <a:ea typeface="Calibri" pitchFamily="34" charset="-122"/>
                <a:cs typeface="Calibri" pitchFamily="34" charset="-120"/>
              </a:rPr>
              <a:t>authoring → review → approve</a:t>
            </a:r>
            <a:endParaRPr lang="en-US" sz="850" dirty="0"/>
          </a:p>
        </p:txBody>
      </p:sp>
      <p:sp>
        <p:nvSpPr>
          <p:cNvPr id="10" name="text-6"/>
          <p:cNvSpPr txBox="1"/>
          <p:nvPr/>
        </p:nvSpPr>
        <p:spPr>
          <a:xfrm>
            <a:off x="694944" y="2907792"/>
            <a:ext cx="1645920" cy="164592"/>
          </a:xfrm>
          <a:prstGeom prst="rect">
            <a:avLst/>
          </a:prstGeom>
          <a:noFill/>
          <a:ln/>
        </p:spPr>
        <p:txBody>
          <a:bodyPr wrap="square" lIns="0" tIns="0" rIns="0" bIns="0" rtlCol="0" anchor="ctr"/>
          <a:lstStyle/>
          <a:p>
            <a:pPr algn="l" indent="0" marL="0">
              <a:lnSpc>
                <a:spcPct val="100000"/>
              </a:lnSpc>
              <a:buNone/>
            </a:pPr>
            <a:r>
              <a:rPr lang="en-US" sz="850" dirty="0">
                <a:solidFill>
                  <a:srgbClr val="CFE8E5"/>
                </a:solidFill>
                <a:latin typeface="Calibri" pitchFamily="34" charset="0"/>
                <a:ea typeface="Calibri" pitchFamily="34" charset="-122"/>
                <a:cs typeface="Calibri" pitchFamily="34" charset="-120"/>
              </a:rPr>
              <a:t>build → test evidence → sign</a:t>
            </a:r>
            <a:endParaRPr lang="en-US" sz="850" dirty="0"/>
          </a:p>
        </p:txBody>
      </p:sp>
      <p:sp>
        <p:nvSpPr>
          <p:cNvPr id="11" name="shape-7"/>
          <p:cNvSpPr/>
          <p:nvPr/>
        </p:nvSpPr>
        <p:spPr>
          <a:xfrm>
            <a:off x="694944" y="3163824"/>
            <a:ext cx="1536192" cy="201168"/>
          </a:xfrm>
          <a:prstGeom prst="roundRect">
            <a:avLst>
              <a:gd name="adj" fmla="val 18182"/>
            </a:avLst>
          </a:prstGeom>
          <a:solidFill>
            <a:srgbClr val="0F766E"/>
          </a:solidFill>
          <a:ln w="12700">
            <a:solidFill>
              <a:srgbClr val="0F766E"/>
            </a:solidFill>
            <a:prstDash val="solid"/>
          </a:ln>
        </p:spPr>
      </p:sp>
      <p:sp>
        <p:nvSpPr>
          <p:cNvPr id="12" name="text-8"/>
          <p:cNvSpPr txBox="1"/>
          <p:nvPr/>
        </p:nvSpPr>
        <p:spPr>
          <a:xfrm>
            <a:off x="694944" y="3163824"/>
            <a:ext cx="1536192" cy="201168"/>
          </a:xfrm>
          <a:prstGeom prst="rect">
            <a:avLst/>
          </a:prstGeom>
          <a:noFill/>
          <a:ln/>
        </p:spPr>
        <p:txBody>
          <a:bodyPr wrap="square" lIns="0" tIns="0" rIns="0" bIns="0" rtlCol="0" anchor="ctr"/>
          <a:lstStyle/>
          <a:p>
            <a:pPr algn="ctr" indent="0" marL="0">
              <a:lnSpc>
                <a:spcPct val="100000"/>
              </a:lnSpc>
              <a:buNone/>
            </a:pPr>
            <a:r>
              <a:rPr lang="en-US" sz="850" b="1" dirty="0">
                <a:solidFill>
                  <a:srgbClr val="FFFFFF"/>
                </a:solidFill>
                <a:latin typeface="Calibri" pitchFamily="34" charset="0"/>
                <a:ea typeface="Calibri" pitchFamily="34" charset="-122"/>
                <a:cs typeface="Calibri" pitchFamily="34" charset="-120"/>
              </a:rPr>
              <a:t>release manifest  {content vN, code vN}</a:t>
            </a:r>
            <a:endParaRPr lang="en-US" sz="850" dirty="0"/>
          </a:p>
        </p:txBody>
      </p:sp>
      <p:sp>
        <p:nvSpPr>
          <p:cNvPr id="13" name="shape-9"/>
          <p:cNvSpPr/>
          <p:nvPr/>
        </p:nvSpPr>
        <p:spPr>
          <a:xfrm>
            <a:off x="3200400" y="2286000"/>
            <a:ext cx="1371600" cy="1188720"/>
          </a:xfrm>
          <a:prstGeom prst="roundRect">
            <a:avLst>
              <a:gd name="adj" fmla="val 7692"/>
            </a:avLst>
          </a:prstGeom>
          <a:solidFill>
            <a:srgbClr val="FDF1E3"/>
          </a:solidFill>
          <a:ln w="12700">
            <a:solidFill>
              <a:srgbClr val="B45309"/>
            </a:solidFill>
            <a:prstDash val="solid"/>
          </a:ln>
        </p:spPr>
      </p:sp>
      <p:pic>
        <p:nvPicPr>
          <p:cNvPr id="14" name="icon-10" descr="preencoded.png">    </p:cNvPr>
          <p:cNvPicPr>
            <a:picLocks noChangeAspect="1"/>
          </p:cNvPicPr>
          <p:nvPr/>
        </p:nvPicPr>
        <p:blipFill>
          <a:blip r:embed="rId2"/>
          <a:stretch>
            <a:fillRect/>
          </a:stretch>
        </p:blipFill>
        <p:spPr>
          <a:xfrm>
            <a:off x="3346704" y="2432304"/>
            <a:ext cx="219456" cy="219456"/>
          </a:xfrm>
          <a:prstGeom prst="rect">
            <a:avLst/>
          </a:prstGeom>
        </p:spPr>
      </p:pic>
      <p:sp>
        <p:nvSpPr>
          <p:cNvPr id="15" name="text-11"/>
          <p:cNvSpPr txBox="1"/>
          <p:nvPr/>
        </p:nvSpPr>
        <p:spPr>
          <a:xfrm>
            <a:off x="3639312" y="2414016"/>
            <a:ext cx="914400" cy="237744"/>
          </a:xfrm>
          <a:prstGeom prst="rect">
            <a:avLst/>
          </a:prstGeom>
          <a:noFill/>
          <a:ln/>
        </p:spPr>
        <p:txBody>
          <a:bodyPr wrap="square" lIns="0" tIns="0" rIns="0" bIns="0" rtlCol="0" anchor="ctr"/>
          <a:lstStyle/>
          <a:p>
            <a:pPr algn="l" indent="0" marL="0">
              <a:lnSpc>
                <a:spcPct val="100000"/>
              </a:lnSpc>
              <a:buNone/>
            </a:pPr>
            <a:r>
              <a:rPr lang="en-US" sz="1100" b="1" dirty="0">
                <a:solidFill>
                  <a:srgbClr val="1C2B33"/>
                </a:solidFill>
                <a:latin typeface="Calibri" pitchFamily="34" charset="0"/>
                <a:ea typeface="Calibri" pitchFamily="34" charset="-122"/>
                <a:cs typeface="Calibri" pitchFamily="34" charset="-120"/>
              </a:rPr>
              <a:t>Event log</a:t>
            </a:r>
            <a:endParaRPr lang="en-US" sz="1100" dirty="0"/>
          </a:p>
        </p:txBody>
      </p:sp>
      <p:sp>
        <p:nvSpPr>
          <p:cNvPr id="16" name="text-12"/>
          <p:cNvSpPr txBox="1"/>
          <p:nvPr/>
        </p:nvSpPr>
        <p:spPr>
          <a:xfrm>
            <a:off x="3310128" y="2743200"/>
            <a:ext cx="1243584" cy="146304"/>
          </a:xfrm>
          <a:prstGeom prst="rect">
            <a:avLst/>
          </a:prstGeom>
          <a:noFill/>
          <a:ln/>
        </p:spPr>
        <p:txBody>
          <a:bodyPr wrap="none" lIns="0" tIns="0" rIns="0" bIns="0" rtlCol="0" anchor="ctr"/>
          <a:lstStyle/>
          <a:p>
            <a:pPr algn="l" indent="0" marL="0">
              <a:lnSpc>
                <a:spcPct val="100000"/>
              </a:lnSpc>
              <a:buNone/>
            </a:pPr>
            <a:r>
              <a:rPr lang="en-US" sz="850" dirty="0">
                <a:solidFill>
                  <a:srgbClr val="1C2B33"/>
                </a:solidFill>
                <a:latin typeface="Calibri" pitchFamily="34" charset="0"/>
                <a:ea typeface="Calibri" pitchFamily="34" charset="-122"/>
                <a:cs typeface="Calibri" pitchFamily="34" charset="-120"/>
              </a:rPr>
              <a:t>as proposed: the bus</a:t>
            </a:r>
            <a:endParaRPr lang="en-US" sz="850" dirty="0"/>
          </a:p>
        </p:txBody>
      </p:sp>
      <p:sp>
        <p:nvSpPr>
          <p:cNvPr id="17" name="text-13"/>
          <p:cNvSpPr txBox="1"/>
          <p:nvPr/>
        </p:nvSpPr>
        <p:spPr>
          <a:xfrm>
            <a:off x="3310128" y="2889504"/>
            <a:ext cx="1243584" cy="146304"/>
          </a:xfrm>
          <a:prstGeom prst="rect">
            <a:avLst/>
          </a:prstGeom>
          <a:noFill/>
          <a:ln/>
        </p:spPr>
        <p:txBody>
          <a:bodyPr wrap="none" lIns="0" tIns="0" rIns="0" bIns="0" rtlCol="0" anchor="ctr"/>
          <a:lstStyle/>
          <a:p>
            <a:pPr algn="l" indent="0" marL="0">
              <a:lnSpc>
                <a:spcPct val="100000"/>
              </a:lnSpc>
              <a:buNone/>
            </a:pPr>
            <a:r>
              <a:rPr lang="en-US" sz="850" dirty="0">
                <a:solidFill>
                  <a:srgbClr val="1C2B33"/>
                </a:solidFill>
                <a:latin typeface="Calibri" pitchFamily="34" charset="0"/>
                <a:ea typeface="Calibri" pitchFamily="34" charset="-122"/>
                <a:cs typeface="Calibri" pitchFamily="34" charset="-120"/>
              </a:rPr>
              <a:t>needs: immutable, ordered,</a:t>
            </a:r>
            <a:endParaRPr lang="en-US" sz="850" dirty="0"/>
          </a:p>
        </p:txBody>
      </p:sp>
      <p:sp>
        <p:nvSpPr>
          <p:cNvPr id="18" name="text-14"/>
          <p:cNvSpPr txBox="1"/>
          <p:nvPr/>
        </p:nvSpPr>
        <p:spPr>
          <a:xfrm>
            <a:off x="3310128" y="3035808"/>
            <a:ext cx="1243584" cy="146304"/>
          </a:xfrm>
          <a:prstGeom prst="rect">
            <a:avLst/>
          </a:prstGeom>
          <a:noFill/>
          <a:ln/>
        </p:spPr>
        <p:txBody>
          <a:bodyPr wrap="none" lIns="0" tIns="0" rIns="0" bIns="0" rtlCol="0" anchor="ctr"/>
          <a:lstStyle/>
          <a:p>
            <a:pPr algn="l" indent="0" marL="0">
              <a:lnSpc>
                <a:spcPct val="100000"/>
              </a:lnSpc>
              <a:buNone/>
            </a:pPr>
            <a:r>
              <a:rPr lang="en-US" sz="850" dirty="0">
                <a:solidFill>
                  <a:srgbClr val="1C2B33"/>
                </a:solidFill>
                <a:latin typeface="Calibri" pitchFamily="34" charset="0"/>
                <a:ea typeface="Calibri" pitchFamily="34" charset="-122"/>
                <a:cs typeface="Calibri" pitchFamily="34" charset="-120"/>
              </a:rPr>
              <a:t>retained, replayable</a:t>
            </a:r>
            <a:endParaRPr lang="en-US" sz="850" dirty="0"/>
          </a:p>
        </p:txBody>
      </p:sp>
      <p:sp>
        <p:nvSpPr>
          <p:cNvPr id="19" name="text-15"/>
          <p:cNvSpPr txBox="1"/>
          <p:nvPr/>
        </p:nvSpPr>
        <p:spPr>
          <a:xfrm>
            <a:off x="3310128" y="3182112"/>
            <a:ext cx="1243584" cy="146304"/>
          </a:xfrm>
          <a:prstGeom prst="rect">
            <a:avLst/>
          </a:prstGeom>
          <a:noFill/>
          <a:ln/>
        </p:spPr>
        <p:txBody>
          <a:bodyPr wrap="none" lIns="0" tIns="0" rIns="0" bIns="0" rtlCol="0" anchor="ctr"/>
          <a:lstStyle/>
          <a:p>
            <a:pPr algn="l" indent="0" marL="0">
              <a:lnSpc>
                <a:spcPct val="100000"/>
              </a:lnSpc>
              <a:buNone/>
            </a:pPr>
            <a:r>
              <a:rPr lang="en-US" sz="850" dirty="0">
                <a:solidFill>
                  <a:srgbClr val="1C2B33"/>
                </a:solidFill>
                <a:latin typeface="Calibri" pitchFamily="34" charset="0"/>
                <a:ea typeface="Calibri" pitchFamily="34" charset="-122"/>
                <a:cs typeface="Calibri" pitchFamily="34" charset="-120"/>
              </a:rPr>
              <a:t>fan-out to every node</a:t>
            </a:r>
            <a:endParaRPr lang="en-US" sz="850" dirty="0"/>
          </a:p>
        </p:txBody>
      </p:sp>
      <p:sp>
        <p:nvSpPr>
          <p:cNvPr id="20" name="line-16"/>
          <p:cNvSpPr/>
          <p:nvPr/>
        </p:nvSpPr>
        <p:spPr>
          <a:xfrm>
            <a:off x="2377440" y="2880360"/>
            <a:ext cx="768096" cy="0"/>
          </a:xfrm>
          <a:prstGeom prst="line">
            <a:avLst/>
          </a:prstGeom>
          <a:noFill/>
          <a:ln w="31750">
            <a:solidFill>
              <a:srgbClr val="134E4A"/>
            </a:solidFill>
            <a:prstDash val="solid"/>
            <a:tailEnd type="triangle"/>
          </a:ln>
        </p:spPr>
      </p:sp>
      <p:sp>
        <p:nvSpPr>
          <p:cNvPr id="21" name="text-17"/>
          <p:cNvSpPr txBox="1"/>
          <p:nvPr/>
        </p:nvSpPr>
        <p:spPr>
          <a:xfrm>
            <a:off x="2377440" y="2651760"/>
            <a:ext cx="822960" cy="146304"/>
          </a:xfrm>
          <a:prstGeom prst="rect">
            <a:avLst/>
          </a:prstGeom>
          <a:noFill/>
          <a:ln/>
        </p:spPr>
        <p:txBody>
          <a:bodyPr wrap="square" lIns="0" tIns="0" rIns="0" bIns="0" rtlCol="0" anchor="ctr"/>
          <a:lstStyle/>
          <a:p>
            <a:pPr algn="ctr" indent="0" marL="0">
              <a:lnSpc>
                <a:spcPct val="100000"/>
              </a:lnSpc>
              <a:buNone/>
            </a:pPr>
            <a:r>
              <a:rPr lang="en-US" sz="800" b="1" dirty="0">
                <a:solidFill>
                  <a:srgbClr val="134E4A"/>
                </a:solidFill>
                <a:latin typeface="Calibri" pitchFamily="34" charset="0"/>
                <a:ea typeface="Calibri" pitchFamily="34" charset="-122"/>
                <a:cs typeface="Calibri" pitchFamily="34" charset="-120"/>
              </a:rPr>
              <a:t>publish</a:t>
            </a:r>
            <a:endParaRPr lang="en-US" sz="800" dirty="0"/>
          </a:p>
        </p:txBody>
      </p:sp>
      <p:sp>
        <p:nvSpPr>
          <p:cNvPr id="22" name="shape-18"/>
          <p:cNvSpPr/>
          <p:nvPr/>
        </p:nvSpPr>
        <p:spPr>
          <a:xfrm>
            <a:off x="4937760" y="1463040"/>
            <a:ext cx="1920240" cy="804672"/>
          </a:xfrm>
          <a:prstGeom prst="roundRect">
            <a:avLst>
              <a:gd name="adj" fmla="val 11364"/>
            </a:avLst>
          </a:prstGeom>
          <a:solidFill>
            <a:srgbClr val="0F766E"/>
          </a:solidFill>
          <a:ln w="12700">
            <a:solidFill>
              <a:srgbClr val="0F766E"/>
            </a:solidFill>
            <a:prstDash val="solid"/>
          </a:ln>
        </p:spPr>
      </p:sp>
      <p:pic>
        <p:nvPicPr>
          <p:cNvPr id="23" name="icon-19" descr="preencoded.png">    </p:cNvPr>
          <p:cNvPicPr>
            <a:picLocks noChangeAspect="1"/>
          </p:cNvPicPr>
          <p:nvPr/>
        </p:nvPicPr>
        <p:blipFill>
          <a:blip r:embed="rId3"/>
          <a:stretch>
            <a:fillRect/>
          </a:stretch>
        </p:blipFill>
        <p:spPr>
          <a:xfrm>
            <a:off x="5065776" y="1591056"/>
            <a:ext cx="201168" cy="201168"/>
          </a:xfrm>
          <a:prstGeom prst="rect">
            <a:avLst/>
          </a:prstGeom>
        </p:spPr>
      </p:pic>
      <p:sp>
        <p:nvSpPr>
          <p:cNvPr id="24" name="text-20"/>
          <p:cNvSpPr txBox="1"/>
          <p:nvPr/>
        </p:nvSpPr>
        <p:spPr>
          <a:xfrm>
            <a:off x="5340096" y="1572768"/>
            <a:ext cx="1371600" cy="219456"/>
          </a:xfrm>
          <a:prstGeom prst="rect">
            <a:avLst/>
          </a:prstGeom>
          <a:noFill/>
          <a:ln/>
        </p:spPr>
        <p:txBody>
          <a:bodyPr wrap="square" lIns="0" tIns="0" rIns="0" bIns="0" rtlCol="0" anchor="ctr"/>
          <a:lstStyle/>
          <a:p>
            <a:pPr algn="l" indent="0" marL="0">
              <a:lnSpc>
                <a:spcPct val="100000"/>
              </a:lnSpc>
              <a:buNone/>
            </a:pPr>
            <a:r>
              <a:rPr lang="en-US" sz="1100" b="1" dirty="0">
                <a:solidFill>
                  <a:srgbClr val="FFFFFF"/>
                </a:solidFill>
                <a:latin typeface="Calibri" pitchFamily="34" charset="0"/>
                <a:ea typeface="Calibri" pitchFamily="34" charset="-122"/>
                <a:cs typeface="Calibri" pitchFamily="34" charset="-120"/>
              </a:rPr>
              <a:t>Region 1</a:t>
            </a:r>
            <a:endParaRPr lang="en-US" sz="1100" dirty="0"/>
          </a:p>
        </p:txBody>
      </p:sp>
      <p:sp>
        <p:nvSpPr>
          <p:cNvPr id="25" name="text-21"/>
          <p:cNvSpPr txBox="1"/>
          <p:nvPr/>
        </p:nvSpPr>
        <p:spPr>
          <a:xfrm>
            <a:off x="5065776" y="1828800"/>
            <a:ext cx="1664208" cy="146304"/>
          </a:xfrm>
          <a:prstGeom prst="rect">
            <a:avLst/>
          </a:prstGeom>
          <a:noFill/>
          <a:ln/>
        </p:spPr>
        <p:txBody>
          <a:bodyPr wrap="square" lIns="0" tIns="0" rIns="0" bIns="0" rtlCol="0" anchor="ctr"/>
          <a:lstStyle/>
          <a:p>
            <a:pPr algn="l" indent="0" marL="0">
              <a:lnSpc>
                <a:spcPct val="100000"/>
              </a:lnSpc>
              <a:buNone/>
            </a:pPr>
            <a:r>
              <a:rPr lang="en-US" sz="800" i="1" dirty="0">
                <a:solidFill>
                  <a:srgbClr val="CFE8E5"/>
                </a:solidFill>
                <a:latin typeface="Calibri" pitchFamily="34" charset="0"/>
                <a:ea typeface="Calibri" pitchFamily="34" charset="-122"/>
                <a:cs typeface="Calibri" pitchFamily="34" charset="-120"/>
              </a:rPr>
              <a:t>primary for its users</a:t>
            </a:r>
            <a:endParaRPr lang="en-US" sz="800" dirty="0"/>
          </a:p>
        </p:txBody>
      </p:sp>
      <p:sp>
        <p:nvSpPr>
          <p:cNvPr id="26" name="text-22"/>
          <p:cNvSpPr txBox="1"/>
          <p:nvPr/>
        </p:nvSpPr>
        <p:spPr>
          <a:xfrm>
            <a:off x="5065776" y="1975104"/>
            <a:ext cx="1664208" cy="137160"/>
          </a:xfrm>
          <a:prstGeom prst="rect">
            <a:avLst/>
          </a:prstGeom>
          <a:noFill/>
          <a:ln/>
        </p:spPr>
        <p:txBody>
          <a:bodyPr wrap="square" lIns="0" tIns="0" rIns="0" bIns="0" rtlCol="0" anchor="ctr"/>
          <a:lstStyle/>
          <a:p>
            <a:pPr algn="l" indent="0" marL="0">
              <a:lnSpc>
                <a:spcPct val="100000"/>
              </a:lnSpc>
              <a:buNone/>
            </a:pPr>
            <a:r>
              <a:rPr lang="en-US" sz="850" dirty="0">
                <a:solidFill>
                  <a:srgbClr val="FFFFFF"/>
                </a:solidFill>
                <a:latin typeface="Calibri" pitchFamily="34" charset="0"/>
                <a:ea typeface="Calibri" pitchFamily="34" charset="-122"/>
                <a:cs typeface="Calibri" pitchFamily="34" charset="-120"/>
              </a:rPr>
              <a:t>content vN · app · entitlement cache</a:t>
            </a:r>
            <a:endParaRPr lang="en-US" sz="850" dirty="0"/>
          </a:p>
        </p:txBody>
      </p:sp>
      <p:sp>
        <p:nvSpPr>
          <p:cNvPr id="27" name="text-23"/>
          <p:cNvSpPr txBox="1"/>
          <p:nvPr/>
        </p:nvSpPr>
        <p:spPr>
          <a:xfrm>
            <a:off x="5065776" y="2103120"/>
            <a:ext cx="1664208" cy="137160"/>
          </a:xfrm>
          <a:prstGeom prst="rect">
            <a:avLst/>
          </a:prstGeom>
          <a:noFill/>
          <a:ln/>
        </p:spPr>
        <p:txBody>
          <a:bodyPr wrap="square" lIns="0" tIns="0" rIns="0" bIns="0" rtlCol="0" anchor="ctr"/>
          <a:lstStyle/>
          <a:p>
            <a:pPr algn="l" indent="0" marL="0">
              <a:lnSpc>
                <a:spcPct val="100000"/>
              </a:lnSpc>
              <a:buNone/>
            </a:pPr>
            <a:r>
              <a:rPr lang="en-US" sz="850" dirty="0">
                <a:solidFill>
                  <a:srgbClr val="FFFFFF"/>
                </a:solidFill>
                <a:latin typeface="Calibri" pitchFamily="34" charset="0"/>
                <a:ea typeface="Calibri" pitchFamily="34" charset="-122"/>
                <a:cs typeface="Calibri" pitchFamily="34" charset="-120"/>
              </a:rPr>
              <a:t>serves alone if the hub is down</a:t>
            </a:r>
            <a:endParaRPr lang="en-US" sz="850" dirty="0"/>
          </a:p>
        </p:txBody>
      </p:sp>
      <p:sp>
        <p:nvSpPr>
          <p:cNvPr id="28" name="line-24"/>
          <p:cNvSpPr/>
          <p:nvPr/>
        </p:nvSpPr>
        <p:spPr>
          <a:xfrm flipV="1">
            <a:off x="4572000" y="1865376"/>
            <a:ext cx="310896" cy="1014984"/>
          </a:xfrm>
          <a:prstGeom prst="line">
            <a:avLst/>
          </a:prstGeom>
          <a:noFill/>
          <a:ln w="19050">
            <a:solidFill>
              <a:srgbClr val="B45309"/>
            </a:solidFill>
            <a:prstDash val="sysDash"/>
            <a:tailEnd type="triangle"/>
          </a:ln>
        </p:spPr>
      </p:sp>
      <p:sp>
        <p:nvSpPr>
          <p:cNvPr id="29" name="shape-25"/>
          <p:cNvSpPr/>
          <p:nvPr/>
        </p:nvSpPr>
        <p:spPr>
          <a:xfrm>
            <a:off x="4937760" y="2377440"/>
            <a:ext cx="1920240" cy="804672"/>
          </a:xfrm>
          <a:prstGeom prst="roundRect">
            <a:avLst>
              <a:gd name="adj" fmla="val 11364"/>
            </a:avLst>
          </a:prstGeom>
          <a:solidFill>
            <a:srgbClr val="0F766E"/>
          </a:solidFill>
          <a:ln w="12700">
            <a:solidFill>
              <a:srgbClr val="0F766E"/>
            </a:solidFill>
            <a:prstDash val="solid"/>
          </a:ln>
        </p:spPr>
      </p:sp>
      <p:pic>
        <p:nvPicPr>
          <p:cNvPr id="30" name="icon-26" descr="preencoded.png">    </p:cNvPr>
          <p:cNvPicPr>
            <a:picLocks noChangeAspect="1"/>
          </p:cNvPicPr>
          <p:nvPr/>
        </p:nvPicPr>
        <p:blipFill>
          <a:blip r:embed="rId4"/>
          <a:stretch>
            <a:fillRect/>
          </a:stretch>
        </p:blipFill>
        <p:spPr>
          <a:xfrm>
            <a:off x="5065776" y="2505456"/>
            <a:ext cx="201168" cy="201168"/>
          </a:xfrm>
          <a:prstGeom prst="rect">
            <a:avLst/>
          </a:prstGeom>
        </p:spPr>
      </p:pic>
      <p:sp>
        <p:nvSpPr>
          <p:cNvPr id="31" name="text-27"/>
          <p:cNvSpPr txBox="1"/>
          <p:nvPr/>
        </p:nvSpPr>
        <p:spPr>
          <a:xfrm>
            <a:off x="5340096" y="2487168"/>
            <a:ext cx="1371600" cy="219456"/>
          </a:xfrm>
          <a:prstGeom prst="rect">
            <a:avLst/>
          </a:prstGeom>
          <a:noFill/>
          <a:ln/>
        </p:spPr>
        <p:txBody>
          <a:bodyPr wrap="square" lIns="0" tIns="0" rIns="0" bIns="0" rtlCol="0" anchor="ctr"/>
          <a:lstStyle/>
          <a:p>
            <a:pPr algn="l" indent="0" marL="0">
              <a:lnSpc>
                <a:spcPct val="100000"/>
              </a:lnSpc>
              <a:buNone/>
            </a:pPr>
            <a:r>
              <a:rPr lang="en-US" sz="1100" b="1" dirty="0">
                <a:solidFill>
                  <a:srgbClr val="FFFFFF"/>
                </a:solidFill>
                <a:latin typeface="Calibri" pitchFamily="34" charset="0"/>
                <a:ea typeface="Calibri" pitchFamily="34" charset="-122"/>
                <a:cs typeface="Calibri" pitchFamily="34" charset="-120"/>
              </a:rPr>
              <a:t>Region 2</a:t>
            </a:r>
            <a:endParaRPr lang="en-US" sz="1100" dirty="0"/>
          </a:p>
        </p:txBody>
      </p:sp>
      <p:sp>
        <p:nvSpPr>
          <p:cNvPr id="32" name="text-28"/>
          <p:cNvSpPr txBox="1"/>
          <p:nvPr/>
        </p:nvSpPr>
        <p:spPr>
          <a:xfrm>
            <a:off x="5065776" y="2743200"/>
            <a:ext cx="1664208" cy="146304"/>
          </a:xfrm>
          <a:prstGeom prst="rect">
            <a:avLst/>
          </a:prstGeom>
          <a:noFill/>
          <a:ln/>
        </p:spPr>
        <p:txBody>
          <a:bodyPr wrap="square" lIns="0" tIns="0" rIns="0" bIns="0" rtlCol="0" anchor="ctr"/>
          <a:lstStyle/>
          <a:p>
            <a:pPr algn="l" indent="0" marL="0">
              <a:lnSpc>
                <a:spcPct val="100000"/>
              </a:lnSpc>
              <a:buNone/>
            </a:pPr>
            <a:r>
              <a:rPr lang="en-US" sz="800" i="1" dirty="0">
                <a:solidFill>
                  <a:srgbClr val="CFE8E5"/>
                </a:solidFill>
                <a:latin typeface="Calibri" pitchFamily="34" charset="0"/>
                <a:ea typeface="Calibri" pitchFamily="34" charset="-122"/>
                <a:cs typeface="Calibri" pitchFamily="34" charset="-120"/>
              </a:rPr>
              <a:t>primary for its users</a:t>
            </a:r>
            <a:endParaRPr lang="en-US" sz="800" dirty="0"/>
          </a:p>
        </p:txBody>
      </p:sp>
      <p:sp>
        <p:nvSpPr>
          <p:cNvPr id="33" name="text-29"/>
          <p:cNvSpPr txBox="1"/>
          <p:nvPr/>
        </p:nvSpPr>
        <p:spPr>
          <a:xfrm>
            <a:off x="5065776" y="2889504"/>
            <a:ext cx="1664208" cy="137160"/>
          </a:xfrm>
          <a:prstGeom prst="rect">
            <a:avLst/>
          </a:prstGeom>
          <a:noFill/>
          <a:ln/>
        </p:spPr>
        <p:txBody>
          <a:bodyPr wrap="square" lIns="0" tIns="0" rIns="0" bIns="0" rtlCol="0" anchor="ctr"/>
          <a:lstStyle/>
          <a:p>
            <a:pPr algn="l" indent="0" marL="0">
              <a:lnSpc>
                <a:spcPct val="100000"/>
              </a:lnSpc>
              <a:buNone/>
            </a:pPr>
            <a:r>
              <a:rPr lang="en-US" sz="850" dirty="0">
                <a:solidFill>
                  <a:srgbClr val="FFFFFF"/>
                </a:solidFill>
                <a:latin typeface="Calibri" pitchFamily="34" charset="0"/>
                <a:ea typeface="Calibri" pitchFamily="34" charset="-122"/>
                <a:cs typeface="Calibri" pitchFamily="34" charset="-120"/>
              </a:rPr>
              <a:t>content vN · app · entitlement cache</a:t>
            </a:r>
            <a:endParaRPr lang="en-US" sz="850" dirty="0"/>
          </a:p>
        </p:txBody>
      </p:sp>
      <p:sp>
        <p:nvSpPr>
          <p:cNvPr id="34" name="text-30"/>
          <p:cNvSpPr txBox="1"/>
          <p:nvPr/>
        </p:nvSpPr>
        <p:spPr>
          <a:xfrm>
            <a:off x="5065776" y="3017520"/>
            <a:ext cx="1664208" cy="137160"/>
          </a:xfrm>
          <a:prstGeom prst="rect">
            <a:avLst/>
          </a:prstGeom>
          <a:noFill/>
          <a:ln/>
        </p:spPr>
        <p:txBody>
          <a:bodyPr wrap="square" lIns="0" tIns="0" rIns="0" bIns="0" rtlCol="0" anchor="ctr"/>
          <a:lstStyle/>
          <a:p>
            <a:pPr algn="l" indent="0" marL="0">
              <a:lnSpc>
                <a:spcPct val="100000"/>
              </a:lnSpc>
              <a:buNone/>
            </a:pPr>
            <a:r>
              <a:rPr lang="en-US" sz="850" dirty="0">
                <a:solidFill>
                  <a:srgbClr val="FFFFFF"/>
                </a:solidFill>
                <a:latin typeface="Calibri" pitchFamily="34" charset="0"/>
                <a:ea typeface="Calibri" pitchFamily="34" charset="-122"/>
                <a:cs typeface="Calibri" pitchFamily="34" charset="-120"/>
              </a:rPr>
              <a:t>serves alone if the hub is down</a:t>
            </a:r>
            <a:endParaRPr lang="en-US" sz="850" dirty="0"/>
          </a:p>
        </p:txBody>
      </p:sp>
      <p:sp>
        <p:nvSpPr>
          <p:cNvPr id="35" name="line-31"/>
          <p:cNvSpPr/>
          <p:nvPr/>
        </p:nvSpPr>
        <p:spPr>
          <a:xfrm flipV="1">
            <a:off x="4572000" y="2779776"/>
            <a:ext cx="310896" cy="100584"/>
          </a:xfrm>
          <a:prstGeom prst="line">
            <a:avLst/>
          </a:prstGeom>
          <a:noFill/>
          <a:ln w="19050">
            <a:solidFill>
              <a:srgbClr val="B45309"/>
            </a:solidFill>
            <a:prstDash val="sysDash"/>
            <a:tailEnd type="triangle"/>
          </a:ln>
        </p:spPr>
      </p:sp>
      <p:sp>
        <p:nvSpPr>
          <p:cNvPr id="36" name="shape-32"/>
          <p:cNvSpPr/>
          <p:nvPr/>
        </p:nvSpPr>
        <p:spPr>
          <a:xfrm>
            <a:off x="4937760" y="3291840"/>
            <a:ext cx="1920240" cy="804672"/>
          </a:xfrm>
          <a:prstGeom prst="roundRect">
            <a:avLst>
              <a:gd name="adj" fmla="val 11364"/>
            </a:avLst>
          </a:prstGeom>
          <a:solidFill>
            <a:srgbClr val="D6ECE9"/>
          </a:solidFill>
          <a:ln w="12700">
            <a:solidFill>
              <a:srgbClr val="D6ECE9"/>
            </a:solidFill>
            <a:prstDash val="solid"/>
          </a:ln>
        </p:spPr>
      </p:sp>
      <p:pic>
        <p:nvPicPr>
          <p:cNvPr id="37" name="icon-33" descr="preencoded.png">    </p:cNvPr>
          <p:cNvPicPr>
            <a:picLocks noChangeAspect="1"/>
          </p:cNvPicPr>
          <p:nvPr/>
        </p:nvPicPr>
        <p:blipFill>
          <a:blip r:embed="rId5"/>
          <a:stretch>
            <a:fillRect/>
          </a:stretch>
        </p:blipFill>
        <p:spPr>
          <a:xfrm>
            <a:off x="5065776" y="3419856"/>
            <a:ext cx="201168" cy="201168"/>
          </a:xfrm>
          <a:prstGeom prst="rect">
            <a:avLst/>
          </a:prstGeom>
        </p:spPr>
      </p:pic>
      <p:sp>
        <p:nvSpPr>
          <p:cNvPr id="38" name="text-34"/>
          <p:cNvSpPr txBox="1"/>
          <p:nvPr/>
        </p:nvSpPr>
        <p:spPr>
          <a:xfrm>
            <a:off x="5340096" y="3401568"/>
            <a:ext cx="1371600" cy="219456"/>
          </a:xfrm>
          <a:prstGeom prst="rect">
            <a:avLst/>
          </a:prstGeom>
          <a:noFill/>
          <a:ln/>
        </p:spPr>
        <p:txBody>
          <a:bodyPr wrap="square" lIns="0" tIns="0" rIns="0" bIns="0" rtlCol="0" anchor="ctr"/>
          <a:lstStyle/>
          <a:p>
            <a:pPr algn="l" indent="0" marL="0">
              <a:lnSpc>
                <a:spcPct val="100000"/>
              </a:lnSpc>
              <a:buNone/>
            </a:pPr>
            <a:r>
              <a:rPr lang="en-US" sz="1100" b="1" dirty="0">
                <a:solidFill>
                  <a:srgbClr val="1C2B33"/>
                </a:solidFill>
                <a:latin typeface="Calibri" pitchFamily="34" charset="0"/>
                <a:ea typeface="Calibri" pitchFamily="34" charset="-122"/>
                <a:cs typeface="Calibri" pitchFamily="34" charset="-120"/>
              </a:rPr>
              <a:t>Region 3</a:t>
            </a:r>
            <a:endParaRPr lang="en-US" sz="1100" dirty="0"/>
          </a:p>
        </p:txBody>
      </p:sp>
      <p:sp>
        <p:nvSpPr>
          <p:cNvPr id="39" name="text-35"/>
          <p:cNvSpPr txBox="1"/>
          <p:nvPr/>
        </p:nvSpPr>
        <p:spPr>
          <a:xfrm>
            <a:off x="5065776" y="3657600"/>
            <a:ext cx="1664208" cy="146304"/>
          </a:xfrm>
          <a:prstGeom prst="rect">
            <a:avLst/>
          </a:prstGeom>
          <a:noFill/>
          <a:ln/>
        </p:spPr>
        <p:txBody>
          <a:bodyPr wrap="square" lIns="0" tIns="0" rIns="0" bIns="0" rtlCol="0" anchor="ctr"/>
          <a:lstStyle/>
          <a:p>
            <a:pPr algn="l" indent="0" marL="0">
              <a:lnSpc>
                <a:spcPct val="100000"/>
              </a:lnSpc>
              <a:buNone/>
            </a:pPr>
            <a:r>
              <a:rPr lang="en-US" sz="800" i="1" dirty="0">
                <a:solidFill>
                  <a:srgbClr val="5A6B75"/>
                </a:solidFill>
                <a:latin typeface="Calibri" pitchFamily="34" charset="0"/>
                <a:ea typeface="Calibri" pitchFamily="34" charset="-122"/>
                <a:cs typeface="Calibri" pitchFamily="34" charset="-120"/>
              </a:rPr>
              <a:t>standby + rebuild from log</a:t>
            </a:r>
            <a:endParaRPr lang="en-US" sz="800" dirty="0"/>
          </a:p>
        </p:txBody>
      </p:sp>
      <p:sp>
        <p:nvSpPr>
          <p:cNvPr id="40" name="text-36"/>
          <p:cNvSpPr txBox="1"/>
          <p:nvPr/>
        </p:nvSpPr>
        <p:spPr>
          <a:xfrm>
            <a:off x="5065776" y="3803904"/>
            <a:ext cx="1664208" cy="137160"/>
          </a:xfrm>
          <a:prstGeom prst="rect">
            <a:avLst/>
          </a:prstGeom>
          <a:noFill/>
          <a:ln/>
        </p:spPr>
        <p:txBody>
          <a:bodyPr wrap="square" lIns="0" tIns="0" rIns="0" bIns="0" rtlCol="0" anchor="ctr"/>
          <a:lstStyle/>
          <a:p>
            <a:pPr algn="l" indent="0" marL="0">
              <a:lnSpc>
                <a:spcPct val="100000"/>
              </a:lnSpc>
              <a:buNone/>
            </a:pPr>
            <a:r>
              <a:rPr lang="en-US" sz="850" dirty="0">
                <a:solidFill>
                  <a:srgbClr val="1C2B33"/>
                </a:solidFill>
                <a:latin typeface="Calibri" pitchFamily="34" charset="0"/>
                <a:ea typeface="Calibri" pitchFamily="34" charset="-122"/>
                <a:cs typeface="Calibri" pitchFamily="34" charset="-120"/>
              </a:rPr>
              <a:t>content vN · app · entitlement cache</a:t>
            </a:r>
            <a:endParaRPr lang="en-US" sz="850" dirty="0"/>
          </a:p>
        </p:txBody>
      </p:sp>
      <p:sp>
        <p:nvSpPr>
          <p:cNvPr id="41" name="text-37"/>
          <p:cNvSpPr txBox="1"/>
          <p:nvPr/>
        </p:nvSpPr>
        <p:spPr>
          <a:xfrm>
            <a:off x="5065776" y="3931920"/>
            <a:ext cx="1664208" cy="137160"/>
          </a:xfrm>
          <a:prstGeom prst="rect">
            <a:avLst/>
          </a:prstGeom>
          <a:noFill/>
          <a:ln/>
        </p:spPr>
        <p:txBody>
          <a:bodyPr wrap="square" lIns="0" tIns="0" rIns="0" bIns="0" rtlCol="0" anchor="ctr"/>
          <a:lstStyle/>
          <a:p>
            <a:pPr algn="l" indent="0" marL="0">
              <a:lnSpc>
                <a:spcPct val="100000"/>
              </a:lnSpc>
              <a:buNone/>
            </a:pPr>
            <a:r>
              <a:rPr lang="en-US" sz="850" dirty="0">
                <a:solidFill>
                  <a:srgbClr val="1C2B33"/>
                </a:solidFill>
                <a:latin typeface="Calibri" pitchFamily="34" charset="0"/>
                <a:ea typeface="Calibri" pitchFamily="34" charset="-122"/>
                <a:cs typeface="Calibri" pitchFamily="34" charset="-120"/>
              </a:rPr>
              <a:t>serves alone if the hub is down</a:t>
            </a:r>
            <a:endParaRPr lang="en-US" sz="850" dirty="0"/>
          </a:p>
        </p:txBody>
      </p:sp>
      <p:sp>
        <p:nvSpPr>
          <p:cNvPr id="42" name="line-38"/>
          <p:cNvSpPr/>
          <p:nvPr/>
        </p:nvSpPr>
        <p:spPr>
          <a:xfrm>
            <a:off x="4572000" y="2880360"/>
            <a:ext cx="310896" cy="813816"/>
          </a:xfrm>
          <a:prstGeom prst="line">
            <a:avLst/>
          </a:prstGeom>
          <a:noFill/>
          <a:ln w="19050">
            <a:solidFill>
              <a:srgbClr val="B45309"/>
            </a:solidFill>
            <a:prstDash val="sysDash"/>
            <a:tailEnd type="triangle"/>
          </a:ln>
        </p:spPr>
      </p:sp>
      <p:sp>
        <p:nvSpPr>
          <p:cNvPr id="43" name="text-39"/>
          <p:cNvSpPr txBox="1"/>
          <p:nvPr/>
        </p:nvSpPr>
        <p:spPr>
          <a:xfrm>
            <a:off x="4937760" y="4114800"/>
            <a:ext cx="1920240" cy="146304"/>
          </a:xfrm>
          <a:prstGeom prst="rect">
            <a:avLst/>
          </a:prstGeom>
          <a:noFill/>
          <a:ln/>
        </p:spPr>
        <p:txBody>
          <a:bodyPr wrap="square" lIns="0" tIns="0" rIns="0" bIns="0" rtlCol="0" anchor="ctr"/>
          <a:lstStyle/>
          <a:p>
            <a:pPr algn="ctr" indent="0" marL="0">
              <a:lnSpc>
                <a:spcPct val="100000"/>
              </a:lnSpc>
              <a:buNone/>
            </a:pPr>
            <a:r>
              <a:rPr lang="en-US" sz="850" i="1" dirty="0">
                <a:solidFill>
                  <a:srgbClr val="5A6B75"/>
                </a:solidFill>
                <a:latin typeface="Calibri" pitchFamily="34" charset="0"/>
                <a:ea typeface="Calibri" pitchFamily="34" charset="-122"/>
                <a:cs typeface="Calibri" pitchFamily="34" charset="-120"/>
              </a:rPr>
              <a:t>nodes are backups for each other</a:t>
            </a:r>
            <a:endParaRPr lang="en-US" sz="850" dirty="0"/>
          </a:p>
        </p:txBody>
      </p:sp>
      <p:sp>
        <p:nvSpPr>
          <p:cNvPr id="44" name="shape-40"/>
          <p:cNvSpPr/>
          <p:nvPr/>
        </p:nvSpPr>
        <p:spPr>
          <a:xfrm>
            <a:off x="8229600" y="1645920"/>
            <a:ext cx="1097280" cy="2286000"/>
          </a:xfrm>
          <a:prstGeom prst="roundRect">
            <a:avLst>
              <a:gd name="adj" fmla="val 8333"/>
            </a:avLst>
          </a:prstGeom>
          <a:solidFill>
            <a:srgbClr val="EEF2F4"/>
          </a:solidFill>
          <a:ln w="12700">
            <a:solidFill>
              <a:srgbClr val="EEF2F4"/>
            </a:solidFill>
            <a:prstDash val="solid"/>
          </a:ln>
        </p:spPr>
      </p:sp>
      <p:sp>
        <p:nvSpPr>
          <p:cNvPr id="45" name="text-41"/>
          <p:cNvSpPr txBox="1"/>
          <p:nvPr/>
        </p:nvSpPr>
        <p:spPr>
          <a:xfrm>
            <a:off x="8229600" y="1792224"/>
            <a:ext cx="1097280" cy="182880"/>
          </a:xfrm>
          <a:prstGeom prst="rect">
            <a:avLst/>
          </a:prstGeom>
          <a:noFill/>
          <a:ln/>
        </p:spPr>
        <p:txBody>
          <a:bodyPr wrap="square" lIns="0" tIns="0" rIns="0" bIns="0" rtlCol="0" anchor="ctr"/>
          <a:lstStyle/>
          <a:p>
            <a:pPr algn="ctr" indent="0" marL="0">
              <a:lnSpc>
                <a:spcPct val="100000"/>
              </a:lnSpc>
              <a:buNone/>
            </a:pPr>
            <a:r>
              <a:rPr lang="en-US" sz="950" b="1" dirty="0">
                <a:solidFill>
                  <a:srgbClr val="1C2B33"/>
                </a:solidFill>
                <a:latin typeface="Calibri" pitchFamily="34" charset="0"/>
                <a:ea typeface="Calibri" pitchFamily="34" charset="-122"/>
                <a:cs typeface="Calibri" pitchFamily="34" charset="-120"/>
              </a:rPr>
              <a:t>Multi-CDN edge</a:t>
            </a:r>
            <a:endParaRPr lang="en-US" sz="950" dirty="0"/>
          </a:p>
        </p:txBody>
      </p:sp>
      <p:sp>
        <p:nvSpPr>
          <p:cNvPr id="46" name="text-42"/>
          <p:cNvSpPr txBox="1"/>
          <p:nvPr/>
        </p:nvSpPr>
        <p:spPr>
          <a:xfrm>
            <a:off x="8302752" y="2029968"/>
            <a:ext cx="950976" cy="1188720"/>
          </a:xfrm>
          <a:prstGeom prst="rect">
            <a:avLst/>
          </a:prstGeom>
          <a:noFill/>
          <a:ln/>
        </p:spPr>
        <p:txBody>
          <a:bodyPr wrap="square" lIns="0" tIns="0" rIns="0" bIns="0" rtlCol="0" anchor="t"/>
          <a:lstStyle/>
          <a:p>
            <a:pPr algn="ctr" indent="0" marL="0">
              <a:lnSpc>
                <a:spcPct val="100000"/>
              </a:lnSpc>
              <a:buNone/>
            </a:pPr>
            <a:r>
              <a:rPr lang="en-US" sz="850" dirty="0">
                <a:solidFill>
                  <a:srgbClr val="5A6B75"/>
                </a:solidFill>
                <a:latin typeface="Calibri" pitchFamily="34" charset="0"/>
                <a:ea typeface="Calibri" pitchFamily="34" charset="-122"/>
                <a:cs typeface="Calibri" pitchFamily="34" charset="-120"/>
              </a:rPr>
              <a:t>published content cached at the edge</a:t>
            </a:r>
            <a:endParaRPr lang="en-US" sz="850" dirty="0"/>
          </a:p>
          <a:p>
            <a:pPr algn="ctr" indent="0" marL="0">
              <a:lnSpc>
                <a:spcPct val="100000"/>
              </a:lnSpc>
              <a:buNone/>
            </a:pPr>
            <a:endParaRPr lang="en-US" sz="850" dirty="0"/>
          </a:p>
          <a:p>
            <a:pPr algn="ctr" indent="0" marL="0">
              <a:lnSpc>
                <a:spcPct val="100000"/>
              </a:lnSpc>
              <a:buNone/>
            </a:pPr>
            <a:r>
              <a:rPr lang="en-US" sz="850" dirty="0">
                <a:solidFill>
                  <a:srgbClr val="5A6B75"/>
                </a:solidFill>
                <a:latin typeface="Calibri" pitchFamily="34" charset="0"/>
                <a:ea typeface="Calibri" pitchFamily="34" charset="-122"/>
                <a:cs typeface="Calibri" pitchFamily="34" charset="-120"/>
              </a:rPr>
              <a:t>anycast DNS and health-based routing to the nearest healthy node</a:t>
            </a:r>
            <a:endParaRPr lang="en-US" sz="850" dirty="0"/>
          </a:p>
        </p:txBody>
      </p:sp>
      <p:pic>
        <p:nvPicPr>
          <p:cNvPr id="47" name="icon-43" descr="preencoded.png">    </p:cNvPr>
          <p:cNvPicPr>
            <a:picLocks noChangeAspect="1"/>
          </p:cNvPicPr>
          <p:nvPr/>
        </p:nvPicPr>
        <p:blipFill>
          <a:blip r:embed="rId6"/>
          <a:stretch>
            <a:fillRect/>
          </a:stretch>
        </p:blipFill>
        <p:spPr>
          <a:xfrm>
            <a:off x="8668512" y="3474720"/>
            <a:ext cx="219456" cy="219456"/>
          </a:xfrm>
          <a:prstGeom prst="rect">
            <a:avLst/>
          </a:prstGeom>
        </p:spPr>
      </p:pic>
      <p:sp>
        <p:nvSpPr>
          <p:cNvPr id="48" name="line-44"/>
          <p:cNvSpPr/>
          <p:nvPr/>
        </p:nvSpPr>
        <p:spPr>
          <a:xfrm>
            <a:off x="6858000" y="1865376"/>
            <a:ext cx="1371600" cy="923544"/>
          </a:xfrm>
          <a:prstGeom prst="line">
            <a:avLst/>
          </a:prstGeom>
          <a:noFill/>
          <a:ln w="25400">
            <a:solidFill>
              <a:srgbClr val="0F766E"/>
            </a:solidFill>
            <a:prstDash val="solid"/>
          </a:ln>
        </p:spPr>
      </p:sp>
      <p:sp>
        <p:nvSpPr>
          <p:cNvPr id="49" name="line-45"/>
          <p:cNvSpPr/>
          <p:nvPr/>
        </p:nvSpPr>
        <p:spPr>
          <a:xfrm>
            <a:off x="6858000" y="2779776"/>
            <a:ext cx="1371600" cy="9144"/>
          </a:xfrm>
          <a:prstGeom prst="line">
            <a:avLst/>
          </a:prstGeom>
          <a:noFill/>
          <a:ln w="25400">
            <a:solidFill>
              <a:srgbClr val="0F766E"/>
            </a:solidFill>
            <a:prstDash val="solid"/>
          </a:ln>
        </p:spPr>
      </p:sp>
      <p:sp>
        <p:nvSpPr>
          <p:cNvPr id="50" name="line-46"/>
          <p:cNvSpPr/>
          <p:nvPr/>
        </p:nvSpPr>
        <p:spPr>
          <a:xfrm flipV="1">
            <a:off x="6858000" y="2788920"/>
            <a:ext cx="1371600" cy="905256"/>
          </a:xfrm>
          <a:prstGeom prst="line">
            <a:avLst/>
          </a:prstGeom>
          <a:noFill/>
          <a:ln w="25400">
            <a:solidFill>
              <a:srgbClr val="0F766E"/>
            </a:solidFill>
            <a:prstDash val="solid"/>
          </a:ln>
        </p:spPr>
      </p:sp>
      <p:sp>
        <p:nvSpPr>
          <p:cNvPr id="51" name="oval-47"/>
          <p:cNvSpPr/>
          <p:nvPr/>
        </p:nvSpPr>
        <p:spPr>
          <a:xfrm>
            <a:off x="9838944" y="2478024"/>
            <a:ext cx="621792" cy="621792"/>
          </a:xfrm>
          <a:prstGeom prst="ellipse">
            <a:avLst/>
          </a:prstGeom>
          <a:solidFill>
            <a:srgbClr val="134E4A"/>
          </a:solidFill>
          <a:ln w="12700">
            <a:solidFill>
              <a:srgbClr val="134E4A"/>
            </a:solidFill>
            <a:prstDash val="solid"/>
          </a:ln>
        </p:spPr>
      </p:sp>
      <p:pic>
        <p:nvPicPr>
          <p:cNvPr id="52" name="icon-48" descr="preencoded.png">    </p:cNvPr>
          <p:cNvPicPr>
            <a:picLocks noChangeAspect="1"/>
          </p:cNvPicPr>
          <p:nvPr/>
        </p:nvPicPr>
        <p:blipFill>
          <a:blip r:embed="rId7"/>
          <a:stretch>
            <a:fillRect/>
          </a:stretch>
        </p:blipFill>
        <p:spPr>
          <a:xfrm>
            <a:off x="10021824" y="2660904"/>
            <a:ext cx="256032" cy="256032"/>
          </a:xfrm>
          <a:prstGeom prst="rect">
            <a:avLst/>
          </a:prstGeom>
        </p:spPr>
      </p:pic>
      <p:sp>
        <p:nvSpPr>
          <p:cNvPr id="53" name="text-49"/>
          <p:cNvSpPr txBox="1"/>
          <p:nvPr/>
        </p:nvSpPr>
        <p:spPr>
          <a:xfrm>
            <a:off x="9144000" y="3163824"/>
            <a:ext cx="2011680" cy="365760"/>
          </a:xfrm>
          <a:prstGeom prst="rect">
            <a:avLst/>
          </a:prstGeom>
          <a:noFill/>
          <a:ln/>
        </p:spPr>
        <p:txBody>
          <a:bodyPr wrap="square" lIns="0" tIns="0" rIns="0" bIns="0" rtlCol="0" anchor="t"/>
          <a:lstStyle/>
          <a:p>
            <a:pPr algn="ctr" indent="0" marL="0">
              <a:lnSpc>
                <a:spcPct val="100000"/>
              </a:lnSpc>
              <a:buNone/>
            </a:pPr>
            <a:r>
              <a:rPr lang="en-US" sz="950" dirty="0">
                <a:solidFill>
                  <a:srgbClr val="1C2B33"/>
                </a:solidFill>
                <a:latin typeface="Calibri" pitchFamily="34" charset="0"/>
                <a:ea typeface="Calibri" pitchFamily="34" charset="-122"/>
                <a:cs typeface="Calibri" pitchFamily="34" charset="-120"/>
              </a:rPr>
              <a:t>clinicians, institutions,</a:t>
            </a:r>
            <a:endParaRPr lang="en-US" sz="950" dirty="0"/>
          </a:p>
          <a:p>
            <a:pPr algn="ctr" indent="0" marL="0">
              <a:lnSpc>
                <a:spcPct val="100000"/>
              </a:lnSpc>
              <a:buNone/>
            </a:pPr>
            <a:r>
              <a:rPr lang="en-US" sz="950" dirty="0">
                <a:solidFill>
                  <a:srgbClr val="1C2B33"/>
                </a:solidFill>
                <a:latin typeface="Calibri" pitchFamily="34" charset="0"/>
                <a:ea typeface="Calibri" pitchFamily="34" charset="-122"/>
                <a:cs typeface="Calibri" pitchFamily="34" charset="-120"/>
              </a:rPr>
              <a:t>third-party systems</a:t>
            </a:r>
            <a:endParaRPr lang="en-US" sz="950" dirty="0"/>
          </a:p>
        </p:txBody>
      </p:sp>
      <p:sp>
        <p:nvSpPr>
          <p:cNvPr id="54" name="line-50"/>
          <p:cNvSpPr/>
          <p:nvPr/>
        </p:nvSpPr>
        <p:spPr>
          <a:xfrm>
            <a:off x="9326880" y="2788920"/>
            <a:ext cx="493776" cy="0"/>
          </a:xfrm>
          <a:prstGeom prst="line">
            <a:avLst/>
          </a:prstGeom>
          <a:noFill/>
          <a:ln w="31750">
            <a:solidFill>
              <a:srgbClr val="134E4A"/>
            </a:solidFill>
            <a:prstDash val="solid"/>
          </a:ln>
        </p:spPr>
      </p:sp>
      <p:sp>
        <p:nvSpPr>
          <p:cNvPr id="55" name="shape-51"/>
          <p:cNvSpPr/>
          <p:nvPr/>
        </p:nvSpPr>
        <p:spPr>
          <a:xfrm>
            <a:off x="548640" y="4297680"/>
            <a:ext cx="5394960" cy="1792224"/>
          </a:xfrm>
          <a:prstGeom prst="roundRect">
            <a:avLst>
              <a:gd name="adj" fmla="val 4082"/>
            </a:avLst>
          </a:prstGeom>
          <a:solidFill>
            <a:srgbClr val="EEF2F4"/>
          </a:solidFill>
          <a:ln w="12700">
            <a:solidFill>
              <a:srgbClr val="EEF2F4"/>
            </a:solidFill>
            <a:prstDash val="solid"/>
          </a:ln>
        </p:spPr>
      </p:sp>
      <p:sp>
        <p:nvSpPr>
          <p:cNvPr id="56" name="text-52"/>
          <p:cNvSpPr txBox="1"/>
          <p:nvPr/>
        </p:nvSpPr>
        <p:spPr>
          <a:xfrm>
            <a:off x="749808" y="4425696"/>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ROLLBACK IN THIS WORLD</a:t>
            </a:r>
            <a:endParaRPr lang="en-US" sz="800" dirty="0"/>
          </a:p>
        </p:txBody>
      </p:sp>
      <p:sp>
        <p:nvSpPr>
          <p:cNvPr id="57" name="oval-53"/>
          <p:cNvSpPr/>
          <p:nvPr/>
        </p:nvSpPr>
        <p:spPr>
          <a:xfrm>
            <a:off x="754380" y="4796028"/>
            <a:ext cx="64008" cy="64008"/>
          </a:xfrm>
          <a:prstGeom prst="ellipse">
            <a:avLst/>
          </a:prstGeom>
          <a:solidFill>
            <a:srgbClr val="0F766E"/>
          </a:solidFill>
          <a:ln w="12700">
            <a:solidFill>
              <a:srgbClr val="0F766E"/>
            </a:solidFill>
            <a:prstDash val="solid"/>
          </a:ln>
        </p:spPr>
      </p:sp>
      <p:sp>
        <p:nvSpPr>
          <p:cNvPr id="58" name="text-54"/>
          <p:cNvSpPr txBox="1"/>
          <p:nvPr/>
        </p:nvSpPr>
        <p:spPr>
          <a:xfrm>
            <a:off x="914400" y="4700016"/>
            <a:ext cx="4846320" cy="274320"/>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Every node holds the last N manifests; rolling back is re-pointing to vN-1 — seconds, no redeploy</a:t>
            </a:r>
            <a:endParaRPr lang="en-US" sz="950" dirty="0"/>
          </a:p>
        </p:txBody>
      </p:sp>
      <p:sp>
        <p:nvSpPr>
          <p:cNvPr id="59" name="oval-55"/>
          <p:cNvSpPr/>
          <p:nvPr/>
        </p:nvSpPr>
        <p:spPr>
          <a:xfrm>
            <a:off x="754380" y="5106924"/>
            <a:ext cx="64008" cy="64008"/>
          </a:xfrm>
          <a:prstGeom prst="ellipse">
            <a:avLst/>
          </a:prstGeom>
          <a:solidFill>
            <a:srgbClr val="0F766E"/>
          </a:solidFill>
          <a:ln w="12700">
            <a:solidFill>
              <a:srgbClr val="0F766E"/>
            </a:solidFill>
            <a:prstDash val="solid"/>
          </a:ln>
        </p:spPr>
      </p:sp>
      <p:sp>
        <p:nvSpPr>
          <p:cNvPr id="60" name="text-56"/>
          <p:cNvSpPr txBox="1"/>
          <p:nvPr/>
        </p:nvSpPr>
        <p:spPr>
          <a:xfrm>
            <a:off x="914400" y="5010912"/>
            <a:ext cx="4846320" cy="274320"/>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Content and code roll back together, because the manifest binds them</a:t>
            </a:r>
            <a:endParaRPr lang="en-US" sz="950" dirty="0"/>
          </a:p>
        </p:txBody>
      </p:sp>
      <p:sp>
        <p:nvSpPr>
          <p:cNvPr id="61" name="oval-57"/>
          <p:cNvSpPr/>
          <p:nvPr/>
        </p:nvSpPr>
        <p:spPr>
          <a:xfrm>
            <a:off x="754380" y="5417820"/>
            <a:ext cx="64008" cy="64008"/>
          </a:xfrm>
          <a:prstGeom prst="ellipse">
            <a:avLst/>
          </a:prstGeom>
          <a:solidFill>
            <a:srgbClr val="0F766E"/>
          </a:solidFill>
          <a:ln w="12700">
            <a:solidFill>
              <a:srgbClr val="0F766E"/>
            </a:solidFill>
            <a:prstDash val="solid"/>
          </a:ln>
        </p:spPr>
      </p:sp>
      <p:sp>
        <p:nvSpPr>
          <p:cNvPr id="62" name="text-58"/>
          <p:cNvSpPr txBox="1"/>
          <p:nvPr/>
        </p:nvSpPr>
        <p:spPr>
          <a:xfrm>
            <a:off x="914400" y="5321808"/>
            <a:ext cx="4846320" cy="274320"/>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A lost node is rebuilt by replaying the log from a known offset — no backups to restore first</a:t>
            </a:r>
            <a:endParaRPr lang="en-US" sz="950" dirty="0"/>
          </a:p>
        </p:txBody>
      </p:sp>
      <p:sp>
        <p:nvSpPr>
          <p:cNvPr id="63" name="oval-59"/>
          <p:cNvSpPr/>
          <p:nvPr/>
        </p:nvSpPr>
        <p:spPr>
          <a:xfrm>
            <a:off x="754380" y="5728716"/>
            <a:ext cx="64008" cy="64008"/>
          </a:xfrm>
          <a:prstGeom prst="ellipse">
            <a:avLst/>
          </a:prstGeom>
          <a:solidFill>
            <a:srgbClr val="0F766E"/>
          </a:solidFill>
          <a:ln w="12700">
            <a:solidFill>
              <a:srgbClr val="0F766E"/>
            </a:solidFill>
            <a:prstDash val="solid"/>
          </a:ln>
        </p:spPr>
      </p:sp>
      <p:sp>
        <p:nvSpPr>
          <p:cNvPr id="64" name="text-60"/>
          <p:cNvSpPr txBox="1"/>
          <p:nvPr/>
        </p:nvSpPr>
        <p:spPr>
          <a:xfrm>
            <a:off x="914400" y="5632704"/>
            <a:ext cx="4846320" cy="274320"/>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Canary = publish vN to one node or cohort, watch the SLO, then fan out</a:t>
            </a:r>
            <a:endParaRPr lang="en-US" sz="950" dirty="0"/>
          </a:p>
        </p:txBody>
      </p:sp>
      <p:sp>
        <p:nvSpPr>
          <p:cNvPr id="65" name="shape-61"/>
          <p:cNvSpPr/>
          <p:nvPr/>
        </p:nvSpPr>
        <p:spPr>
          <a:xfrm>
            <a:off x="6126480" y="4297680"/>
            <a:ext cx="5486400" cy="1792224"/>
          </a:xfrm>
          <a:prstGeom prst="roundRect">
            <a:avLst>
              <a:gd name="adj" fmla="val 4082"/>
            </a:avLst>
          </a:prstGeom>
          <a:solidFill>
            <a:srgbClr val="FDF1E3"/>
          </a:solidFill>
          <a:ln w="12700">
            <a:solidFill>
              <a:srgbClr val="FDF1E3"/>
            </a:solidFill>
            <a:prstDash val="solid"/>
          </a:ln>
        </p:spPr>
      </p:sp>
      <p:sp>
        <p:nvSpPr>
          <p:cNvPr id="66" name="text-62"/>
          <p:cNvSpPr txBox="1"/>
          <p:nvPr/>
        </p:nvSpPr>
        <p:spPr>
          <a:xfrm>
            <a:off x="6327648" y="4425696"/>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B45309"/>
                </a:solidFill>
                <a:latin typeface="Calibri" pitchFamily="34" charset="0"/>
                <a:ea typeface="Calibri" pitchFamily="34" charset="-122"/>
                <a:cs typeface="Calibri" pitchFamily="34" charset="-120"/>
              </a:rPr>
              <a:t>A CONSIDERATION, NOT A CHANGE: WHAT THE BACKBONE MUST DO</a:t>
            </a:r>
            <a:endParaRPr lang="en-US" sz="800" dirty="0"/>
          </a:p>
        </p:txBody>
      </p:sp>
      <p:sp>
        <p:nvSpPr>
          <p:cNvPr id="67" name="text-63"/>
          <p:cNvSpPr txBox="1"/>
          <p:nvPr/>
        </p:nvSpPr>
        <p:spPr>
          <a:xfrm>
            <a:off x="6327648" y="4736592"/>
            <a:ext cx="2743200" cy="182880"/>
          </a:xfrm>
          <a:prstGeom prst="rect">
            <a:avLst/>
          </a:prstGeom>
          <a:noFill/>
          <a:ln/>
        </p:spPr>
        <p:txBody>
          <a:bodyPr wrap="square" lIns="0" tIns="0" rIns="0" bIns="0" rtlCol="0" anchor="ctr"/>
          <a:lstStyle/>
          <a:p>
            <a:pPr algn="l" indent="0" marL="0">
              <a:lnSpc>
                <a:spcPct val="100000"/>
              </a:lnSpc>
              <a:buNone/>
            </a:pPr>
            <a:r>
              <a:rPr lang="en-US" sz="950" b="1" dirty="0">
                <a:solidFill>
                  <a:srgbClr val="1C2B33"/>
                </a:solidFill>
                <a:latin typeface="Calibri" pitchFamily="34" charset="0"/>
                <a:ea typeface="Calibri" pitchFamily="34" charset="-122"/>
                <a:cs typeface="Calibri" pitchFamily="34" charset="-120"/>
              </a:rPr>
              <a:t>Publish content and code to nodes; rebuild a node</a:t>
            </a:r>
            <a:endParaRPr lang="en-US" sz="950" dirty="0"/>
          </a:p>
        </p:txBody>
      </p:sp>
      <p:sp>
        <p:nvSpPr>
          <p:cNvPr id="68" name="shape-64"/>
          <p:cNvSpPr/>
          <p:nvPr/>
        </p:nvSpPr>
        <p:spPr>
          <a:xfrm>
            <a:off x="9144000" y="4736592"/>
            <a:ext cx="1024128" cy="155448"/>
          </a:xfrm>
          <a:prstGeom prst="roundRect">
            <a:avLst>
              <a:gd name="adj" fmla="val 50000"/>
            </a:avLst>
          </a:prstGeom>
          <a:solidFill>
            <a:srgbClr val="B45309"/>
          </a:solidFill>
          <a:ln w="12700">
            <a:solidFill>
              <a:srgbClr val="B45309"/>
            </a:solidFill>
            <a:prstDash val="solid"/>
          </a:ln>
        </p:spPr>
      </p:sp>
      <p:sp>
        <p:nvSpPr>
          <p:cNvPr id="69" name="text-65"/>
          <p:cNvSpPr txBox="1"/>
          <p:nvPr/>
        </p:nvSpPr>
        <p:spPr>
          <a:xfrm>
            <a:off x="9144000" y="4736592"/>
            <a:ext cx="1024128" cy="155448"/>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needs replay</a:t>
            </a:r>
            <a:endParaRPr lang="en-US" sz="750" dirty="0"/>
          </a:p>
        </p:txBody>
      </p:sp>
      <p:sp>
        <p:nvSpPr>
          <p:cNvPr id="70" name="text-66"/>
          <p:cNvSpPr txBox="1"/>
          <p:nvPr/>
        </p:nvSpPr>
        <p:spPr>
          <a:xfrm>
            <a:off x="10259568" y="4736592"/>
            <a:ext cx="1280160" cy="182880"/>
          </a:xfrm>
          <a:prstGeom prst="rect">
            <a:avLst/>
          </a:prstGeom>
          <a:noFill/>
          <a:ln/>
        </p:spPr>
        <p:txBody>
          <a:bodyPr wrap="square" lIns="0" tIns="0" rIns="0" bIns="0" rtlCol="0" anchor="ctr"/>
          <a:lstStyle/>
          <a:p>
            <a:pPr algn="l" indent="0" marL="0">
              <a:lnSpc>
                <a:spcPct val="100000"/>
              </a:lnSpc>
              <a:buNone/>
            </a:pPr>
            <a:r>
              <a:rPr lang="en-US" sz="800" dirty="0">
                <a:solidFill>
                  <a:srgbClr val="5A6B75"/>
                </a:solidFill>
                <a:latin typeface="Calibri" pitchFamily="34" charset="0"/>
                <a:ea typeface="Calibri" pitchFamily="34" charset="-122"/>
                <a:cs typeface="Calibri" pitchFamily="34" charset="-120"/>
              </a:rPr>
              <a:t>re-read from an offset</a:t>
            </a:r>
            <a:endParaRPr lang="en-US" sz="800" dirty="0"/>
          </a:p>
        </p:txBody>
      </p:sp>
      <p:sp>
        <p:nvSpPr>
          <p:cNvPr id="71" name="text-67"/>
          <p:cNvSpPr txBox="1"/>
          <p:nvPr/>
        </p:nvSpPr>
        <p:spPr>
          <a:xfrm>
            <a:off x="6327648" y="5047488"/>
            <a:ext cx="2743200" cy="182880"/>
          </a:xfrm>
          <a:prstGeom prst="rect">
            <a:avLst/>
          </a:prstGeom>
          <a:noFill/>
          <a:ln/>
        </p:spPr>
        <p:txBody>
          <a:bodyPr wrap="square" lIns="0" tIns="0" rIns="0" bIns="0" rtlCol="0" anchor="ctr"/>
          <a:lstStyle/>
          <a:p>
            <a:pPr algn="l" indent="0" marL="0">
              <a:lnSpc>
                <a:spcPct val="100000"/>
              </a:lnSpc>
              <a:buNone/>
            </a:pPr>
            <a:r>
              <a:rPr lang="en-US" sz="950" b="1" dirty="0">
                <a:solidFill>
                  <a:srgbClr val="1C2B33"/>
                </a:solidFill>
                <a:latin typeface="Calibri" pitchFamily="34" charset="0"/>
                <a:ea typeface="Calibri" pitchFamily="34" charset="-122"/>
                <a:cs typeface="Calibri" pitchFamily="34" charset="-120"/>
              </a:rPr>
              <a:t>Entitlement and usage events; audit trail</a:t>
            </a:r>
            <a:endParaRPr lang="en-US" sz="950" dirty="0"/>
          </a:p>
        </p:txBody>
      </p:sp>
      <p:sp>
        <p:nvSpPr>
          <p:cNvPr id="72" name="shape-68"/>
          <p:cNvSpPr/>
          <p:nvPr/>
        </p:nvSpPr>
        <p:spPr>
          <a:xfrm>
            <a:off x="9144000" y="5047488"/>
            <a:ext cx="1024128" cy="155448"/>
          </a:xfrm>
          <a:prstGeom prst="roundRect">
            <a:avLst>
              <a:gd name="adj" fmla="val 50000"/>
            </a:avLst>
          </a:prstGeom>
          <a:solidFill>
            <a:srgbClr val="B45309"/>
          </a:solidFill>
          <a:ln w="12700">
            <a:solidFill>
              <a:srgbClr val="B45309"/>
            </a:solidFill>
            <a:prstDash val="solid"/>
          </a:ln>
        </p:spPr>
      </p:sp>
      <p:sp>
        <p:nvSpPr>
          <p:cNvPr id="73" name="text-69"/>
          <p:cNvSpPr txBox="1"/>
          <p:nvPr/>
        </p:nvSpPr>
        <p:spPr>
          <a:xfrm>
            <a:off x="9144000" y="5047488"/>
            <a:ext cx="1024128" cy="155448"/>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needs order</a:t>
            </a:r>
            <a:endParaRPr lang="en-US" sz="750" dirty="0"/>
          </a:p>
        </p:txBody>
      </p:sp>
      <p:sp>
        <p:nvSpPr>
          <p:cNvPr id="74" name="text-70"/>
          <p:cNvSpPr txBox="1"/>
          <p:nvPr/>
        </p:nvSpPr>
        <p:spPr>
          <a:xfrm>
            <a:off x="10259568" y="5047488"/>
            <a:ext cx="1280160" cy="182880"/>
          </a:xfrm>
          <a:prstGeom prst="rect">
            <a:avLst/>
          </a:prstGeom>
          <a:noFill/>
          <a:ln/>
        </p:spPr>
        <p:txBody>
          <a:bodyPr wrap="square" lIns="0" tIns="0" rIns="0" bIns="0" rtlCol="0" anchor="ctr"/>
          <a:lstStyle/>
          <a:p>
            <a:pPr algn="l" indent="0" marL="0">
              <a:lnSpc>
                <a:spcPct val="100000"/>
              </a:lnSpc>
              <a:buNone/>
            </a:pPr>
            <a:r>
              <a:rPr lang="en-US" sz="800" dirty="0">
                <a:solidFill>
                  <a:srgbClr val="5A6B75"/>
                </a:solidFill>
                <a:latin typeface="Calibri" pitchFamily="34" charset="0"/>
                <a:ea typeface="Calibri" pitchFamily="34" charset="-122"/>
                <a:cs typeface="Calibri" pitchFamily="34" charset="-120"/>
              </a:rPr>
              <a:t>immutable and ordered</a:t>
            </a:r>
            <a:endParaRPr lang="en-US" sz="800" dirty="0"/>
          </a:p>
        </p:txBody>
      </p:sp>
      <p:sp>
        <p:nvSpPr>
          <p:cNvPr id="75" name="text-71"/>
          <p:cNvSpPr txBox="1"/>
          <p:nvPr/>
        </p:nvSpPr>
        <p:spPr>
          <a:xfrm>
            <a:off x="6327648" y="5358384"/>
            <a:ext cx="2743200" cy="182880"/>
          </a:xfrm>
          <a:prstGeom prst="rect">
            <a:avLst/>
          </a:prstGeom>
          <a:noFill/>
          <a:ln/>
        </p:spPr>
        <p:txBody>
          <a:bodyPr wrap="square" lIns="0" tIns="0" rIns="0" bIns="0" rtlCol="0" anchor="ctr"/>
          <a:lstStyle/>
          <a:p>
            <a:pPr algn="l" indent="0" marL="0">
              <a:lnSpc>
                <a:spcPct val="100000"/>
              </a:lnSpc>
              <a:buNone/>
            </a:pPr>
            <a:r>
              <a:rPr lang="en-US" sz="950" b="1" dirty="0">
                <a:solidFill>
                  <a:srgbClr val="1C2B33"/>
                </a:solidFill>
                <a:latin typeface="Calibri" pitchFamily="34" charset="0"/>
                <a:ea typeface="Calibri" pitchFamily="34" charset="-122"/>
                <a:cs typeface="Calibri" pitchFamily="34" charset="-120"/>
              </a:rPr>
              <a:t>Orders, invoices, CRM workflows (Tier C)</a:t>
            </a:r>
            <a:endParaRPr lang="en-US" sz="950" dirty="0"/>
          </a:p>
        </p:txBody>
      </p:sp>
      <p:sp>
        <p:nvSpPr>
          <p:cNvPr id="76" name="shape-72"/>
          <p:cNvSpPr/>
          <p:nvPr/>
        </p:nvSpPr>
        <p:spPr>
          <a:xfrm>
            <a:off x="9144000" y="5358384"/>
            <a:ext cx="1024128" cy="155448"/>
          </a:xfrm>
          <a:prstGeom prst="roundRect">
            <a:avLst>
              <a:gd name="adj" fmla="val 50000"/>
            </a:avLst>
          </a:prstGeom>
          <a:solidFill>
            <a:srgbClr val="B45309"/>
          </a:solidFill>
          <a:ln w="12700">
            <a:solidFill>
              <a:srgbClr val="B45309"/>
            </a:solidFill>
            <a:prstDash val="solid"/>
          </a:ln>
        </p:spPr>
      </p:sp>
      <p:sp>
        <p:nvSpPr>
          <p:cNvPr id="77" name="text-73"/>
          <p:cNvSpPr txBox="1"/>
          <p:nvPr/>
        </p:nvSpPr>
        <p:spPr>
          <a:xfrm>
            <a:off x="9144000" y="5358384"/>
            <a:ext cx="1024128" cy="155448"/>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queue is fine</a:t>
            </a:r>
            <a:endParaRPr lang="en-US" sz="750" dirty="0"/>
          </a:p>
        </p:txBody>
      </p:sp>
      <p:sp>
        <p:nvSpPr>
          <p:cNvPr id="78" name="text-74"/>
          <p:cNvSpPr txBox="1"/>
          <p:nvPr/>
        </p:nvSpPr>
        <p:spPr>
          <a:xfrm>
            <a:off x="10259568" y="5358384"/>
            <a:ext cx="1280160" cy="182880"/>
          </a:xfrm>
          <a:prstGeom prst="rect">
            <a:avLst/>
          </a:prstGeom>
          <a:noFill/>
          <a:ln/>
        </p:spPr>
        <p:txBody>
          <a:bodyPr wrap="square" lIns="0" tIns="0" rIns="0" bIns="0" rtlCol="0" anchor="ctr"/>
          <a:lstStyle/>
          <a:p>
            <a:pPr algn="l" indent="0" marL="0">
              <a:lnSpc>
                <a:spcPct val="100000"/>
              </a:lnSpc>
              <a:buNone/>
            </a:pPr>
            <a:r>
              <a:rPr lang="en-US" sz="800" dirty="0">
                <a:solidFill>
                  <a:srgbClr val="5A6B75"/>
                </a:solidFill>
                <a:latin typeface="Calibri" pitchFamily="34" charset="0"/>
                <a:ea typeface="Calibri" pitchFamily="34" charset="-122"/>
                <a:cs typeface="Calibri" pitchFamily="34" charset="-120"/>
              </a:rPr>
              <a:t>no replay needed</a:t>
            </a:r>
            <a:endParaRPr lang="en-US" sz="800" dirty="0"/>
          </a:p>
        </p:txBody>
      </p:sp>
      <p:sp>
        <p:nvSpPr>
          <p:cNvPr id="79" name="text-75"/>
          <p:cNvSpPr txBox="1"/>
          <p:nvPr/>
        </p:nvSpPr>
        <p:spPr>
          <a:xfrm>
            <a:off x="6327648" y="5669280"/>
            <a:ext cx="2743200" cy="182880"/>
          </a:xfrm>
          <a:prstGeom prst="rect">
            <a:avLst/>
          </a:prstGeom>
          <a:noFill/>
          <a:ln/>
        </p:spPr>
        <p:txBody>
          <a:bodyPr wrap="square" lIns="0" tIns="0" rIns="0" bIns="0" rtlCol="0" anchor="ctr"/>
          <a:lstStyle/>
          <a:p>
            <a:pPr algn="l" indent="0" marL="0">
              <a:lnSpc>
                <a:spcPct val="100000"/>
              </a:lnSpc>
              <a:buNone/>
            </a:pPr>
            <a:r>
              <a:rPr lang="en-US" sz="950" b="1" dirty="0">
                <a:solidFill>
                  <a:srgbClr val="1C2B33"/>
                </a:solidFill>
                <a:latin typeface="Calibri" pitchFamily="34" charset="0"/>
                <a:ea typeface="Calibri" pitchFamily="34" charset="-122"/>
                <a:cs typeface="Calibri" pitchFamily="34" charset="-120"/>
              </a:rPr>
              <a:t>Operate it with a team of six</a:t>
            </a:r>
            <a:endParaRPr lang="en-US" sz="950" dirty="0"/>
          </a:p>
        </p:txBody>
      </p:sp>
      <p:sp>
        <p:nvSpPr>
          <p:cNvPr id="80" name="shape-76"/>
          <p:cNvSpPr/>
          <p:nvPr/>
        </p:nvSpPr>
        <p:spPr>
          <a:xfrm>
            <a:off x="9144000" y="5669280"/>
            <a:ext cx="1024128" cy="155448"/>
          </a:xfrm>
          <a:prstGeom prst="roundRect">
            <a:avLst>
              <a:gd name="adj" fmla="val 50000"/>
            </a:avLst>
          </a:prstGeom>
          <a:solidFill>
            <a:srgbClr val="B45309"/>
          </a:solidFill>
          <a:ln w="12700">
            <a:solidFill>
              <a:srgbClr val="B45309"/>
            </a:solidFill>
            <a:prstDash val="solid"/>
          </a:ln>
        </p:spPr>
      </p:sp>
      <p:sp>
        <p:nvSpPr>
          <p:cNvPr id="81" name="text-77"/>
          <p:cNvSpPr txBox="1"/>
          <p:nvPr/>
        </p:nvSpPr>
        <p:spPr>
          <a:xfrm>
            <a:off x="9144000" y="5669280"/>
            <a:ext cx="1024128" cy="155448"/>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managed only</a:t>
            </a:r>
            <a:endParaRPr lang="en-US" sz="750" dirty="0"/>
          </a:p>
        </p:txBody>
      </p:sp>
      <p:sp>
        <p:nvSpPr>
          <p:cNvPr id="82" name="text-78"/>
          <p:cNvSpPr txBox="1"/>
          <p:nvPr/>
        </p:nvSpPr>
        <p:spPr>
          <a:xfrm>
            <a:off x="10259568" y="5669280"/>
            <a:ext cx="1280160" cy="182880"/>
          </a:xfrm>
          <a:prstGeom prst="rect">
            <a:avLst/>
          </a:prstGeom>
          <a:noFill/>
          <a:ln/>
        </p:spPr>
        <p:txBody>
          <a:bodyPr wrap="square" lIns="0" tIns="0" rIns="0" bIns="0" rtlCol="0" anchor="ctr"/>
          <a:lstStyle/>
          <a:p>
            <a:pPr algn="l" indent="0" marL="0">
              <a:lnSpc>
                <a:spcPct val="100000"/>
              </a:lnSpc>
              <a:buNone/>
            </a:pPr>
            <a:r>
              <a:rPr lang="en-US" sz="800" dirty="0">
                <a:solidFill>
                  <a:srgbClr val="5A6B75"/>
                </a:solidFill>
                <a:latin typeface="Calibri" pitchFamily="34" charset="0"/>
                <a:ea typeface="Calibri" pitchFamily="34" charset="-122"/>
                <a:cs typeface="Calibri" pitchFamily="34" charset="-120"/>
              </a:rPr>
              <a:t>never self-run</a:t>
            </a:r>
            <a:endParaRPr lang="en-US" sz="800" dirty="0"/>
          </a:p>
        </p:txBody>
      </p:sp>
      <p:sp>
        <p:nvSpPr>
          <p:cNvPr id="83" name="text-79"/>
          <p:cNvSpPr txBox="1"/>
          <p:nvPr/>
        </p:nvSpPr>
        <p:spPr>
          <a:xfrm>
            <a:off x="548640" y="6217920"/>
            <a:ext cx="11064240" cy="164592"/>
          </a:xfrm>
          <a:prstGeom prst="rect">
            <a:avLst/>
          </a:prstGeom>
          <a:noFill/>
          <a:ln/>
        </p:spPr>
        <p:txBody>
          <a:bodyPr wrap="square" lIns="0" tIns="0" rIns="0" bIns="0" rtlCol="0" anchor="ctr"/>
          <a:lstStyle/>
          <a:p>
            <a:pPr algn="l" indent="0" marL="0">
              <a:lnSpc>
                <a:spcPct val="100000"/>
              </a:lnSpc>
              <a:buNone/>
            </a:pPr>
            <a:r>
              <a:rPr lang="en-US" sz="850" i="1" dirty="0">
                <a:solidFill>
                  <a:srgbClr val="5A6B75"/>
                </a:solidFill>
                <a:latin typeface="Calibri" pitchFamily="34" charset="0"/>
                <a:ea typeface="Calibri" pitchFamily="34" charset="-122"/>
                <a:cs typeface="Calibri" pitchFamily="34" charset="-120"/>
              </a:rPr>
              <a:t>The proposed service bus stays as proposed. If the Gate 2 assessment shows replay and ordering are needed for the product path, a Kafka-class log (e.g. a managed Kafka-compatible service) is one option to evaluate.</a:t>
            </a:r>
            <a:endParaRPr lang="en-US" sz="850" dirty="0"/>
          </a:p>
        </p:txBody>
      </p:sp>
      <p:sp>
        <p:nvSpPr>
          <p:cNvPr id="84" name="version-stamp"/>
          <p:cNvSpPr txBox="1"/>
          <p:nvPr/>
        </p:nvSpPr>
        <p:spPr>
          <a:xfrm>
            <a:off x="548640" y="6656832"/>
            <a:ext cx="6400800" cy="146304"/>
          </a:xfrm>
          <a:prstGeom prst="rect">
            <a:avLst/>
          </a:prstGeom>
          <a:noFill/>
          <a:ln/>
        </p:spPr>
        <p:txBody>
          <a:bodyPr wrap="square" lIns="0" tIns="0" rIns="0" bIns="0" rtlCol="0" anchor="ctr"/>
          <a:lstStyle/>
          <a:p>
            <a:pPr algn="l" indent="0" marL="0">
              <a:lnSpc>
                <a:spcPct val="100000"/>
              </a:lnSpc>
              <a:buNone/>
            </a:pPr>
            <a:r>
              <a:rPr lang="en-US" sz="700" dirty="0">
                <a:solidFill>
                  <a:srgbClr val="5A6B75"/>
                </a:solidFill>
                <a:latin typeface="Calibri" pitchFamily="34" charset="0"/>
                <a:ea typeface="Calibri" pitchFamily="34" charset="-122"/>
                <a:cs typeface="Calibri" pitchFamily="34" charset="-120"/>
              </a:rPr>
              <a:t>Modernisation deck · Slide 5 · native · 2026-10-15</a:t>
            </a:r>
            <a:endParaRPr lang="en-US" sz="700" dirty="0"/>
          </a:p>
        </p:txBody>
      </p:sp>
      <p:sp>
        <p:nvSpPr>
          <p:cNvPr id="25" name="Slide Number Placeholder 0"/>
          <p:cNvSpPr>
            <a:spLocks noGrp="1"/>
          </p:cNvSpPr>
          <p:nvPr>
            <p:ph type="sldNum" sz="quarter" idx="4294967295"/>
          </p:nvPr>
        </p:nvSpPr>
        <p:spPr>
          <a:xfrm>
            <a:off x="11247120" y="6601968"/>
            <a:ext cx="41148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B7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kicker"/>
          <p:cNvSpPr txBox="1"/>
          <p:nvPr/>
        </p:nvSpPr>
        <p:spPr>
          <a:xfrm>
            <a:off x="548640" y="402336"/>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6  ·  THE CAPABILITY THE NEXT STAGE NEEDS</a:t>
            </a:r>
            <a:endParaRPr lang="en-US" sz="800" dirty="0"/>
          </a:p>
        </p:txBody>
      </p:sp>
      <p:sp>
        <p:nvSpPr>
          <p:cNvPr id="3" name="title"/>
          <p:cNvSpPr txBox="1"/>
          <p:nvPr/>
        </p:nvSpPr>
        <p:spPr>
          <a:xfrm>
            <a:off x="548640" y="713232"/>
            <a:ext cx="11155680" cy="384048"/>
          </a:xfrm>
          <a:prstGeom prst="rect">
            <a:avLst/>
          </a:prstGeom>
          <a:noFill/>
          <a:ln/>
        </p:spPr>
        <p:txBody>
          <a:bodyPr wrap="none" lIns="0" tIns="0" rIns="0" bIns="0" rtlCol="0" anchor="ctr"/>
          <a:lstStyle/>
          <a:p>
            <a:pPr algn="l" indent="0" marL="0">
              <a:lnSpc>
                <a:spcPct val="100000"/>
              </a:lnSpc>
              <a:buNone/>
            </a:pPr>
            <a:r>
              <a:rPr lang="en-US" sz="2000" b="1" dirty="0">
                <a:solidFill>
                  <a:srgbClr val="1C2B33"/>
                </a:solidFill>
                <a:latin typeface="Calibri" pitchFamily="34" charset="0"/>
                <a:ea typeface="Calibri" pitchFamily="34" charset="-122"/>
                <a:cs typeface="Calibri" pitchFamily="34" charset="-120"/>
              </a:rPr>
              <a:t>A minimum viable team of six for the assessment and first delivery; the rest are options the gates decide</a:t>
            </a:r>
            <a:endParaRPr lang="en-US" sz="2000" dirty="0"/>
          </a:p>
        </p:txBody>
      </p:sp>
      <p:sp>
        <p:nvSpPr>
          <p:cNvPr id="4" name="shape-0"/>
          <p:cNvSpPr/>
          <p:nvPr/>
        </p:nvSpPr>
        <p:spPr>
          <a:xfrm>
            <a:off x="9820656" y="384048"/>
            <a:ext cx="1792224" cy="182880"/>
          </a:xfrm>
          <a:prstGeom prst="roundRect">
            <a:avLst>
              <a:gd name="adj" fmla="val 50000"/>
            </a:avLst>
          </a:prstGeom>
          <a:solidFill>
            <a:srgbClr val="FDF1E3"/>
          </a:solidFill>
          <a:ln w="9525">
            <a:solidFill>
              <a:srgbClr val="B45309"/>
            </a:solidFill>
            <a:prstDash val="solid"/>
          </a:ln>
        </p:spPr>
      </p:sp>
      <p:sp>
        <p:nvSpPr>
          <p:cNvPr id="5" name="text-1"/>
          <p:cNvSpPr txBox="1"/>
          <p:nvPr/>
        </p:nvSpPr>
        <p:spPr>
          <a:xfrm>
            <a:off x="9820656" y="384048"/>
            <a:ext cx="1792224" cy="182880"/>
          </a:xfrm>
          <a:prstGeom prst="rect">
            <a:avLst/>
          </a:prstGeom>
          <a:noFill/>
          <a:ln/>
        </p:spPr>
        <p:txBody>
          <a:bodyPr wrap="square" lIns="0" tIns="0" rIns="0" bIns="0" rtlCol="0" anchor="ctr"/>
          <a:lstStyle/>
          <a:p>
            <a:pPr algn="ctr" indent="0" marL="0">
              <a:lnSpc>
                <a:spcPct val="100000"/>
              </a:lnSpc>
              <a:buNone/>
            </a:pPr>
            <a:r>
              <a:rPr lang="en-US" sz="750" b="1" spc="100" kern="0" dirty="0">
                <a:solidFill>
                  <a:srgbClr val="B45309"/>
                </a:solidFill>
                <a:latin typeface="Calibri" pitchFamily="34" charset="0"/>
                <a:ea typeface="Calibri" pitchFamily="34" charset="-122"/>
                <a:cs typeface="Calibri" pitchFamily="34" charset="-120"/>
              </a:rPr>
              <a:t>ILLUSTRATIVE — TESTED AT GATE 2</a:t>
            </a:r>
            <a:endParaRPr lang="en-US" sz="750" dirty="0"/>
          </a:p>
        </p:txBody>
      </p:sp>
      <p:sp>
        <p:nvSpPr>
          <p:cNvPr id="6" name="text-2"/>
          <p:cNvSpPr txBox="1"/>
          <p:nvPr/>
        </p:nvSpPr>
        <p:spPr>
          <a:xfrm>
            <a:off x="548640" y="1335024"/>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MINIMUM VIABLE TEAM — WHO OWNS WHAT</a:t>
            </a:r>
            <a:endParaRPr lang="en-US" sz="800" dirty="0"/>
          </a:p>
        </p:txBody>
      </p:sp>
      <p:sp>
        <p:nvSpPr>
          <p:cNvPr id="7" name="shape-3"/>
          <p:cNvSpPr/>
          <p:nvPr/>
        </p:nvSpPr>
        <p:spPr>
          <a:xfrm>
            <a:off x="548640" y="1682496"/>
            <a:ext cx="6949440" cy="548640"/>
          </a:xfrm>
          <a:prstGeom prst="roundRect">
            <a:avLst>
              <a:gd name="adj" fmla="val 13333"/>
            </a:avLst>
          </a:prstGeom>
          <a:solidFill>
            <a:srgbClr val="134E4A"/>
          </a:solidFill>
          <a:ln w="12700">
            <a:solidFill>
              <a:srgbClr val="134E4A"/>
            </a:solidFill>
            <a:prstDash val="solid"/>
          </a:ln>
        </p:spPr>
      </p:sp>
      <p:sp>
        <p:nvSpPr>
          <p:cNvPr id="8" name="text-4"/>
          <p:cNvSpPr txBox="1"/>
          <p:nvPr/>
        </p:nvSpPr>
        <p:spPr>
          <a:xfrm>
            <a:off x="713232" y="1682496"/>
            <a:ext cx="2286000" cy="548640"/>
          </a:xfrm>
          <a:prstGeom prst="rect">
            <a:avLst/>
          </a:prstGeom>
          <a:noFill/>
          <a:ln/>
        </p:spPr>
        <p:txBody>
          <a:bodyPr wrap="square" lIns="0" tIns="0" rIns="0" bIns="0" rtlCol="0" anchor="ctr"/>
          <a:lstStyle/>
          <a:p>
            <a:pPr algn="l" indent="0" marL="0">
              <a:lnSpc>
                <a:spcPct val="100000"/>
              </a:lnSpc>
              <a:buNone/>
            </a:pPr>
            <a:r>
              <a:rPr lang="en-US" sz="1350" b="1" dirty="0">
                <a:solidFill>
                  <a:srgbClr val="FFFFFF"/>
                </a:solidFill>
                <a:latin typeface="Calibri" pitchFamily="34" charset="0"/>
                <a:ea typeface="Calibri" pitchFamily="34" charset="-122"/>
                <a:cs typeface="Calibri" pitchFamily="34" charset="-120"/>
              </a:rPr>
              <a:t>CTO</a:t>
            </a:r>
            <a:endParaRPr lang="en-US" sz="1350" dirty="0"/>
          </a:p>
        </p:txBody>
      </p:sp>
      <p:sp>
        <p:nvSpPr>
          <p:cNvPr id="9" name="text-5"/>
          <p:cNvSpPr txBox="1"/>
          <p:nvPr/>
        </p:nvSpPr>
        <p:spPr>
          <a:xfrm>
            <a:off x="3200400" y="1682496"/>
            <a:ext cx="3291840" cy="548640"/>
          </a:xfrm>
          <a:prstGeom prst="rect">
            <a:avLst/>
          </a:prstGeom>
          <a:noFill/>
          <a:ln/>
        </p:spPr>
        <p:txBody>
          <a:bodyPr wrap="square" lIns="0" tIns="0" rIns="0" bIns="0" rtlCol="0" anchor="ctr"/>
          <a:lstStyle/>
          <a:p>
            <a:pPr algn="l" indent="0" marL="0">
              <a:lnSpc>
                <a:spcPct val="100000"/>
              </a:lnSpc>
              <a:buNone/>
            </a:pPr>
            <a:r>
              <a:rPr lang="en-US" sz="1050" dirty="0">
                <a:solidFill>
                  <a:srgbClr val="CFE8E5"/>
                </a:solidFill>
                <a:latin typeface="Calibri" pitchFamily="34" charset="0"/>
                <a:ea typeface="Calibri" pitchFamily="34" charset="-122"/>
                <a:cs typeface="Calibri" pitchFamily="34" charset="-120"/>
              </a:rPr>
              <a:t>Strategy, architecture, transformation, PM, roadmap</a:t>
            </a:r>
            <a:endParaRPr lang="en-US" sz="1050" dirty="0"/>
          </a:p>
        </p:txBody>
      </p:sp>
      <p:sp>
        <p:nvSpPr>
          <p:cNvPr id="10" name="shape-6"/>
          <p:cNvSpPr/>
          <p:nvPr/>
        </p:nvSpPr>
        <p:spPr>
          <a:xfrm>
            <a:off x="7205472" y="1892808"/>
            <a:ext cx="201168" cy="146304"/>
          </a:xfrm>
          <a:prstGeom prst="roundRect">
            <a:avLst>
              <a:gd name="adj" fmla="val 50000"/>
            </a:avLst>
          </a:prstGeom>
          <a:solidFill>
            <a:srgbClr val="0F766E"/>
          </a:solidFill>
          <a:ln w="12700">
            <a:solidFill>
              <a:srgbClr val="0F766E"/>
            </a:solidFill>
            <a:prstDash val="solid"/>
          </a:ln>
        </p:spPr>
      </p:sp>
      <p:sp>
        <p:nvSpPr>
          <p:cNvPr id="11" name="text-7"/>
          <p:cNvSpPr txBox="1"/>
          <p:nvPr/>
        </p:nvSpPr>
        <p:spPr>
          <a:xfrm>
            <a:off x="7205472" y="1892808"/>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A</a:t>
            </a:r>
            <a:endParaRPr lang="en-US" sz="750" dirty="0"/>
          </a:p>
        </p:txBody>
      </p:sp>
      <p:sp>
        <p:nvSpPr>
          <p:cNvPr id="12" name="shape-8"/>
          <p:cNvSpPr/>
          <p:nvPr/>
        </p:nvSpPr>
        <p:spPr>
          <a:xfrm>
            <a:off x="6949440" y="1892808"/>
            <a:ext cx="201168" cy="146304"/>
          </a:xfrm>
          <a:prstGeom prst="roundRect">
            <a:avLst>
              <a:gd name="adj" fmla="val 50000"/>
            </a:avLst>
          </a:prstGeom>
          <a:solidFill>
            <a:srgbClr val="0F766E"/>
          </a:solidFill>
          <a:ln w="12700">
            <a:solidFill>
              <a:srgbClr val="0F766E"/>
            </a:solidFill>
            <a:prstDash val="solid"/>
          </a:ln>
        </p:spPr>
      </p:sp>
      <p:sp>
        <p:nvSpPr>
          <p:cNvPr id="13" name="text-9"/>
          <p:cNvSpPr txBox="1"/>
          <p:nvPr/>
        </p:nvSpPr>
        <p:spPr>
          <a:xfrm>
            <a:off x="6949440" y="1892808"/>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B</a:t>
            </a:r>
            <a:endParaRPr lang="en-US" sz="750" dirty="0"/>
          </a:p>
        </p:txBody>
      </p:sp>
      <p:sp>
        <p:nvSpPr>
          <p:cNvPr id="14" name="shape-10"/>
          <p:cNvSpPr/>
          <p:nvPr/>
        </p:nvSpPr>
        <p:spPr>
          <a:xfrm>
            <a:off x="6693408" y="1892808"/>
            <a:ext cx="201168" cy="146304"/>
          </a:xfrm>
          <a:prstGeom prst="roundRect">
            <a:avLst>
              <a:gd name="adj" fmla="val 50000"/>
            </a:avLst>
          </a:prstGeom>
          <a:solidFill>
            <a:srgbClr val="8A99A3"/>
          </a:solidFill>
          <a:ln w="12700">
            <a:solidFill>
              <a:srgbClr val="8A99A3"/>
            </a:solidFill>
            <a:prstDash val="solid"/>
          </a:ln>
        </p:spPr>
      </p:sp>
      <p:sp>
        <p:nvSpPr>
          <p:cNvPr id="15" name="text-11"/>
          <p:cNvSpPr txBox="1"/>
          <p:nvPr/>
        </p:nvSpPr>
        <p:spPr>
          <a:xfrm>
            <a:off x="6693408" y="1892808"/>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C</a:t>
            </a:r>
            <a:endParaRPr lang="en-US" sz="750" dirty="0"/>
          </a:p>
        </p:txBody>
      </p:sp>
      <p:sp>
        <p:nvSpPr>
          <p:cNvPr id="16" name="shape-12"/>
          <p:cNvSpPr/>
          <p:nvPr/>
        </p:nvSpPr>
        <p:spPr>
          <a:xfrm>
            <a:off x="6437376" y="1892808"/>
            <a:ext cx="201168" cy="146304"/>
          </a:xfrm>
          <a:prstGeom prst="roundRect">
            <a:avLst>
              <a:gd name="adj" fmla="val 50000"/>
            </a:avLst>
          </a:prstGeom>
          <a:solidFill>
            <a:srgbClr val="B45309"/>
          </a:solidFill>
          <a:ln w="12700">
            <a:solidFill>
              <a:srgbClr val="B45309"/>
            </a:solidFill>
            <a:prstDash val="solid"/>
          </a:ln>
        </p:spPr>
      </p:sp>
      <p:sp>
        <p:nvSpPr>
          <p:cNvPr id="17" name="text-13"/>
          <p:cNvSpPr txBox="1"/>
          <p:nvPr/>
        </p:nvSpPr>
        <p:spPr>
          <a:xfrm>
            <a:off x="6437376" y="1892808"/>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X</a:t>
            </a:r>
            <a:endParaRPr lang="en-US" sz="750" dirty="0"/>
          </a:p>
        </p:txBody>
      </p:sp>
      <p:sp>
        <p:nvSpPr>
          <p:cNvPr id="18" name="shape-14"/>
          <p:cNvSpPr/>
          <p:nvPr/>
        </p:nvSpPr>
        <p:spPr>
          <a:xfrm>
            <a:off x="548640" y="2322576"/>
            <a:ext cx="6949440" cy="548640"/>
          </a:xfrm>
          <a:prstGeom prst="roundRect">
            <a:avLst>
              <a:gd name="adj" fmla="val 13333"/>
            </a:avLst>
          </a:prstGeom>
          <a:solidFill>
            <a:srgbClr val="EEF2F4"/>
          </a:solidFill>
          <a:ln w="12700">
            <a:solidFill>
              <a:srgbClr val="EEF2F4"/>
            </a:solidFill>
            <a:prstDash val="solid"/>
          </a:ln>
        </p:spPr>
      </p:sp>
      <p:sp>
        <p:nvSpPr>
          <p:cNvPr id="19" name="text-15"/>
          <p:cNvSpPr txBox="1"/>
          <p:nvPr/>
        </p:nvSpPr>
        <p:spPr>
          <a:xfrm>
            <a:off x="713232" y="2322576"/>
            <a:ext cx="2286000" cy="548640"/>
          </a:xfrm>
          <a:prstGeom prst="rect">
            <a:avLst/>
          </a:prstGeom>
          <a:noFill/>
          <a:ln/>
        </p:spPr>
        <p:txBody>
          <a:bodyPr wrap="square" lIns="0" tIns="0" rIns="0" bIns="0" rtlCol="0" anchor="ctr"/>
          <a:lstStyle/>
          <a:p>
            <a:pPr algn="l" indent="0" marL="0">
              <a:lnSpc>
                <a:spcPct val="100000"/>
              </a:lnSpc>
              <a:buNone/>
            </a:pPr>
            <a:r>
              <a:rPr lang="en-US" sz="1350" b="1" dirty="0">
                <a:solidFill>
                  <a:srgbClr val="1C2B33"/>
                </a:solidFill>
                <a:latin typeface="Calibri" pitchFamily="34" charset="0"/>
                <a:ea typeface="Calibri" pitchFamily="34" charset="-122"/>
                <a:cs typeface="Calibri" pitchFamily="34" charset="-120"/>
              </a:rPr>
              <a:t>Lead Engineer</a:t>
            </a:r>
            <a:endParaRPr lang="en-US" sz="1350" dirty="0"/>
          </a:p>
        </p:txBody>
      </p:sp>
      <p:sp>
        <p:nvSpPr>
          <p:cNvPr id="20" name="text-16"/>
          <p:cNvSpPr txBox="1"/>
          <p:nvPr/>
        </p:nvSpPr>
        <p:spPr>
          <a:xfrm>
            <a:off x="3200400" y="2322576"/>
            <a:ext cx="3291840" cy="548640"/>
          </a:xfrm>
          <a:prstGeom prst="rect">
            <a:avLst/>
          </a:prstGeom>
          <a:noFill/>
          <a:ln/>
        </p:spPr>
        <p:txBody>
          <a:bodyPr wrap="square" lIns="0" tIns="0" rIns="0" bIns="0" rtlCol="0" anchor="ctr"/>
          <a:lstStyle/>
          <a:p>
            <a:pPr algn="l" indent="0" marL="0">
              <a:lnSpc>
                <a:spcPct val="100000"/>
              </a:lnSpc>
              <a:buNone/>
            </a:pPr>
            <a:r>
              <a:rPr lang="en-US" sz="1050" dirty="0">
                <a:solidFill>
                  <a:srgbClr val="1C2B33"/>
                </a:solidFill>
                <a:latin typeface="Calibri" pitchFamily="34" charset="0"/>
                <a:ea typeface="Calibri" pitchFamily="34" charset="-122"/>
                <a:cs typeface="Calibri" pitchFamily="34" charset="-120"/>
              </a:rPr>
              <a:t>Standards, build, maintain, technical QA</a:t>
            </a:r>
            <a:endParaRPr lang="en-US" sz="1050" dirty="0"/>
          </a:p>
        </p:txBody>
      </p:sp>
      <p:sp>
        <p:nvSpPr>
          <p:cNvPr id="21" name="shape-17"/>
          <p:cNvSpPr/>
          <p:nvPr/>
        </p:nvSpPr>
        <p:spPr>
          <a:xfrm>
            <a:off x="7205472" y="2532888"/>
            <a:ext cx="201168" cy="146304"/>
          </a:xfrm>
          <a:prstGeom prst="roundRect">
            <a:avLst>
              <a:gd name="adj" fmla="val 50000"/>
            </a:avLst>
          </a:prstGeom>
          <a:solidFill>
            <a:srgbClr val="134E4A"/>
          </a:solidFill>
          <a:ln w="12700">
            <a:solidFill>
              <a:srgbClr val="134E4A"/>
            </a:solidFill>
            <a:prstDash val="solid"/>
          </a:ln>
        </p:spPr>
      </p:sp>
      <p:sp>
        <p:nvSpPr>
          <p:cNvPr id="22" name="text-18"/>
          <p:cNvSpPr txBox="1"/>
          <p:nvPr/>
        </p:nvSpPr>
        <p:spPr>
          <a:xfrm>
            <a:off x="7205472" y="2532888"/>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A</a:t>
            </a:r>
            <a:endParaRPr lang="en-US" sz="750" dirty="0"/>
          </a:p>
        </p:txBody>
      </p:sp>
      <p:sp>
        <p:nvSpPr>
          <p:cNvPr id="23" name="shape-19"/>
          <p:cNvSpPr/>
          <p:nvPr/>
        </p:nvSpPr>
        <p:spPr>
          <a:xfrm>
            <a:off x="6949440" y="2532888"/>
            <a:ext cx="201168" cy="146304"/>
          </a:xfrm>
          <a:prstGeom prst="roundRect">
            <a:avLst>
              <a:gd name="adj" fmla="val 50000"/>
            </a:avLst>
          </a:prstGeom>
          <a:solidFill>
            <a:srgbClr val="B45309"/>
          </a:solidFill>
          <a:ln w="12700">
            <a:solidFill>
              <a:srgbClr val="B45309"/>
            </a:solidFill>
            <a:prstDash val="solid"/>
          </a:ln>
        </p:spPr>
      </p:sp>
      <p:sp>
        <p:nvSpPr>
          <p:cNvPr id="24" name="text-20"/>
          <p:cNvSpPr txBox="1"/>
          <p:nvPr/>
        </p:nvSpPr>
        <p:spPr>
          <a:xfrm>
            <a:off x="6949440" y="2532888"/>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X</a:t>
            </a:r>
            <a:endParaRPr lang="en-US" sz="750" dirty="0"/>
          </a:p>
        </p:txBody>
      </p:sp>
      <p:sp>
        <p:nvSpPr>
          <p:cNvPr id="25" name="shape-21"/>
          <p:cNvSpPr/>
          <p:nvPr/>
        </p:nvSpPr>
        <p:spPr>
          <a:xfrm>
            <a:off x="548640" y="2962656"/>
            <a:ext cx="6949440" cy="548640"/>
          </a:xfrm>
          <a:prstGeom prst="roundRect">
            <a:avLst>
              <a:gd name="adj" fmla="val 13333"/>
            </a:avLst>
          </a:prstGeom>
          <a:solidFill>
            <a:srgbClr val="EEF2F4"/>
          </a:solidFill>
          <a:ln w="12700">
            <a:solidFill>
              <a:srgbClr val="EEF2F4"/>
            </a:solidFill>
            <a:prstDash val="solid"/>
          </a:ln>
        </p:spPr>
      </p:sp>
      <p:sp>
        <p:nvSpPr>
          <p:cNvPr id="26" name="text-22"/>
          <p:cNvSpPr txBox="1"/>
          <p:nvPr/>
        </p:nvSpPr>
        <p:spPr>
          <a:xfrm>
            <a:off x="713232" y="2962656"/>
            <a:ext cx="2286000" cy="548640"/>
          </a:xfrm>
          <a:prstGeom prst="rect">
            <a:avLst/>
          </a:prstGeom>
          <a:noFill/>
          <a:ln/>
        </p:spPr>
        <p:txBody>
          <a:bodyPr wrap="square" lIns="0" tIns="0" rIns="0" bIns="0" rtlCol="0" anchor="ctr"/>
          <a:lstStyle/>
          <a:p>
            <a:pPr algn="l" indent="0" marL="0">
              <a:lnSpc>
                <a:spcPct val="100000"/>
              </a:lnSpc>
              <a:buNone/>
            </a:pPr>
            <a:r>
              <a:rPr lang="en-US" sz="1350" b="1" dirty="0">
                <a:solidFill>
                  <a:srgbClr val="1C2B33"/>
                </a:solidFill>
                <a:latin typeface="Calibri" pitchFamily="34" charset="0"/>
                <a:ea typeface="Calibri" pitchFamily="34" charset="-122"/>
                <a:cs typeface="Calibri" pitchFamily="34" charset="-120"/>
              </a:rPr>
              <a:t>Developer</a:t>
            </a:r>
            <a:endParaRPr lang="en-US" sz="1350" dirty="0"/>
          </a:p>
        </p:txBody>
      </p:sp>
      <p:sp>
        <p:nvSpPr>
          <p:cNvPr id="27" name="text-23"/>
          <p:cNvSpPr txBox="1"/>
          <p:nvPr/>
        </p:nvSpPr>
        <p:spPr>
          <a:xfrm>
            <a:off x="3200400" y="2962656"/>
            <a:ext cx="3291840" cy="548640"/>
          </a:xfrm>
          <a:prstGeom prst="rect">
            <a:avLst/>
          </a:prstGeom>
          <a:noFill/>
          <a:ln/>
        </p:spPr>
        <p:txBody>
          <a:bodyPr wrap="square" lIns="0" tIns="0" rIns="0" bIns="0" rtlCol="0" anchor="ctr"/>
          <a:lstStyle/>
          <a:p>
            <a:pPr algn="l" indent="0" marL="0">
              <a:lnSpc>
                <a:spcPct val="100000"/>
              </a:lnSpc>
              <a:buNone/>
            </a:pPr>
            <a:r>
              <a:rPr lang="en-US" sz="1050" dirty="0">
                <a:solidFill>
                  <a:srgbClr val="1C2B33"/>
                </a:solidFill>
                <a:latin typeface="Calibri" pitchFamily="34" charset="0"/>
                <a:ea typeface="Calibri" pitchFamily="34" charset="-122"/>
                <a:cs typeface="Calibri" pitchFamily="34" charset="-120"/>
              </a:rPr>
              <a:t>Build, maintain, technical QA</a:t>
            </a:r>
            <a:endParaRPr lang="en-US" sz="1050" dirty="0"/>
          </a:p>
        </p:txBody>
      </p:sp>
      <p:sp>
        <p:nvSpPr>
          <p:cNvPr id="28" name="shape-24"/>
          <p:cNvSpPr/>
          <p:nvPr/>
        </p:nvSpPr>
        <p:spPr>
          <a:xfrm>
            <a:off x="7205472" y="3172968"/>
            <a:ext cx="201168" cy="146304"/>
          </a:xfrm>
          <a:prstGeom prst="roundRect">
            <a:avLst>
              <a:gd name="adj" fmla="val 50000"/>
            </a:avLst>
          </a:prstGeom>
          <a:solidFill>
            <a:srgbClr val="134E4A"/>
          </a:solidFill>
          <a:ln w="12700">
            <a:solidFill>
              <a:srgbClr val="134E4A"/>
            </a:solidFill>
            <a:prstDash val="solid"/>
          </a:ln>
        </p:spPr>
      </p:sp>
      <p:sp>
        <p:nvSpPr>
          <p:cNvPr id="29" name="text-25"/>
          <p:cNvSpPr txBox="1"/>
          <p:nvPr/>
        </p:nvSpPr>
        <p:spPr>
          <a:xfrm>
            <a:off x="7205472" y="3172968"/>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A</a:t>
            </a:r>
            <a:endParaRPr lang="en-US" sz="750" dirty="0"/>
          </a:p>
        </p:txBody>
      </p:sp>
      <p:sp>
        <p:nvSpPr>
          <p:cNvPr id="30" name="shape-26"/>
          <p:cNvSpPr/>
          <p:nvPr/>
        </p:nvSpPr>
        <p:spPr>
          <a:xfrm>
            <a:off x="548640" y="3602736"/>
            <a:ext cx="6949440" cy="548640"/>
          </a:xfrm>
          <a:prstGeom prst="roundRect">
            <a:avLst>
              <a:gd name="adj" fmla="val 13333"/>
            </a:avLst>
          </a:prstGeom>
          <a:solidFill>
            <a:srgbClr val="EEF2F4"/>
          </a:solidFill>
          <a:ln w="12700">
            <a:solidFill>
              <a:srgbClr val="EEF2F4"/>
            </a:solidFill>
            <a:prstDash val="solid"/>
          </a:ln>
        </p:spPr>
      </p:sp>
      <p:sp>
        <p:nvSpPr>
          <p:cNvPr id="31" name="text-27"/>
          <p:cNvSpPr txBox="1"/>
          <p:nvPr/>
        </p:nvSpPr>
        <p:spPr>
          <a:xfrm>
            <a:off x="713232" y="3602736"/>
            <a:ext cx="2286000" cy="548640"/>
          </a:xfrm>
          <a:prstGeom prst="rect">
            <a:avLst/>
          </a:prstGeom>
          <a:noFill/>
          <a:ln/>
        </p:spPr>
        <p:txBody>
          <a:bodyPr wrap="square" lIns="0" tIns="0" rIns="0" bIns="0" rtlCol="0" anchor="ctr"/>
          <a:lstStyle/>
          <a:p>
            <a:pPr algn="l" indent="0" marL="0">
              <a:lnSpc>
                <a:spcPct val="100000"/>
              </a:lnSpc>
              <a:buNone/>
            </a:pPr>
            <a:r>
              <a:rPr lang="en-US" sz="1350" b="1" dirty="0">
                <a:solidFill>
                  <a:srgbClr val="1C2B33"/>
                </a:solidFill>
                <a:latin typeface="Calibri" pitchFamily="34" charset="0"/>
                <a:ea typeface="Calibri" pitchFamily="34" charset="-122"/>
                <a:cs typeface="Calibri" pitchFamily="34" charset="-120"/>
              </a:rPr>
              <a:t>DevSecOps Platform Engineer</a:t>
            </a:r>
            <a:endParaRPr lang="en-US" sz="1350" dirty="0"/>
          </a:p>
        </p:txBody>
      </p:sp>
      <p:sp>
        <p:nvSpPr>
          <p:cNvPr id="32" name="text-28"/>
          <p:cNvSpPr txBox="1"/>
          <p:nvPr/>
        </p:nvSpPr>
        <p:spPr>
          <a:xfrm>
            <a:off x="3200400" y="3602736"/>
            <a:ext cx="3291840" cy="548640"/>
          </a:xfrm>
          <a:prstGeom prst="rect">
            <a:avLst/>
          </a:prstGeom>
          <a:noFill/>
          <a:ln/>
        </p:spPr>
        <p:txBody>
          <a:bodyPr wrap="square" lIns="0" tIns="0" rIns="0" bIns="0" rtlCol="0" anchor="ctr"/>
          <a:lstStyle/>
          <a:p>
            <a:pPr algn="l" indent="0" marL="0">
              <a:lnSpc>
                <a:spcPct val="100000"/>
              </a:lnSpc>
              <a:buNone/>
            </a:pPr>
            <a:r>
              <a:rPr lang="en-US" sz="1050" dirty="0">
                <a:solidFill>
                  <a:srgbClr val="1C2B33"/>
                </a:solidFill>
                <a:latin typeface="Calibri" pitchFamily="34" charset="0"/>
                <a:ea typeface="Calibri" pitchFamily="34" charset="-122"/>
                <a:cs typeface="Calibri" pitchFamily="34" charset="-120"/>
              </a:rPr>
              <a:t>Security, platform, pipeline</a:t>
            </a:r>
            <a:endParaRPr lang="en-US" sz="1050" dirty="0"/>
          </a:p>
        </p:txBody>
      </p:sp>
      <p:sp>
        <p:nvSpPr>
          <p:cNvPr id="33" name="shape-29"/>
          <p:cNvSpPr/>
          <p:nvPr/>
        </p:nvSpPr>
        <p:spPr>
          <a:xfrm>
            <a:off x="7205472" y="3813048"/>
            <a:ext cx="201168" cy="146304"/>
          </a:xfrm>
          <a:prstGeom prst="roundRect">
            <a:avLst>
              <a:gd name="adj" fmla="val 50000"/>
            </a:avLst>
          </a:prstGeom>
          <a:solidFill>
            <a:srgbClr val="B45309"/>
          </a:solidFill>
          <a:ln w="12700">
            <a:solidFill>
              <a:srgbClr val="B45309"/>
            </a:solidFill>
            <a:prstDash val="solid"/>
          </a:ln>
        </p:spPr>
      </p:sp>
      <p:sp>
        <p:nvSpPr>
          <p:cNvPr id="34" name="text-30"/>
          <p:cNvSpPr txBox="1"/>
          <p:nvPr/>
        </p:nvSpPr>
        <p:spPr>
          <a:xfrm>
            <a:off x="7205472" y="3813048"/>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X</a:t>
            </a:r>
            <a:endParaRPr lang="en-US" sz="750" dirty="0"/>
          </a:p>
        </p:txBody>
      </p:sp>
      <p:sp>
        <p:nvSpPr>
          <p:cNvPr id="35" name="shape-31"/>
          <p:cNvSpPr/>
          <p:nvPr/>
        </p:nvSpPr>
        <p:spPr>
          <a:xfrm>
            <a:off x="6949440" y="3813048"/>
            <a:ext cx="201168" cy="146304"/>
          </a:xfrm>
          <a:prstGeom prst="roundRect">
            <a:avLst>
              <a:gd name="adj" fmla="val 50000"/>
            </a:avLst>
          </a:prstGeom>
          <a:solidFill>
            <a:srgbClr val="134E4A"/>
          </a:solidFill>
          <a:ln w="12700">
            <a:solidFill>
              <a:srgbClr val="134E4A"/>
            </a:solidFill>
            <a:prstDash val="solid"/>
          </a:ln>
        </p:spPr>
      </p:sp>
      <p:sp>
        <p:nvSpPr>
          <p:cNvPr id="36" name="text-32"/>
          <p:cNvSpPr txBox="1"/>
          <p:nvPr/>
        </p:nvSpPr>
        <p:spPr>
          <a:xfrm>
            <a:off x="6949440" y="3813048"/>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A</a:t>
            </a:r>
            <a:endParaRPr lang="en-US" sz="750" dirty="0"/>
          </a:p>
        </p:txBody>
      </p:sp>
      <p:sp>
        <p:nvSpPr>
          <p:cNvPr id="37" name="shape-33"/>
          <p:cNvSpPr/>
          <p:nvPr/>
        </p:nvSpPr>
        <p:spPr>
          <a:xfrm>
            <a:off x="548640" y="4242816"/>
            <a:ext cx="6949440" cy="548640"/>
          </a:xfrm>
          <a:prstGeom prst="roundRect">
            <a:avLst>
              <a:gd name="adj" fmla="val 13333"/>
            </a:avLst>
          </a:prstGeom>
          <a:solidFill>
            <a:srgbClr val="EEF2F4"/>
          </a:solidFill>
          <a:ln w="12700">
            <a:solidFill>
              <a:srgbClr val="EEF2F4"/>
            </a:solidFill>
            <a:prstDash val="solid"/>
          </a:ln>
        </p:spPr>
      </p:sp>
      <p:sp>
        <p:nvSpPr>
          <p:cNvPr id="38" name="text-34"/>
          <p:cNvSpPr txBox="1"/>
          <p:nvPr/>
        </p:nvSpPr>
        <p:spPr>
          <a:xfrm>
            <a:off x="713232" y="4242816"/>
            <a:ext cx="2286000" cy="548640"/>
          </a:xfrm>
          <a:prstGeom prst="rect">
            <a:avLst/>
          </a:prstGeom>
          <a:noFill/>
          <a:ln/>
        </p:spPr>
        <p:txBody>
          <a:bodyPr wrap="square" lIns="0" tIns="0" rIns="0" bIns="0" rtlCol="0" anchor="ctr"/>
          <a:lstStyle/>
          <a:p>
            <a:pPr algn="l" indent="0" marL="0">
              <a:lnSpc>
                <a:spcPct val="100000"/>
              </a:lnSpc>
              <a:buNone/>
            </a:pPr>
            <a:r>
              <a:rPr lang="en-US" sz="1350" b="1" dirty="0">
                <a:solidFill>
                  <a:srgbClr val="1C2B33"/>
                </a:solidFill>
                <a:latin typeface="Calibri" pitchFamily="34" charset="0"/>
                <a:ea typeface="Calibri" pitchFamily="34" charset="-122"/>
                <a:cs typeface="Calibri" pitchFamily="34" charset="-120"/>
              </a:rPr>
              <a:t>Product</a:t>
            </a:r>
            <a:endParaRPr lang="en-US" sz="1350" dirty="0"/>
          </a:p>
        </p:txBody>
      </p:sp>
      <p:sp>
        <p:nvSpPr>
          <p:cNvPr id="39" name="text-35"/>
          <p:cNvSpPr txBox="1"/>
          <p:nvPr/>
        </p:nvSpPr>
        <p:spPr>
          <a:xfrm>
            <a:off x="3200400" y="4242816"/>
            <a:ext cx="3291840" cy="548640"/>
          </a:xfrm>
          <a:prstGeom prst="rect">
            <a:avLst/>
          </a:prstGeom>
          <a:noFill/>
          <a:ln/>
        </p:spPr>
        <p:txBody>
          <a:bodyPr wrap="square" lIns="0" tIns="0" rIns="0" bIns="0" rtlCol="0" anchor="ctr"/>
          <a:lstStyle/>
          <a:p>
            <a:pPr algn="l" indent="0" marL="0">
              <a:lnSpc>
                <a:spcPct val="100000"/>
              </a:lnSpc>
              <a:buNone/>
            </a:pPr>
            <a:r>
              <a:rPr lang="en-US" sz="1050" dirty="0">
                <a:solidFill>
                  <a:srgbClr val="1C2B33"/>
                </a:solidFill>
                <a:latin typeface="Calibri" pitchFamily="34" charset="0"/>
                <a:ea typeface="Calibri" pitchFamily="34" charset="-122"/>
                <a:cs typeface="Calibri" pitchFamily="34" charset="-120"/>
              </a:rPr>
              <a:t>Project, research, design</a:t>
            </a:r>
            <a:endParaRPr lang="en-US" sz="1050" dirty="0"/>
          </a:p>
        </p:txBody>
      </p:sp>
      <p:sp>
        <p:nvSpPr>
          <p:cNvPr id="40" name="shape-36"/>
          <p:cNvSpPr/>
          <p:nvPr/>
        </p:nvSpPr>
        <p:spPr>
          <a:xfrm>
            <a:off x="7205472" y="4453128"/>
            <a:ext cx="201168" cy="146304"/>
          </a:xfrm>
          <a:prstGeom prst="roundRect">
            <a:avLst>
              <a:gd name="adj" fmla="val 50000"/>
            </a:avLst>
          </a:prstGeom>
          <a:solidFill>
            <a:srgbClr val="134E4A"/>
          </a:solidFill>
          <a:ln w="12700">
            <a:solidFill>
              <a:srgbClr val="134E4A"/>
            </a:solidFill>
            <a:prstDash val="solid"/>
          </a:ln>
        </p:spPr>
      </p:sp>
      <p:sp>
        <p:nvSpPr>
          <p:cNvPr id="41" name="text-37"/>
          <p:cNvSpPr txBox="1"/>
          <p:nvPr/>
        </p:nvSpPr>
        <p:spPr>
          <a:xfrm>
            <a:off x="7205472" y="4453128"/>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A</a:t>
            </a:r>
            <a:endParaRPr lang="en-US" sz="750" dirty="0"/>
          </a:p>
        </p:txBody>
      </p:sp>
      <p:sp>
        <p:nvSpPr>
          <p:cNvPr id="42" name="shape-38"/>
          <p:cNvSpPr/>
          <p:nvPr/>
        </p:nvSpPr>
        <p:spPr>
          <a:xfrm>
            <a:off x="6949440" y="4453128"/>
            <a:ext cx="201168" cy="146304"/>
          </a:xfrm>
          <a:prstGeom prst="roundRect">
            <a:avLst>
              <a:gd name="adj" fmla="val 50000"/>
            </a:avLst>
          </a:prstGeom>
          <a:solidFill>
            <a:srgbClr val="0F766E"/>
          </a:solidFill>
          <a:ln w="12700">
            <a:solidFill>
              <a:srgbClr val="0F766E"/>
            </a:solidFill>
            <a:prstDash val="solid"/>
          </a:ln>
        </p:spPr>
      </p:sp>
      <p:sp>
        <p:nvSpPr>
          <p:cNvPr id="43" name="text-39"/>
          <p:cNvSpPr txBox="1"/>
          <p:nvPr/>
        </p:nvSpPr>
        <p:spPr>
          <a:xfrm>
            <a:off x="6949440" y="4453128"/>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B</a:t>
            </a:r>
            <a:endParaRPr lang="en-US" sz="750" dirty="0"/>
          </a:p>
        </p:txBody>
      </p:sp>
      <p:sp>
        <p:nvSpPr>
          <p:cNvPr id="44" name="shape-40"/>
          <p:cNvSpPr/>
          <p:nvPr/>
        </p:nvSpPr>
        <p:spPr>
          <a:xfrm>
            <a:off x="548640" y="4882896"/>
            <a:ext cx="6949440" cy="548640"/>
          </a:xfrm>
          <a:prstGeom prst="roundRect">
            <a:avLst>
              <a:gd name="adj" fmla="val 13333"/>
            </a:avLst>
          </a:prstGeom>
          <a:solidFill>
            <a:srgbClr val="EEF2F4"/>
          </a:solidFill>
          <a:ln w="12700">
            <a:solidFill>
              <a:srgbClr val="EEF2F4"/>
            </a:solidFill>
            <a:prstDash val="solid"/>
          </a:ln>
        </p:spPr>
      </p:sp>
      <p:sp>
        <p:nvSpPr>
          <p:cNvPr id="45" name="text-41"/>
          <p:cNvSpPr txBox="1"/>
          <p:nvPr/>
        </p:nvSpPr>
        <p:spPr>
          <a:xfrm>
            <a:off x="713232" y="4882896"/>
            <a:ext cx="2286000" cy="548640"/>
          </a:xfrm>
          <a:prstGeom prst="rect">
            <a:avLst/>
          </a:prstGeom>
          <a:noFill/>
          <a:ln/>
        </p:spPr>
        <p:txBody>
          <a:bodyPr wrap="square" lIns="0" tIns="0" rIns="0" bIns="0" rtlCol="0" anchor="ctr"/>
          <a:lstStyle/>
          <a:p>
            <a:pPr algn="l" indent="0" marL="0">
              <a:lnSpc>
                <a:spcPct val="100000"/>
              </a:lnSpc>
              <a:buNone/>
            </a:pPr>
            <a:r>
              <a:rPr lang="en-US" sz="1350" b="1" dirty="0">
                <a:solidFill>
                  <a:srgbClr val="1C2B33"/>
                </a:solidFill>
                <a:latin typeface="Calibri" pitchFamily="34" charset="0"/>
                <a:ea typeface="Calibri" pitchFamily="34" charset="-122"/>
                <a:cs typeface="Calibri" pitchFamily="34" charset="-120"/>
              </a:rPr>
              <a:t>BA / QA</a:t>
            </a:r>
            <a:endParaRPr lang="en-US" sz="1350" dirty="0"/>
          </a:p>
        </p:txBody>
      </p:sp>
      <p:sp>
        <p:nvSpPr>
          <p:cNvPr id="46" name="text-42"/>
          <p:cNvSpPr txBox="1"/>
          <p:nvPr/>
        </p:nvSpPr>
        <p:spPr>
          <a:xfrm>
            <a:off x="3200400" y="4882896"/>
            <a:ext cx="3291840" cy="548640"/>
          </a:xfrm>
          <a:prstGeom prst="rect">
            <a:avLst/>
          </a:prstGeom>
          <a:noFill/>
          <a:ln/>
        </p:spPr>
        <p:txBody>
          <a:bodyPr wrap="square" lIns="0" tIns="0" rIns="0" bIns="0" rtlCol="0" anchor="ctr"/>
          <a:lstStyle/>
          <a:p>
            <a:pPr algn="l" indent="0" marL="0">
              <a:lnSpc>
                <a:spcPct val="100000"/>
              </a:lnSpc>
              <a:buNone/>
            </a:pPr>
            <a:r>
              <a:rPr lang="en-US" sz="1050" dirty="0">
                <a:solidFill>
                  <a:srgbClr val="1C2B33"/>
                </a:solidFill>
                <a:latin typeface="Calibri" pitchFamily="34" charset="0"/>
                <a:ea typeface="Calibri" pitchFamily="34" charset="-122"/>
                <a:cs typeface="Calibri" pitchFamily="34" charset="-120"/>
              </a:rPr>
              <a:t>User testing, QA, product assistance</a:t>
            </a:r>
            <a:endParaRPr lang="en-US" sz="1050" dirty="0"/>
          </a:p>
        </p:txBody>
      </p:sp>
      <p:sp>
        <p:nvSpPr>
          <p:cNvPr id="47" name="shape-43"/>
          <p:cNvSpPr/>
          <p:nvPr/>
        </p:nvSpPr>
        <p:spPr>
          <a:xfrm>
            <a:off x="7205472" y="5093208"/>
            <a:ext cx="201168" cy="146304"/>
          </a:xfrm>
          <a:prstGeom prst="roundRect">
            <a:avLst>
              <a:gd name="adj" fmla="val 50000"/>
            </a:avLst>
          </a:prstGeom>
          <a:solidFill>
            <a:srgbClr val="134E4A"/>
          </a:solidFill>
          <a:ln w="12700">
            <a:solidFill>
              <a:srgbClr val="134E4A"/>
            </a:solidFill>
            <a:prstDash val="solid"/>
          </a:ln>
        </p:spPr>
      </p:sp>
      <p:sp>
        <p:nvSpPr>
          <p:cNvPr id="48" name="text-44"/>
          <p:cNvSpPr txBox="1"/>
          <p:nvPr/>
        </p:nvSpPr>
        <p:spPr>
          <a:xfrm>
            <a:off x="7205472" y="5093208"/>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A</a:t>
            </a:r>
            <a:endParaRPr lang="en-US" sz="750" dirty="0"/>
          </a:p>
        </p:txBody>
      </p:sp>
      <p:sp>
        <p:nvSpPr>
          <p:cNvPr id="49" name="shape-45"/>
          <p:cNvSpPr/>
          <p:nvPr/>
        </p:nvSpPr>
        <p:spPr>
          <a:xfrm>
            <a:off x="6949440" y="5093208"/>
            <a:ext cx="201168" cy="146304"/>
          </a:xfrm>
          <a:prstGeom prst="roundRect">
            <a:avLst>
              <a:gd name="adj" fmla="val 50000"/>
            </a:avLst>
          </a:prstGeom>
          <a:solidFill>
            <a:srgbClr val="8A99A3"/>
          </a:solidFill>
          <a:ln w="12700">
            <a:solidFill>
              <a:srgbClr val="8A99A3"/>
            </a:solidFill>
            <a:prstDash val="solid"/>
          </a:ln>
        </p:spPr>
      </p:sp>
      <p:sp>
        <p:nvSpPr>
          <p:cNvPr id="50" name="text-46"/>
          <p:cNvSpPr txBox="1"/>
          <p:nvPr/>
        </p:nvSpPr>
        <p:spPr>
          <a:xfrm>
            <a:off x="6949440" y="5093208"/>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C</a:t>
            </a:r>
            <a:endParaRPr lang="en-US" sz="750" dirty="0"/>
          </a:p>
        </p:txBody>
      </p:sp>
      <p:sp>
        <p:nvSpPr>
          <p:cNvPr id="51" name="text-47"/>
          <p:cNvSpPr txBox="1"/>
          <p:nvPr/>
        </p:nvSpPr>
        <p:spPr>
          <a:xfrm>
            <a:off x="7772400" y="1335024"/>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OPTIONS THE GATE 2 DECISION WOULD CHOOSE BETWEEN</a:t>
            </a:r>
            <a:endParaRPr lang="en-US" sz="800" dirty="0"/>
          </a:p>
        </p:txBody>
      </p:sp>
      <p:sp>
        <p:nvSpPr>
          <p:cNvPr id="52" name="shape-48"/>
          <p:cNvSpPr/>
          <p:nvPr/>
        </p:nvSpPr>
        <p:spPr>
          <a:xfrm>
            <a:off x="7772400" y="1682496"/>
            <a:ext cx="3840480" cy="694944"/>
          </a:xfrm>
          <a:prstGeom prst="roundRect">
            <a:avLst>
              <a:gd name="adj" fmla="val 10526"/>
            </a:avLst>
          </a:prstGeom>
          <a:solidFill>
            <a:srgbClr val="FFFFFF"/>
          </a:solidFill>
          <a:ln w="15875">
            <a:solidFill>
              <a:srgbClr val="D4DBE0"/>
            </a:solidFill>
            <a:prstDash val="solid"/>
          </a:ln>
        </p:spPr>
      </p:sp>
      <p:pic>
        <p:nvPicPr>
          <p:cNvPr id="53" name="icon-49" descr="preencoded.png">    </p:cNvPr>
          <p:cNvPicPr>
            <a:picLocks noChangeAspect="1"/>
          </p:cNvPicPr>
          <p:nvPr/>
        </p:nvPicPr>
        <p:blipFill>
          <a:blip r:embed="rId1"/>
          <a:stretch>
            <a:fillRect/>
          </a:stretch>
        </p:blipFill>
        <p:spPr>
          <a:xfrm>
            <a:off x="7918704" y="1828800"/>
            <a:ext cx="182880" cy="182880"/>
          </a:xfrm>
          <a:prstGeom prst="rect">
            <a:avLst/>
          </a:prstGeom>
        </p:spPr>
      </p:pic>
      <p:sp>
        <p:nvSpPr>
          <p:cNvPr id="54" name="text-50"/>
          <p:cNvSpPr txBox="1"/>
          <p:nvPr/>
        </p:nvSpPr>
        <p:spPr>
          <a:xfrm>
            <a:off x="8193024" y="1755648"/>
            <a:ext cx="3291840" cy="347472"/>
          </a:xfrm>
          <a:prstGeom prst="rect">
            <a:avLst/>
          </a:prstGeom>
          <a:noFill/>
          <a:ln/>
        </p:spPr>
        <p:txBody>
          <a:bodyPr wrap="square" lIns="0" tIns="0" rIns="0" bIns="0" rtlCol="0" anchor="ctr"/>
          <a:lstStyle/>
          <a:p>
            <a:pPr algn="l" indent="0" marL="0">
              <a:lnSpc>
                <a:spcPct val="100000"/>
              </a:lnSpc>
              <a:buNone/>
            </a:pPr>
            <a:r>
              <a:rPr lang="en-US" sz="1100" b="1" dirty="0">
                <a:solidFill>
                  <a:srgbClr val="1C2B33"/>
                </a:solidFill>
                <a:latin typeface="Calibri" pitchFamily="34" charset="0"/>
                <a:ea typeface="Calibri" pitchFamily="34" charset="-122"/>
                <a:cs typeface="Calibri" pitchFamily="34" charset="-120"/>
              </a:rPr>
              <a:t>Second engineer, or the vendor’s 0.6 PM</a:t>
            </a:r>
            <a:endParaRPr lang="en-US" sz="1100" dirty="0"/>
          </a:p>
        </p:txBody>
      </p:sp>
      <p:sp>
        <p:nvSpPr>
          <p:cNvPr id="55" name="text-51"/>
          <p:cNvSpPr txBox="1"/>
          <p:nvPr/>
        </p:nvSpPr>
        <p:spPr>
          <a:xfrm>
            <a:off x="7918704" y="2121408"/>
            <a:ext cx="3547872" cy="219456"/>
          </a:xfrm>
          <a:prstGeom prst="rect">
            <a:avLst/>
          </a:prstGeom>
          <a:noFill/>
          <a:ln/>
        </p:spPr>
        <p:txBody>
          <a:bodyPr wrap="square" lIns="0" tIns="0" rIns="0" bIns="0" rtlCol="0" anchor="ctr"/>
          <a:lstStyle/>
          <a:p>
            <a:pPr algn="l" indent="0" marL="0">
              <a:lnSpc>
                <a:spcPct val="100000"/>
              </a:lnSpc>
              <a:buNone/>
            </a:pPr>
            <a:r>
              <a:rPr lang="en-US" sz="950" dirty="0">
                <a:solidFill>
                  <a:srgbClr val="5A6B75"/>
                </a:solidFill>
                <a:latin typeface="Calibri" pitchFamily="34" charset="0"/>
                <a:ea typeface="Calibri" pitchFamily="34" charset="-122"/>
                <a:cs typeface="Calibri" pitchFamily="34" charset="-120"/>
              </a:rPr>
              <a:t>how much of A is built in-house</a:t>
            </a:r>
            <a:endParaRPr lang="en-US" sz="950" dirty="0"/>
          </a:p>
        </p:txBody>
      </p:sp>
      <p:sp>
        <p:nvSpPr>
          <p:cNvPr id="56" name="shape-52"/>
          <p:cNvSpPr/>
          <p:nvPr/>
        </p:nvSpPr>
        <p:spPr>
          <a:xfrm>
            <a:off x="7772400" y="2468880"/>
            <a:ext cx="3840480" cy="694944"/>
          </a:xfrm>
          <a:prstGeom prst="roundRect">
            <a:avLst>
              <a:gd name="adj" fmla="val 10526"/>
            </a:avLst>
          </a:prstGeom>
          <a:solidFill>
            <a:srgbClr val="FFFFFF"/>
          </a:solidFill>
          <a:ln w="15875">
            <a:solidFill>
              <a:srgbClr val="D4DBE0"/>
            </a:solidFill>
            <a:prstDash val="solid"/>
          </a:ln>
        </p:spPr>
      </p:sp>
      <p:pic>
        <p:nvPicPr>
          <p:cNvPr id="57" name="icon-53" descr="preencoded.png">    </p:cNvPr>
          <p:cNvPicPr>
            <a:picLocks noChangeAspect="1"/>
          </p:cNvPicPr>
          <p:nvPr/>
        </p:nvPicPr>
        <p:blipFill>
          <a:blip r:embed="rId2"/>
          <a:stretch>
            <a:fillRect/>
          </a:stretch>
        </p:blipFill>
        <p:spPr>
          <a:xfrm>
            <a:off x="7918704" y="2615184"/>
            <a:ext cx="182880" cy="182880"/>
          </a:xfrm>
          <a:prstGeom prst="rect">
            <a:avLst/>
          </a:prstGeom>
        </p:spPr>
      </p:pic>
      <p:sp>
        <p:nvSpPr>
          <p:cNvPr id="58" name="text-54"/>
          <p:cNvSpPr txBox="1"/>
          <p:nvPr/>
        </p:nvSpPr>
        <p:spPr>
          <a:xfrm>
            <a:off x="8193024" y="2542032"/>
            <a:ext cx="3291840" cy="347472"/>
          </a:xfrm>
          <a:prstGeom prst="rect">
            <a:avLst/>
          </a:prstGeom>
          <a:noFill/>
          <a:ln/>
        </p:spPr>
        <p:txBody>
          <a:bodyPr wrap="square" lIns="0" tIns="0" rIns="0" bIns="0" rtlCol="0" anchor="ctr"/>
          <a:lstStyle/>
          <a:p>
            <a:pPr algn="l" indent="0" marL="0">
              <a:lnSpc>
                <a:spcPct val="100000"/>
              </a:lnSpc>
              <a:buNone/>
            </a:pPr>
            <a:r>
              <a:rPr lang="en-US" sz="1100" b="1" dirty="0">
                <a:solidFill>
                  <a:srgbClr val="1C2B33"/>
                </a:solidFill>
                <a:latin typeface="Calibri" pitchFamily="34" charset="0"/>
                <a:ea typeface="Calibri" pitchFamily="34" charset="-122"/>
                <a:cs typeface="Calibri" pitchFamily="34" charset="-120"/>
              </a:rPr>
              <a:t>AI budget instead of more headcount</a:t>
            </a:r>
            <a:endParaRPr lang="en-US" sz="1100" dirty="0"/>
          </a:p>
        </p:txBody>
      </p:sp>
      <p:sp>
        <p:nvSpPr>
          <p:cNvPr id="59" name="text-55"/>
          <p:cNvSpPr txBox="1"/>
          <p:nvPr/>
        </p:nvSpPr>
        <p:spPr>
          <a:xfrm>
            <a:off x="7918704" y="2907792"/>
            <a:ext cx="3547872" cy="219456"/>
          </a:xfrm>
          <a:prstGeom prst="rect">
            <a:avLst/>
          </a:prstGeom>
          <a:noFill/>
          <a:ln/>
        </p:spPr>
        <p:txBody>
          <a:bodyPr wrap="square" lIns="0" tIns="0" rIns="0" bIns="0" rtlCol="0" anchor="ctr"/>
          <a:lstStyle/>
          <a:p>
            <a:pPr algn="l" indent="0" marL="0">
              <a:lnSpc>
                <a:spcPct val="100000"/>
              </a:lnSpc>
              <a:buNone/>
            </a:pPr>
            <a:r>
              <a:rPr lang="en-US" sz="950" dirty="0">
                <a:solidFill>
                  <a:srgbClr val="5A6B75"/>
                </a:solidFill>
                <a:latin typeface="Calibri" pitchFamily="34" charset="0"/>
                <a:ea typeface="Calibri" pitchFamily="34" charset="-122"/>
                <a:cs typeface="Calibri" pitchFamily="34" charset="-120"/>
              </a:rPr>
              <a:t>accelerate and de-risk product work</a:t>
            </a:r>
            <a:endParaRPr lang="en-US" sz="950" dirty="0"/>
          </a:p>
        </p:txBody>
      </p:sp>
      <p:sp>
        <p:nvSpPr>
          <p:cNvPr id="60" name="shape-56"/>
          <p:cNvSpPr/>
          <p:nvPr/>
        </p:nvSpPr>
        <p:spPr>
          <a:xfrm>
            <a:off x="7772400" y="3255264"/>
            <a:ext cx="3840480" cy="694944"/>
          </a:xfrm>
          <a:prstGeom prst="roundRect">
            <a:avLst>
              <a:gd name="adj" fmla="val 10526"/>
            </a:avLst>
          </a:prstGeom>
          <a:solidFill>
            <a:srgbClr val="FFFFFF"/>
          </a:solidFill>
          <a:ln w="15875">
            <a:solidFill>
              <a:srgbClr val="D4DBE0"/>
            </a:solidFill>
            <a:prstDash val="solid"/>
          </a:ln>
        </p:spPr>
      </p:sp>
      <p:pic>
        <p:nvPicPr>
          <p:cNvPr id="61" name="icon-57" descr="preencoded.png">    </p:cNvPr>
          <p:cNvPicPr>
            <a:picLocks noChangeAspect="1"/>
          </p:cNvPicPr>
          <p:nvPr/>
        </p:nvPicPr>
        <p:blipFill>
          <a:blip r:embed="rId3"/>
          <a:stretch>
            <a:fillRect/>
          </a:stretch>
        </p:blipFill>
        <p:spPr>
          <a:xfrm>
            <a:off x="7918704" y="3401568"/>
            <a:ext cx="182880" cy="182880"/>
          </a:xfrm>
          <a:prstGeom prst="rect">
            <a:avLst/>
          </a:prstGeom>
        </p:spPr>
      </p:pic>
      <p:sp>
        <p:nvSpPr>
          <p:cNvPr id="62" name="text-58"/>
          <p:cNvSpPr txBox="1"/>
          <p:nvPr/>
        </p:nvSpPr>
        <p:spPr>
          <a:xfrm>
            <a:off x="8193024" y="3328416"/>
            <a:ext cx="3291840" cy="347472"/>
          </a:xfrm>
          <a:prstGeom prst="rect">
            <a:avLst/>
          </a:prstGeom>
          <a:noFill/>
          <a:ln/>
        </p:spPr>
        <p:txBody>
          <a:bodyPr wrap="square" lIns="0" tIns="0" rIns="0" bIns="0" rtlCol="0" anchor="ctr"/>
          <a:lstStyle/>
          <a:p>
            <a:pPr algn="l" indent="0" marL="0">
              <a:lnSpc>
                <a:spcPct val="100000"/>
              </a:lnSpc>
              <a:buNone/>
            </a:pPr>
            <a:r>
              <a:rPr lang="en-US" sz="1100" b="1" dirty="0">
                <a:solidFill>
                  <a:srgbClr val="1C2B33"/>
                </a:solidFill>
                <a:latin typeface="Calibri" pitchFamily="34" charset="0"/>
                <a:ea typeface="Calibri" pitchFamily="34" charset="-122"/>
                <a:cs typeface="Calibri" pitchFamily="34" charset="-120"/>
              </a:rPr>
              <a:t>Research and design in-house, or partner</a:t>
            </a:r>
            <a:endParaRPr lang="en-US" sz="1100" dirty="0"/>
          </a:p>
        </p:txBody>
      </p:sp>
      <p:sp>
        <p:nvSpPr>
          <p:cNvPr id="63" name="text-59"/>
          <p:cNvSpPr txBox="1"/>
          <p:nvPr/>
        </p:nvSpPr>
        <p:spPr>
          <a:xfrm>
            <a:off x="7918704" y="3694176"/>
            <a:ext cx="3547872" cy="219456"/>
          </a:xfrm>
          <a:prstGeom prst="rect">
            <a:avLst/>
          </a:prstGeom>
          <a:noFill/>
          <a:ln/>
        </p:spPr>
        <p:txBody>
          <a:bodyPr wrap="square" lIns="0" tIns="0" rIns="0" bIns="0" rtlCol="0" anchor="ctr"/>
          <a:lstStyle/>
          <a:p>
            <a:pPr algn="l" indent="0" marL="0">
              <a:lnSpc>
                <a:spcPct val="100000"/>
              </a:lnSpc>
              <a:buNone/>
            </a:pPr>
            <a:r>
              <a:rPr lang="en-US" sz="950" dirty="0">
                <a:solidFill>
                  <a:srgbClr val="5A6B75"/>
                </a:solidFill>
                <a:latin typeface="Calibri" pitchFamily="34" charset="0"/>
                <a:ea typeface="Calibri" pitchFamily="34" charset="-122"/>
                <a:cs typeface="Calibri" pitchFamily="34" charset="-120"/>
              </a:rPr>
              <a:t>depends on the licence model found at Gate 1</a:t>
            </a:r>
            <a:endParaRPr lang="en-US" sz="950" dirty="0"/>
          </a:p>
        </p:txBody>
      </p:sp>
      <p:sp>
        <p:nvSpPr>
          <p:cNvPr id="64" name="shape-60"/>
          <p:cNvSpPr/>
          <p:nvPr/>
        </p:nvSpPr>
        <p:spPr>
          <a:xfrm>
            <a:off x="7772400" y="4041648"/>
            <a:ext cx="3840480" cy="694944"/>
          </a:xfrm>
          <a:prstGeom prst="roundRect">
            <a:avLst>
              <a:gd name="adj" fmla="val 10526"/>
            </a:avLst>
          </a:prstGeom>
          <a:solidFill>
            <a:srgbClr val="FFFFFF"/>
          </a:solidFill>
          <a:ln w="15875">
            <a:solidFill>
              <a:srgbClr val="D4DBE0"/>
            </a:solidFill>
            <a:prstDash val="solid"/>
          </a:ln>
        </p:spPr>
      </p:sp>
      <p:pic>
        <p:nvPicPr>
          <p:cNvPr id="65" name="icon-61" descr="preencoded.png">    </p:cNvPr>
          <p:cNvPicPr>
            <a:picLocks noChangeAspect="1"/>
          </p:cNvPicPr>
          <p:nvPr/>
        </p:nvPicPr>
        <p:blipFill>
          <a:blip r:embed="rId4"/>
          <a:stretch>
            <a:fillRect/>
          </a:stretch>
        </p:blipFill>
        <p:spPr>
          <a:xfrm>
            <a:off x="7918704" y="4187952"/>
            <a:ext cx="182880" cy="182880"/>
          </a:xfrm>
          <a:prstGeom prst="rect">
            <a:avLst/>
          </a:prstGeom>
        </p:spPr>
      </p:pic>
      <p:sp>
        <p:nvSpPr>
          <p:cNvPr id="66" name="text-62"/>
          <p:cNvSpPr txBox="1"/>
          <p:nvPr/>
        </p:nvSpPr>
        <p:spPr>
          <a:xfrm>
            <a:off x="8193024" y="4114800"/>
            <a:ext cx="3291840" cy="347472"/>
          </a:xfrm>
          <a:prstGeom prst="rect">
            <a:avLst/>
          </a:prstGeom>
          <a:noFill/>
          <a:ln/>
        </p:spPr>
        <p:txBody>
          <a:bodyPr wrap="square" lIns="0" tIns="0" rIns="0" bIns="0" rtlCol="0" anchor="ctr"/>
          <a:lstStyle/>
          <a:p>
            <a:pPr algn="l" indent="0" marL="0">
              <a:lnSpc>
                <a:spcPct val="100000"/>
              </a:lnSpc>
              <a:buNone/>
            </a:pPr>
            <a:r>
              <a:rPr lang="en-US" sz="1100" b="1" dirty="0">
                <a:solidFill>
                  <a:srgbClr val="1C2B33"/>
                </a:solidFill>
                <a:latin typeface="Calibri" pitchFamily="34" charset="0"/>
                <a:ea typeface="Calibri" pitchFamily="34" charset="-122"/>
                <a:cs typeface="Calibri" pitchFamily="34" charset="-120"/>
              </a:rPr>
              <a:t>QA in-house, or evidence from partners</a:t>
            </a:r>
            <a:endParaRPr lang="en-US" sz="1100" dirty="0"/>
          </a:p>
        </p:txBody>
      </p:sp>
      <p:sp>
        <p:nvSpPr>
          <p:cNvPr id="67" name="text-63"/>
          <p:cNvSpPr txBox="1"/>
          <p:nvPr/>
        </p:nvSpPr>
        <p:spPr>
          <a:xfrm>
            <a:off x="7918704" y="4480560"/>
            <a:ext cx="3547872" cy="219456"/>
          </a:xfrm>
          <a:prstGeom prst="rect">
            <a:avLst/>
          </a:prstGeom>
          <a:noFill/>
          <a:ln/>
        </p:spPr>
        <p:txBody>
          <a:bodyPr wrap="square" lIns="0" tIns="0" rIns="0" bIns="0" rtlCol="0" anchor="ctr"/>
          <a:lstStyle/>
          <a:p>
            <a:pPr algn="l" indent="0" marL="0">
              <a:lnSpc>
                <a:spcPct val="100000"/>
              </a:lnSpc>
              <a:buNone/>
            </a:pPr>
            <a:r>
              <a:rPr lang="en-US" sz="950" dirty="0">
                <a:solidFill>
                  <a:srgbClr val="5A6B75"/>
                </a:solidFill>
                <a:latin typeface="Calibri" pitchFamily="34" charset="0"/>
                <a:ea typeface="Calibri" pitchFamily="34" charset="-122"/>
                <a:cs typeface="Calibri" pitchFamily="34" charset="-120"/>
              </a:rPr>
              <a:t>the gates need evidence</a:t>
            </a:r>
            <a:endParaRPr lang="en-US" sz="950" dirty="0"/>
          </a:p>
        </p:txBody>
      </p:sp>
      <p:sp>
        <p:nvSpPr>
          <p:cNvPr id="68" name="shape-64"/>
          <p:cNvSpPr/>
          <p:nvPr/>
        </p:nvSpPr>
        <p:spPr>
          <a:xfrm>
            <a:off x="7772400" y="4828032"/>
            <a:ext cx="3840480" cy="1024128"/>
          </a:xfrm>
          <a:prstGeom prst="roundRect">
            <a:avLst>
              <a:gd name="adj" fmla="val 7143"/>
            </a:avLst>
          </a:prstGeom>
          <a:solidFill>
            <a:srgbClr val="FDF1E3"/>
          </a:solidFill>
          <a:ln w="12700">
            <a:solidFill>
              <a:srgbClr val="FDF1E3"/>
            </a:solidFill>
            <a:prstDash val="solid"/>
          </a:ln>
        </p:spPr>
      </p:sp>
      <p:sp>
        <p:nvSpPr>
          <p:cNvPr id="69" name="text-65"/>
          <p:cNvSpPr txBox="1"/>
          <p:nvPr/>
        </p:nvSpPr>
        <p:spPr>
          <a:xfrm>
            <a:off x="7918704" y="4937760"/>
            <a:ext cx="3547872" cy="182880"/>
          </a:xfrm>
          <a:prstGeom prst="rect">
            <a:avLst/>
          </a:prstGeom>
          <a:noFill/>
          <a:ln/>
        </p:spPr>
        <p:txBody>
          <a:bodyPr wrap="square" lIns="0" tIns="0" rIns="0" bIns="0" rtlCol="0" anchor="ctr"/>
          <a:lstStyle/>
          <a:p>
            <a:pPr algn="l" indent="0" marL="0">
              <a:lnSpc>
                <a:spcPct val="100000"/>
              </a:lnSpc>
              <a:buNone/>
            </a:pPr>
            <a:r>
              <a:rPr lang="en-US" sz="850" b="1" spc="200" kern="0" dirty="0">
                <a:solidFill>
                  <a:srgbClr val="B45309"/>
                </a:solidFill>
                <a:latin typeface="Calibri" pitchFamily="34" charset="0"/>
                <a:ea typeface="Calibri" pitchFamily="34" charset="-122"/>
                <a:cs typeface="Calibri" pitchFamily="34" charset="-120"/>
              </a:rPr>
              <a:t>NOT IN THE TEAM — PARTNER OR MSP</a:t>
            </a:r>
            <a:endParaRPr lang="en-US" sz="850" dirty="0"/>
          </a:p>
        </p:txBody>
      </p:sp>
      <p:sp>
        <p:nvSpPr>
          <p:cNvPr id="70" name="oval-66"/>
          <p:cNvSpPr/>
          <p:nvPr/>
        </p:nvSpPr>
        <p:spPr>
          <a:xfrm>
            <a:off x="7946136" y="5221224"/>
            <a:ext cx="54864" cy="54864"/>
          </a:xfrm>
          <a:prstGeom prst="ellipse">
            <a:avLst/>
          </a:prstGeom>
          <a:solidFill>
            <a:srgbClr val="B45309"/>
          </a:solidFill>
          <a:ln w="12700">
            <a:solidFill>
              <a:srgbClr val="B45309"/>
            </a:solidFill>
            <a:prstDash val="solid"/>
          </a:ln>
        </p:spPr>
      </p:sp>
      <p:sp>
        <p:nvSpPr>
          <p:cNvPr id="71" name="text-67"/>
          <p:cNvSpPr txBox="1"/>
          <p:nvPr/>
        </p:nvSpPr>
        <p:spPr>
          <a:xfrm>
            <a:off x="8083296" y="5157216"/>
            <a:ext cx="3383280" cy="182880"/>
          </a:xfrm>
          <a:prstGeom prst="rect">
            <a:avLst/>
          </a:prstGeom>
          <a:noFill/>
          <a:ln/>
        </p:spPr>
        <p:txBody>
          <a:bodyPr wrap="square" lIns="0" tIns="0" rIns="0" bIns="0" rtlCol="0" anchor="ctr"/>
          <a:lstStyle/>
          <a:p>
            <a:pPr algn="l" indent="0" marL="0">
              <a:lnSpc>
                <a:spcPct val="100000"/>
              </a:lnSpc>
              <a:buNone/>
            </a:pPr>
            <a:r>
              <a:rPr lang="en-US" sz="1000" dirty="0">
                <a:solidFill>
                  <a:srgbClr val="1C2B33"/>
                </a:solidFill>
                <a:latin typeface="Calibri" pitchFamily="34" charset="0"/>
                <a:ea typeface="Calibri" pitchFamily="34" charset="-122"/>
                <a:cs typeface="Calibri" pitchFamily="34" charset="-120"/>
              </a:rPr>
              <a:t>24×7 operations and on-call</a:t>
            </a:r>
            <a:endParaRPr lang="en-US" sz="1000" dirty="0"/>
          </a:p>
        </p:txBody>
      </p:sp>
      <p:sp>
        <p:nvSpPr>
          <p:cNvPr id="72" name="oval-68"/>
          <p:cNvSpPr/>
          <p:nvPr/>
        </p:nvSpPr>
        <p:spPr>
          <a:xfrm>
            <a:off x="7946136" y="5385816"/>
            <a:ext cx="54864" cy="54864"/>
          </a:xfrm>
          <a:prstGeom prst="ellipse">
            <a:avLst/>
          </a:prstGeom>
          <a:solidFill>
            <a:srgbClr val="B45309"/>
          </a:solidFill>
          <a:ln w="12700">
            <a:solidFill>
              <a:srgbClr val="B45309"/>
            </a:solidFill>
            <a:prstDash val="solid"/>
          </a:ln>
        </p:spPr>
      </p:sp>
      <p:sp>
        <p:nvSpPr>
          <p:cNvPr id="73" name="text-69"/>
          <p:cNvSpPr txBox="1"/>
          <p:nvPr/>
        </p:nvSpPr>
        <p:spPr>
          <a:xfrm>
            <a:off x="8083296" y="5321808"/>
            <a:ext cx="3383280" cy="182880"/>
          </a:xfrm>
          <a:prstGeom prst="rect">
            <a:avLst/>
          </a:prstGeom>
          <a:noFill/>
          <a:ln/>
        </p:spPr>
        <p:txBody>
          <a:bodyPr wrap="square" lIns="0" tIns="0" rIns="0" bIns="0" rtlCol="0" anchor="ctr"/>
          <a:lstStyle/>
          <a:p>
            <a:pPr algn="l" indent="0" marL="0">
              <a:lnSpc>
                <a:spcPct val="100000"/>
              </a:lnSpc>
              <a:buNone/>
            </a:pPr>
            <a:r>
              <a:rPr lang="en-US" sz="1000" dirty="0">
                <a:solidFill>
                  <a:srgbClr val="1C2B33"/>
                </a:solidFill>
                <a:latin typeface="Calibri" pitchFamily="34" charset="0"/>
                <a:ea typeface="Calibri" pitchFamily="34" charset="-122"/>
                <a:cs typeface="Calibri" pitchFamily="34" charset="-120"/>
              </a:rPr>
              <a:t>Security operations</a:t>
            </a:r>
            <a:endParaRPr lang="en-US" sz="1000" dirty="0"/>
          </a:p>
        </p:txBody>
      </p:sp>
      <p:sp>
        <p:nvSpPr>
          <p:cNvPr id="74" name="oval-70"/>
          <p:cNvSpPr/>
          <p:nvPr/>
        </p:nvSpPr>
        <p:spPr>
          <a:xfrm>
            <a:off x="7946136" y="5550408"/>
            <a:ext cx="54864" cy="54864"/>
          </a:xfrm>
          <a:prstGeom prst="ellipse">
            <a:avLst/>
          </a:prstGeom>
          <a:solidFill>
            <a:srgbClr val="B45309"/>
          </a:solidFill>
          <a:ln w="12700">
            <a:solidFill>
              <a:srgbClr val="B45309"/>
            </a:solidFill>
            <a:prstDash val="solid"/>
          </a:ln>
        </p:spPr>
      </p:sp>
      <p:sp>
        <p:nvSpPr>
          <p:cNvPr id="75" name="text-71"/>
          <p:cNvSpPr txBox="1"/>
          <p:nvPr/>
        </p:nvSpPr>
        <p:spPr>
          <a:xfrm>
            <a:off x="8083296" y="5486400"/>
            <a:ext cx="3383280" cy="182880"/>
          </a:xfrm>
          <a:prstGeom prst="rect">
            <a:avLst/>
          </a:prstGeom>
          <a:noFill/>
          <a:ln/>
        </p:spPr>
        <p:txBody>
          <a:bodyPr wrap="square" lIns="0" tIns="0" rIns="0" bIns="0" rtlCol="0" anchor="ctr"/>
          <a:lstStyle/>
          <a:p>
            <a:pPr algn="l" indent="0" marL="0">
              <a:lnSpc>
                <a:spcPct val="100000"/>
              </a:lnSpc>
              <a:buNone/>
            </a:pPr>
            <a:r>
              <a:rPr lang="en-US" sz="1000" dirty="0">
                <a:solidFill>
                  <a:srgbClr val="1C2B33"/>
                </a:solidFill>
                <a:latin typeface="Calibri" pitchFamily="34" charset="0"/>
                <a:ea typeface="Calibri" pitchFamily="34" charset="-122"/>
                <a:cs typeface="Calibri" pitchFamily="34" charset="-120"/>
              </a:rPr>
              <a:t>Commodity configuration</a:t>
            </a:r>
            <a:endParaRPr lang="en-US" sz="1000" dirty="0"/>
          </a:p>
        </p:txBody>
      </p:sp>
      <p:sp>
        <p:nvSpPr>
          <p:cNvPr id="76" name="oval-72"/>
          <p:cNvSpPr/>
          <p:nvPr/>
        </p:nvSpPr>
        <p:spPr>
          <a:xfrm>
            <a:off x="7946136" y="5715000"/>
            <a:ext cx="54864" cy="54864"/>
          </a:xfrm>
          <a:prstGeom prst="ellipse">
            <a:avLst/>
          </a:prstGeom>
          <a:solidFill>
            <a:srgbClr val="B45309"/>
          </a:solidFill>
          <a:ln w="12700">
            <a:solidFill>
              <a:srgbClr val="B45309"/>
            </a:solidFill>
            <a:prstDash val="solid"/>
          </a:ln>
        </p:spPr>
      </p:sp>
      <p:sp>
        <p:nvSpPr>
          <p:cNvPr id="77" name="text-73"/>
          <p:cNvSpPr txBox="1"/>
          <p:nvPr/>
        </p:nvSpPr>
        <p:spPr>
          <a:xfrm>
            <a:off x="8083296" y="5650992"/>
            <a:ext cx="3383280" cy="182880"/>
          </a:xfrm>
          <a:prstGeom prst="rect">
            <a:avLst/>
          </a:prstGeom>
          <a:noFill/>
          <a:ln/>
        </p:spPr>
        <p:txBody>
          <a:bodyPr wrap="square" lIns="0" tIns="0" rIns="0" bIns="0" rtlCol="0" anchor="ctr"/>
          <a:lstStyle/>
          <a:p>
            <a:pPr algn="l" indent="0" marL="0">
              <a:lnSpc>
                <a:spcPct val="100000"/>
              </a:lnSpc>
              <a:buNone/>
            </a:pPr>
            <a:r>
              <a:rPr lang="en-US" sz="1000" dirty="0">
                <a:solidFill>
                  <a:srgbClr val="1C2B33"/>
                </a:solidFill>
                <a:latin typeface="Calibri" pitchFamily="34" charset="0"/>
                <a:ea typeface="Calibri" pitchFamily="34" charset="-122"/>
                <a:cs typeface="Calibri" pitchFamily="34" charset="-120"/>
              </a:rPr>
              <a:t>Content operations (outside remit)</a:t>
            </a:r>
            <a:endParaRPr lang="en-US" sz="1000" dirty="0"/>
          </a:p>
        </p:txBody>
      </p:sp>
      <p:sp>
        <p:nvSpPr>
          <p:cNvPr id="78" name="text-74"/>
          <p:cNvSpPr txBox="1"/>
          <p:nvPr/>
        </p:nvSpPr>
        <p:spPr>
          <a:xfrm>
            <a:off x="548640" y="6126480"/>
            <a:ext cx="11064240" cy="164592"/>
          </a:xfrm>
          <a:prstGeom prst="rect">
            <a:avLst/>
          </a:prstGeom>
          <a:noFill/>
          <a:ln/>
        </p:spPr>
        <p:txBody>
          <a:bodyPr wrap="square" lIns="0" tIns="0" rIns="0" bIns="0" rtlCol="0" anchor="ctr"/>
          <a:lstStyle/>
          <a:p>
            <a:pPr algn="l" indent="0" marL="0">
              <a:lnSpc>
                <a:spcPct val="100000"/>
              </a:lnSpc>
              <a:buNone/>
            </a:pPr>
            <a:r>
              <a:rPr lang="en-US" sz="950" i="1" dirty="0">
                <a:solidFill>
                  <a:srgbClr val="5A6B75"/>
                </a:solidFill>
                <a:latin typeface="Calibri" pitchFamily="34" charset="0"/>
                <a:ea typeface="Calibri" pitchFamily="34" charset="-122"/>
                <a:cs typeface="Calibri" pitchFamily="34" charset="-120"/>
              </a:rPr>
              <a:t>Responsibilities, not an approved hiring plan. The vendor’s structure is the starting point.</a:t>
            </a:r>
            <a:endParaRPr lang="en-US" sz="950" dirty="0"/>
          </a:p>
        </p:txBody>
      </p:sp>
      <p:sp>
        <p:nvSpPr>
          <p:cNvPr id="79" name="version-stamp"/>
          <p:cNvSpPr txBox="1"/>
          <p:nvPr/>
        </p:nvSpPr>
        <p:spPr>
          <a:xfrm>
            <a:off x="548640" y="6656832"/>
            <a:ext cx="6400800" cy="146304"/>
          </a:xfrm>
          <a:prstGeom prst="rect">
            <a:avLst/>
          </a:prstGeom>
          <a:noFill/>
          <a:ln/>
        </p:spPr>
        <p:txBody>
          <a:bodyPr wrap="square" lIns="0" tIns="0" rIns="0" bIns="0" rtlCol="0" anchor="ctr"/>
          <a:lstStyle/>
          <a:p>
            <a:pPr algn="l" indent="0" marL="0">
              <a:lnSpc>
                <a:spcPct val="100000"/>
              </a:lnSpc>
              <a:buNone/>
            </a:pPr>
            <a:r>
              <a:rPr lang="en-US" sz="700" dirty="0">
                <a:solidFill>
                  <a:srgbClr val="5A6B75"/>
                </a:solidFill>
                <a:latin typeface="Calibri" pitchFamily="34" charset="0"/>
                <a:ea typeface="Calibri" pitchFamily="34" charset="-122"/>
                <a:cs typeface="Calibri" pitchFamily="34" charset="-120"/>
              </a:rPr>
              <a:t>Modernisation deck · Slide 6 · native · 2026-10-15</a:t>
            </a:r>
            <a:endParaRPr lang="en-US" sz="700" dirty="0"/>
          </a:p>
        </p:txBody>
      </p:sp>
      <p:sp>
        <p:nvSpPr>
          <p:cNvPr id="25" name="Slide Number Placeholder 0"/>
          <p:cNvSpPr>
            <a:spLocks noGrp="1"/>
          </p:cNvSpPr>
          <p:nvPr>
            <p:ph type="sldNum" sz="quarter" idx="4294967295"/>
          </p:nvPr>
        </p:nvSpPr>
        <p:spPr>
          <a:xfrm>
            <a:off x="11247120" y="6601968"/>
            <a:ext cx="41148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B7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kicker"/>
          <p:cNvSpPr txBox="1"/>
          <p:nvPr/>
        </p:nvSpPr>
        <p:spPr>
          <a:xfrm>
            <a:off x="548640" y="402336"/>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7  ·  GOVERNANCE, MEASURES AND THE NEXT SIX MONTHS</a:t>
            </a:r>
            <a:endParaRPr lang="en-US" sz="800" dirty="0"/>
          </a:p>
        </p:txBody>
      </p:sp>
      <p:sp>
        <p:nvSpPr>
          <p:cNvPr id="3" name="title"/>
          <p:cNvSpPr txBox="1"/>
          <p:nvPr/>
        </p:nvSpPr>
        <p:spPr>
          <a:xfrm>
            <a:off x="548640" y="713232"/>
            <a:ext cx="11155680" cy="384048"/>
          </a:xfrm>
          <a:prstGeom prst="rect">
            <a:avLst/>
          </a:prstGeom>
          <a:noFill/>
          <a:ln/>
        </p:spPr>
        <p:txBody>
          <a:bodyPr wrap="none" lIns="0" tIns="0" rIns="0" bIns="0" rtlCol="0" anchor="ctr"/>
          <a:lstStyle/>
          <a:p>
            <a:pPr algn="l" indent="0" marL="0">
              <a:lnSpc>
                <a:spcPct val="100000"/>
              </a:lnSpc>
              <a:buNone/>
            </a:pPr>
            <a:r>
              <a:rPr lang="en-US" sz="2000" b="1" dirty="0">
                <a:solidFill>
                  <a:srgbClr val="1C2B33"/>
                </a:solidFill>
                <a:latin typeface="Calibri" pitchFamily="34" charset="0"/>
                <a:ea typeface="Calibri" pitchFamily="34" charset="-122"/>
                <a:cs typeface="Calibri" pitchFamily="34" charset="-120"/>
              </a:rPr>
              <a:t>One rhythm, gates sized to the tier, measures that reward outcomes</a:t>
            </a:r>
            <a:endParaRPr lang="en-US" sz="2000" dirty="0"/>
          </a:p>
        </p:txBody>
      </p:sp>
      <p:sp>
        <p:nvSpPr>
          <p:cNvPr id="4" name="text-0"/>
          <p:cNvSpPr txBox="1"/>
          <p:nvPr/>
        </p:nvSpPr>
        <p:spPr>
          <a:xfrm>
            <a:off x="548640" y="1335024"/>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OPERATING RHYTHM</a:t>
            </a:r>
            <a:endParaRPr lang="en-US" sz="800" dirty="0"/>
          </a:p>
        </p:txBody>
      </p:sp>
      <p:sp>
        <p:nvSpPr>
          <p:cNvPr id="5" name="shape-1"/>
          <p:cNvSpPr/>
          <p:nvPr/>
        </p:nvSpPr>
        <p:spPr>
          <a:xfrm>
            <a:off x="548640" y="1664208"/>
            <a:ext cx="3657600" cy="457200"/>
          </a:xfrm>
          <a:prstGeom prst="roundRect">
            <a:avLst>
              <a:gd name="adj" fmla="val 16000"/>
            </a:avLst>
          </a:prstGeom>
          <a:solidFill>
            <a:srgbClr val="134E4A"/>
          </a:solidFill>
          <a:ln w="12700">
            <a:solidFill>
              <a:srgbClr val="134E4A"/>
            </a:solidFill>
            <a:prstDash val="solid"/>
          </a:ln>
        </p:spPr>
      </p:sp>
      <p:sp>
        <p:nvSpPr>
          <p:cNvPr id="6" name="text-2"/>
          <p:cNvSpPr txBox="1"/>
          <p:nvPr/>
        </p:nvSpPr>
        <p:spPr>
          <a:xfrm>
            <a:off x="694944" y="1700784"/>
            <a:ext cx="3383280" cy="219456"/>
          </a:xfrm>
          <a:prstGeom prst="rect">
            <a:avLst/>
          </a:prstGeom>
          <a:noFill/>
          <a:ln/>
        </p:spPr>
        <p:txBody>
          <a:bodyPr wrap="square" lIns="0" tIns="0" rIns="0" bIns="0" rtlCol="0" anchor="ctr"/>
          <a:lstStyle/>
          <a:p>
            <a:pPr algn="l" indent="0" marL="0">
              <a:lnSpc>
                <a:spcPct val="100000"/>
              </a:lnSpc>
              <a:buNone/>
            </a:pPr>
            <a:r>
              <a:rPr lang="en-US" sz="1200" b="1" dirty="0">
                <a:solidFill>
                  <a:srgbClr val="FFFFFF"/>
                </a:solidFill>
                <a:latin typeface="Calibri" pitchFamily="34" charset="0"/>
                <a:ea typeface="Calibri" pitchFamily="34" charset="-122"/>
                <a:cs typeface="Calibri" pitchFamily="34" charset="-120"/>
              </a:rPr>
              <a:t>Board / Risk Committee</a:t>
            </a:r>
            <a:endParaRPr lang="en-US" sz="1200" dirty="0"/>
          </a:p>
        </p:txBody>
      </p:sp>
      <p:sp>
        <p:nvSpPr>
          <p:cNvPr id="7" name="text-3"/>
          <p:cNvSpPr txBox="1"/>
          <p:nvPr/>
        </p:nvSpPr>
        <p:spPr>
          <a:xfrm>
            <a:off x="694944" y="1920240"/>
            <a:ext cx="3383280" cy="164592"/>
          </a:xfrm>
          <a:prstGeom prst="rect">
            <a:avLst/>
          </a:prstGeom>
          <a:noFill/>
          <a:ln/>
        </p:spPr>
        <p:txBody>
          <a:bodyPr wrap="square" lIns="0" tIns="0" rIns="0" bIns="0" rtlCol="0" anchor="ctr"/>
          <a:lstStyle/>
          <a:p>
            <a:pPr algn="l" indent="0" marL="0">
              <a:lnSpc>
                <a:spcPct val="100000"/>
              </a:lnSpc>
              <a:buNone/>
            </a:pPr>
            <a:r>
              <a:rPr lang="en-US" sz="950" dirty="0">
                <a:solidFill>
                  <a:srgbClr val="CFE8E5"/>
                </a:solidFill>
                <a:latin typeface="Calibri" pitchFamily="34" charset="0"/>
                <a:ea typeface="Calibri" pitchFamily="34" charset="-122"/>
                <a:cs typeface="Calibri" pitchFamily="34" charset="-120"/>
              </a:rPr>
              <a:t>monthly · date, funding, risk appetite</a:t>
            </a:r>
            <a:endParaRPr lang="en-US" sz="950" dirty="0"/>
          </a:p>
        </p:txBody>
      </p:sp>
      <p:sp>
        <p:nvSpPr>
          <p:cNvPr id="8" name="shape-4"/>
          <p:cNvSpPr/>
          <p:nvPr/>
        </p:nvSpPr>
        <p:spPr>
          <a:xfrm>
            <a:off x="548640" y="2194560"/>
            <a:ext cx="3328416" cy="457200"/>
          </a:xfrm>
          <a:prstGeom prst="roundRect">
            <a:avLst>
              <a:gd name="adj" fmla="val 16000"/>
            </a:avLst>
          </a:prstGeom>
          <a:solidFill>
            <a:srgbClr val="0F766E"/>
          </a:solidFill>
          <a:ln w="12700">
            <a:solidFill>
              <a:srgbClr val="0F766E"/>
            </a:solidFill>
            <a:prstDash val="solid"/>
          </a:ln>
        </p:spPr>
      </p:sp>
      <p:sp>
        <p:nvSpPr>
          <p:cNvPr id="9" name="text-5"/>
          <p:cNvSpPr txBox="1"/>
          <p:nvPr/>
        </p:nvSpPr>
        <p:spPr>
          <a:xfrm>
            <a:off x="694944" y="2231136"/>
            <a:ext cx="3054096" cy="219456"/>
          </a:xfrm>
          <a:prstGeom prst="rect">
            <a:avLst/>
          </a:prstGeom>
          <a:noFill/>
          <a:ln/>
        </p:spPr>
        <p:txBody>
          <a:bodyPr wrap="square" lIns="0" tIns="0" rIns="0" bIns="0" rtlCol="0" anchor="ctr"/>
          <a:lstStyle/>
          <a:p>
            <a:pPr algn="l" indent="0" marL="0">
              <a:lnSpc>
                <a:spcPct val="100000"/>
              </a:lnSpc>
              <a:buNone/>
            </a:pPr>
            <a:r>
              <a:rPr lang="en-US" sz="1200" b="1" dirty="0">
                <a:solidFill>
                  <a:srgbClr val="FFFFFF"/>
                </a:solidFill>
                <a:latin typeface="Calibri" pitchFamily="34" charset="0"/>
                <a:ea typeface="Calibri" pitchFamily="34" charset="-122"/>
                <a:cs typeface="Calibri" pitchFamily="34" charset="-120"/>
              </a:rPr>
              <a:t>Programme Steering</a:t>
            </a:r>
            <a:endParaRPr lang="en-US" sz="1200" dirty="0"/>
          </a:p>
        </p:txBody>
      </p:sp>
      <p:sp>
        <p:nvSpPr>
          <p:cNvPr id="10" name="text-6"/>
          <p:cNvSpPr txBox="1"/>
          <p:nvPr/>
        </p:nvSpPr>
        <p:spPr>
          <a:xfrm>
            <a:off x="694944" y="2450592"/>
            <a:ext cx="3054096" cy="164592"/>
          </a:xfrm>
          <a:prstGeom prst="rect">
            <a:avLst/>
          </a:prstGeom>
          <a:noFill/>
          <a:ln/>
        </p:spPr>
        <p:txBody>
          <a:bodyPr wrap="square" lIns="0" tIns="0" rIns="0" bIns="0" rtlCol="0" anchor="ctr"/>
          <a:lstStyle/>
          <a:p>
            <a:pPr algn="l" indent="0" marL="0">
              <a:lnSpc>
                <a:spcPct val="100000"/>
              </a:lnSpc>
              <a:buNone/>
            </a:pPr>
            <a:r>
              <a:rPr lang="en-US" sz="950" dirty="0">
                <a:solidFill>
                  <a:srgbClr val="CFE8E5"/>
                </a:solidFill>
                <a:latin typeface="Calibri" pitchFamily="34" charset="0"/>
                <a:ea typeface="Calibri" pitchFamily="34" charset="-122"/>
                <a:cs typeface="Calibri" pitchFamily="34" charset="-120"/>
              </a:rPr>
              <a:t>fortnightly · priorities, gate sign-off</a:t>
            </a:r>
            <a:endParaRPr lang="en-US" sz="950" dirty="0"/>
          </a:p>
        </p:txBody>
      </p:sp>
      <p:sp>
        <p:nvSpPr>
          <p:cNvPr id="11" name="shape-7"/>
          <p:cNvSpPr/>
          <p:nvPr/>
        </p:nvSpPr>
        <p:spPr>
          <a:xfrm>
            <a:off x="548640" y="2724912"/>
            <a:ext cx="2999232" cy="457200"/>
          </a:xfrm>
          <a:prstGeom prst="roundRect">
            <a:avLst>
              <a:gd name="adj" fmla="val 16000"/>
            </a:avLst>
          </a:prstGeom>
          <a:solidFill>
            <a:srgbClr val="1F8F86"/>
          </a:solidFill>
          <a:ln w="12700">
            <a:solidFill>
              <a:srgbClr val="1F8F86"/>
            </a:solidFill>
            <a:prstDash val="solid"/>
          </a:ln>
        </p:spPr>
      </p:sp>
      <p:sp>
        <p:nvSpPr>
          <p:cNvPr id="12" name="text-8"/>
          <p:cNvSpPr txBox="1"/>
          <p:nvPr/>
        </p:nvSpPr>
        <p:spPr>
          <a:xfrm>
            <a:off x="694944" y="2761488"/>
            <a:ext cx="2724912" cy="219456"/>
          </a:xfrm>
          <a:prstGeom prst="rect">
            <a:avLst/>
          </a:prstGeom>
          <a:noFill/>
          <a:ln/>
        </p:spPr>
        <p:txBody>
          <a:bodyPr wrap="square" lIns="0" tIns="0" rIns="0" bIns="0" rtlCol="0" anchor="ctr"/>
          <a:lstStyle/>
          <a:p>
            <a:pPr algn="l" indent="0" marL="0">
              <a:lnSpc>
                <a:spcPct val="100000"/>
              </a:lnSpc>
              <a:buNone/>
            </a:pPr>
            <a:r>
              <a:rPr lang="en-US" sz="1200" b="1" dirty="0">
                <a:solidFill>
                  <a:srgbClr val="FFFFFF"/>
                </a:solidFill>
                <a:latin typeface="Calibri" pitchFamily="34" charset="0"/>
                <a:ea typeface="Calibri" pitchFamily="34" charset="-122"/>
                <a:cs typeface="Calibri" pitchFamily="34" charset="-120"/>
              </a:rPr>
              <a:t>Delivery and Partner Review</a:t>
            </a:r>
            <a:endParaRPr lang="en-US" sz="1200" dirty="0"/>
          </a:p>
        </p:txBody>
      </p:sp>
      <p:sp>
        <p:nvSpPr>
          <p:cNvPr id="13" name="text-9"/>
          <p:cNvSpPr txBox="1"/>
          <p:nvPr/>
        </p:nvSpPr>
        <p:spPr>
          <a:xfrm>
            <a:off x="694944" y="2980944"/>
            <a:ext cx="2724912" cy="164592"/>
          </a:xfrm>
          <a:prstGeom prst="rect">
            <a:avLst/>
          </a:prstGeom>
          <a:noFill/>
          <a:ln/>
        </p:spPr>
        <p:txBody>
          <a:bodyPr wrap="square" lIns="0" tIns="0" rIns="0" bIns="0" rtlCol="0" anchor="ctr"/>
          <a:lstStyle/>
          <a:p>
            <a:pPr algn="l" indent="0" marL="0">
              <a:lnSpc>
                <a:spcPct val="100000"/>
              </a:lnSpc>
              <a:buNone/>
            </a:pPr>
            <a:r>
              <a:rPr lang="en-US" sz="950" dirty="0">
                <a:solidFill>
                  <a:srgbClr val="CFE8E5"/>
                </a:solidFill>
                <a:latin typeface="Calibri" pitchFamily="34" charset="0"/>
                <a:ea typeface="Calibri" pitchFamily="34" charset="-122"/>
                <a:cs typeface="Calibri" pitchFamily="34" charset="-120"/>
              </a:rPr>
              <a:t>weekly · evidence, blockers</a:t>
            </a:r>
            <a:endParaRPr lang="en-US" sz="950" dirty="0"/>
          </a:p>
        </p:txBody>
      </p:sp>
      <p:sp>
        <p:nvSpPr>
          <p:cNvPr id="14" name="shape-10"/>
          <p:cNvSpPr/>
          <p:nvPr/>
        </p:nvSpPr>
        <p:spPr>
          <a:xfrm>
            <a:off x="548640" y="3255264"/>
            <a:ext cx="2670048" cy="457200"/>
          </a:xfrm>
          <a:prstGeom prst="roundRect">
            <a:avLst>
              <a:gd name="adj" fmla="val 16000"/>
            </a:avLst>
          </a:prstGeom>
          <a:solidFill>
            <a:srgbClr val="D6ECE9"/>
          </a:solidFill>
          <a:ln w="12700">
            <a:solidFill>
              <a:srgbClr val="D6ECE9"/>
            </a:solidFill>
            <a:prstDash val="solid"/>
          </a:ln>
        </p:spPr>
      </p:sp>
      <p:sp>
        <p:nvSpPr>
          <p:cNvPr id="15" name="text-11"/>
          <p:cNvSpPr txBox="1"/>
          <p:nvPr/>
        </p:nvSpPr>
        <p:spPr>
          <a:xfrm>
            <a:off x="694944" y="3291840"/>
            <a:ext cx="2395728" cy="219456"/>
          </a:xfrm>
          <a:prstGeom prst="rect">
            <a:avLst/>
          </a:prstGeom>
          <a:noFill/>
          <a:ln/>
        </p:spPr>
        <p:txBody>
          <a:bodyPr wrap="square" lIns="0" tIns="0" rIns="0" bIns="0" rtlCol="0" anchor="ctr"/>
          <a:lstStyle/>
          <a:p>
            <a:pPr algn="l" indent="0" marL="0">
              <a:lnSpc>
                <a:spcPct val="100000"/>
              </a:lnSpc>
              <a:buNone/>
            </a:pPr>
            <a:r>
              <a:rPr lang="en-US" sz="1200" b="1" dirty="0">
                <a:solidFill>
                  <a:srgbClr val="1C2B33"/>
                </a:solidFill>
                <a:latin typeface="Calibri" pitchFamily="34" charset="0"/>
                <a:ea typeface="Calibri" pitchFamily="34" charset="-122"/>
                <a:cs typeface="Calibri" pitchFamily="34" charset="-120"/>
              </a:rPr>
              <a:t>Architecture decisions</a:t>
            </a:r>
            <a:endParaRPr lang="en-US" sz="1200" dirty="0"/>
          </a:p>
        </p:txBody>
      </p:sp>
      <p:sp>
        <p:nvSpPr>
          <p:cNvPr id="16" name="text-12"/>
          <p:cNvSpPr txBox="1"/>
          <p:nvPr/>
        </p:nvSpPr>
        <p:spPr>
          <a:xfrm>
            <a:off x="694944" y="3511296"/>
            <a:ext cx="2395728" cy="164592"/>
          </a:xfrm>
          <a:prstGeom prst="rect">
            <a:avLst/>
          </a:prstGeom>
          <a:noFill/>
          <a:ln/>
        </p:spPr>
        <p:txBody>
          <a:bodyPr wrap="square" lIns="0" tIns="0" rIns="0" bIns="0" rtlCol="0" anchor="ctr"/>
          <a:lstStyle/>
          <a:p>
            <a:pPr algn="l" indent="0" marL="0">
              <a:lnSpc>
                <a:spcPct val="100000"/>
              </a:lnSpc>
              <a:buNone/>
            </a:pPr>
            <a:r>
              <a:rPr lang="en-US" sz="950" dirty="0">
                <a:solidFill>
                  <a:srgbClr val="5A6B75"/>
                </a:solidFill>
                <a:latin typeface="Calibri" pitchFamily="34" charset="0"/>
                <a:ea typeface="Calibri" pitchFamily="34" charset="-122"/>
                <a:cs typeface="Calibri" pitchFamily="34" charset="-120"/>
              </a:rPr>
              <a:t>written down, visible to all</a:t>
            </a:r>
            <a:endParaRPr lang="en-US" sz="950" dirty="0"/>
          </a:p>
        </p:txBody>
      </p:sp>
      <p:sp>
        <p:nvSpPr>
          <p:cNvPr id="17" name="text-13"/>
          <p:cNvSpPr txBox="1"/>
          <p:nvPr/>
        </p:nvSpPr>
        <p:spPr>
          <a:xfrm>
            <a:off x="4754880" y="1335024"/>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ASSURANCE GATES BY TIER</a:t>
            </a:r>
            <a:endParaRPr lang="en-US" sz="800" dirty="0"/>
          </a:p>
        </p:txBody>
      </p:sp>
      <p:sp>
        <p:nvSpPr>
          <p:cNvPr id="18" name="shape-14"/>
          <p:cNvSpPr/>
          <p:nvPr/>
        </p:nvSpPr>
        <p:spPr>
          <a:xfrm>
            <a:off x="8412480" y="1581912"/>
            <a:ext cx="201168" cy="146304"/>
          </a:xfrm>
          <a:prstGeom prst="roundRect">
            <a:avLst>
              <a:gd name="adj" fmla="val 50000"/>
            </a:avLst>
          </a:prstGeom>
          <a:solidFill>
            <a:srgbClr val="134E4A"/>
          </a:solidFill>
          <a:ln w="12700">
            <a:solidFill>
              <a:srgbClr val="134E4A"/>
            </a:solidFill>
            <a:prstDash val="solid"/>
          </a:ln>
        </p:spPr>
      </p:sp>
      <p:sp>
        <p:nvSpPr>
          <p:cNvPr id="19" name="text-15"/>
          <p:cNvSpPr txBox="1"/>
          <p:nvPr/>
        </p:nvSpPr>
        <p:spPr>
          <a:xfrm>
            <a:off x="8412480" y="1581912"/>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A</a:t>
            </a:r>
            <a:endParaRPr lang="en-US" sz="750" dirty="0"/>
          </a:p>
        </p:txBody>
      </p:sp>
      <p:sp>
        <p:nvSpPr>
          <p:cNvPr id="20" name="shape-16"/>
          <p:cNvSpPr/>
          <p:nvPr/>
        </p:nvSpPr>
        <p:spPr>
          <a:xfrm>
            <a:off x="9144000" y="1581912"/>
            <a:ext cx="201168" cy="146304"/>
          </a:xfrm>
          <a:prstGeom prst="roundRect">
            <a:avLst>
              <a:gd name="adj" fmla="val 50000"/>
            </a:avLst>
          </a:prstGeom>
          <a:solidFill>
            <a:srgbClr val="0F766E"/>
          </a:solidFill>
          <a:ln w="12700">
            <a:solidFill>
              <a:srgbClr val="0F766E"/>
            </a:solidFill>
            <a:prstDash val="solid"/>
          </a:ln>
        </p:spPr>
      </p:sp>
      <p:sp>
        <p:nvSpPr>
          <p:cNvPr id="21" name="text-17"/>
          <p:cNvSpPr txBox="1"/>
          <p:nvPr/>
        </p:nvSpPr>
        <p:spPr>
          <a:xfrm>
            <a:off x="9144000" y="1581912"/>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B</a:t>
            </a:r>
            <a:endParaRPr lang="en-US" sz="750" dirty="0"/>
          </a:p>
        </p:txBody>
      </p:sp>
      <p:sp>
        <p:nvSpPr>
          <p:cNvPr id="22" name="shape-18"/>
          <p:cNvSpPr/>
          <p:nvPr/>
        </p:nvSpPr>
        <p:spPr>
          <a:xfrm>
            <a:off x="9875520" y="1581912"/>
            <a:ext cx="201168" cy="146304"/>
          </a:xfrm>
          <a:prstGeom prst="roundRect">
            <a:avLst>
              <a:gd name="adj" fmla="val 50000"/>
            </a:avLst>
          </a:prstGeom>
          <a:solidFill>
            <a:srgbClr val="8A99A3"/>
          </a:solidFill>
          <a:ln w="12700">
            <a:solidFill>
              <a:srgbClr val="8A99A3"/>
            </a:solidFill>
            <a:prstDash val="solid"/>
          </a:ln>
        </p:spPr>
      </p:sp>
      <p:sp>
        <p:nvSpPr>
          <p:cNvPr id="23" name="text-19"/>
          <p:cNvSpPr txBox="1"/>
          <p:nvPr/>
        </p:nvSpPr>
        <p:spPr>
          <a:xfrm>
            <a:off x="9875520" y="1581912"/>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C</a:t>
            </a:r>
            <a:endParaRPr lang="en-US" sz="750" dirty="0"/>
          </a:p>
        </p:txBody>
      </p:sp>
      <p:sp>
        <p:nvSpPr>
          <p:cNvPr id="24" name="shape-20"/>
          <p:cNvSpPr/>
          <p:nvPr/>
        </p:nvSpPr>
        <p:spPr>
          <a:xfrm>
            <a:off x="10607040" y="1581912"/>
            <a:ext cx="201168" cy="146304"/>
          </a:xfrm>
          <a:prstGeom prst="roundRect">
            <a:avLst>
              <a:gd name="adj" fmla="val 50000"/>
            </a:avLst>
          </a:prstGeom>
          <a:solidFill>
            <a:srgbClr val="B45309"/>
          </a:solidFill>
          <a:ln w="12700">
            <a:solidFill>
              <a:srgbClr val="B45309"/>
            </a:solidFill>
            <a:prstDash val="solid"/>
          </a:ln>
        </p:spPr>
      </p:sp>
      <p:sp>
        <p:nvSpPr>
          <p:cNvPr id="25" name="text-21"/>
          <p:cNvSpPr txBox="1"/>
          <p:nvPr/>
        </p:nvSpPr>
        <p:spPr>
          <a:xfrm>
            <a:off x="10607040" y="1581912"/>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X</a:t>
            </a:r>
            <a:endParaRPr lang="en-US" sz="750" dirty="0"/>
          </a:p>
        </p:txBody>
      </p:sp>
      <p:sp>
        <p:nvSpPr>
          <p:cNvPr id="26" name="shape-22"/>
          <p:cNvSpPr/>
          <p:nvPr/>
        </p:nvSpPr>
        <p:spPr>
          <a:xfrm>
            <a:off x="4754880" y="1755648"/>
            <a:ext cx="6858000" cy="310896"/>
          </a:xfrm>
          <a:prstGeom prst="roundRect">
            <a:avLst>
              <a:gd name="adj" fmla="val 11765"/>
            </a:avLst>
          </a:prstGeom>
          <a:solidFill>
            <a:srgbClr val="EEF2F4"/>
          </a:solidFill>
          <a:ln w="12700">
            <a:solidFill>
              <a:srgbClr val="EEF2F4"/>
            </a:solidFill>
            <a:prstDash val="solid"/>
          </a:ln>
        </p:spPr>
      </p:sp>
      <p:sp>
        <p:nvSpPr>
          <p:cNvPr id="27" name="text-23"/>
          <p:cNvSpPr txBox="1"/>
          <p:nvPr/>
        </p:nvSpPr>
        <p:spPr>
          <a:xfrm>
            <a:off x="4846320" y="1810512"/>
            <a:ext cx="2743200" cy="219456"/>
          </a:xfrm>
          <a:prstGeom prst="rect">
            <a:avLst/>
          </a:prstGeom>
          <a:noFill/>
          <a:ln/>
        </p:spPr>
        <p:txBody>
          <a:bodyPr wrap="square" lIns="0" tIns="0" rIns="0" bIns="0" rtlCol="0" anchor="ctr"/>
          <a:lstStyle/>
          <a:p>
            <a:pPr algn="l" indent="0" marL="0">
              <a:lnSpc>
                <a:spcPct val="100000"/>
              </a:lnSpc>
              <a:buNone/>
            </a:pPr>
            <a:r>
              <a:rPr lang="en-US" sz="1100" b="1" dirty="0">
                <a:solidFill>
                  <a:srgbClr val="1C2B33"/>
                </a:solidFill>
                <a:latin typeface="Calibri" pitchFamily="34" charset="0"/>
                <a:ea typeface="Calibri" pitchFamily="34" charset="-122"/>
                <a:cs typeface="Calibri" pitchFamily="34" charset="-120"/>
              </a:rPr>
              <a:t>Security and payments</a:t>
            </a:r>
            <a:endParaRPr lang="en-US" sz="1100" dirty="0"/>
          </a:p>
        </p:txBody>
      </p:sp>
      <p:sp>
        <p:nvSpPr>
          <p:cNvPr id="28" name="oval-24"/>
          <p:cNvSpPr/>
          <p:nvPr/>
        </p:nvSpPr>
        <p:spPr>
          <a:xfrm>
            <a:off x="8439912" y="1847088"/>
            <a:ext cx="146304" cy="146304"/>
          </a:xfrm>
          <a:prstGeom prst="ellipse">
            <a:avLst/>
          </a:prstGeom>
          <a:solidFill>
            <a:srgbClr val="134E4A"/>
          </a:solidFill>
          <a:ln w="12700">
            <a:solidFill>
              <a:srgbClr val="134E4A"/>
            </a:solidFill>
            <a:prstDash val="solid"/>
          </a:ln>
        </p:spPr>
      </p:sp>
      <p:sp>
        <p:nvSpPr>
          <p:cNvPr id="29" name="oval-25"/>
          <p:cNvSpPr/>
          <p:nvPr/>
        </p:nvSpPr>
        <p:spPr>
          <a:xfrm>
            <a:off x="9902952" y="1847088"/>
            <a:ext cx="146304" cy="146304"/>
          </a:xfrm>
          <a:prstGeom prst="ellipse">
            <a:avLst/>
          </a:prstGeom>
          <a:solidFill>
            <a:srgbClr val="8A99A3"/>
          </a:solidFill>
          <a:ln w="12700">
            <a:solidFill>
              <a:srgbClr val="8A99A3"/>
            </a:solidFill>
            <a:prstDash val="solid"/>
          </a:ln>
        </p:spPr>
      </p:sp>
      <p:sp>
        <p:nvSpPr>
          <p:cNvPr id="30" name="oval-26"/>
          <p:cNvSpPr/>
          <p:nvPr/>
        </p:nvSpPr>
        <p:spPr>
          <a:xfrm>
            <a:off x="10634472" y="1847088"/>
            <a:ext cx="146304" cy="146304"/>
          </a:xfrm>
          <a:prstGeom prst="ellipse">
            <a:avLst/>
          </a:prstGeom>
          <a:solidFill>
            <a:srgbClr val="B45309"/>
          </a:solidFill>
          <a:ln w="12700">
            <a:solidFill>
              <a:srgbClr val="B45309"/>
            </a:solidFill>
            <a:prstDash val="solid"/>
          </a:ln>
        </p:spPr>
      </p:sp>
      <p:sp>
        <p:nvSpPr>
          <p:cNvPr id="31" name="text-27"/>
          <p:cNvSpPr txBox="1"/>
          <p:nvPr/>
        </p:nvSpPr>
        <p:spPr>
          <a:xfrm>
            <a:off x="4846320" y="2157984"/>
            <a:ext cx="2743200" cy="219456"/>
          </a:xfrm>
          <a:prstGeom prst="rect">
            <a:avLst/>
          </a:prstGeom>
          <a:noFill/>
          <a:ln/>
        </p:spPr>
        <p:txBody>
          <a:bodyPr wrap="square" lIns="0" tIns="0" rIns="0" bIns="0" rtlCol="0" anchor="ctr"/>
          <a:lstStyle/>
          <a:p>
            <a:pPr algn="l" indent="0" marL="0">
              <a:lnSpc>
                <a:spcPct val="100000"/>
              </a:lnSpc>
              <a:buNone/>
            </a:pPr>
            <a:r>
              <a:rPr lang="en-US" sz="1100" b="1" dirty="0">
                <a:solidFill>
                  <a:srgbClr val="1C2B33"/>
                </a:solidFill>
                <a:latin typeface="Calibri" pitchFamily="34" charset="0"/>
                <a:ea typeface="Calibri" pitchFamily="34" charset="-122"/>
                <a:cs typeface="Calibri" pitchFamily="34" charset="-120"/>
              </a:rPr>
              <a:t>Data and privacy</a:t>
            </a:r>
            <a:endParaRPr lang="en-US" sz="1100" dirty="0"/>
          </a:p>
        </p:txBody>
      </p:sp>
      <p:sp>
        <p:nvSpPr>
          <p:cNvPr id="32" name="oval-28"/>
          <p:cNvSpPr/>
          <p:nvPr/>
        </p:nvSpPr>
        <p:spPr>
          <a:xfrm>
            <a:off x="8439912" y="2194560"/>
            <a:ext cx="146304" cy="146304"/>
          </a:xfrm>
          <a:prstGeom prst="ellipse">
            <a:avLst/>
          </a:prstGeom>
          <a:solidFill>
            <a:srgbClr val="134E4A"/>
          </a:solidFill>
          <a:ln w="12700">
            <a:solidFill>
              <a:srgbClr val="134E4A"/>
            </a:solidFill>
            <a:prstDash val="solid"/>
          </a:ln>
        </p:spPr>
      </p:sp>
      <p:sp>
        <p:nvSpPr>
          <p:cNvPr id="33" name="oval-29"/>
          <p:cNvSpPr/>
          <p:nvPr/>
        </p:nvSpPr>
        <p:spPr>
          <a:xfrm>
            <a:off x="9171432" y="2194560"/>
            <a:ext cx="146304" cy="146304"/>
          </a:xfrm>
          <a:prstGeom prst="ellipse">
            <a:avLst/>
          </a:prstGeom>
          <a:solidFill>
            <a:srgbClr val="0F766E"/>
          </a:solidFill>
          <a:ln w="12700">
            <a:solidFill>
              <a:srgbClr val="0F766E"/>
            </a:solidFill>
            <a:prstDash val="solid"/>
          </a:ln>
        </p:spPr>
      </p:sp>
      <p:sp>
        <p:nvSpPr>
          <p:cNvPr id="34" name="oval-30"/>
          <p:cNvSpPr/>
          <p:nvPr/>
        </p:nvSpPr>
        <p:spPr>
          <a:xfrm>
            <a:off x="9902952" y="2194560"/>
            <a:ext cx="146304" cy="146304"/>
          </a:xfrm>
          <a:prstGeom prst="ellipse">
            <a:avLst/>
          </a:prstGeom>
          <a:solidFill>
            <a:srgbClr val="8A99A3"/>
          </a:solidFill>
          <a:ln w="12700">
            <a:solidFill>
              <a:srgbClr val="8A99A3"/>
            </a:solidFill>
            <a:prstDash val="solid"/>
          </a:ln>
        </p:spPr>
      </p:sp>
      <p:sp>
        <p:nvSpPr>
          <p:cNvPr id="35" name="shape-31"/>
          <p:cNvSpPr/>
          <p:nvPr/>
        </p:nvSpPr>
        <p:spPr>
          <a:xfrm>
            <a:off x="4754880" y="2450592"/>
            <a:ext cx="6858000" cy="310896"/>
          </a:xfrm>
          <a:prstGeom prst="roundRect">
            <a:avLst>
              <a:gd name="adj" fmla="val 11765"/>
            </a:avLst>
          </a:prstGeom>
          <a:solidFill>
            <a:srgbClr val="EEF2F4"/>
          </a:solidFill>
          <a:ln w="12700">
            <a:solidFill>
              <a:srgbClr val="EEF2F4"/>
            </a:solidFill>
            <a:prstDash val="solid"/>
          </a:ln>
        </p:spPr>
      </p:sp>
      <p:sp>
        <p:nvSpPr>
          <p:cNvPr id="36" name="text-32"/>
          <p:cNvSpPr txBox="1"/>
          <p:nvPr/>
        </p:nvSpPr>
        <p:spPr>
          <a:xfrm>
            <a:off x="4846320" y="2505456"/>
            <a:ext cx="2743200" cy="219456"/>
          </a:xfrm>
          <a:prstGeom prst="rect">
            <a:avLst/>
          </a:prstGeom>
          <a:noFill/>
          <a:ln/>
        </p:spPr>
        <p:txBody>
          <a:bodyPr wrap="square" lIns="0" tIns="0" rIns="0" bIns="0" rtlCol="0" anchor="ctr"/>
          <a:lstStyle/>
          <a:p>
            <a:pPr algn="l" indent="0" marL="0">
              <a:lnSpc>
                <a:spcPct val="100000"/>
              </a:lnSpc>
              <a:buNone/>
            </a:pPr>
            <a:r>
              <a:rPr lang="en-US" sz="1100" b="1" dirty="0">
                <a:solidFill>
                  <a:srgbClr val="1C2B33"/>
                </a:solidFill>
                <a:latin typeface="Calibri" pitchFamily="34" charset="0"/>
                <a:ea typeface="Calibri" pitchFamily="34" charset="-122"/>
                <a:cs typeface="Calibri" pitchFamily="34" charset="-120"/>
              </a:rPr>
              <a:t>Content integrity</a:t>
            </a:r>
            <a:endParaRPr lang="en-US" sz="1100" dirty="0"/>
          </a:p>
        </p:txBody>
      </p:sp>
      <p:sp>
        <p:nvSpPr>
          <p:cNvPr id="37" name="oval-33"/>
          <p:cNvSpPr/>
          <p:nvPr/>
        </p:nvSpPr>
        <p:spPr>
          <a:xfrm>
            <a:off x="8439912" y="2542032"/>
            <a:ext cx="146304" cy="146304"/>
          </a:xfrm>
          <a:prstGeom prst="ellipse">
            <a:avLst/>
          </a:prstGeom>
          <a:solidFill>
            <a:srgbClr val="134E4A"/>
          </a:solidFill>
          <a:ln w="12700">
            <a:solidFill>
              <a:srgbClr val="134E4A"/>
            </a:solidFill>
            <a:prstDash val="solid"/>
          </a:ln>
        </p:spPr>
      </p:sp>
      <p:sp>
        <p:nvSpPr>
          <p:cNvPr id="38" name="oval-34"/>
          <p:cNvSpPr/>
          <p:nvPr/>
        </p:nvSpPr>
        <p:spPr>
          <a:xfrm>
            <a:off x="9171432" y="2542032"/>
            <a:ext cx="146304" cy="146304"/>
          </a:xfrm>
          <a:prstGeom prst="ellipse">
            <a:avLst/>
          </a:prstGeom>
          <a:solidFill>
            <a:srgbClr val="0F766E"/>
          </a:solidFill>
          <a:ln w="12700">
            <a:solidFill>
              <a:srgbClr val="0F766E"/>
            </a:solidFill>
            <a:prstDash val="solid"/>
          </a:ln>
        </p:spPr>
      </p:sp>
      <p:sp>
        <p:nvSpPr>
          <p:cNvPr id="39" name="text-35"/>
          <p:cNvSpPr txBox="1"/>
          <p:nvPr/>
        </p:nvSpPr>
        <p:spPr>
          <a:xfrm>
            <a:off x="4846320" y="2852928"/>
            <a:ext cx="2743200" cy="219456"/>
          </a:xfrm>
          <a:prstGeom prst="rect">
            <a:avLst/>
          </a:prstGeom>
          <a:noFill/>
          <a:ln/>
        </p:spPr>
        <p:txBody>
          <a:bodyPr wrap="square" lIns="0" tIns="0" rIns="0" bIns="0" rtlCol="0" anchor="ctr"/>
          <a:lstStyle/>
          <a:p>
            <a:pPr algn="l" indent="0" marL="0">
              <a:lnSpc>
                <a:spcPct val="100000"/>
              </a:lnSpc>
              <a:buNone/>
            </a:pPr>
            <a:r>
              <a:rPr lang="en-US" sz="1100" b="1" dirty="0">
                <a:solidFill>
                  <a:srgbClr val="1C2B33"/>
                </a:solidFill>
                <a:latin typeface="Calibri" pitchFamily="34" charset="0"/>
                <a:ea typeface="Calibri" pitchFamily="34" charset="-122"/>
                <a:cs typeface="Calibri" pitchFamily="34" charset="-120"/>
              </a:rPr>
              <a:t>Integration and operability</a:t>
            </a:r>
            <a:endParaRPr lang="en-US" sz="1100" dirty="0"/>
          </a:p>
        </p:txBody>
      </p:sp>
      <p:sp>
        <p:nvSpPr>
          <p:cNvPr id="40" name="oval-36"/>
          <p:cNvSpPr/>
          <p:nvPr/>
        </p:nvSpPr>
        <p:spPr>
          <a:xfrm>
            <a:off x="8439912" y="2889504"/>
            <a:ext cx="146304" cy="146304"/>
          </a:xfrm>
          <a:prstGeom prst="ellipse">
            <a:avLst/>
          </a:prstGeom>
          <a:solidFill>
            <a:srgbClr val="134E4A"/>
          </a:solidFill>
          <a:ln w="12700">
            <a:solidFill>
              <a:srgbClr val="134E4A"/>
            </a:solidFill>
            <a:prstDash val="solid"/>
          </a:ln>
        </p:spPr>
      </p:sp>
      <p:sp>
        <p:nvSpPr>
          <p:cNvPr id="41" name="oval-37"/>
          <p:cNvSpPr/>
          <p:nvPr/>
        </p:nvSpPr>
        <p:spPr>
          <a:xfrm>
            <a:off x="9902952" y="2889504"/>
            <a:ext cx="146304" cy="146304"/>
          </a:xfrm>
          <a:prstGeom prst="ellipse">
            <a:avLst/>
          </a:prstGeom>
          <a:solidFill>
            <a:srgbClr val="8A99A3"/>
          </a:solidFill>
          <a:ln w="12700">
            <a:solidFill>
              <a:srgbClr val="8A99A3"/>
            </a:solidFill>
            <a:prstDash val="solid"/>
          </a:ln>
        </p:spPr>
      </p:sp>
      <p:sp>
        <p:nvSpPr>
          <p:cNvPr id="42" name="oval-38"/>
          <p:cNvSpPr/>
          <p:nvPr/>
        </p:nvSpPr>
        <p:spPr>
          <a:xfrm>
            <a:off x="10634472" y="2889504"/>
            <a:ext cx="146304" cy="146304"/>
          </a:xfrm>
          <a:prstGeom prst="ellipse">
            <a:avLst/>
          </a:prstGeom>
          <a:solidFill>
            <a:srgbClr val="B45309"/>
          </a:solidFill>
          <a:ln w="12700">
            <a:solidFill>
              <a:srgbClr val="B45309"/>
            </a:solidFill>
            <a:prstDash val="solid"/>
          </a:ln>
        </p:spPr>
      </p:sp>
      <p:sp>
        <p:nvSpPr>
          <p:cNvPr id="43" name="shape-39"/>
          <p:cNvSpPr/>
          <p:nvPr/>
        </p:nvSpPr>
        <p:spPr>
          <a:xfrm>
            <a:off x="4754880" y="3145536"/>
            <a:ext cx="6858000" cy="310896"/>
          </a:xfrm>
          <a:prstGeom prst="roundRect">
            <a:avLst>
              <a:gd name="adj" fmla="val 11765"/>
            </a:avLst>
          </a:prstGeom>
          <a:solidFill>
            <a:srgbClr val="EEF2F4"/>
          </a:solidFill>
          <a:ln w="12700">
            <a:solidFill>
              <a:srgbClr val="EEF2F4"/>
            </a:solidFill>
            <a:prstDash val="solid"/>
          </a:ln>
        </p:spPr>
      </p:sp>
      <p:sp>
        <p:nvSpPr>
          <p:cNvPr id="44" name="text-40"/>
          <p:cNvSpPr txBox="1"/>
          <p:nvPr/>
        </p:nvSpPr>
        <p:spPr>
          <a:xfrm>
            <a:off x="4846320" y="3200400"/>
            <a:ext cx="2743200" cy="219456"/>
          </a:xfrm>
          <a:prstGeom prst="rect">
            <a:avLst/>
          </a:prstGeom>
          <a:noFill/>
          <a:ln/>
        </p:spPr>
        <p:txBody>
          <a:bodyPr wrap="square" lIns="0" tIns="0" rIns="0" bIns="0" rtlCol="0" anchor="ctr"/>
          <a:lstStyle/>
          <a:p>
            <a:pPr algn="l" indent="0" marL="0">
              <a:lnSpc>
                <a:spcPct val="100000"/>
              </a:lnSpc>
              <a:buNone/>
            </a:pPr>
            <a:r>
              <a:rPr lang="en-US" sz="1100" b="1" dirty="0">
                <a:solidFill>
                  <a:srgbClr val="1C2B33"/>
                </a:solidFill>
                <a:latin typeface="Calibri" pitchFamily="34" charset="0"/>
                <a:ea typeface="Calibri" pitchFamily="34" charset="-122"/>
                <a:cs typeface="Calibri" pitchFamily="34" charset="-120"/>
              </a:rPr>
              <a:t>Release readiness</a:t>
            </a:r>
            <a:endParaRPr lang="en-US" sz="1100" dirty="0"/>
          </a:p>
        </p:txBody>
      </p:sp>
      <p:sp>
        <p:nvSpPr>
          <p:cNvPr id="45" name="oval-41"/>
          <p:cNvSpPr/>
          <p:nvPr/>
        </p:nvSpPr>
        <p:spPr>
          <a:xfrm>
            <a:off x="8439912" y="3236976"/>
            <a:ext cx="146304" cy="146304"/>
          </a:xfrm>
          <a:prstGeom prst="ellipse">
            <a:avLst/>
          </a:prstGeom>
          <a:solidFill>
            <a:srgbClr val="134E4A"/>
          </a:solidFill>
          <a:ln w="12700">
            <a:solidFill>
              <a:srgbClr val="134E4A"/>
            </a:solidFill>
            <a:prstDash val="solid"/>
          </a:ln>
        </p:spPr>
      </p:sp>
      <p:sp>
        <p:nvSpPr>
          <p:cNvPr id="46" name="oval-42"/>
          <p:cNvSpPr/>
          <p:nvPr/>
        </p:nvSpPr>
        <p:spPr>
          <a:xfrm>
            <a:off x="9171432" y="3236976"/>
            <a:ext cx="146304" cy="146304"/>
          </a:xfrm>
          <a:prstGeom prst="ellipse">
            <a:avLst/>
          </a:prstGeom>
          <a:solidFill>
            <a:srgbClr val="0F766E"/>
          </a:solidFill>
          <a:ln w="12700">
            <a:solidFill>
              <a:srgbClr val="0F766E"/>
            </a:solidFill>
            <a:prstDash val="solid"/>
          </a:ln>
        </p:spPr>
      </p:sp>
      <p:sp>
        <p:nvSpPr>
          <p:cNvPr id="47" name="oval-43"/>
          <p:cNvSpPr/>
          <p:nvPr/>
        </p:nvSpPr>
        <p:spPr>
          <a:xfrm>
            <a:off x="10634472" y="3236976"/>
            <a:ext cx="146304" cy="146304"/>
          </a:xfrm>
          <a:prstGeom prst="ellipse">
            <a:avLst/>
          </a:prstGeom>
          <a:solidFill>
            <a:srgbClr val="B45309"/>
          </a:solidFill>
          <a:ln w="12700">
            <a:solidFill>
              <a:srgbClr val="B45309"/>
            </a:solidFill>
            <a:prstDash val="solid"/>
          </a:ln>
        </p:spPr>
      </p:sp>
      <p:sp>
        <p:nvSpPr>
          <p:cNvPr id="48" name="text-44"/>
          <p:cNvSpPr txBox="1"/>
          <p:nvPr/>
        </p:nvSpPr>
        <p:spPr>
          <a:xfrm>
            <a:off x="548640" y="3785616"/>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MEASURES WITH A DUAL FOCUS — OUTCOMES, NOT ACTIVITY</a:t>
            </a:r>
            <a:endParaRPr lang="en-US" sz="800" dirty="0"/>
          </a:p>
        </p:txBody>
      </p:sp>
      <p:sp>
        <p:nvSpPr>
          <p:cNvPr id="49" name="shape-45"/>
          <p:cNvSpPr/>
          <p:nvPr/>
        </p:nvSpPr>
        <p:spPr>
          <a:xfrm>
            <a:off x="548640" y="4059936"/>
            <a:ext cx="5440680" cy="1133856"/>
          </a:xfrm>
          <a:prstGeom prst="roundRect">
            <a:avLst>
              <a:gd name="adj" fmla="val 6452"/>
            </a:avLst>
          </a:prstGeom>
          <a:solidFill>
            <a:srgbClr val="D6ECE9"/>
          </a:solidFill>
          <a:ln w="12700">
            <a:solidFill>
              <a:srgbClr val="D6ECE9"/>
            </a:solidFill>
            <a:prstDash val="solid"/>
          </a:ln>
        </p:spPr>
      </p:sp>
      <p:pic>
        <p:nvPicPr>
          <p:cNvPr id="50" name="icon-46" descr="preencoded.png">    </p:cNvPr>
          <p:cNvPicPr>
            <a:picLocks noChangeAspect="1"/>
          </p:cNvPicPr>
          <p:nvPr/>
        </p:nvPicPr>
        <p:blipFill>
          <a:blip r:embed="rId1"/>
          <a:stretch>
            <a:fillRect/>
          </a:stretch>
        </p:blipFill>
        <p:spPr>
          <a:xfrm>
            <a:off x="694944" y="4187952"/>
            <a:ext cx="182880" cy="182880"/>
          </a:xfrm>
          <a:prstGeom prst="rect">
            <a:avLst/>
          </a:prstGeom>
        </p:spPr>
      </p:pic>
      <p:sp>
        <p:nvSpPr>
          <p:cNvPr id="51" name="text-47"/>
          <p:cNvSpPr txBox="1"/>
          <p:nvPr/>
        </p:nvSpPr>
        <p:spPr>
          <a:xfrm>
            <a:off x="969264" y="4169664"/>
            <a:ext cx="4892040" cy="219456"/>
          </a:xfrm>
          <a:prstGeom prst="rect">
            <a:avLst/>
          </a:prstGeom>
          <a:noFill/>
          <a:ln/>
        </p:spPr>
        <p:txBody>
          <a:bodyPr wrap="square" lIns="0" tIns="0" rIns="0" bIns="0" rtlCol="0" anchor="ctr"/>
          <a:lstStyle/>
          <a:p>
            <a:pPr algn="l" indent="0" marL="0">
              <a:lnSpc>
                <a:spcPct val="100000"/>
              </a:lnSpc>
              <a:buNone/>
            </a:pPr>
            <a:r>
              <a:rPr lang="en-US" sz="950" b="1" spc="150" kern="0" dirty="0">
                <a:solidFill>
                  <a:srgbClr val="134E4A"/>
                </a:solidFill>
                <a:latin typeface="Calibri" pitchFamily="34" charset="0"/>
                <a:ea typeface="Calibri" pitchFamily="34" charset="-122"/>
                <a:cs typeface="Calibri" pitchFamily="34" charset="-120"/>
              </a:rPr>
              <a:t>INWARD — the team sees and improves</a:t>
            </a:r>
            <a:endParaRPr lang="en-US" sz="950" dirty="0"/>
          </a:p>
        </p:txBody>
      </p:sp>
      <p:sp>
        <p:nvSpPr>
          <p:cNvPr id="52" name="oval-48"/>
          <p:cNvSpPr/>
          <p:nvPr/>
        </p:nvSpPr>
        <p:spPr>
          <a:xfrm>
            <a:off x="704088" y="4599432"/>
            <a:ext cx="54864" cy="54864"/>
          </a:xfrm>
          <a:prstGeom prst="ellipse">
            <a:avLst/>
          </a:prstGeom>
          <a:solidFill>
            <a:srgbClr val="0F766E"/>
          </a:solidFill>
          <a:ln w="12700">
            <a:solidFill>
              <a:srgbClr val="0F766E"/>
            </a:solidFill>
            <a:prstDash val="solid"/>
          </a:ln>
        </p:spPr>
      </p:sp>
      <p:sp>
        <p:nvSpPr>
          <p:cNvPr id="53" name="text-49"/>
          <p:cNvSpPr txBox="1"/>
          <p:nvPr/>
        </p:nvSpPr>
        <p:spPr>
          <a:xfrm>
            <a:off x="841248" y="4535424"/>
            <a:ext cx="2446020" cy="182880"/>
          </a:xfrm>
          <a:prstGeom prst="rect">
            <a:avLst/>
          </a:prstGeom>
          <a:noFill/>
          <a:ln/>
        </p:spPr>
        <p:txBody>
          <a:bodyPr wrap="square" lIns="0" tIns="0" rIns="0" bIns="0" rtlCol="0" anchor="ctr"/>
          <a:lstStyle/>
          <a:p>
            <a:pPr algn="l" indent="0" marL="0">
              <a:lnSpc>
                <a:spcPct val="100000"/>
              </a:lnSpc>
              <a:buNone/>
            </a:pPr>
            <a:r>
              <a:rPr lang="en-US" sz="1050" dirty="0">
                <a:solidFill>
                  <a:srgbClr val="1C2B33"/>
                </a:solidFill>
                <a:latin typeface="Calibri" pitchFamily="34" charset="0"/>
                <a:ea typeface="Calibri" pitchFamily="34" charset="-122"/>
                <a:cs typeface="Calibri" pitchFamily="34" charset="-120"/>
              </a:rPr>
              <a:t>Cycle time to assured release</a:t>
            </a:r>
            <a:endParaRPr lang="en-US" sz="1050" dirty="0"/>
          </a:p>
        </p:txBody>
      </p:sp>
      <p:sp>
        <p:nvSpPr>
          <p:cNvPr id="54" name="oval-50"/>
          <p:cNvSpPr/>
          <p:nvPr/>
        </p:nvSpPr>
        <p:spPr>
          <a:xfrm>
            <a:off x="3424428" y="4599432"/>
            <a:ext cx="54864" cy="54864"/>
          </a:xfrm>
          <a:prstGeom prst="ellipse">
            <a:avLst/>
          </a:prstGeom>
          <a:solidFill>
            <a:srgbClr val="0F766E"/>
          </a:solidFill>
          <a:ln w="12700">
            <a:solidFill>
              <a:srgbClr val="0F766E"/>
            </a:solidFill>
            <a:prstDash val="solid"/>
          </a:ln>
        </p:spPr>
      </p:sp>
      <p:sp>
        <p:nvSpPr>
          <p:cNvPr id="55" name="text-51"/>
          <p:cNvSpPr txBox="1"/>
          <p:nvPr/>
        </p:nvSpPr>
        <p:spPr>
          <a:xfrm>
            <a:off x="3561588" y="4535424"/>
            <a:ext cx="2446020" cy="182880"/>
          </a:xfrm>
          <a:prstGeom prst="rect">
            <a:avLst/>
          </a:prstGeom>
          <a:noFill/>
          <a:ln/>
        </p:spPr>
        <p:txBody>
          <a:bodyPr wrap="square" lIns="0" tIns="0" rIns="0" bIns="0" rtlCol="0" anchor="ctr"/>
          <a:lstStyle/>
          <a:p>
            <a:pPr algn="l" indent="0" marL="0">
              <a:lnSpc>
                <a:spcPct val="100000"/>
              </a:lnSpc>
              <a:buNone/>
            </a:pPr>
            <a:r>
              <a:rPr lang="en-US" sz="1050" dirty="0">
                <a:solidFill>
                  <a:srgbClr val="1C2B33"/>
                </a:solidFill>
                <a:latin typeface="Calibri" pitchFamily="34" charset="0"/>
                <a:ea typeface="Calibri" pitchFamily="34" charset="-122"/>
                <a:cs typeface="Calibri" pitchFamily="34" charset="-120"/>
              </a:rPr>
              <a:t>Change failure and rework</a:t>
            </a:r>
            <a:endParaRPr lang="en-US" sz="1050" dirty="0"/>
          </a:p>
        </p:txBody>
      </p:sp>
      <p:sp>
        <p:nvSpPr>
          <p:cNvPr id="56" name="oval-52"/>
          <p:cNvSpPr/>
          <p:nvPr/>
        </p:nvSpPr>
        <p:spPr>
          <a:xfrm>
            <a:off x="704088" y="4855464"/>
            <a:ext cx="54864" cy="54864"/>
          </a:xfrm>
          <a:prstGeom prst="ellipse">
            <a:avLst/>
          </a:prstGeom>
          <a:solidFill>
            <a:srgbClr val="0F766E"/>
          </a:solidFill>
          <a:ln w="12700">
            <a:solidFill>
              <a:srgbClr val="0F766E"/>
            </a:solidFill>
            <a:prstDash val="solid"/>
          </a:ln>
        </p:spPr>
      </p:sp>
      <p:sp>
        <p:nvSpPr>
          <p:cNvPr id="57" name="text-53"/>
          <p:cNvSpPr txBox="1"/>
          <p:nvPr/>
        </p:nvSpPr>
        <p:spPr>
          <a:xfrm>
            <a:off x="841248" y="4791456"/>
            <a:ext cx="2446020" cy="182880"/>
          </a:xfrm>
          <a:prstGeom prst="rect">
            <a:avLst/>
          </a:prstGeom>
          <a:noFill/>
          <a:ln/>
        </p:spPr>
        <p:txBody>
          <a:bodyPr wrap="square" lIns="0" tIns="0" rIns="0" bIns="0" rtlCol="0" anchor="ctr"/>
          <a:lstStyle/>
          <a:p>
            <a:pPr algn="l" indent="0" marL="0">
              <a:lnSpc>
                <a:spcPct val="100000"/>
              </a:lnSpc>
              <a:buNone/>
            </a:pPr>
            <a:r>
              <a:rPr lang="en-US" sz="1050" dirty="0">
                <a:solidFill>
                  <a:srgbClr val="1C2B33"/>
                </a:solidFill>
                <a:latin typeface="Calibri" pitchFamily="34" charset="0"/>
                <a:ea typeface="Calibri" pitchFamily="34" charset="-122"/>
                <a:cs typeface="Calibri" pitchFamily="34" charset="-120"/>
              </a:rPr>
              <a:t>Availability and latency by region</a:t>
            </a:r>
            <a:endParaRPr lang="en-US" sz="1050" dirty="0"/>
          </a:p>
        </p:txBody>
      </p:sp>
      <p:sp>
        <p:nvSpPr>
          <p:cNvPr id="58" name="oval-54"/>
          <p:cNvSpPr/>
          <p:nvPr/>
        </p:nvSpPr>
        <p:spPr>
          <a:xfrm>
            <a:off x="3424428" y="4855464"/>
            <a:ext cx="54864" cy="54864"/>
          </a:xfrm>
          <a:prstGeom prst="ellipse">
            <a:avLst/>
          </a:prstGeom>
          <a:solidFill>
            <a:srgbClr val="0F766E"/>
          </a:solidFill>
          <a:ln w="12700">
            <a:solidFill>
              <a:srgbClr val="0F766E"/>
            </a:solidFill>
            <a:prstDash val="solid"/>
          </a:ln>
        </p:spPr>
      </p:sp>
      <p:sp>
        <p:nvSpPr>
          <p:cNvPr id="59" name="text-55"/>
          <p:cNvSpPr txBox="1"/>
          <p:nvPr/>
        </p:nvSpPr>
        <p:spPr>
          <a:xfrm>
            <a:off x="3561588" y="4791456"/>
            <a:ext cx="2446020" cy="182880"/>
          </a:xfrm>
          <a:prstGeom prst="rect">
            <a:avLst/>
          </a:prstGeom>
          <a:noFill/>
          <a:ln/>
        </p:spPr>
        <p:txBody>
          <a:bodyPr wrap="square" lIns="0" tIns="0" rIns="0" bIns="0" rtlCol="0" anchor="ctr"/>
          <a:lstStyle/>
          <a:p>
            <a:pPr algn="l" indent="0" marL="0">
              <a:lnSpc>
                <a:spcPct val="100000"/>
              </a:lnSpc>
              <a:buNone/>
            </a:pPr>
            <a:r>
              <a:rPr lang="en-US" sz="1050" dirty="0">
                <a:solidFill>
                  <a:srgbClr val="1C2B33"/>
                </a:solidFill>
                <a:latin typeface="Calibri" pitchFamily="34" charset="0"/>
                <a:ea typeface="Calibri" pitchFamily="34" charset="-122"/>
                <a:cs typeface="Calibri" pitchFamily="34" charset="-120"/>
              </a:rPr>
              <a:t>AI judged on outcomes, never tokens</a:t>
            </a:r>
            <a:endParaRPr lang="en-US" sz="1050" dirty="0"/>
          </a:p>
        </p:txBody>
      </p:sp>
      <p:sp>
        <p:nvSpPr>
          <p:cNvPr id="60" name="shape-56"/>
          <p:cNvSpPr/>
          <p:nvPr/>
        </p:nvSpPr>
        <p:spPr>
          <a:xfrm>
            <a:off x="6172200" y="4059936"/>
            <a:ext cx="5440680" cy="1133856"/>
          </a:xfrm>
          <a:prstGeom prst="roundRect">
            <a:avLst>
              <a:gd name="adj" fmla="val 6452"/>
            </a:avLst>
          </a:prstGeom>
          <a:solidFill>
            <a:srgbClr val="134E4A"/>
          </a:solidFill>
          <a:ln w="12700">
            <a:solidFill>
              <a:srgbClr val="134E4A"/>
            </a:solidFill>
            <a:prstDash val="solid"/>
          </a:ln>
        </p:spPr>
      </p:sp>
      <p:pic>
        <p:nvPicPr>
          <p:cNvPr id="61" name="icon-57" descr="preencoded.png">    </p:cNvPr>
          <p:cNvPicPr>
            <a:picLocks noChangeAspect="1"/>
          </p:cNvPicPr>
          <p:nvPr/>
        </p:nvPicPr>
        <p:blipFill>
          <a:blip r:embed="rId2"/>
          <a:stretch>
            <a:fillRect/>
          </a:stretch>
        </p:blipFill>
        <p:spPr>
          <a:xfrm>
            <a:off x="6318504" y="4187952"/>
            <a:ext cx="182880" cy="182880"/>
          </a:xfrm>
          <a:prstGeom prst="rect">
            <a:avLst/>
          </a:prstGeom>
        </p:spPr>
      </p:pic>
      <p:sp>
        <p:nvSpPr>
          <p:cNvPr id="62" name="text-58"/>
          <p:cNvSpPr txBox="1"/>
          <p:nvPr/>
        </p:nvSpPr>
        <p:spPr>
          <a:xfrm>
            <a:off x="6592824" y="4169664"/>
            <a:ext cx="4892040" cy="219456"/>
          </a:xfrm>
          <a:prstGeom prst="rect">
            <a:avLst/>
          </a:prstGeom>
          <a:noFill/>
          <a:ln/>
        </p:spPr>
        <p:txBody>
          <a:bodyPr wrap="square" lIns="0" tIns="0" rIns="0" bIns="0" rtlCol="0" anchor="ctr"/>
          <a:lstStyle/>
          <a:p>
            <a:pPr algn="l" indent="0" marL="0">
              <a:lnSpc>
                <a:spcPct val="100000"/>
              </a:lnSpc>
              <a:buNone/>
            </a:pPr>
            <a:r>
              <a:rPr lang="en-US" sz="950" b="1" spc="150" kern="0" dirty="0">
                <a:solidFill>
                  <a:srgbClr val="CFE8E5"/>
                </a:solidFill>
                <a:latin typeface="Calibri" pitchFamily="34" charset="0"/>
                <a:ea typeface="Calibri" pitchFamily="34" charset="-122"/>
                <a:cs typeface="Calibri" pitchFamily="34" charset="-120"/>
              </a:rPr>
              <a:t>UPWARD — what reaches Steering, Board and Risk</a:t>
            </a:r>
            <a:endParaRPr lang="en-US" sz="950" dirty="0"/>
          </a:p>
        </p:txBody>
      </p:sp>
      <p:sp>
        <p:nvSpPr>
          <p:cNvPr id="63" name="oval-59"/>
          <p:cNvSpPr/>
          <p:nvPr/>
        </p:nvSpPr>
        <p:spPr>
          <a:xfrm>
            <a:off x="6327648" y="4599432"/>
            <a:ext cx="54864" cy="54864"/>
          </a:xfrm>
          <a:prstGeom prst="ellipse">
            <a:avLst/>
          </a:prstGeom>
          <a:solidFill>
            <a:srgbClr val="CFE8E5"/>
          </a:solidFill>
          <a:ln w="12700">
            <a:solidFill>
              <a:srgbClr val="CFE8E5"/>
            </a:solidFill>
            <a:prstDash val="solid"/>
          </a:ln>
        </p:spPr>
      </p:sp>
      <p:sp>
        <p:nvSpPr>
          <p:cNvPr id="64" name="text-60"/>
          <p:cNvSpPr txBox="1"/>
          <p:nvPr/>
        </p:nvSpPr>
        <p:spPr>
          <a:xfrm>
            <a:off x="6464808" y="4535424"/>
            <a:ext cx="2446020" cy="182880"/>
          </a:xfrm>
          <a:prstGeom prst="rect">
            <a:avLst/>
          </a:prstGeom>
          <a:noFill/>
          <a:ln/>
        </p:spPr>
        <p:txBody>
          <a:bodyPr wrap="square" lIns="0" tIns="0" rIns="0" bIns="0" rtlCol="0" anchor="ctr"/>
          <a:lstStyle/>
          <a:p>
            <a:pPr algn="l" indent="0" marL="0">
              <a:lnSpc>
                <a:spcPct val="100000"/>
              </a:lnSpc>
              <a:buNone/>
            </a:pPr>
            <a:r>
              <a:rPr lang="en-US" sz="1050" dirty="0">
                <a:solidFill>
                  <a:srgbClr val="FFFFFF"/>
                </a:solidFill>
                <a:latin typeface="Calibri" pitchFamily="34" charset="0"/>
                <a:ea typeface="Calibri" pitchFamily="34" charset="-122"/>
                <a:cs typeface="Calibri" pitchFamily="34" charset="-120"/>
              </a:rPr>
              <a:t>Date confidence, with evidence</a:t>
            </a:r>
            <a:endParaRPr lang="en-US" sz="1050" dirty="0"/>
          </a:p>
        </p:txBody>
      </p:sp>
      <p:sp>
        <p:nvSpPr>
          <p:cNvPr id="65" name="oval-61"/>
          <p:cNvSpPr/>
          <p:nvPr/>
        </p:nvSpPr>
        <p:spPr>
          <a:xfrm>
            <a:off x="9047988" y="4599432"/>
            <a:ext cx="54864" cy="54864"/>
          </a:xfrm>
          <a:prstGeom prst="ellipse">
            <a:avLst/>
          </a:prstGeom>
          <a:solidFill>
            <a:srgbClr val="CFE8E5"/>
          </a:solidFill>
          <a:ln w="12700">
            <a:solidFill>
              <a:srgbClr val="CFE8E5"/>
            </a:solidFill>
            <a:prstDash val="solid"/>
          </a:ln>
        </p:spPr>
      </p:sp>
      <p:sp>
        <p:nvSpPr>
          <p:cNvPr id="66" name="text-62"/>
          <p:cNvSpPr txBox="1"/>
          <p:nvPr/>
        </p:nvSpPr>
        <p:spPr>
          <a:xfrm>
            <a:off x="9185148" y="4535424"/>
            <a:ext cx="2446020" cy="182880"/>
          </a:xfrm>
          <a:prstGeom prst="rect">
            <a:avLst/>
          </a:prstGeom>
          <a:noFill/>
          <a:ln/>
        </p:spPr>
        <p:txBody>
          <a:bodyPr wrap="square" lIns="0" tIns="0" rIns="0" bIns="0" rtlCol="0" anchor="ctr"/>
          <a:lstStyle/>
          <a:p>
            <a:pPr algn="l" indent="0" marL="0">
              <a:lnSpc>
                <a:spcPct val="100000"/>
              </a:lnSpc>
              <a:buNone/>
            </a:pPr>
            <a:r>
              <a:rPr lang="en-US" sz="1050" dirty="0">
                <a:solidFill>
                  <a:srgbClr val="FFFFFF"/>
                </a:solidFill>
                <a:latin typeface="Calibri" pitchFamily="34" charset="0"/>
                <a:ea typeface="Calibri" pitchFamily="34" charset="-122"/>
                <a:cs typeface="Calibri" pitchFamily="34" charset="-120"/>
              </a:rPr>
              <a:t>Availability vs risk appetite</a:t>
            </a:r>
            <a:endParaRPr lang="en-US" sz="1050" dirty="0"/>
          </a:p>
        </p:txBody>
      </p:sp>
      <p:sp>
        <p:nvSpPr>
          <p:cNvPr id="67" name="oval-63"/>
          <p:cNvSpPr/>
          <p:nvPr/>
        </p:nvSpPr>
        <p:spPr>
          <a:xfrm>
            <a:off x="6327648" y="4855464"/>
            <a:ext cx="54864" cy="54864"/>
          </a:xfrm>
          <a:prstGeom prst="ellipse">
            <a:avLst/>
          </a:prstGeom>
          <a:solidFill>
            <a:srgbClr val="CFE8E5"/>
          </a:solidFill>
          <a:ln w="12700">
            <a:solidFill>
              <a:srgbClr val="CFE8E5"/>
            </a:solidFill>
            <a:prstDash val="solid"/>
          </a:ln>
        </p:spPr>
      </p:sp>
      <p:sp>
        <p:nvSpPr>
          <p:cNvPr id="68" name="text-64"/>
          <p:cNvSpPr txBox="1"/>
          <p:nvPr/>
        </p:nvSpPr>
        <p:spPr>
          <a:xfrm>
            <a:off x="6464808" y="4791456"/>
            <a:ext cx="2446020" cy="182880"/>
          </a:xfrm>
          <a:prstGeom prst="rect">
            <a:avLst/>
          </a:prstGeom>
          <a:noFill/>
          <a:ln/>
        </p:spPr>
        <p:txBody>
          <a:bodyPr wrap="square" lIns="0" tIns="0" rIns="0" bIns="0" rtlCol="0" anchor="ctr"/>
          <a:lstStyle/>
          <a:p>
            <a:pPr algn="l" indent="0" marL="0">
              <a:lnSpc>
                <a:spcPct val="100000"/>
              </a:lnSpc>
              <a:buNone/>
            </a:pPr>
            <a:r>
              <a:rPr lang="en-US" sz="1050" dirty="0">
                <a:solidFill>
                  <a:srgbClr val="FFFFFF"/>
                </a:solidFill>
                <a:latin typeface="Calibri" pitchFamily="34" charset="0"/>
                <a:ea typeface="Calibri" pitchFamily="34" charset="-122"/>
                <a:cs typeface="Calibri" pitchFamily="34" charset="-120"/>
              </a:rPr>
              <a:t>Top risks; spend vs plan</a:t>
            </a:r>
            <a:endParaRPr lang="en-US" sz="1050" dirty="0"/>
          </a:p>
        </p:txBody>
      </p:sp>
      <p:sp>
        <p:nvSpPr>
          <p:cNvPr id="69" name="oval-65"/>
          <p:cNvSpPr/>
          <p:nvPr/>
        </p:nvSpPr>
        <p:spPr>
          <a:xfrm>
            <a:off x="9047988" y="4855464"/>
            <a:ext cx="54864" cy="54864"/>
          </a:xfrm>
          <a:prstGeom prst="ellipse">
            <a:avLst/>
          </a:prstGeom>
          <a:solidFill>
            <a:srgbClr val="CFE8E5"/>
          </a:solidFill>
          <a:ln w="12700">
            <a:solidFill>
              <a:srgbClr val="CFE8E5"/>
            </a:solidFill>
            <a:prstDash val="solid"/>
          </a:ln>
        </p:spPr>
      </p:sp>
      <p:sp>
        <p:nvSpPr>
          <p:cNvPr id="70" name="text-66"/>
          <p:cNvSpPr txBox="1"/>
          <p:nvPr/>
        </p:nvSpPr>
        <p:spPr>
          <a:xfrm>
            <a:off x="9185148" y="4791456"/>
            <a:ext cx="2446020" cy="182880"/>
          </a:xfrm>
          <a:prstGeom prst="rect">
            <a:avLst/>
          </a:prstGeom>
          <a:noFill/>
          <a:ln/>
        </p:spPr>
        <p:txBody>
          <a:bodyPr wrap="square" lIns="0" tIns="0" rIns="0" bIns="0" rtlCol="0" anchor="ctr"/>
          <a:lstStyle/>
          <a:p>
            <a:pPr algn="l" indent="0" marL="0">
              <a:lnSpc>
                <a:spcPct val="100000"/>
              </a:lnSpc>
              <a:buNone/>
            </a:pPr>
            <a:r>
              <a:rPr lang="en-US" sz="1050" dirty="0">
                <a:solidFill>
                  <a:srgbClr val="FFFFFF"/>
                </a:solidFill>
                <a:latin typeface="Calibri" pitchFamily="34" charset="0"/>
                <a:ea typeface="Calibri" pitchFamily="34" charset="-122"/>
                <a:cs typeface="Calibri" pitchFamily="34" charset="-120"/>
              </a:rPr>
              <a:t>Decisions pending, and what they block</a:t>
            </a:r>
            <a:endParaRPr lang="en-US" sz="1050" dirty="0"/>
          </a:p>
        </p:txBody>
      </p:sp>
      <p:sp>
        <p:nvSpPr>
          <p:cNvPr id="71" name="text-67"/>
          <p:cNvSpPr txBox="1"/>
          <p:nvPr/>
        </p:nvSpPr>
        <p:spPr>
          <a:xfrm>
            <a:off x="548640" y="5102352"/>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THE NEXT SIX MONTHS</a:t>
            </a:r>
            <a:endParaRPr lang="en-US" sz="800" dirty="0"/>
          </a:p>
        </p:txBody>
      </p:sp>
      <p:sp>
        <p:nvSpPr>
          <p:cNvPr id="72" name="shape-68"/>
          <p:cNvSpPr/>
          <p:nvPr/>
        </p:nvSpPr>
        <p:spPr>
          <a:xfrm>
            <a:off x="548640" y="5376672"/>
            <a:ext cx="3590544" cy="530352"/>
          </a:xfrm>
          <a:prstGeom prst="roundRect">
            <a:avLst>
              <a:gd name="adj" fmla="val 13793"/>
            </a:avLst>
          </a:prstGeom>
          <a:solidFill>
            <a:srgbClr val="D6ECE9"/>
          </a:solidFill>
          <a:ln w="12700">
            <a:solidFill>
              <a:srgbClr val="D6ECE9"/>
            </a:solidFill>
            <a:prstDash val="solid"/>
          </a:ln>
        </p:spPr>
      </p:sp>
      <p:sp>
        <p:nvSpPr>
          <p:cNvPr id="73" name="text-69"/>
          <p:cNvSpPr txBox="1"/>
          <p:nvPr/>
        </p:nvSpPr>
        <p:spPr>
          <a:xfrm>
            <a:off x="694944" y="5413248"/>
            <a:ext cx="3316224" cy="237744"/>
          </a:xfrm>
          <a:prstGeom prst="rect">
            <a:avLst/>
          </a:prstGeom>
          <a:noFill/>
          <a:ln/>
        </p:spPr>
        <p:txBody>
          <a:bodyPr wrap="square" lIns="0" tIns="0" rIns="0" bIns="0" rtlCol="0" anchor="ctr"/>
          <a:lstStyle/>
          <a:p>
            <a:pPr algn="l" indent="0" marL="0">
              <a:lnSpc>
                <a:spcPct val="100000"/>
              </a:lnSpc>
              <a:buNone/>
            </a:pPr>
            <a:r>
              <a:rPr lang="en-US" sz="1300" b="1" dirty="0">
                <a:solidFill>
                  <a:srgbClr val="1C2B33"/>
                </a:solidFill>
                <a:latin typeface="Calibri" pitchFamily="34" charset="0"/>
                <a:ea typeface="Calibri" pitchFamily="34" charset="-122"/>
                <a:cs typeface="Calibri" pitchFamily="34" charset="-120"/>
              </a:rPr>
              <a:t>Months 1–2</a:t>
            </a:r>
            <a:endParaRPr lang="en-US" sz="1300" dirty="0"/>
          </a:p>
        </p:txBody>
      </p:sp>
      <p:sp>
        <p:nvSpPr>
          <p:cNvPr id="74" name="text-70"/>
          <p:cNvSpPr txBox="1"/>
          <p:nvPr/>
        </p:nvSpPr>
        <p:spPr>
          <a:xfrm>
            <a:off x="694944" y="5650992"/>
            <a:ext cx="3316224" cy="182880"/>
          </a:xfrm>
          <a:prstGeom prst="rect">
            <a:avLst/>
          </a:prstGeom>
          <a:noFill/>
          <a:ln/>
        </p:spPr>
        <p:txBody>
          <a:bodyPr wrap="square" lIns="0" tIns="0" rIns="0" bIns="0" rtlCol="0" anchor="ctr"/>
          <a:lstStyle/>
          <a:p>
            <a:pPr algn="l" indent="0" marL="0">
              <a:lnSpc>
                <a:spcPct val="100000"/>
              </a:lnSpc>
              <a:buNone/>
            </a:pPr>
            <a:r>
              <a:rPr lang="en-US" sz="950" dirty="0">
                <a:solidFill>
                  <a:srgbClr val="5A6B75"/>
                </a:solidFill>
                <a:latin typeface="Calibri" pitchFamily="34" charset="0"/>
                <a:ea typeface="Calibri" pitchFamily="34" charset="-122"/>
                <a:cs typeface="Calibri" pitchFamily="34" charset="-120"/>
              </a:rPr>
              <a:t>two baselines, fit test, decisions</a:t>
            </a:r>
            <a:endParaRPr lang="en-US" sz="950" dirty="0"/>
          </a:p>
        </p:txBody>
      </p:sp>
      <p:sp>
        <p:nvSpPr>
          <p:cNvPr id="75" name="shape-71"/>
          <p:cNvSpPr/>
          <p:nvPr/>
        </p:nvSpPr>
        <p:spPr>
          <a:xfrm>
            <a:off x="4285488" y="5376672"/>
            <a:ext cx="3590544" cy="530352"/>
          </a:xfrm>
          <a:prstGeom prst="roundRect">
            <a:avLst>
              <a:gd name="adj" fmla="val 13793"/>
            </a:avLst>
          </a:prstGeom>
          <a:solidFill>
            <a:srgbClr val="0F766E"/>
          </a:solidFill>
          <a:ln w="12700">
            <a:solidFill>
              <a:srgbClr val="0F766E"/>
            </a:solidFill>
            <a:prstDash val="solid"/>
          </a:ln>
        </p:spPr>
      </p:sp>
      <p:sp>
        <p:nvSpPr>
          <p:cNvPr id="76" name="text-72"/>
          <p:cNvSpPr txBox="1"/>
          <p:nvPr/>
        </p:nvSpPr>
        <p:spPr>
          <a:xfrm>
            <a:off x="4431792" y="5413248"/>
            <a:ext cx="3316224" cy="237744"/>
          </a:xfrm>
          <a:prstGeom prst="rect">
            <a:avLst/>
          </a:prstGeom>
          <a:noFill/>
          <a:ln/>
        </p:spPr>
        <p:txBody>
          <a:bodyPr wrap="square" lIns="0" tIns="0" rIns="0" bIns="0" rtlCol="0" anchor="ctr"/>
          <a:lstStyle/>
          <a:p>
            <a:pPr algn="l" indent="0" marL="0">
              <a:lnSpc>
                <a:spcPct val="100000"/>
              </a:lnSpc>
              <a:buNone/>
            </a:pPr>
            <a:r>
              <a:rPr lang="en-US" sz="1300" b="1" dirty="0">
                <a:solidFill>
                  <a:srgbClr val="FFFFFF"/>
                </a:solidFill>
                <a:latin typeface="Calibri" pitchFamily="34" charset="0"/>
                <a:ea typeface="Calibri" pitchFamily="34" charset="-122"/>
                <a:cs typeface="Calibri" pitchFamily="34" charset="-120"/>
              </a:rPr>
              <a:t>Months 3–4</a:t>
            </a:r>
            <a:endParaRPr lang="en-US" sz="1300" dirty="0"/>
          </a:p>
        </p:txBody>
      </p:sp>
      <p:sp>
        <p:nvSpPr>
          <p:cNvPr id="77" name="text-73"/>
          <p:cNvSpPr txBox="1"/>
          <p:nvPr/>
        </p:nvSpPr>
        <p:spPr>
          <a:xfrm>
            <a:off x="4431792" y="5650992"/>
            <a:ext cx="3316224" cy="182880"/>
          </a:xfrm>
          <a:prstGeom prst="rect">
            <a:avLst/>
          </a:prstGeom>
          <a:noFill/>
          <a:ln/>
        </p:spPr>
        <p:txBody>
          <a:bodyPr wrap="square" lIns="0" tIns="0" rIns="0" bIns="0" rtlCol="0" anchor="ctr"/>
          <a:lstStyle/>
          <a:p>
            <a:pPr algn="l" indent="0" marL="0">
              <a:lnSpc>
                <a:spcPct val="100000"/>
              </a:lnSpc>
              <a:buNone/>
            </a:pPr>
            <a:r>
              <a:rPr lang="en-US" sz="950" dirty="0">
                <a:solidFill>
                  <a:srgbClr val="CFE8E5"/>
                </a:solidFill>
                <a:latin typeface="Calibri" pitchFamily="34" charset="0"/>
                <a:ea typeface="Calibri" pitchFamily="34" charset="-122"/>
                <a:cs typeface="Calibri" pitchFamily="34" charset="-120"/>
              </a:rPr>
              <a:t>first assured delivery; partners delivering</a:t>
            </a:r>
            <a:endParaRPr lang="en-US" sz="950" dirty="0"/>
          </a:p>
        </p:txBody>
      </p:sp>
      <p:sp>
        <p:nvSpPr>
          <p:cNvPr id="78" name="shape-74"/>
          <p:cNvSpPr/>
          <p:nvPr/>
        </p:nvSpPr>
        <p:spPr>
          <a:xfrm>
            <a:off x="8022336" y="5376672"/>
            <a:ext cx="3590544" cy="530352"/>
          </a:xfrm>
          <a:prstGeom prst="roundRect">
            <a:avLst>
              <a:gd name="adj" fmla="val 13793"/>
            </a:avLst>
          </a:prstGeom>
          <a:solidFill>
            <a:srgbClr val="134E4A"/>
          </a:solidFill>
          <a:ln w="12700">
            <a:solidFill>
              <a:srgbClr val="134E4A"/>
            </a:solidFill>
            <a:prstDash val="solid"/>
          </a:ln>
        </p:spPr>
      </p:sp>
      <p:sp>
        <p:nvSpPr>
          <p:cNvPr id="79" name="text-75"/>
          <p:cNvSpPr txBox="1"/>
          <p:nvPr/>
        </p:nvSpPr>
        <p:spPr>
          <a:xfrm>
            <a:off x="8168640" y="5413248"/>
            <a:ext cx="3316224" cy="237744"/>
          </a:xfrm>
          <a:prstGeom prst="rect">
            <a:avLst/>
          </a:prstGeom>
          <a:noFill/>
          <a:ln/>
        </p:spPr>
        <p:txBody>
          <a:bodyPr wrap="square" lIns="0" tIns="0" rIns="0" bIns="0" rtlCol="0" anchor="ctr"/>
          <a:lstStyle/>
          <a:p>
            <a:pPr algn="l" indent="0" marL="0">
              <a:lnSpc>
                <a:spcPct val="100000"/>
              </a:lnSpc>
              <a:buNone/>
            </a:pPr>
            <a:r>
              <a:rPr lang="en-US" sz="1300" b="1" dirty="0">
                <a:solidFill>
                  <a:srgbClr val="FFFFFF"/>
                </a:solidFill>
                <a:latin typeface="Calibri" pitchFamily="34" charset="0"/>
                <a:ea typeface="Calibri" pitchFamily="34" charset="-122"/>
                <a:cs typeface="Calibri" pitchFamily="34" charset="-120"/>
              </a:rPr>
              <a:t>Months 5–6</a:t>
            </a:r>
            <a:endParaRPr lang="en-US" sz="1300" dirty="0"/>
          </a:p>
        </p:txBody>
      </p:sp>
      <p:sp>
        <p:nvSpPr>
          <p:cNvPr id="80" name="text-76"/>
          <p:cNvSpPr txBox="1"/>
          <p:nvPr/>
        </p:nvSpPr>
        <p:spPr>
          <a:xfrm>
            <a:off x="8168640" y="5650992"/>
            <a:ext cx="3316224" cy="182880"/>
          </a:xfrm>
          <a:prstGeom prst="rect">
            <a:avLst/>
          </a:prstGeom>
          <a:noFill/>
          <a:ln/>
        </p:spPr>
        <p:txBody>
          <a:bodyPr wrap="square" lIns="0" tIns="0" rIns="0" bIns="0" rtlCol="0" anchor="ctr"/>
          <a:lstStyle/>
          <a:p>
            <a:pPr algn="l" indent="0" marL="0">
              <a:lnSpc>
                <a:spcPct val="100000"/>
              </a:lnSpc>
              <a:buNone/>
            </a:pPr>
            <a:r>
              <a:rPr lang="en-US" sz="950" dirty="0">
                <a:solidFill>
                  <a:srgbClr val="CFE8E5"/>
                </a:solidFill>
                <a:latin typeface="Calibri" pitchFamily="34" charset="0"/>
                <a:ea typeface="Calibri" pitchFamily="34" charset="-122"/>
                <a:cs typeface="Calibri" pitchFamily="34" charset="-120"/>
              </a:rPr>
              <a:t>build waves, cutover rehearsal, date confidence with evidence</a:t>
            </a:r>
            <a:endParaRPr lang="en-US" sz="950" dirty="0"/>
          </a:p>
        </p:txBody>
      </p:sp>
      <p:sp>
        <p:nvSpPr>
          <p:cNvPr id="81" name="text-77"/>
          <p:cNvSpPr txBox="1"/>
          <p:nvPr/>
        </p:nvSpPr>
        <p:spPr>
          <a:xfrm>
            <a:off x="548640" y="6053328"/>
            <a:ext cx="914400" cy="182880"/>
          </a:xfrm>
          <a:prstGeom prst="rect">
            <a:avLst/>
          </a:prstGeom>
          <a:noFill/>
          <a:ln/>
        </p:spPr>
        <p:txBody>
          <a:bodyPr wrap="square" lIns="0" tIns="0" rIns="0" bIns="0" rtlCol="0" anchor="ctr"/>
          <a:lstStyle/>
          <a:p>
            <a:pPr algn="l" indent="0" marL="0">
              <a:lnSpc>
                <a:spcPct val="100000"/>
              </a:lnSpc>
              <a:buNone/>
            </a:pPr>
            <a:r>
              <a:rPr lang="en-US" sz="850" b="1" spc="200" kern="0" dirty="0">
                <a:solidFill>
                  <a:srgbClr val="B45309"/>
                </a:solidFill>
                <a:latin typeface="Calibri" pitchFamily="34" charset="0"/>
                <a:ea typeface="Calibri" pitchFamily="34" charset="-122"/>
                <a:cs typeface="Calibri" pitchFamily="34" charset="-120"/>
              </a:rPr>
              <a:t>CONSTRAINTS</a:t>
            </a:r>
            <a:endParaRPr lang="en-US" sz="850" dirty="0"/>
          </a:p>
        </p:txBody>
      </p:sp>
      <p:sp>
        <p:nvSpPr>
          <p:cNvPr id="82" name="text-78"/>
          <p:cNvSpPr txBox="1"/>
          <p:nvPr/>
        </p:nvSpPr>
        <p:spPr>
          <a:xfrm>
            <a:off x="1554480" y="6053328"/>
            <a:ext cx="10058400" cy="182880"/>
          </a:xfrm>
          <a:prstGeom prst="rect">
            <a:avLst/>
          </a:prstGeom>
          <a:noFill/>
          <a:ln/>
        </p:spPr>
        <p:txBody>
          <a:bodyPr wrap="square" lIns="0" tIns="0" rIns="0" bIns="0" rtlCol="0" anchor="ctr"/>
          <a:lstStyle/>
          <a:p>
            <a:pPr algn="l" indent="0" marL="0">
              <a:lnSpc>
                <a:spcPct val="100000"/>
              </a:lnSpc>
              <a:buNone/>
            </a:pPr>
            <a:r>
              <a:rPr lang="en-US" sz="1000" dirty="0">
                <a:solidFill>
                  <a:srgbClr val="1C2B33"/>
                </a:solidFill>
                <a:latin typeface="Calibri" pitchFamily="34" charset="0"/>
                <a:ea typeface="Calibri" pitchFamily="34" charset="-122"/>
                <a:cs typeface="Calibri" pitchFamily="34" charset="-120"/>
              </a:rPr>
              <a:t>fixed date  ·  team of six  ·  budget  ·  vendor dependency  ·  content operations capacity  ·  availability and payments scope</a:t>
            </a:r>
            <a:endParaRPr lang="en-US" sz="1000" dirty="0"/>
          </a:p>
        </p:txBody>
      </p:sp>
      <p:sp>
        <p:nvSpPr>
          <p:cNvPr id="83" name="version-stamp"/>
          <p:cNvSpPr txBox="1"/>
          <p:nvPr/>
        </p:nvSpPr>
        <p:spPr>
          <a:xfrm>
            <a:off x="548640" y="6656832"/>
            <a:ext cx="6400800" cy="146304"/>
          </a:xfrm>
          <a:prstGeom prst="rect">
            <a:avLst/>
          </a:prstGeom>
          <a:noFill/>
          <a:ln/>
        </p:spPr>
        <p:txBody>
          <a:bodyPr wrap="square" lIns="0" tIns="0" rIns="0" bIns="0" rtlCol="0" anchor="ctr"/>
          <a:lstStyle/>
          <a:p>
            <a:pPr algn="l" indent="0" marL="0">
              <a:lnSpc>
                <a:spcPct val="100000"/>
              </a:lnSpc>
              <a:buNone/>
            </a:pPr>
            <a:r>
              <a:rPr lang="en-US" sz="700" dirty="0">
                <a:solidFill>
                  <a:srgbClr val="5A6B75"/>
                </a:solidFill>
                <a:latin typeface="Calibri" pitchFamily="34" charset="0"/>
                <a:ea typeface="Calibri" pitchFamily="34" charset="-122"/>
                <a:cs typeface="Calibri" pitchFamily="34" charset="-120"/>
              </a:rPr>
              <a:t>Modernisation deck · Slide 7 · native · 2026-10-15</a:t>
            </a:r>
            <a:endParaRPr lang="en-US" sz="700" dirty="0"/>
          </a:p>
        </p:txBody>
      </p:sp>
      <p:sp>
        <p:nvSpPr>
          <p:cNvPr id="25" name="Slide Number Placeholder 0"/>
          <p:cNvSpPr>
            <a:spLocks noGrp="1"/>
          </p:cNvSpPr>
          <p:nvPr>
            <p:ph type="sldNum" sz="quarter" idx="4294967295"/>
          </p:nvPr>
        </p:nvSpPr>
        <p:spPr>
          <a:xfrm>
            <a:off x="11247120" y="6601968"/>
            <a:ext cx="41148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B7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kicker"/>
          <p:cNvSpPr txBox="1"/>
          <p:nvPr/>
        </p:nvSpPr>
        <p:spPr>
          <a:xfrm>
            <a:off x="548640" y="402336"/>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8  ·  BEYOND DAY 1 — IDEAS, NOT COMMITMENTS</a:t>
            </a:r>
            <a:endParaRPr lang="en-US" sz="800" dirty="0"/>
          </a:p>
        </p:txBody>
      </p:sp>
      <p:sp>
        <p:nvSpPr>
          <p:cNvPr id="3" name="title"/>
          <p:cNvSpPr txBox="1"/>
          <p:nvPr/>
        </p:nvSpPr>
        <p:spPr>
          <a:xfrm>
            <a:off x="548640" y="713232"/>
            <a:ext cx="11155680" cy="384048"/>
          </a:xfrm>
          <a:prstGeom prst="rect">
            <a:avLst/>
          </a:prstGeom>
          <a:noFill/>
          <a:ln/>
        </p:spPr>
        <p:txBody>
          <a:bodyPr wrap="none" lIns="0" tIns="0" rIns="0" bIns="0" rtlCol="0" anchor="ctr"/>
          <a:lstStyle/>
          <a:p>
            <a:pPr algn="l" indent="0" marL="0">
              <a:lnSpc>
                <a:spcPct val="100000"/>
              </a:lnSpc>
              <a:buNone/>
            </a:pPr>
            <a:r>
              <a:rPr lang="en-US" sz="2000" b="1" dirty="0">
                <a:solidFill>
                  <a:srgbClr val="1C2B33"/>
                </a:solidFill>
                <a:latin typeface="Calibri" pitchFamily="34" charset="0"/>
                <a:ea typeface="Calibri" pitchFamily="34" charset="-122"/>
                <a:cs typeface="Calibri" pitchFamily="34" charset="-120"/>
              </a:rPr>
              <a:t>What the proposal does not show yet — not walked through today</a:t>
            </a:r>
            <a:endParaRPr lang="en-US" sz="2000" dirty="0"/>
          </a:p>
        </p:txBody>
      </p:sp>
      <p:sp>
        <p:nvSpPr>
          <p:cNvPr id="4" name="shape-0"/>
          <p:cNvSpPr/>
          <p:nvPr/>
        </p:nvSpPr>
        <p:spPr>
          <a:xfrm>
            <a:off x="548640" y="1371600"/>
            <a:ext cx="7680960" cy="4937760"/>
          </a:xfrm>
          <a:prstGeom prst="roundRect">
            <a:avLst>
              <a:gd name="adj" fmla="val 1481"/>
            </a:avLst>
          </a:prstGeom>
          <a:solidFill>
            <a:srgbClr val="F4F1EA"/>
          </a:solidFill>
          <a:ln w="12700">
            <a:solidFill>
              <a:srgbClr val="F4F1EA"/>
            </a:solidFill>
            <a:prstDash val="solid"/>
          </a:ln>
        </p:spPr>
      </p:sp>
      <p:sp>
        <p:nvSpPr>
          <p:cNvPr id="5" name="text-1"/>
          <p:cNvSpPr txBox="1"/>
          <p:nvPr/>
        </p:nvSpPr>
        <p:spPr>
          <a:xfrm>
            <a:off x="731520" y="1499616"/>
            <a:ext cx="73152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5A6B75"/>
                </a:solidFill>
                <a:latin typeface="Calibri" pitchFamily="34" charset="0"/>
                <a:ea typeface="Calibri" pitchFamily="34" charset="-122"/>
                <a:cs typeface="Calibri" pitchFamily="34" charset="-120"/>
              </a:rPr>
              <a:t>DAY 1.5 — IDEAS WALL: PARKED, UNSORTED, JUDGED BY TIER WHEN THEIR TIME COMES</a:t>
            </a:r>
            <a:endParaRPr lang="en-US" sz="800" dirty="0"/>
          </a:p>
        </p:txBody>
      </p:sp>
      <p:sp>
        <p:nvSpPr>
          <p:cNvPr id="6" name="shape-2"/>
          <p:cNvSpPr/>
          <p:nvPr/>
        </p:nvSpPr>
        <p:spPr>
          <a:xfrm rot="-240000">
            <a:off x="804672" y="1920240"/>
            <a:ext cx="1572768" cy="1188720"/>
          </a:xfrm>
          <a:prstGeom prst="rect">
            <a:avLst/>
          </a:prstGeom>
          <a:solidFill>
            <a:srgbClr val="000000">
              <a:alpha val="10000"/>
            </a:srgbClr>
          </a:solidFill>
          <a:ln w="12700">
            <a:solidFill>
              <a:srgbClr val="000000"/>
            </a:solidFill>
            <a:prstDash val="solid"/>
          </a:ln>
        </p:spPr>
      </p:sp>
      <p:sp>
        <p:nvSpPr>
          <p:cNvPr id="7" name="shape-3"/>
          <p:cNvSpPr/>
          <p:nvPr/>
        </p:nvSpPr>
        <p:spPr>
          <a:xfrm rot="-240000">
            <a:off x="768096" y="1865376"/>
            <a:ext cx="1572768" cy="1188720"/>
          </a:xfrm>
          <a:prstGeom prst="rect">
            <a:avLst/>
          </a:prstGeom>
          <a:solidFill>
            <a:srgbClr val="FFF3B0"/>
          </a:solidFill>
          <a:ln w="12700">
            <a:solidFill>
              <a:srgbClr val="FFF3B0"/>
            </a:solidFill>
            <a:prstDash val="solid"/>
          </a:ln>
        </p:spPr>
      </p:sp>
      <p:sp>
        <p:nvSpPr>
          <p:cNvPr id="8" name="shape-4"/>
          <p:cNvSpPr/>
          <p:nvPr/>
        </p:nvSpPr>
        <p:spPr>
          <a:xfrm rot="-240000">
            <a:off x="1316736" y="1810512"/>
            <a:ext cx="475488" cy="128016"/>
          </a:xfrm>
          <a:prstGeom prst="rect">
            <a:avLst/>
          </a:prstGeom>
          <a:solidFill>
            <a:srgbClr val="9A9A9A">
              <a:alpha val="30000"/>
            </a:srgbClr>
          </a:solidFill>
          <a:ln w="12700">
            <a:solidFill>
              <a:srgbClr val="9A9A9A"/>
            </a:solidFill>
            <a:prstDash val="solid"/>
          </a:ln>
        </p:spPr>
      </p:sp>
      <p:sp>
        <p:nvSpPr>
          <p:cNvPr id="9" name="text-5"/>
          <p:cNvSpPr txBox="1"/>
          <p:nvPr/>
        </p:nvSpPr>
        <p:spPr>
          <a:xfrm rot="-240000">
            <a:off x="841248" y="1956816"/>
            <a:ext cx="1426464" cy="1005840"/>
          </a:xfrm>
          <a:prstGeom prst="rect">
            <a:avLst/>
          </a:prstGeom>
          <a:noFill/>
          <a:ln/>
        </p:spPr>
        <p:txBody>
          <a:bodyPr wrap="square" lIns="0" tIns="0" rIns="0" bIns="0" rtlCol="0" anchor="ctr"/>
          <a:lstStyle/>
          <a:p>
            <a:pPr algn="ctr" indent="0" marL="0">
              <a:lnSpc>
                <a:spcPct val="100000"/>
              </a:lnSpc>
              <a:buNone/>
            </a:pPr>
            <a:r>
              <a:rPr lang="en-US" sz="1150" dirty="0">
                <a:solidFill>
                  <a:srgbClr val="1C2B33"/>
                </a:solidFill>
                <a:latin typeface="Segoe Print" pitchFamily="34" charset="0"/>
                <a:ea typeface="Segoe Print" pitchFamily="34" charset="-122"/>
                <a:cs typeface="Segoe Print" pitchFamily="34" charset="-120"/>
              </a:rPr>
              <a:t>Unified communications</a:t>
            </a:r>
            <a:endParaRPr lang="en-US" sz="1150" dirty="0"/>
          </a:p>
        </p:txBody>
      </p:sp>
      <p:sp>
        <p:nvSpPr>
          <p:cNvPr id="10" name="shape-6"/>
          <p:cNvSpPr/>
          <p:nvPr/>
        </p:nvSpPr>
        <p:spPr>
          <a:xfrm rot="180000">
            <a:off x="2807208" y="1828800"/>
            <a:ext cx="1572768" cy="1188720"/>
          </a:xfrm>
          <a:prstGeom prst="rect">
            <a:avLst/>
          </a:prstGeom>
          <a:solidFill>
            <a:srgbClr val="000000">
              <a:alpha val="10000"/>
            </a:srgbClr>
          </a:solidFill>
          <a:ln w="12700">
            <a:solidFill>
              <a:srgbClr val="000000"/>
            </a:solidFill>
            <a:prstDash val="solid"/>
          </a:ln>
        </p:spPr>
      </p:sp>
      <p:sp>
        <p:nvSpPr>
          <p:cNvPr id="11" name="shape-7"/>
          <p:cNvSpPr/>
          <p:nvPr/>
        </p:nvSpPr>
        <p:spPr>
          <a:xfrm rot="180000">
            <a:off x="2770632" y="1773936"/>
            <a:ext cx="1572768" cy="1188720"/>
          </a:xfrm>
          <a:prstGeom prst="rect">
            <a:avLst/>
          </a:prstGeom>
          <a:solidFill>
            <a:srgbClr val="FFF3B0"/>
          </a:solidFill>
          <a:ln w="12700">
            <a:solidFill>
              <a:srgbClr val="FFF3B0"/>
            </a:solidFill>
            <a:prstDash val="solid"/>
          </a:ln>
        </p:spPr>
      </p:sp>
      <p:sp>
        <p:nvSpPr>
          <p:cNvPr id="12" name="shape-8"/>
          <p:cNvSpPr/>
          <p:nvPr/>
        </p:nvSpPr>
        <p:spPr>
          <a:xfrm rot="180000">
            <a:off x="3319272" y="1719072"/>
            <a:ext cx="475488" cy="128016"/>
          </a:xfrm>
          <a:prstGeom prst="rect">
            <a:avLst/>
          </a:prstGeom>
          <a:solidFill>
            <a:srgbClr val="9A9A9A">
              <a:alpha val="30000"/>
            </a:srgbClr>
          </a:solidFill>
          <a:ln w="12700">
            <a:solidFill>
              <a:srgbClr val="9A9A9A"/>
            </a:solidFill>
            <a:prstDash val="solid"/>
          </a:ln>
        </p:spPr>
      </p:sp>
      <p:sp>
        <p:nvSpPr>
          <p:cNvPr id="13" name="text-9"/>
          <p:cNvSpPr txBox="1"/>
          <p:nvPr/>
        </p:nvSpPr>
        <p:spPr>
          <a:xfrm rot="180000">
            <a:off x="2843784" y="1865376"/>
            <a:ext cx="1426464" cy="1005840"/>
          </a:xfrm>
          <a:prstGeom prst="rect">
            <a:avLst/>
          </a:prstGeom>
          <a:noFill/>
          <a:ln/>
        </p:spPr>
        <p:txBody>
          <a:bodyPr wrap="square" lIns="0" tIns="0" rIns="0" bIns="0" rtlCol="0" anchor="ctr"/>
          <a:lstStyle/>
          <a:p>
            <a:pPr algn="ctr" indent="0" marL="0">
              <a:lnSpc>
                <a:spcPct val="100000"/>
              </a:lnSpc>
              <a:buNone/>
            </a:pPr>
            <a:r>
              <a:rPr lang="en-US" sz="1150" dirty="0">
                <a:solidFill>
                  <a:srgbClr val="1C2B33"/>
                </a:solidFill>
                <a:latin typeface="Segoe Print" pitchFamily="34" charset="0"/>
                <a:ea typeface="Segoe Print" pitchFamily="34" charset="-122"/>
                <a:cs typeface="Segoe Print" pitchFamily="34" charset="-120"/>
              </a:rPr>
              <a:t>Product analytics and behaviour</a:t>
            </a:r>
            <a:endParaRPr lang="en-US" sz="1150" dirty="0"/>
          </a:p>
        </p:txBody>
      </p:sp>
      <p:sp>
        <p:nvSpPr>
          <p:cNvPr id="14" name="shape-10"/>
          <p:cNvSpPr/>
          <p:nvPr/>
        </p:nvSpPr>
        <p:spPr>
          <a:xfrm rot="-120000">
            <a:off x="4581144" y="1947672"/>
            <a:ext cx="1572768" cy="1188720"/>
          </a:xfrm>
          <a:prstGeom prst="rect">
            <a:avLst/>
          </a:prstGeom>
          <a:solidFill>
            <a:srgbClr val="000000">
              <a:alpha val="10000"/>
            </a:srgbClr>
          </a:solidFill>
          <a:ln w="12700">
            <a:solidFill>
              <a:srgbClr val="000000"/>
            </a:solidFill>
            <a:prstDash val="solid"/>
          </a:ln>
        </p:spPr>
      </p:sp>
      <p:sp>
        <p:nvSpPr>
          <p:cNvPr id="15" name="shape-11"/>
          <p:cNvSpPr/>
          <p:nvPr/>
        </p:nvSpPr>
        <p:spPr>
          <a:xfrm rot="-120000">
            <a:off x="4544568" y="1892808"/>
            <a:ext cx="1572768" cy="1188720"/>
          </a:xfrm>
          <a:prstGeom prst="rect">
            <a:avLst/>
          </a:prstGeom>
          <a:solidFill>
            <a:srgbClr val="FFF3B0"/>
          </a:solidFill>
          <a:ln w="12700">
            <a:solidFill>
              <a:srgbClr val="FFF3B0"/>
            </a:solidFill>
            <a:prstDash val="solid"/>
          </a:ln>
        </p:spPr>
      </p:sp>
      <p:sp>
        <p:nvSpPr>
          <p:cNvPr id="16" name="shape-12"/>
          <p:cNvSpPr/>
          <p:nvPr/>
        </p:nvSpPr>
        <p:spPr>
          <a:xfrm rot="-120000">
            <a:off x="5093208" y="1837944"/>
            <a:ext cx="475488" cy="128016"/>
          </a:xfrm>
          <a:prstGeom prst="rect">
            <a:avLst/>
          </a:prstGeom>
          <a:solidFill>
            <a:srgbClr val="9A9A9A">
              <a:alpha val="30000"/>
            </a:srgbClr>
          </a:solidFill>
          <a:ln w="12700">
            <a:solidFill>
              <a:srgbClr val="9A9A9A"/>
            </a:solidFill>
            <a:prstDash val="solid"/>
          </a:ln>
        </p:spPr>
      </p:sp>
      <p:sp>
        <p:nvSpPr>
          <p:cNvPr id="17" name="text-13"/>
          <p:cNvSpPr txBox="1"/>
          <p:nvPr/>
        </p:nvSpPr>
        <p:spPr>
          <a:xfrm rot="-120000">
            <a:off x="4617720" y="1984248"/>
            <a:ext cx="1426464" cy="1005840"/>
          </a:xfrm>
          <a:prstGeom prst="rect">
            <a:avLst/>
          </a:prstGeom>
          <a:noFill/>
          <a:ln/>
        </p:spPr>
        <p:txBody>
          <a:bodyPr wrap="square" lIns="0" tIns="0" rIns="0" bIns="0" rtlCol="0" anchor="ctr"/>
          <a:lstStyle/>
          <a:p>
            <a:pPr algn="ctr" indent="0" marL="0">
              <a:lnSpc>
                <a:spcPct val="100000"/>
              </a:lnSpc>
              <a:buNone/>
            </a:pPr>
            <a:r>
              <a:rPr lang="en-US" sz="1150" dirty="0">
                <a:solidFill>
                  <a:srgbClr val="1C2B33"/>
                </a:solidFill>
                <a:latin typeface="Segoe Print" pitchFamily="34" charset="0"/>
                <a:ea typeface="Segoe Print" pitchFamily="34" charset="-122"/>
                <a:cs typeface="Segoe Print" pitchFamily="34" charset="-120"/>
              </a:rPr>
              <a:t>In-app guidance and onboarding</a:t>
            </a:r>
            <a:endParaRPr lang="en-US" sz="1150" dirty="0"/>
          </a:p>
        </p:txBody>
      </p:sp>
      <p:sp>
        <p:nvSpPr>
          <p:cNvPr id="18" name="shape-14"/>
          <p:cNvSpPr/>
          <p:nvPr/>
        </p:nvSpPr>
        <p:spPr>
          <a:xfrm rot="240000">
            <a:off x="6528816" y="1847088"/>
            <a:ext cx="1572768" cy="1188720"/>
          </a:xfrm>
          <a:prstGeom prst="rect">
            <a:avLst/>
          </a:prstGeom>
          <a:solidFill>
            <a:srgbClr val="000000">
              <a:alpha val="10000"/>
            </a:srgbClr>
          </a:solidFill>
          <a:ln w="12700">
            <a:solidFill>
              <a:srgbClr val="000000"/>
            </a:solidFill>
            <a:prstDash val="solid"/>
          </a:ln>
        </p:spPr>
      </p:sp>
      <p:sp>
        <p:nvSpPr>
          <p:cNvPr id="19" name="shape-15"/>
          <p:cNvSpPr/>
          <p:nvPr/>
        </p:nvSpPr>
        <p:spPr>
          <a:xfrm rot="240000">
            <a:off x="6492240" y="1792224"/>
            <a:ext cx="1572768" cy="1188720"/>
          </a:xfrm>
          <a:prstGeom prst="rect">
            <a:avLst/>
          </a:prstGeom>
          <a:solidFill>
            <a:srgbClr val="FFF3B0"/>
          </a:solidFill>
          <a:ln w="12700">
            <a:solidFill>
              <a:srgbClr val="FFF3B0"/>
            </a:solidFill>
            <a:prstDash val="solid"/>
          </a:ln>
        </p:spPr>
      </p:sp>
      <p:sp>
        <p:nvSpPr>
          <p:cNvPr id="20" name="shape-16"/>
          <p:cNvSpPr/>
          <p:nvPr/>
        </p:nvSpPr>
        <p:spPr>
          <a:xfrm rot="240000">
            <a:off x="7040880" y="1737360"/>
            <a:ext cx="475488" cy="128016"/>
          </a:xfrm>
          <a:prstGeom prst="rect">
            <a:avLst/>
          </a:prstGeom>
          <a:solidFill>
            <a:srgbClr val="9A9A9A">
              <a:alpha val="30000"/>
            </a:srgbClr>
          </a:solidFill>
          <a:ln w="12700">
            <a:solidFill>
              <a:srgbClr val="9A9A9A"/>
            </a:solidFill>
            <a:prstDash val="solid"/>
          </a:ln>
        </p:spPr>
      </p:sp>
      <p:sp>
        <p:nvSpPr>
          <p:cNvPr id="21" name="text-17"/>
          <p:cNvSpPr txBox="1"/>
          <p:nvPr/>
        </p:nvSpPr>
        <p:spPr>
          <a:xfrm rot="240000">
            <a:off x="6565392" y="1883664"/>
            <a:ext cx="1426464" cy="1005840"/>
          </a:xfrm>
          <a:prstGeom prst="rect">
            <a:avLst/>
          </a:prstGeom>
          <a:noFill/>
          <a:ln/>
        </p:spPr>
        <p:txBody>
          <a:bodyPr wrap="square" lIns="0" tIns="0" rIns="0" bIns="0" rtlCol="0" anchor="ctr"/>
          <a:lstStyle/>
          <a:p>
            <a:pPr algn="ctr" indent="0" marL="0">
              <a:lnSpc>
                <a:spcPct val="100000"/>
              </a:lnSpc>
              <a:buNone/>
            </a:pPr>
            <a:r>
              <a:rPr lang="en-US" sz="1150" dirty="0">
                <a:solidFill>
                  <a:srgbClr val="1C2B33"/>
                </a:solidFill>
                <a:latin typeface="Segoe Print" pitchFamily="34" charset="0"/>
                <a:ea typeface="Segoe Print" pitchFamily="34" charset="-122"/>
                <a:cs typeface="Segoe Print" pitchFamily="34" charset="-120"/>
              </a:rPr>
              <a:t>Inline surveys and sentiment</a:t>
            </a:r>
            <a:endParaRPr lang="en-US" sz="1150" dirty="0"/>
          </a:p>
        </p:txBody>
      </p:sp>
      <p:sp>
        <p:nvSpPr>
          <p:cNvPr id="22" name="shape-18"/>
          <p:cNvSpPr/>
          <p:nvPr/>
        </p:nvSpPr>
        <p:spPr>
          <a:xfrm rot="120000">
            <a:off x="786384" y="3364992"/>
            <a:ext cx="1572768" cy="1188720"/>
          </a:xfrm>
          <a:prstGeom prst="rect">
            <a:avLst/>
          </a:prstGeom>
          <a:solidFill>
            <a:srgbClr val="000000">
              <a:alpha val="10000"/>
            </a:srgbClr>
          </a:solidFill>
          <a:ln w="12700">
            <a:solidFill>
              <a:srgbClr val="000000"/>
            </a:solidFill>
            <a:prstDash val="solid"/>
          </a:ln>
        </p:spPr>
      </p:sp>
      <p:sp>
        <p:nvSpPr>
          <p:cNvPr id="23" name="shape-19"/>
          <p:cNvSpPr/>
          <p:nvPr/>
        </p:nvSpPr>
        <p:spPr>
          <a:xfrm rot="120000">
            <a:off x="749808" y="3310128"/>
            <a:ext cx="1572768" cy="1188720"/>
          </a:xfrm>
          <a:prstGeom prst="rect">
            <a:avLst/>
          </a:prstGeom>
          <a:solidFill>
            <a:srgbClr val="FFF3B0"/>
          </a:solidFill>
          <a:ln w="12700">
            <a:solidFill>
              <a:srgbClr val="FFF3B0"/>
            </a:solidFill>
            <a:prstDash val="solid"/>
          </a:ln>
        </p:spPr>
      </p:sp>
      <p:sp>
        <p:nvSpPr>
          <p:cNvPr id="24" name="shape-20"/>
          <p:cNvSpPr/>
          <p:nvPr/>
        </p:nvSpPr>
        <p:spPr>
          <a:xfrm rot="120000">
            <a:off x="1298448" y="3255264"/>
            <a:ext cx="475488" cy="128016"/>
          </a:xfrm>
          <a:prstGeom prst="rect">
            <a:avLst/>
          </a:prstGeom>
          <a:solidFill>
            <a:srgbClr val="9A9A9A">
              <a:alpha val="30000"/>
            </a:srgbClr>
          </a:solidFill>
          <a:ln w="12700">
            <a:solidFill>
              <a:srgbClr val="9A9A9A"/>
            </a:solidFill>
            <a:prstDash val="solid"/>
          </a:ln>
        </p:spPr>
      </p:sp>
      <p:sp>
        <p:nvSpPr>
          <p:cNvPr id="25" name="text-21"/>
          <p:cNvSpPr txBox="1"/>
          <p:nvPr/>
        </p:nvSpPr>
        <p:spPr>
          <a:xfrm rot="120000">
            <a:off x="822960" y="3401568"/>
            <a:ext cx="1426464" cy="1005840"/>
          </a:xfrm>
          <a:prstGeom prst="rect">
            <a:avLst/>
          </a:prstGeom>
          <a:noFill/>
          <a:ln/>
        </p:spPr>
        <p:txBody>
          <a:bodyPr wrap="square" lIns="0" tIns="0" rIns="0" bIns="0" rtlCol="0" anchor="ctr"/>
          <a:lstStyle/>
          <a:p>
            <a:pPr algn="ctr" indent="0" marL="0">
              <a:lnSpc>
                <a:spcPct val="100000"/>
              </a:lnSpc>
              <a:buNone/>
            </a:pPr>
            <a:r>
              <a:rPr lang="en-US" sz="1150" dirty="0">
                <a:solidFill>
                  <a:srgbClr val="1C2B33"/>
                </a:solidFill>
                <a:latin typeface="Segoe Print" pitchFamily="34" charset="0"/>
                <a:ea typeface="Segoe Print" pitchFamily="34" charset="-122"/>
                <a:cs typeface="Segoe Print" pitchFamily="34" charset="-120"/>
              </a:rPr>
              <a:t>Feature switches, progressive delivery</a:t>
            </a:r>
            <a:endParaRPr lang="en-US" sz="1150" dirty="0"/>
          </a:p>
        </p:txBody>
      </p:sp>
      <p:sp>
        <p:nvSpPr>
          <p:cNvPr id="26" name="shape-22"/>
          <p:cNvSpPr/>
          <p:nvPr/>
        </p:nvSpPr>
        <p:spPr>
          <a:xfrm rot="-300000">
            <a:off x="2770632" y="3401568"/>
            <a:ext cx="1572768" cy="1188720"/>
          </a:xfrm>
          <a:prstGeom prst="rect">
            <a:avLst/>
          </a:prstGeom>
          <a:solidFill>
            <a:srgbClr val="000000">
              <a:alpha val="10000"/>
            </a:srgbClr>
          </a:solidFill>
          <a:ln w="12700">
            <a:solidFill>
              <a:srgbClr val="000000"/>
            </a:solidFill>
            <a:prstDash val="solid"/>
          </a:ln>
        </p:spPr>
      </p:sp>
      <p:sp>
        <p:nvSpPr>
          <p:cNvPr id="27" name="shape-23"/>
          <p:cNvSpPr/>
          <p:nvPr/>
        </p:nvSpPr>
        <p:spPr>
          <a:xfrm rot="-300000">
            <a:off x="2734056" y="3346704"/>
            <a:ext cx="1572768" cy="1188720"/>
          </a:xfrm>
          <a:prstGeom prst="rect">
            <a:avLst/>
          </a:prstGeom>
          <a:solidFill>
            <a:srgbClr val="FFF3B0"/>
          </a:solidFill>
          <a:ln w="12700">
            <a:solidFill>
              <a:srgbClr val="FFF3B0"/>
            </a:solidFill>
            <a:prstDash val="solid"/>
          </a:ln>
        </p:spPr>
      </p:sp>
      <p:sp>
        <p:nvSpPr>
          <p:cNvPr id="28" name="shape-24"/>
          <p:cNvSpPr/>
          <p:nvPr/>
        </p:nvSpPr>
        <p:spPr>
          <a:xfrm rot="-300000">
            <a:off x="3282696" y="3291840"/>
            <a:ext cx="475488" cy="128016"/>
          </a:xfrm>
          <a:prstGeom prst="rect">
            <a:avLst/>
          </a:prstGeom>
          <a:solidFill>
            <a:srgbClr val="9A9A9A">
              <a:alpha val="30000"/>
            </a:srgbClr>
          </a:solidFill>
          <a:ln w="12700">
            <a:solidFill>
              <a:srgbClr val="9A9A9A"/>
            </a:solidFill>
            <a:prstDash val="solid"/>
          </a:ln>
        </p:spPr>
      </p:sp>
      <p:sp>
        <p:nvSpPr>
          <p:cNvPr id="29" name="text-25"/>
          <p:cNvSpPr txBox="1"/>
          <p:nvPr/>
        </p:nvSpPr>
        <p:spPr>
          <a:xfrm rot="-300000">
            <a:off x="2807208" y="3438144"/>
            <a:ext cx="1426464" cy="1005840"/>
          </a:xfrm>
          <a:prstGeom prst="rect">
            <a:avLst/>
          </a:prstGeom>
          <a:noFill/>
          <a:ln/>
        </p:spPr>
        <p:txBody>
          <a:bodyPr wrap="square" lIns="0" tIns="0" rIns="0" bIns="0" rtlCol="0" anchor="ctr"/>
          <a:lstStyle/>
          <a:p>
            <a:pPr algn="ctr" indent="0" marL="0">
              <a:lnSpc>
                <a:spcPct val="100000"/>
              </a:lnSpc>
              <a:buNone/>
            </a:pPr>
            <a:r>
              <a:rPr lang="en-US" sz="1150" dirty="0">
                <a:solidFill>
                  <a:srgbClr val="1C2B33"/>
                </a:solidFill>
                <a:latin typeface="Segoe Print" pitchFamily="34" charset="0"/>
                <a:ea typeface="Segoe Print" pitchFamily="34" charset="-122"/>
                <a:cs typeface="Segoe Print" pitchFamily="34" charset="-120"/>
              </a:rPr>
              <a:t>Search as a product capability</a:t>
            </a:r>
            <a:endParaRPr lang="en-US" sz="1150" dirty="0"/>
          </a:p>
        </p:txBody>
      </p:sp>
      <p:sp>
        <p:nvSpPr>
          <p:cNvPr id="30" name="shape-26"/>
          <p:cNvSpPr/>
          <p:nvPr/>
        </p:nvSpPr>
        <p:spPr>
          <a:xfrm rot="180000">
            <a:off x="4562856" y="3319272"/>
            <a:ext cx="1572768" cy="1188720"/>
          </a:xfrm>
          <a:prstGeom prst="rect">
            <a:avLst/>
          </a:prstGeom>
          <a:solidFill>
            <a:srgbClr val="000000">
              <a:alpha val="10000"/>
            </a:srgbClr>
          </a:solidFill>
          <a:ln w="12700">
            <a:solidFill>
              <a:srgbClr val="000000"/>
            </a:solidFill>
            <a:prstDash val="solid"/>
          </a:ln>
        </p:spPr>
      </p:sp>
      <p:sp>
        <p:nvSpPr>
          <p:cNvPr id="31" name="shape-27"/>
          <p:cNvSpPr/>
          <p:nvPr/>
        </p:nvSpPr>
        <p:spPr>
          <a:xfrm rot="180000">
            <a:off x="4526280" y="3264408"/>
            <a:ext cx="1572768" cy="1188720"/>
          </a:xfrm>
          <a:prstGeom prst="rect">
            <a:avLst/>
          </a:prstGeom>
          <a:solidFill>
            <a:srgbClr val="FFF3B0"/>
          </a:solidFill>
          <a:ln w="12700">
            <a:solidFill>
              <a:srgbClr val="FFF3B0"/>
            </a:solidFill>
            <a:prstDash val="solid"/>
          </a:ln>
        </p:spPr>
      </p:sp>
      <p:sp>
        <p:nvSpPr>
          <p:cNvPr id="32" name="shape-28"/>
          <p:cNvSpPr/>
          <p:nvPr/>
        </p:nvSpPr>
        <p:spPr>
          <a:xfrm rot="180000">
            <a:off x="5074920" y="3209544"/>
            <a:ext cx="475488" cy="128016"/>
          </a:xfrm>
          <a:prstGeom prst="rect">
            <a:avLst/>
          </a:prstGeom>
          <a:solidFill>
            <a:srgbClr val="9A9A9A">
              <a:alpha val="30000"/>
            </a:srgbClr>
          </a:solidFill>
          <a:ln w="12700">
            <a:solidFill>
              <a:srgbClr val="9A9A9A"/>
            </a:solidFill>
            <a:prstDash val="solid"/>
          </a:ln>
        </p:spPr>
      </p:sp>
      <p:sp>
        <p:nvSpPr>
          <p:cNvPr id="33" name="text-29"/>
          <p:cNvSpPr txBox="1"/>
          <p:nvPr/>
        </p:nvSpPr>
        <p:spPr>
          <a:xfrm rot="180000">
            <a:off x="4599432" y="3355848"/>
            <a:ext cx="1426464" cy="1005840"/>
          </a:xfrm>
          <a:prstGeom prst="rect">
            <a:avLst/>
          </a:prstGeom>
          <a:noFill/>
          <a:ln/>
        </p:spPr>
        <p:txBody>
          <a:bodyPr wrap="square" lIns="0" tIns="0" rIns="0" bIns="0" rtlCol="0" anchor="ctr"/>
          <a:lstStyle/>
          <a:p>
            <a:pPr algn="ctr" indent="0" marL="0">
              <a:lnSpc>
                <a:spcPct val="100000"/>
              </a:lnSpc>
              <a:buNone/>
            </a:pPr>
            <a:r>
              <a:rPr lang="en-US" sz="1150" dirty="0">
                <a:solidFill>
                  <a:srgbClr val="1C2B33"/>
                </a:solidFill>
                <a:latin typeface="Segoe Print" pitchFamily="34" charset="0"/>
                <a:ea typeface="Segoe Print" pitchFamily="34" charset="-122"/>
                <a:cs typeface="Segoe Print" pitchFamily="34" charset="-120"/>
              </a:rPr>
              <a:t>Developer and API portal</a:t>
            </a:r>
            <a:endParaRPr lang="en-US" sz="1150" dirty="0"/>
          </a:p>
        </p:txBody>
      </p:sp>
      <p:sp>
        <p:nvSpPr>
          <p:cNvPr id="34" name="shape-30"/>
          <p:cNvSpPr/>
          <p:nvPr/>
        </p:nvSpPr>
        <p:spPr>
          <a:xfrm rot="-180000">
            <a:off x="6547104" y="3374136"/>
            <a:ext cx="1572768" cy="1188720"/>
          </a:xfrm>
          <a:prstGeom prst="rect">
            <a:avLst/>
          </a:prstGeom>
          <a:solidFill>
            <a:srgbClr val="000000">
              <a:alpha val="10000"/>
            </a:srgbClr>
          </a:solidFill>
          <a:ln w="12700">
            <a:solidFill>
              <a:srgbClr val="000000"/>
            </a:solidFill>
            <a:prstDash val="solid"/>
          </a:ln>
        </p:spPr>
      </p:sp>
      <p:sp>
        <p:nvSpPr>
          <p:cNvPr id="35" name="shape-31"/>
          <p:cNvSpPr/>
          <p:nvPr/>
        </p:nvSpPr>
        <p:spPr>
          <a:xfrm rot="-180000">
            <a:off x="6510528" y="3319272"/>
            <a:ext cx="1572768" cy="1188720"/>
          </a:xfrm>
          <a:prstGeom prst="rect">
            <a:avLst/>
          </a:prstGeom>
          <a:solidFill>
            <a:srgbClr val="FFD8A8"/>
          </a:solidFill>
          <a:ln w="12700">
            <a:solidFill>
              <a:srgbClr val="FFD8A8"/>
            </a:solidFill>
            <a:prstDash val="solid"/>
          </a:ln>
        </p:spPr>
      </p:sp>
      <p:sp>
        <p:nvSpPr>
          <p:cNvPr id="36" name="shape-32"/>
          <p:cNvSpPr/>
          <p:nvPr/>
        </p:nvSpPr>
        <p:spPr>
          <a:xfrm rot="-180000">
            <a:off x="7059168" y="3264408"/>
            <a:ext cx="475488" cy="128016"/>
          </a:xfrm>
          <a:prstGeom prst="rect">
            <a:avLst/>
          </a:prstGeom>
          <a:solidFill>
            <a:srgbClr val="9A9A9A">
              <a:alpha val="30000"/>
            </a:srgbClr>
          </a:solidFill>
          <a:ln w="12700">
            <a:solidFill>
              <a:srgbClr val="9A9A9A"/>
            </a:solidFill>
            <a:prstDash val="solid"/>
          </a:ln>
        </p:spPr>
      </p:sp>
      <p:sp>
        <p:nvSpPr>
          <p:cNvPr id="37" name="text-33"/>
          <p:cNvSpPr txBox="1"/>
          <p:nvPr/>
        </p:nvSpPr>
        <p:spPr>
          <a:xfrm rot="-180000">
            <a:off x="6583680" y="3410712"/>
            <a:ext cx="1426464" cy="1005840"/>
          </a:xfrm>
          <a:prstGeom prst="rect">
            <a:avLst/>
          </a:prstGeom>
          <a:noFill/>
          <a:ln/>
        </p:spPr>
        <p:txBody>
          <a:bodyPr wrap="square" lIns="0" tIns="0" rIns="0" bIns="0" rtlCol="0" anchor="ctr"/>
          <a:lstStyle/>
          <a:p>
            <a:pPr algn="ctr" indent="0" marL="0">
              <a:lnSpc>
                <a:spcPct val="100000"/>
              </a:lnSpc>
              <a:buNone/>
            </a:pPr>
            <a:r>
              <a:rPr lang="en-US" sz="1150" dirty="0">
                <a:solidFill>
                  <a:srgbClr val="1C2B33"/>
                </a:solidFill>
                <a:latin typeface="Segoe Print" pitchFamily="34" charset="0"/>
                <a:ea typeface="Segoe Print" pitchFamily="34" charset="-122"/>
                <a:cs typeface="Segoe Print" pitchFamily="34" charset="-120"/>
              </a:rPr>
              <a:t>Consent and preferences</a:t>
            </a:r>
            <a:endParaRPr lang="en-US" sz="1150" dirty="0"/>
          </a:p>
        </p:txBody>
      </p:sp>
      <p:sp>
        <p:nvSpPr>
          <p:cNvPr id="38" name="shape-34"/>
          <p:cNvSpPr/>
          <p:nvPr/>
        </p:nvSpPr>
        <p:spPr>
          <a:xfrm rot="300000">
            <a:off x="877824" y="4745736"/>
            <a:ext cx="1572768" cy="1188720"/>
          </a:xfrm>
          <a:prstGeom prst="rect">
            <a:avLst/>
          </a:prstGeom>
          <a:solidFill>
            <a:srgbClr val="000000">
              <a:alpha val="10000"/>
            </a:srgbClr>
          </a:solidFill>
          <a:ln w="12700">
            <a:solidFill>
              <a:srgbClr val="000000"/>
            </a:solidFill>
            <a:prstDash val="solid"/>
          </a:ln>
        </p:spPr>
      </p:sp>
      <p:sp>
        <p:nvSpPr>
          <p:cNvPr id="39" name="shape-35"/>
          <p:cNvSpPr/>
          <p:nvPr/>
        </p:nvSpPr>
        <p:spPr>
          <a:xfrm rot="300000">
            <a:off x="841248" y="4690872"/>
            <a:ext cx="1572768" cy="1188720"/>
          </a:xfrm>
          <a:prstGeom prst="rect">
            <a:avLst/>
          </a:prstGeom>
          <a:solidFill>
            <a:srgbClr val="FFD8A8"/>
          </a:solidFill>
          <a:ln w="12700">
            <a:solidFill>
              <a:srgbClr val="FFD8A8"/>
            </a:solidFill>
            <a:prstDash val="solid"/>
          </a:ln>
        </p:spPr>
      </p:sp>
      <p:sp>
        <p:nvSpPr>
          <p:cNvPr id="40" name="shape-36"/>
          <p:cNvSpPr/>
          <p:nvPr/>
        </p:nvSpPr>
        <p:spPr>
          <a:xfrm rot="300000">
            <a:off x="1389888" y="4636008"/>
            <a:ext cx="475488" cy="128016"/>
          </a:xfrm>
          <a:prstGeom prst="rect">
            <a:avLst/>
          </a:prstGeom>
          <a:solidFill>
            <a:srgbClr val="9A9A9A">
              <a:alpha val="30000"/>
            </a:srgbClr>
          </a:solidFill>
          <a:ln w="12700">
            <a:solidFill>
              <a:srgbClr val="9A9A9A"/>
            </a:solidFill>
            <a:prstDash val="solid"/>
          </a:ln>
        </p:spPr>
      </p:sp>
      <p:sp>
        <p:nvSpPr>
          <p:cNvPr id="41" name="text-37"/>
          <p:cNvSpPr txBox="1"/>
          <p:nvPr/>
        </p:nvSpPr>
        <p:spPr>
          <a:xfrm rot="300000">
            <a:off x="914400" y="4782312"/>
            <a:ext cx="1426464" cy="1005840"/>
          </a:xfrm>
          <a:prstGeom prst="rect">
            <a:avLst/>
          </a:prstGeom>
          <a:noFill/>
          <a:ln/>
        </p:spPr>
        <p:txBody>
          <a:bodyPr wrap="square" lIns="0" tIns="0" rIns="0" bIns="0" rtlCol="0" anchor="ctr"/>
          <a:lstStyle/>
          <a:p>
            <a:pPr algn="ctr" indent="0" marL="0">
              <a:lnSpc>
                <a:spcPct val="100000"/>
              </a:lnSpc>
              <a:buNone/>
            </a:pPr>
            <a:r>
              <a:rPr lang="en-US" sz="1150" dirty="0">
                <a:solidFill>
                  <a:srgbClr val="1C2B33"/>
                </a:solidFill>
                <a:latin typeface="Segoe Print" pitchFamily="34" charset="0"/>
                <a:ea typeface="Segoe Print" pitchFamily="34" charset="-122"/>
                <a:cs typeface="Segoe Print" pitchFamily="34" charset="-120"/>
              </a:rPr>
              <a:t>Status page and incident comms</a:t>
            </a:r>
            <a:endParaRPr lang="en-US" sz="1150" dirty="0"/>
          </a:p>
        </p:txBody>
      </p:sp>
      <p:sp>
        <p:nvSpPr>
          <p:cNvPr id="42" name="shape-38"/>
          <p:cNvSpPr/>
          <p:nvPr/>
        </p:nvSpPr>
        <p:spPr>
          <a:xfrm rot="-240000">
            <a:off x="2670048" y="4855464"/>
            <a:ext cx="1572768" cy="1188720"/>
          </a:xfrm>
          <a:prstGeom prst="rect">
            <a:avLst/>
          </a:prstGeom>
          <a:solidFill>
            <a:srgbClr val="000000">
              <a:alpha val="10000"/>
            </a:srgbClr>
          </a:solidFill>
          <a:ln w="12700">
            <a:solidFill>
              <a:srgbClr val="000000"/>
            </a:solidFill>
            <a:prstDash val="solid"/>
          </a:ln>
        </p:spPr>
      </p:sp>
      <p:sp>
        <p:nvSpPr>
          <p:cNvPr id="43" name="shape-39"/>
          <p:cNvSpPr/>
          <p:nvPr/>
        </p:nvSpPr>
        <p:spPr>
          <a:xfrm rot="-240000">
            <a:off x="2633472" y="4800600"/>
            <a:ext cx="1572768" cy="1188720"/>
          </a:xfrm>
          <a:prstGeom prst="rect">
            <a:avLst/>
          </a:prstGeom>
          <a:solidFill>
            <a:srgbClr val="FFD8A8"/>
          </a:solidFill>
          <a:ln w="12700">
            <a:solidFill>
              <a:srgbClr val="FFD8A8"/>
            </a:solidFill>
            <a:prstDash val="solid"/>
          </a:ln>
        </p:spPr>
      </p:sp>
      <p:sp>
        <p:nvSpPr>
          <p:cNvPr id="44" name="shape-40"/>
          <p:cNvSpPr/>
          <p:nvPr/>
        </p:nvSpPr>
        <p:spPr>
          <a:xfrm rot="-240000">
            <a:off x="3182112" y="4745736"/>
            <a:ext cx="475488" cy="128016"/>
          </a:xfrm>
          <a:prstGeom prst="rect">
            <a:avLst/>
          </a:prstGeom>
          <a:solidFill>
            <a:srgbClr val="9A9A9A">
              <a:alpha val="30000"/>
            </a:srgbClr>
          </a:solidFill>
          <a:ln w="12700">
            <a:solidFill>
              <a:srgbClr val="9A9A9A"/>
            </a:solidFill>
            <a:prstDash val="solid"/>
          </a:ln>
        </p:spPr>
      </p:sp>
      <p:sp>
        <p:nvSpPr>
          <p:cNvPr id="45" name="text-41"/>
          <p:cNvSpPr txBox="1"/>
          <p:nvPr/>
        </p:nvSpPr>
        <p:spPr>
          <a:xfrm rot="-240000">
            <a:off x="2706624" y="4892040"/>
            <a:ext cx="1426464" cy="1005840"/>
          </a:xfrm>
          <a:prstGeom prst="rect">
            <a:avLst/>
          </a:prstGeom>
          <a:noFill/>
          <a:ln/>
        </p:spPr>
        <p:txBody>
          <a:bodyPr wrap="square" lIns="0" tIns="0" rIns="0" bIns="0" rtlCol="0" anchor="ctr"/>
          <a:lstStyle/>
          <a:p>
            <a:pPr algn="ctr" indent="0" marL="0">
              <a:lnSpc>
                <a:spcPct val="100000"/>
              </a:lnSpc>
              <a:buNone/>
            </a:pPr>
            <a:r>
              <a:rPr lang="en-US" sz="1150" dirty="0">
                <a:solidFill>
                  <a:srgbClr val="1C2B33"/>
                </a:solidFill>
                <a:latin typeface="Segoe Print" pitchFamily="34" charset="0"/>
                <a:ea typeface="Segoe Print" pitchFamily="34" charset="-122"/>
                <a:cs typeface="Segoe Print" pitchFamily="34" charset="-120"/>
              </a:rPr>
              <a:t>Integration standards: SSO, LTI/LIS, clinical</a:t>
            </a:r>
            <a:endParaRPr lang="en-US" sz="1150" dirty="0"/>
          </a:p>
        </p:txBody>
      </p:sp>
      <p:sp>
        <p:nvSpPr>
          <p:cNvPr id="46" name="shape-42"/>
          <p:cNvSpPr/>
          <p:nvPr/>
        </p:nvSpPr>
        <p:spPr>
          <a:xfrm rot="120000">
            <a:off x="4663440" y="4791456"/>
            <a:ext cx="1572768" cy="1188720"/>
          </a:xfrm>
          <a:prstGeom prst="rect">
            <a:avLst/>
          </a:prstGeom>
          <a:solidFill>
            <a:srgbClr val="000000">
              <a:alpha val="10000"/>
            </a:srgbClr>
          </a:solidFill>
          <a:ln w="12700">
            <a:solidFill>
              <a:srgbClr val="000000"/>
            </a:solidFill>
            <a:prstDash val="solid"/>
          </a:ln>
        </p:spPr>
      </p:sp>
      <p:sp>
        <p:nvSpPr>
          <p:cNvPr id="47" name="shape-43"/>
          <p:cNvSpPr/>
          <p:nvPr/>
        </p:nvSpPr>
        <p:spPr>
          <a:xfrm rot="120000">
            <a:off x="4626864" y="4736592"/>
            <a:ext cx="1572768" cy="1188720"/>
          </a:xfrm>
          <a:prstGeom prst="rect">
            <a:avLst/>
          </a:prstGeom>
          <a:solidFill>
            <a:srgbClr val="CDEBE3"/>
          </a:solidFill>
          <a:ln w="12700">
            <a:solidFill>
              <a:srgbClr val="CDEBE3"/>
            </a:solidFill>
            <a:prstDash val="solid"/>
          </a:ln>
        </p:spPr>
      </p:sp>
      <p:sp>
        <p:nvSpPr>
          <p:cNvPr id="48" name="shape-44"/>
          <p:cNvSpPr/>
          <p:nvPr/>
        </p:nvSpPr>
        <p:spPr>
          <a:xfrm rot="120000">
            <a:off x="5175504" y="4681728"/>
            <a:ext cx="475488" cy="128016"/>
          </a:xfrm>
          <a:prstGeom prst="rect">
            <a:avLst/>
          </a:prstGeom>
          <a:solidFill>
            <a:srgbClr val="9A9A9A">
              <a:alpha val="30000"/>
            </a:srgbClr>
          </a:solidFill>
          <a:ln w="12700">
            <a:solidFill>
              <a:srgbClr val="9A9A9A"/>
            </a:solidFill>
            <a:prstDash val="solid"/>
          </a:ln>
        </p:spPr>
      </p:sp>
      <p:sp>
        <p:nvSpPr>
          <p:cNvPr id="49" name="text-45"/>
          <p:cNvSpPr txBox="1"/>
          <p:nvPr/>
        </p:nvSpPr>
        <p:spPr>
          <a:xfrm rot="120000">
            <a:off x="4700016" y="4828032"/>
            <a:ext cx="1426464" cy="1005840"/>
          </a:xfrm>
          <a:prstGeom prst="rect">
            <a:avLst/>
          </a:prstGeom>
          <a:noFill/>
          <a:ln/>
        </p:spPr>
        <p:txBody>
          <a:bodyPr wrap="square" lIns="0" tIns="0" rIns="0" bIns="0" rtlCol="0" anchor="ctr"/>
          <a:lstStyle/>
          <a:p>
            <a:pPr algn="ctr" indent="0" marL="0">
              <a:lnSpc>
                <a:spcPct val="100000"/>
              </a:lnSpc>
              <a:buNone/>
            </a:pPr>
            <a:r>
              <a:rPr lang="en-US" sz="1150" dirty="0">
                <a:solidFill>
                  <a:srgbClr val="1C2B33"/>
                </a:solidFill>
                <a:latin typeface="Segoe Print" pitchFamily="34" charset="0"/>
                <a:ea typeface="Segoe Print" pitchFamily="34" charset="-122"/>
                <a:cs typeface="Segoe Print" pitchFamily="34" charset="-120"/>
              </a:rPr>
              <a:t>Content versioning visible to customers</a:t>
            </a:r>
            <a:endParaRPr lang="en-US" sz="1150" dirty="0"/>
          </a:p>
        </p:txBody>
      </p:sp>
      <p:sp>
        <p:nvSpPr>
          <p:cNvPr id="50" name="shape-46"/>
          <p:cNvSpPr/>
          <p:nvPr/>
        </p:nvSpPr>
        <p:spPr>
          <a:xfrm rot="-180000">
            <a:off x="6446520" y="4864608"/>
            <a:ext cx="1572768" cy="1188720"/>
          </a:xfrm>
          <a:prstGeom prst="rect">
            <a:avLst/>
          </a:prstGeom>
          <a:solidFill>
            <a:srgbClr val="000000">
              <a:alpha val="10000"/>
            </a:srgbClr>
          </a:solidFill>
          <a:ln w="12700">
            <a:solidFill>
              <a:srgbClr val="000000"/>
            </a:solidFill>
            <a:prstDash val="solid"/>
          </a:ln>
        </p:spPr>
      </p:sp>
      <p:sp>
        <p:nvSpPr>
          <p:cNvPr id="51" name="shape-47"/>
          <p:cNvSpPr/>
          <p:nvPr/>
        </p:nvSpPr>
        <p:spPr>
          <a:xfrm rot="-180000">
            <a:off x="6409944" y="4809744"/>
            <a:ext cx="1572768" cy="1188720"/>
          </a:xfrm>
          <a:prstGeom prst="rect">
            <a:avLst/>
          </a:prstGeom>
          <a:solidFill>
            <a:srgbClr val="FFF3B0"/>
          </a:solidFill>
          <a:ln w="12700">
            <a:solidFill>
              <a:srgbClr val="FFF3B0"/>
            </a:solidFill>
            <a:prstDash val="solid"/>
          </a:ln>
        </p:spPr>
      </p:sp>
      <p:sp>
        <p:nvSpPr>
          <p:cNvPr id="52" name="shape-48"/>
          <p:cNvSpPr/>
          <p:nvPr/>
        </p:nvSpPr>
        <p:spPr>
          <a:xfrm rot="-180000">
            <a:off x="6958584" y="4754880"/>
            <a:ext cx="475488" cy="128016"/>
          </a:xfrm>
          <a:prstGeom prst="rect">
            <a:avLst/>
          </a:prstGeom>
          <a:solidFill>
            <a:srgbClr val="9A9A9A">
              <a:alpha val="30000"/>
            </a:srgbClr>
          </a:solidFill>
          <a:ln w="12700">
            <a:solidFill>
              <a:srgbClr val="9A9A9A"/>
            </a:solidFill>
            <a:prstDash val="solid"/>
          </a:ln>
        </p:spPr>
      </p:sp>
      <p:sp>
        <p:nvSpPr>
          <p:cNvPr id="53" name="text-49"/>
          <p:cNvSpPr txBox="1"/>
          <p:nvPr/>
        </p:nvSpPr>
        <p:spPr>
          <a:xfrm rot="-180000">
            <a:off x="6483096" y="4901184"/>
            <a:ext cx="1426464" cy="1005840"/>
          </a:xfrm>
          <a:prstGeom prst="rect">
            <a:avLst/>
          </a:prstGeom>
          <a:noFill/>
          <a:ln/>
        </p:spPr>
        <p:txBody>
          <a:bodyPr wrap="square" lIns="0" tIns="0" rIns="0" bIns="0" rtlCol="0" anchor="ctr"/>
          <a:lstStyle/>
          <a:p>
            <a:pPr algn="ctr" indent="0" marL="0">
              <a:lnSpc>
                <a:spcPct val="100000"/>
              </a:lnSpc>
              <a:buNone/>
            </a:pPr>
            <a:r>
              <a:rPr lang="en-US" sz="1150" dirty="0">
                <a:solidFill>
                  <a:srgbClr val="1C2B33"/>
                </a:solidFill>
                <a:latin typeface="Segoe Print" pitchFamily="34" charset="0"/>
                <a:ea typeface="Segoe Print" pitchFamily="34" charset="-122"/>
                <a:cs typeface="Segoe Print" pitchFamily="34" charset="-120"/>
              </a:rPr>
              <a:t>Accessibility and offline mobile</a:t>
            </a:r>
            <a:endParaRPr lang="en-US" sz="1150" dirty="0"/>
          </a:p>
        </p:txBody>
      </p:sp>
      <p:sp>
        <p:nvSpPr>
          <p:cNvPr id="54" name="shape-50"/>
          <p:cNvSpPr/>
          <p:nvPr/>
        </p:nvSpPr>
        <p:spPr>
          <a:xfrm>
            <a:off x="8412480" y="1371600"/>
            <a:ext cx="3200400" cy="4937760"/>
          </a:xfrm>
          <a:prstGeom prst="roundRect">
            <a:avLst>
              <a:gd name="adj" fmla="val 2286"/>
            </a:avLst>
          </a:prstGeom>
          <a:solidFill>
            <a:srgbClr val="EEF2F4"/>
          </a:solidFill>
          <a:ln w="12700">
            <a:solidFill>
              <a:srgbClr val="EEF2F4"/>
            </a:solidFill>
            <a:prstDash val="solid"/>
          </a:ln>
        </p:spPr>
      </p:sp>
      <p:sp>
        <p:nvSpPr>
          <p:cNvPr id="55" name="text-51"/>
          <p:cNvSpPr txBox="1"/>
          <p:nvPr/>
        </p:nvSpPr>
        <p:spPr>
          <a:xfrm>
            <a:off x="8595360" y="1499616"/>
            <a:ext cx="292608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134E4A"/>
                </a:solidFill>
                <a:latin typeface="Calibri" pitchFamily="34" charset="0"/>
                <a:ea typeface="Calibri" pitchFamily="34" charset="-122"/>
                <a:cs typeface="Calibri" pitchFamily="34" charset="-120"/>
              </a:rPr>
              <a:t>DAY 2 — ALREADY ON THE PATHWAY</a:t>
            </a:r>
            <a:endParaRPr lang="en-US" sz="800" dirty="0"/>
          </a:p>
        </p:txBody>
      </p:sp>
      <p:sp>
        <p:nvSpPr>
          <p:cNvPr id="56" name="shape-52"/>
          <p:cNvSpPr/>
          <p:nvPr/>
        </p:nvSpPr>
        <p:spPr>
          <a:xfrm rot="-120000">
            <a:off x="8677656" y="1883664"/>
            <a:ext cx="2743200" cy="1078992"/>
          </a:xfrm>
          <a:prstGeom prst="rect">
            <a:avLst/>
          </a:prstGeom>
          <a:solidFill>
            <a:srgbClr val="000000">
              <a:alpha val="10000"/>
            </a:srgbClr>
          </a:solidFill>
          <a:ln w="12700">
            <a:solidFill>
              <a:srgbClr val="000000"/>
            </a:solidFill>
            <a:prstDash val="solid"/>
          </a:ln>
        </p:spPr>
      </p:sp>
      <p:sp>
        <p:nvSpPr>
          <p:cNvPr id="57" name="shape-53"/>
          <p:cNvSpPr/>
          <p:nvPr/>
        </p:nvSpPr>
        <p:spPr>
          <a:xfrm rot="-120000">
            <a:off x="8641080" y="1828800"/>
            <a:ext cx="2743200" cy="1078992"/>
          </a:xfrm>
          <a:prstGeom prst="rect">
            <a:avLst/>
          </a:prstGeom>
          <a:solidFill>
            <a:srgbClr val="134E4A"/>
          </a:solidFill>
          <a:ln w="12700">
            <a:solidFill>
              <a:srgbClr val="134E4A"/>
            </a:solidFill>
            <a:prstDash val="solid"/>
          </a:ln>
        </p:spPr>
      </p:sp>
      <p:sp>
        <p:nvSpPr>
          <p:cNvPr id="58" name="text-54"/>
          <p:cNvSpPr txBox="1"/>
          <p:nvPr/>
        </p:nvSpPr>
        <p:spPr>
          <a:xfrm rot="-120000">
            <a:off x="8732520" y="1920240"/>
            <a:ext cx="2560320" cy="896112"/>
          </a:xfrm>
          <a:prstGeom prst="rect">
            <a:avLst/>
          </a:prstGeom>
          <a:noFill/>
          <a:ln/>
        </p:spPr>
        <p:txBody>
          <a:bodyPr wrap="square" lIns="0" tIns="0" rIns="0" bIns="0" rtlCol="0" anchor="ctr"/>
          <a:lstStyle/>
          <a:p>
            <a:pPr algn="ctr" indent="0" marL="0">
              <a:lnSpc>
                <a:spcPct val="100000"/>
              </a:lnSpc>
              <a:buNone/>
            </a:pPr>
            <a:r>
              <a:rPr lang="en-US" sz="1100" dirty="0">
                <a:solidFill>
                  <a:srgbClr val="FFFFFF"/>
                </a:solidFill>
                <a:latin typeface="Segoe Print" pitchFamily="34" charset="0"/>
                <a:ea typeface="Segoe Print" pitchFamily="34" charset="-122"/>
                <a:cs typeface="Segoe Print" pitchFamily="34" charset="-120"/>
              </a:rPr>
              <a:t>Assistant over authoritative content — citations, no generated clinical text</a:t>
            </a:r>
            <a:endParaRPr lang="en-US" sz="1100" dirty="0"/>
          </a:p>
        </p:txBody>
      </p:sp>
      <p:sp>
        <p:nvSpPr>
          <p:cNvPr id="59" name="shape-55"/>
          <p:cNvSpPr/>
          <p:nvPr/>
        </p:nvSpPr>
        <p:spPr>
          <a:xfrm>
            <a:off x="8677656" y="3255264"/>
            <a:ext cx="2743200" cy="1078992"/>
          </a:xfrm>
          <a:prstGeom prst="rect">
            <a:avLst/>
          </a:prstGeom>
          <a:solidFill>
            <a:srgbClr val="000000">
              <a:alpha val="10000"/>
            </a:srgbClr>
          </a:solidFill>
          <a:ln w="12700">
            <a:solidFill>
              <a:srgbClr val="000000"/>
            </a:solidFill>
            <a:prstDash val="solid"/>
          </a:ln>
        </p:spPr>
      </p:sp>
      <p:sp>
        <p:nvSpPr>
          <p:cNvPr id="60" name="shape-56"/>
          <p:cNvSpPr/>
          <p:nvPr/>
        </p:nvSpPr>
        <p:spPr>
          <a:xfrm>
            <a:off x="8641080" y="3200400"/>
            <a:ext cx="2743200" cy="1078992"/>
          </a:xfrm>
          <a:prstGeom prst="rect">
            <a:avLst/>
          </a:prstGeom>
          <a:solidFill>
            <a:srgbClr val="134E4A"/>
          </a:solidFill>
          <a:ln w="12700">
            <a:solidFill>
              <a:srgbClr val="134E4A"/>
            </a:solidFill>
            <a:prstDash val="solid"/>
          </a:ln>
        </p:spPr>
      </p:sp>
      <p:sp>
        <p:nvSpPr>
          <p:cNvPr id="61" name="text-57"/>
          <p:cNvSpPr txBox="1"/>
          <p:nvPr/>
        </p:nvSpPr>
        <p:spPr>
          <a:xfrm>
            <a:off x="8732520" y="3291840"/>
            <a:ext cx="2560320" cy="896112"/>
          </a:xfrm>
          <a:prstGeom prst="rect">
            <a:avLst/>
          </a:prstGeom>
          <a:noFill/>
          <a:ln/>
        </p:spPr>
        <p:txBody>
          <a:bodyPr wrap="square" lIns="0" tIns="0" rIns="0" bIns="0" rtlCol="0" anchor="ctr"/>
          <a:lstStyle/>
          <a:p>
            <a:pPr algn="ctr" indent="0" marL="0">
              <a:lnSpc>
                <a:spcPct val="100000"/>
              </a:lnSpc>
              <a:buNone/>
            </a:pPr>
            <a:r>
              <a:rPr lang="en-US" sz="1100" dirty="0">
                <a:solidFill>
                  <a:srgbClr val="FFFFFF"/>
                </a:solidFill>
                <a:latin typeface="Segoe Print" pitchFamily="34" charset="0"/>
                <a:ea typeface="Segoe Print" pitchFamily="34" charset="-122"/>
                <a:cs typeface="Segoe Print" pitchFamily="34" charset="-120"/>
              </a:rPr>
              <a:t>Internal operational AI on the same platform</a:t>
            </a:r>
            <a:endParaRPr lang="en-US" sz="1100" dirty="0"/>
          </a:p>
        </p:txBody>
      </p:sp>
      <p:sp>
        <p:nvSpPr>
          <p:cNvPr id="62" name="shape-58"/>
          <p:cNvSpPr/>
          <p:nvPr/>
        </p:nvSpPr>
        <p:spPr>
          <a:xfrm rot="120000">
            <a:off x="8677656" y="4626864"/>
            <a:ext cx="2743200" cy="1078992"/>
          </a:xfrm>
          <a:prstGeom prst="rect">
            <a:avLst/>
          </a:prstGeom>
          <a:solidFill>
            <a:srgbClr val="000000">
              <a:alpha val="10000"/>
            </a:srgbClr>
          </a:solidFill>
          <a:ln w="12700">
            <a:solidFill>
              <a:srgbClr val="000000"/>
            </a:solidFill>
            <a:prstDash val="solid"/>
          </a:ln>
        </p:spPr>
      </p:sp>
      <p:sp>
        <p:nvSpPr>
          <p:cNvPr id="63" name="shape-59"/>
          <p:cNvSpPr/>
          <p:nvPr/>
        </p:nvSpPr>
        <p:spPr>
          <a:xfrm rot="120000">
            <a:off x="8641080" y="4572000"/>
            <a:ext cx="2743200" cy="1078992"/>
          </a:xfrm>
          <a:prstGeom prst="rect">
            <a:avLst/>
          </a:prstGeom>
          <a:solidFill>
            <a:srgbClr val="134E4A"/>
          </a:solidFill>
          <a:ln w="12700">
            <a:solidFill>
              <a:srgbClr val="134E4A"/>
            </a:solidFill>
            <a:prstDash val="solid"/>
          </a:ln>
        </p:spPr>
      </p:sp>
      <p:sp>
        <p:nvSpPr>
          <p:cNvPr id="64" name="text-60"/>
          <p:cNvSpPr txBox="1"/>
          <p:nvPr/>
        </p:nvSpPr>
        <p:spPr>
          <a:xfrm rot="120000">
            <a:off x="8732520" y="4663440"/>
            <a:ext cx="2560320" cy="896112"/>
          </a:xfrm>
          <a:prstGeom prst="rect">
            <a:avLst/>
          </a:prstGeom>
          <a:noFill/>
          <a:ln/>
        </p:spPr>
        <p:txBody>
          <a:bodyPr wrap="square" lIns="0" tIns="0" rIns="0" bIns="0" rtlCol="0" anchor="ctr"/>
          <a:lstStyle/>
          <a:p>
            <a:pPr algn="ctr" indent="0" marL="0">
              <a:lnSpc>
                <a:spcPct val="100000"/>
              </a:lnSpc>
              <a:buNone/>
            </a:pPr>
            <a:r>
              <a:rPr lang="en-US" sz="1100" dirty="0">
                <a:solidFill>
                  <a:srgbClr val="FFFFFF"/>
                </a:solidFill>
                <a:latin typeface="Segoe Print" pitchFamily="34" charset="0"/>
                <a:ea typeface="Segoe Print" pitchFamily="34" charset="-122"/>
                <a:cs typeface="Segoe Print" pitchFamily="34" charset="-120"/>
              </a:rPr>
              <a:t>Subscription and user-update integration</a:t>
            </a:r>
            <a:endParaRPr lang="en-US" sz="1100" dirty="0"/>
          </a:p>
        </p:txBody>
      </p:sp>
      <p:sp>
        <p:nvSpPr>
          <p:cNvPr id="65" name="text-61"/>
          <p:cNvSpPr txBox="1"/>
          <p:nvPr/>
        </p:nvSpPr>
        <p:spPr>
          <a:xfrm>
            <a:off x="548640" y="6400800"/>
            <a:ext cx="11064240" cy="164592"/>
          </a:xfrm>
          <a:prstGeom prst="rect">
            <a:avLst/>
          </a:prstGeom>
          <a:noFill/>
          <a:ln/>
        </p:spPr>
        <p:txBody>
          <a:bodyPr wrap="square" lIns="0" tIns="0" rIns="0" bIns="0" rtlCol="0" anchor="ctr"/>
          <a:lstStyle/>
          <a:p>
            <a:pPr algn="l" indent="0" marL="0">
              <a:lnSpc>
                <a:spcPct val="100000"/>
              </a:lnSpc>
              <a:buNone/>
            </a:pPr>
            <a:r>
              <a:rPr lang="en-US" sz="850" i="1" dirty="0">
                <a:solidFill>
                  <a:srgbClr val="5A6B75"/>
                </a:solidFill>
                <a:latin typeface="Calibri" pitchFamily="34" charset="0"/>
                <a:ea typeface="Calibri" pitchFamily="34" charset="-122"/>
                <a:cs typeface="Calibri" pitchFamily="34" charset="-120"/>
              </a:rPr>
              <a:t>Yellow = product (A) · orange = cross-cutting (X) · green = content tooling (B). Day 1.5 = after the agreed path is live, before Day 2. AI governance is set before any build.</a:t>
            </a:r>
            <a:endParaRPr lang="en-US" sz="850" dirty="0"/>
          </a:p>
        </p:txBody>
      </p:sp>
      <p:sp>
        <p:nvSpPr>
          <p:cNvPr id="66" name="version-stamp"/>
          <p:cNvSpPr txBox="1"/>
          <p:nvPr/>
        </p:nvSpPr>
        <p:spPr>
          <a:xfrm>
            <a:off x="548640" y="6656832"/>
            <a:ext cx="6400800" cy="146304"/>
          </a:xfrm>
          <a:prstGeom prst="rect">
            <a:avLst/>
          </a:prstGeom>
          <a:noFill/>
          <a:ln/>
        </p:spPr>
        <p:txBody>
          <a:bodyPr wrap="square" lIns="0" tIns="0" rIns="0" bIns="0" rtlCol="0" anchor="ctr"/>
          <a:lstStyle/>
          <a:p>
            <a:pPr algn="l" indent="0" marL="0">
              <a:lnSpc>
                <a:spcPct val="100000"/>
              </a:lnSpc>
              <a:buNone/>
            </a:pPr>
            <a:r>
              <a:rPr lang="en-US" sz="700" dirty="0">
                <a:solidFill>
                  <a:srgbClr val="5A6B75"/>
                </a:solidFill>
                <a:latin typeface="Calibri" pitchFamily="34" charset="0"/>
                <a:ea typeface="Calibri" pitchFamily="34" charset="-122"/>
                <a:cs typeface="Calibri" pitchFamily="34" charset="-120"/>
              </a:rPr>
              <a:t>Modernisation deck · Slide 8 · native · 2026-10-15</a:t>
            </a:r>
            <a:endParaRPr lang="en-US" sz="700" dirty="0"/>
          </a:p>
        </p:txBody>
      </p:sp>
      <p:sp>
        <p:nvSpPr>
          <p:cNvPr id="25" name="Slide Number Placeholder 0"/>
          <p:cNvSpPr>
            <a:spLocks noGrp="1"/>
          </p:cNvSpPr>
          <p:nvPr>
            <p:ph type="sldNum" sz="quarter" idx="4294967295"/>
          </p:nvPr>
        </p:nvSpPr>
        <p:spPr>
          <a:xfrm>
            <a:off x="11247120" y="6601968"/>
            <a:ext cx="41148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B75"/>
                </a:solidFill>
              </a:defRPr>
            </a:lvl1pPr>
          </a:lstStyle>
          <a:p>
            <a:pPr algn="r"/>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Modernisation">
  <a:themeElements>
    <a:clrScheme name="Modernisation">
      <a:dk1>
        <a:srgbClr val="1C2B33"/>
      </a:dk1>
      <a:lt1>
        <a:srgbClr val="FFFFFF"/>
      </a:lt1>
      <a:dk2>
        <a:srgbClr val="5A6B75"/>
      </a:dk2>
      <a:lt2>
        <a:srgbClr val="EEF2F4"/>
      </a:lt2>
      <a:accent1>
        <a:srgbClr val="0F766E"/>
      </a:accent1>
      <a:accent2>
        <a:srgbClr val="B45309"/>
      </a:accent2>
      <a:accent3>
        <a:srgbClr val="D6ECE9"/>
      </a:accent3>
      <a:accent4>
        <a:srgbClr val="D4DBE0"/>
      </a:accent4>
      <a:accent5>
        <a:srgbClr val="134E4A"/>
      </a:accent5>
      <a:accent6>
        <a:srgbClr val="FDF1E3"/>
      </a:accent6>
      <a:hlink>
        <a:srgbClr val="0F766E"/>
      </a:hlink>
      <a:folHlink>
        <a:srgbClr val="0F766E"/>
      </a:folHlink>
    </a:clrScheme>
    <a:fontScheme name="Modernisation">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Leading the digital modernisation programme</dc:title>
  <dc:subject>PptxGenJS Presentation</dc:subject>
  <dc:creator>PptxGenJS</dc:creator>
  <cp:lastModifiedBy>PptxGenJS</cp:lastModifiedBy>
  <cp:revision>1</cp:revision>
  <dcterms:created xsi:type="dcterms:W3CDTF">2026-10-15T06:05:48Z</dcterms:created>
  <dcterms:modified xsi:type="dcterms:W3CDTF">2026-10-15T06:05:48Z</dcterms:modified>
</cp:coreProperties>
</file>
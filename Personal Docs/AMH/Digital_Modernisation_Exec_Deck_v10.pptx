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(from the source material)
- Direction: from a publishing model to a digital product platform. The strategy material frames this as an inflection point, visible only in hindsight.
- The target architecture is a vendor proposal, not yet owner-assessed. The target date is fixed. The proposed team is a CTO plus roughly 4.6 FTE.
- Current estate: a public website, a content/SaaS authoring product, a CRM behind them. An MSP is in place; some things are SaaS, some in-house.
HOW TO TALK TO THE CURVE
- The decision to move curves is made; the work is execution without losing today's revenue, customers or content integrity. The pivot is agreed; what is not yet settled is the shape of what we build and how we work.
HYPOTHESIS STATEMENT (new on this slide)
- Say it out loud before moving on: every design and staffing statement that follows is a hypothesis; Gates 1 and 2 test it before anything is built. This is what reconciles the solution slides with the delivery argument.
THE THREE PHASES (and what each means for this programme)
- Understand (days 1–30): two baselines — the technology and product baseline, and the ways-of-working baseline (processes, SOPs, SLAs, mandated requirements). Inventory what is live, in flight and contracted; read the proposal with its author.
- Stabilise (days 31–60): keep today running — no big bang. Tier the architecture (slide 2). Confirm, re-scope or stop in-flight work, each with a reason. Put the operating rhythm in place in week two, not week twelve.
- Accelerate (days 61–90 →): first assured delivery on the bullet-proof core; the backward plan to the date agreed with partners.
- Momentum rule: nothing that works today stops until its replacement is proven; nothing new starts without an owner and a gate.
ASSUMPTIONS (mine, to be challenged)
- Authoritative content is the core asset; commerce, identity and CRM are plumbing.
- Most build and all commodity operations will come from partners; the in-house team owns judgement, design and assurance.
- A board and a risk committee exist and the programme reports into them.
- Editorial and content operations sit outside this role; the content platform (as technology) is in scope.
- Some in-flight work will be confirmed, some re-scoped, some stopped.
TO CONFIRM IN THE FIRST 30 DAYS
- Which partners beyond the MSP are contracted, and for what. Which third-party integrations are live and must be preserved. What is in flight, its state and owner. The split of individual, institutional and embedded customers and revenue. Run cost and end-of-life dates for current systems.
[PROMPT] Opening example: a time you inherited an agreed direction mid-flight and kept momentum while reshaping it. One sentence here, detail on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 Gate 1 (day 30) — two baselines. Technology and product: systems, architecture, integrations, contracts, partners, run cost, product offerings and licence model, what is in flight. Ways of working: business processes and SOPs, SLAs and any mandated requirements, hand-offs and where time is actually spent, today's ceremonies and what each produces. Output: a one-page baseline and a confirmed list of what is in flight.
- Gate 2 (day 60) — the fit test and decisions. Agree a preferred target way of working with AI woven in. Then ask of the proposed architecture: does it support that way of working; where does it hinder it; what tooling and AI would help or hinder. Tiering confirmed; Tier A design confirmed; in-flight work confirmed, re-scoped or stopped; partner scope and commercials agreed; the backward plan to the date drafted with partners. Output: the plan the organisation will be held to, with its risks.
- Gate 3 (day 90) — first assured delivery. Candidate: the identity and entitlement foundation, or the content pipeline — whichever the baseline shows is the constraint. Output: proof the path works end to end on something real.
WHY TWO BASELINES
- The vendor proposal captures technologies and products. It does not capture how the organisation works, and that is where the AI and commodity-tool savings live. Systems thinking applies to both: you cannot judge whether a target architecture is right without knowing what it has to support.
- The ways-of-working baseline is the ceremony audit applied to the organisation: for each process, what does it produce that could not come from the data or the tooling?
NOT IN THE FIRST 90 DAYS
- Commit to the vendor architecture before the fit test; migrate customer data or re-platform; hire beyond the minimum viable team; promise a refined date or cost before Gate 2; start any AI platform before its governance exists.
WHAT IS AT RISK IF A GATE SLIPS
- Gate 1: we plan on assumptions and in-flight spend continues unexamined. Gate 2: partners build to an unassessed design and the date becomes a hope. Gate 3: no proof the path works; cutover rehearsal arrives without rehearsal.
ASSUMPTIONS
- The fixed date allows at least two build waves and a cutover rehearsal after day 90. If it does not, Gate 2 brings a scope decision to the board.
[PROMPT] Fixed-date example: delivering to an external date by flexing scope through gates rather than flexing the date.
BRIDGE OUT
- 'The next three slides show what the assessment would weigh — one credible shape, not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THE LENS (applied at Gate 2)
- The proposal draws one system. We should treat it as four kinds of thing, judged differently:
  A — USP product: the online product (web, desktop, mobile), content delivery and APIs into third-party systems. The moat. Investment is judged on commercials, opportunity and strategic alignment. Resilience: bullet-proof — this is life-critical reference content, not an arbitrary SLA.
  B — Content tooling: authoring and publishing SaaS. Integral and niche, but the content is the asset, not the tool. Judged on fit for authors, content portability and cost. Resilience: business hours; never the only copy of published content. No advantage is gained by building this better.
  C — Operational commodity: CRM, shop, internal ordering, finance and billing, reporting. Many products would do; building our own would be possible but senseless. The formula the right way round: cost, footprint and effort to maintain are judged against the operational efficiency gained. Select on best fit, price and extensibility. Resilience: standard, with no shared fate with A.
  X — Cross-cutting: identity, security, observability, service bus, integration standards (SSO/SAML or Shibboleth, LTI/LIS for universities, clinical standards where relevant). Investment inherits from the tiers it serves and is additionally judged on risk and reputational damage. Inherits A's posture wherever it sits in A's path.
THE AI LINE
- A: AI assists, accelerates, de-risks and streamlines product development — specification, code, test generation, review, release evidence. More capability from the same people.
- B: authoring assistance, consistency checks, publishing QA — always with human sign-off on authoritative content. Previously must-have tool features soften: choose the tool for content portability and let AI fill workflow gaps.
- C: AI woven into end-to-end operational practice — order handling, the enterprise-deal pricing step the proposal describes as "calculated via Excel and manually entered", reconciliation, reporting, support. Must-have feature lists shrink; the formula tilts further toward the cheapest fit.
- X: security review, observability triage, runbook automation. Reduces the 24×7 burden a team of six cannot carry alone, but is not a substitute for the MSP.
- Guardrail: AI output never reaches published content or production without a human gate. Adoption is measured on cycle time and quality, not on usage.
ASSUMPTIONS
- Which component lands in which tier is a Gate 2 outcome. The tiering and the availability stance are our assessment, not the vendor's framing. The source states no SLA.
[PROMPT] Commodity-over-build example: a CRM, billing or shop decision you made on price plus extensibility, and what it freed the team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INTEGRATION HUB AND SPOKE (group 1, Isolate) — how to talk to it
- The product is the hub; authoring, identity and third-party APIs are synchronous spokes built to the product's standard; CRM, shop, ordering, finance and reporting sit behind the service bus on asynchronous events, so an outage there never stops the product.
FRAMING
- Five nines (99.999%, roughly five minutes of unavailability a year) is our position, argued from the nature of the content: clinicians rely on it at the point of care. It is a risk-appetite decision for the board, and the slide presents it as one. The source states no SLA.
- Isolation (hub and spoke, slide 3) is one of five kinds of protection. A single mechanism never gets a product to five nines.
THE FIVE GROUPS
1 Isolate — no shared fate: hub and spoke with commodity behind the bus; published content at the edge; entitlements cached with grace; a read-only degraded mode; bulkheads, circuit breakers and back-pressure so one slow dependency cannot take the product down.
2 Replicate — no single point: active-active across regions; stateless services with replicated data; an identity-provider outage plan; SaaS and vendor failover plans; capacity headroom proven by load testing.
3 Release safely — no big-bang change: feature switches (ship dark, release deliberately); blue/green deployment; canary by cohort with automated rollback; expand/contract schema changes; immutable, versioned content releases.
4 Detect and respond — minutes, not hours: SLOs and error budgets; synthetic checks from customer locations; runbooks with 24×7 on-call via the MSP; a status page and incident communications; game days and DR drills with stated RTO/RPO.
5 Protect the content — integrity above all: checksums and integrity checks on published content; copies held outside the authoring tool; replay from the bus after outages; an audit trail of what changed, when and by whom; AI-generated test evidence behind a human gate.
POSTURE BY TIER
- A: all five groups. B: groups 5 and 3 — business hours, vendor SLA, published copy held outside the tool. C: standard — maintenance windows, events replayed from the bus. X: inherits A wherever it sits in A's path — groups 1, 2 and 4.
- Cost sits where the risk is: this is also the argument for not over-engineering Tier C.
CANDIDATES DELIBERATELY LEFT OFF THE SLIDE
- Chaos engineering as a standing practice (beyond game days); multi-CDN is covered on slide 4b.
[PROMPT] Life-critical availability example: a clinical or health-information system you ran where downtime had patient consequences — what the operating discipline looked like and what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TWO HUB-AND-SPOKES, NOT ONE
- Slide 3 is the integration hub-and-spoke: the product versus everything else, across the whole architecture. This slide is the distribution hub-and-spoke inside the product: one publishing hub, many regional nodes.
THE FLOW
- Publishing hub: authoring → review → approve for content; build → test evidence → sign for code. The output is a release manifest that binds content vN and code vN together.
- Event log (as proposed, the bus): the manifest is published once and fanned out to every node. The product path needs the log to be immutable, ordered, retained and replayable — those are requirements, not a product choice.
- Regional nodes: each holds the content version, the app and an entitlement cache, and serves alone if the hub is down. Nodes are backups for each other. Region 3 is drawn as a standby that is rebuilt from the log rather than restored from backup.
- Multi-CDN edge: published content cached at the edge; anycast DNS with health-based routing sends users and third-party systems to the nearest healthy node.
ROLLBACK IN THIS WORLD
- Every node holds the last N manifests; rolling back is re-pointing to vN-1 — seconds, no redeploy. Content and code roll back together because the manifest binds them. A lost node is rebuilt by replaying the log from a known offset. Canary means publishing vN to one node or cohort, watching the SLO, then fanning out.
A CONSIDERATION, NOT A CHANGE
- The proposed service bus stays as proposed. The panel lists what each path needs: publish/rebuild needs replay; entitlement, usage and audit need ordering; Tier C workflows only need a queue; and whatever is chosen must be a managed service for a team of six.
- If the Gate 2 assessment shows the product path needs replay and ordering, a Kafka-class log (for example a managed Kafka-compatible service) is one option to evaluate. Do not present this as a decision.
ASSUMPTIONS
- The proposal's "API gateway / enterprise service bus" is undefined in the source; number and location of regions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WORKED BACKWARDS FROM TWO POINTS
- From the tiers: A needs engineering depth and platform resilience in-house; B needs a product owner for content tooling and a partner relationship; C needs configuration, integration and partner management, not builders; X needs DevSecOps and standards knowledge.
- From the CTO's responsibilities — strategy, architecture, digital transformation, project management, roadmap — everything else must sit with another role or a partner.
THE MINIMUM VIABLE TEAM
- CTO: strategy, architecture, transformation, project management, roadmap (all tiers).
- Lead Engineer: standards, development, maintenance, technical QA (A, X).
- Developer: development, maintenance, technical QA (A).
- DevSecOps Platform Engineer: security, platform, pipeline (X, A's resilience).
- Product: project, research, design (A, B).
- BA/QA: user testing, quality assurance, product assistance (A, C).
OPTIONS THE GATE 2 DECISION WOULD CHOOSE BETWEEN (previously framed as differences; now options) (CEO → CTO → Digital Product Owner + part-time BA, 0.6 PM, Technical Lead + DevOps Engineer)
- A second engineer instead of a 0.6 PM: Tier A needs two pairs of hands for five nines, and it removes the single-engineer key-person risk; project management sits with the CTO.
- AI token budget and adoption: any headcount beyond the six is converted into an AI budget aimed at assisting, accelerating and de-risking Tier A work, and at softening must-haves in B and C. Amount to be set against the headcount it replaces — not invented here.
- Product gains research and design; BA gains QA and user testing — the evidence at the gates has to come from somewhere.
NOT IN THE TEAM — PARTNER OR MSP
- 24×7 operations and on-call for the product; security operations; commodity configuration (CRM, shop, finance); content operations (outside this remit).
THINK DIFFERENTLY (if asked)
- Own judgement, not headcount: the in-house team decides what, why and whether; partners decide how.
- Key-person risk is the real risk: decisions written down, runbooks current, pairing with partners so nothing lives in one head.
- Operations is a product, not a project: platform operations and product ownership are standing capabilities; the PM role is temporary by design.
- Grow the differentiating layer: identity, entitlement and content APIs are what competitors cannot buy; buy everything else.
ASSUMPTIONS
- Both structures are proposals; roles are responsibilities, not an approved hiring plan.
[PROMPT] Partner/MSP example: running 24×7 through a partner while keeping design authority in-house — what the contract and the weekly review looked like. Also: building capability from a small start (EMIS, CallCredit) if the audience asks what "thin team" means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MEASURES (demoted from the slide; the rhythm now says who sees what)
- Inward, the team sees and improves: cycle time from decision to assured release; change failure, rework, time to recover; product availability and latency by region; AI judged on cycle time and quality, never on tokens.
- Upward, what passes the gates to Steering, Board and Risk: date confidence with the evidence behind it; availability against the agreed risk appetite and content-integrity incidents; top risks with owner and trend; spend vs plan; decisions pending and what each blocks.
- Outcomes, not activity: squads using AI, licences, tokens, headcount and tools deployed are inputs.
OPERATING RHYTHM (assumes a board and risk committee exist; the programme reports into them)
- Board / Risk Committee — monthly or by exception: target date, funding envelope, risk appetite (including the availability stance), policy exceptions.
- Programme Steering — fortnightly: CEO, CTO, product owner, partner leads: priorities, trade-offs, partner performance, gate sign-off.
- Delivery and Partner Review — weekly: CTO, lead engineer, product, partner delivery leads: plan vs actual, blockers, assurance evidence, next week.
- Architecture decisions — per decision: what, why, options rejected, consequences; written down and visible to all.
- Governance that survives is the kind people would miss if it stopped: short, evidence-led, decisions written down.
DECISION RIGHTS (proposed, to agree with the CEO)
- Board/Risk: date, funding, risk appetite, policy exceptions. CEO: programme priorities between business outcomes; partner commercials. CTO: architecture, assurance gates, technical scope, partner technical direction. Partners: how they deliver within the agreed design and gates — not what or whether.
ASSURANCE GATES BY TIER
- Security and payments; data and privacy; content integrity; integration and operability; release readiness. Tier A passes all five on every increment; B passes data, content integrity and release; C passes security/payments, data and integration; X passes security, integration and release. Gates are evidence reviews owned by the lead engineer, not meetings.
MEASURES — DUAL FOCUS
- Inward (the team sees and improves): cycle time from decision to assured release; change failure, rework, time to recover; product availability and latency by region; AI judged on cycle time and quality, never on tokens.
- Upward (what passes each gate to Steering, Board and Risk): date confidence with the evidence behind it; availability against the agreed risk appetite and content-integrity incidents; top risks with owner and trend; spend vs plan; decisions pending and what each blocks.
- Outcomes, not activity: squads using AI, licences, tokens, headcount and tools deployed are inputs.
THE NEXT SIX MONTHS
- Months 1–2: two baselines, fit test, tiering decided. Months 3–4: first assured delivery on the core; partners delivering to the plan. Months 5–6: build waves, cutover rehearsal, date confidence reported to the board with evidence.
CONSTRAINTS
- Fixed date (scope flexes, the date does not); team of six; budget envelope to confirm; vendor dependency (one proposal author, one MSP, several SaaS); content operations capacity during migration; availability and payments scope across every channel.
SUCCESS AT THE DATE
- Customers, revenue and content integrity intact; the core live and bullet-proof; commodity cheap and quiet; decisions written down; Day 2 ready to start with its guardrails already set.
[PROMPT] Make-work-visible example (optional for this audience): the monitors-on-wheels story as the origin of "one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SLIDE
- Do not walk the wall. Say: 'these are the things the proposal does not show yet; each is judged by its tier when its time comes; none is a commitment today.' Then take questions on any that interest the room.
DAY 1.5 — GAPS IN THE PROPOSED VIEW (each judged by its tier)
- Tier A: unified communications (email, SMS, in-app) — also the AI platform's channel later; product analytics and behavioural telemetry (what is used, where people struggle); in-app guidance and onboarding; inline surveys and sentiment; feature flags and progressive delivery (a Tier A prerequisite from slide 4, not a nice-to-have); search as a product capability; a developer and API portal for third parties and institutions; accessibility conformance and offline mode for mobile.
- Tier X: consent and preference management; a public status page and incident communications; integration standards — SSO/SAML (Shibboleth where universities require it), LTI/LIS for learning platforms, clinical standards where third-party systems expect them.
- Tier B: content versioning visible to customers — what changed, when, why.
- None of these is a major build on its own; the point is that the proposal captures systems, not the product experience or how the organisation will learn from use.
DAY 2
- Private AI platform, customer-facing: an assistant over authoritative content only, with citations and no generated clinical text. Governance (sources, scope, sign-off) is set before any build.
- Private AI platform, internal operations: the same platform woven into content, commerce and support processes — the operational AI described on slide 2.
- Subscription and user-update integration: as proposed; event-driven from the bus.
[PROMPT] Integration-standards example: an SSO, LTI or similar decision that opened a market segment (universities, institutions) — what it took and what it unlocked.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1  ·  TAKING OWNERSHIP OF THE AGREED PATHWAY</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Own the agreed pathway without stalling it: understand, stabilise, accelerate</a:t>
            </a:r>
            <a:endParaRPr lang="en-US" sz="2000" dirty="0"/>
          </a:p>
        </p:txBody>
      </p:sp>
      <p:sp>
        <p:nvSpPr>
          <p:cNvPr id="4" name="line-0"/>
          <p:cNvSpPr/>
          <p:nvPr/>
        </p:nvSpPr>
        <p:spPr>
          <a:xfrm>
            <a:off x="1005840" y="1737360"/>
            <a:ext cx="0" cy="3474720"/>
          </a:xfrm>
          <a:prstGeom prst="line">
            <a:avLst/>
          </a:prstGeom>
          <a:noFill/>
          <a:ln w="19050">
            <a:solidFill>
              <a:srgbClr val="D4DBE0"/>
            </a:solidFill>
            <a:prstDash val="solid"/>
          </a:ln>
        </p:spPr>
      </p:sp>
      <p:sp>
        <p:nvSpPr>
          <p:cNvPr id="5" name="line-1"/>
          <p:cNvSpPr/>
          <p:nvPr/>
        </p:nvSpPr>
        <p:spPr>
          <a:xfrm>
            <a:off x="1005840" y="5212080"/>
            <a:ext cx="5669280" cy="0"/>
          </a:xfrm>
          <a:prstGeom prst="line">
            <a:avLst/>
          </a:prstGeom>
          <a:noFill/>
          <a:ln w="19050">
            <a:solidFill>
              <a:srgbClr val="D4DBE0"/>
            </a:solidFill>
            <a:prstDash val="solid"/>
          </a:ln>
        </p:spPr>
      </p:sp>
      <p:sp>
        <p:nvSpPr>
          <p:cNvPr id="6" name="text-2"/>
          <p:cNvSpPr txBox="1"/>
          <p:nvPr/>
        </p:nvSpPr>
        <p:spPr>
          <a:xfrm rot="16200000">
            <a:off x="585216" y="3383280"/>
            <a:ext cx="548640" cy="182880"/>
          </a:xfrm>
          <a:prstGeom prst="rect">
            <a:avLst/>
          </a:prstGeom>
          <a:noFill/>
          <a:ln/>
        </p:spPr>
        <p:txBody>
          <a:bodyPr wrap="square" lIns="0" tIns="0" rIns="0" bIns="0" rtlCol="0" anchor="ctr"/>
          <a:lstStyle/>
          <a:p>
            <a:pPr algn="ctr" indent="0" marL="0">
              <a:lnSpc>
                <a:spcPct val="100000"/>
              </a:lnSpc>
              <a:buNone/>
            </a:pPr>
            <a:r>
              <a:rPr lang="en-US" sz="850" spc="200" kern="0" dirty="0">
                <a:solidFill>
                  <a:srgbClr val="5A6B75"/>
                </a:solidFill>
                <a:latin typeface="Calibri" pitchFamily="34" charset="0"/>
                <a:ea typeface="Calibri" pitchFamily="34" charset="-122"/>
                <a:cs typeface="Calibri" pitchFamily="34" charset="-120"/>
              </a:rPr>
              <a:t>VALUE</a:t>
            </a:r>
            <a:endParaRPr lang="en-US" sz="850" dirty="0"/>
          </a:p>
        </p:txBody>
      </p:sp>
      <p:sp>
        <p:nvSpPr>
          <p:cNvPr id="7" name="text-3"/>
          <p:cNvSpPr txBox="1"/>
          <p:nvPr/>
        </p:nvSpPr>
        <p:spPr>
          <a:xfrm>
            <a:off x="6126480" y="5303520"/>
            <a:ext cx="548640" cy="164592"/>
          </a:xfrm>
          <a:prstGeom prst="rect">
            <a:avLst/>
          </a:prstGeom>
          <a:noFill/>
          <a:ln/>
        </p:spPr>
        <p:txBody>
          <a:bodyPr wrap="square" lIns="0" tIns="0" rIns="0" bIns="0" rtlCol="0" anchor="ctr"/>
          <a:lstStyle/>
          <a:p>
            <a:pPr algn="r" indent="0" marL="0">
              <a:lnSpc>
                <a:spcPct val="100000"/>
              </a:lnSpc>
              <a:buNone/>
            </a:pPr>
            <a:r>
              <a:rPr lang="en-US" sz="850" spc="200" kern="0" dirty="0">
                <a:solidFill>
                  <a:srgbClr val="5A6B75"/>
                </a:solidFill>
                <a:latin typeface="Calibri" pitchFamily="34" charset="0"/>
                <a:ea typeface="Calibri" pitchFamily="34" charset="-122"/>
                <a:cs typeface="Calibri" pitchFamily="34" charset="-120"/>
              </a:rPr>
              <a:t>TIME</a:t>
            </a:r>
            <a:endParaRPr lang="en-US" sz="850" dirty="0"/>
          </a:p>
        </p:txBody>
      </p:sp>
      <p:sp>
        <p:nvSpPr>
          <p:cNvPr id="8" name="line-4"/>
          <p:cNvSpPr/>
          <p:nvPr/>
        </p:nvSpPr>
        <p:spPr>
          <a:xfrm flipV="1">
            <a:off x="1005840" y="5102546"/>
            <a:ext cx="104215" cy="18094"/>
          </a:xfrm>
          <a:prstGeom prst="line">
            <a:avLst/>
          </a:prstGeom>
          <a:noFill/>
          <a:ln w="50800">
            <a:solidFill>
              <a:srgbClr val="5A6B75"/>
            </a:solidFill>
            <a:prstDash val="solid"/>
          </a:ln>
        </p:spPr>
      </p:sp>
      <p:sp>
        <p:nvSpPr>
          <p:cNvPr id="9" name="line-5"/>
          <p:cNvSpPr/>
          <p:nvPr/>
        </p:nvSpPr>
        <p:spPr>
          <a:xfrm flipV="1">
            <a:off x="1110055" y="5076013"/>
            <a:ext cx="100212" cy="26533"/>
          </a:xfrm>
          <a:prstGeom prst="line">
            <a:avLst/>
          </a:prstGeom>
          <a:noFill/>
          <a:ln w="50800">
            <a:solidFill>
              <a:srgbClr val="5A6B75"/>
            </a:solidFill>
            <a:prstDash val="solid"/>
          </a:ln>
        </p:spPr>
      </p:sp>
      <p:sp>
        <p:nvSpPr>
          <p:cNvPr id="10" name="line-6"/>
          <p:cNvSpPr/>
          <p:nvPr/>
        </p:nvSpPr>
        <p:spPr>
          <a:xfrm flipV="1">
            <a:off x="1210267" y="5041518"/>
            <a:ext cx="96460" cy="34495"/>
          </a:xfrm>
          <a:prstGeom prst="line">
            <a:avLst/>
          </a:prstGeom>
          <a:noFill/>
          <a:ln w="50800">
            <a:solidFill>
              <a:srgbClr val="5A6B75"/>
            </a:solidFill>
            <a:prstDash val="solid"/>
          </a:ln>
        </p:spPr>
      </p:sp>
      <p:sp>
        <p:nvSpPr>
          <p:cNvPr id="11" name="line-7"/>
          <p:cNvSpPr/>
          <p:nvPr/>
        </p:nvSpPr>
        <p:spPr>
          <a:xfrm flipV="1">
            <a:off x="1306727" y="4999537"/>
            <a:ext cx="92958" cy="41981"/>
          </a:xfrm>
          <a:prstGeom prst="line">
            <a:avLst/>
          </a:prstGeom>
          <a:noFill/>
          <a:ln w="50800">
            <a:solidFill>
              <a:srgbClr val="5A6B75"/>
            </a:solidFill>
            <a:prstDash val="solid"/>
          </a:ln>
        </p:spPr>
      </p:sp>
      <p:sp>
        <p:nvSpPr>
          <p:cNvPr id="12" name="line-8"/>
          <p:cNvSpPr/>
          <p:nvPr/>
        </p:nvSpPr>
        <p:spPr>
          <a:xfrm flipV="1">
            <a:off x="1399685" y="4950547"/>
            <a:ext cx="89705" cy="48990"/>
          </a:xfrm>
          <a:prstGeom prst="line">
            <a:avLst/>
          </a:prstGeom>
          <a:noFill/>
          <a:ln w="50800">
            <a:solidFill>
              <a:srgbClr val="5A6B75"/>
            </a:solidFill>
            <a:prstDash val="solid"/>
          </a:ln>
        </p:spPr>
      </p:sp>
      <p:sp>
        <p:nvSpPr>
          <p:cNvPr id="13" name="line-9"/>
          <p:cNvSpPr/>
          <p:nvPr/>
        </p:nvSpPr>
        <p:spPr>
          <a:xfrm flipV="1">
            <a:off x="1489390" y="4895026"/>
            <a:ext cx="86702" cy="55522"/>
          </a:xfrm>
          <a:prstGeom prst="line">
            <a:avLst/>
          </a:prstGeom>
          <a:noFill/>
          <a:ln w="50800">
            <a:solidFill>
              <a:srgbClr val="5A6B75"/>
            </a:solidFill>
            <a:prstDash val="solid"/>
          </a:ln>
        </p:spPr>
      </p:sp>
      <p:sp>
        <p:nvSpPr>
          <p:cNvPr id="14" name="line-10"/>
          <p:cNvSpPr/>
          <p:nvPr/>
        </p:nvSpPr>
        <p:spPr>
          <a:xfrm flipV="1">
            <a:off x="1576092" y="4833448"/>
            <a:ext cx="83949" cy="61577"/>
          </a:xfrm>
          <a:prstGeom prst="line">
            <a:avLst/>
          </a:prstGeom>
          <a:noFill/>
          <a:ln w="50800">
            <a:solidFill>
              <a:srgbClr val="5A6B75"/>
            </a:solidFill>
            <a:prstDash val="solid"/>
          </a:ln>
        </p:spPr>
      </p:sp>
      <p:sp>
        <p:nvSpPr>
          <p:cNvPr id="15" name="line-11"/>
          <p:cNvSpPr/>
          <p:nvPr/>
        </p:nvSpPr>
        <p:spPr>
          <a:xfrm flipV="1">
            <a:off x="1660040" y="4766292"/>
            <a:ext cx="81445" cy="67156"/>
          </a:xfrm>
          <a:prstGeom prst="line">
            <a:avLst/>
          </a:prstGeom>
          <a:noFill/>
          <a:ln w="50800">
            <a:solidFill>
              <a:srgbClr val="5A6B75"/>
            </a:solidFill>
            <a:prstDash val="solid"/>
          </a:ln>
        </p:spPr>
      </p:sp>
      <p:sp>
        <p:nvSpPr>
          <p:cNvPr id="16" name="line-12"/>
          <p:cNvSpPr/>
          <p:nvPr/>
        </p:nvSpPr>
        <p:spPr>
          <a:xfrm flipV="1">
            <a:off x="1741486" y="4694033"/>
            <a:ext cx="79192" cy="72259"/>
          </a:xfrm>
          <a:prstGeom prst="line">
            <a:avLst/>
          </a:prstGeom>
          <a:noFill/>
          <a:ln w="50800">
            <a:solidFill>
              <a:srgbClr val="5A6B75"/>
            </a:solidFill>
            <a:prstDash val="solid"/>
          </a:ln>
        </p:spPr>
      </p:sp>
      <p:sp>
        <p:nvSpPr>
          <p:cNvPr id="17" name="line-13"/>
          <p:cNvSpPr/>
          <p:nvPr/>
        </p:nvSpPr>
        <p:spPr>
          <a:xfrm flipV="1">
            <a:off x="1820678" y="4617149"/>
            <a:ext cx="77188" cy="76884"/>
          </a:xfrm>
          <a:prstGeom prst="line">
            <a:avLst/>
          </a:prstGeom>
          <a:noFill/>
          <a:ln w="50800">
            <a:solidFill>
              <a:srgbClr val="5A6B75"/>
            </a:solidFill>
            <a:prstDash val="solid"/>
          </a:ln>
        </p:spPr>
      </p:sp>
      <p:sp>
        <p:nvSpPr>
          <p:cNvPr id="18" name="line-14"/>
          <p:cNvSpPr/>
          <p:nvPr/>
        </p:nvSpPr>
        <p:spPr>
          <a:xfrm flipV="1">
            <a:off x="1897866" y="4536115"/>
            <a:ext cx="75434" cy="81034"/>
          </a:xfrm>
          <a:prstGeom prst="line">
            <a:avLst/>
          </a:prstGeom>
          <a:noFill/>
          <a:ln w="50800">
            <a:solidFill>
              <a:srgbClr val="5A6B75"/>
            </a:solidFill>
            <a:prstDash val="solid"/>
          </a:ln>
        </p:spPr>
      </p:sp>
      <p:sp>
        <p:nvSpPr>
          <p:cNvPr id="19" name="line-15"/>
          <p:cNvSpPr/>
          <p:nvPr/>
        </p:nvSpPr>
        <p:spPr>
          <a:xfrm flipV="1">
            <a:off x="1973300" y="4451409"/>
            <a:ext cx="73930" cy="84706"/>
          </a:xfrm>
          <a:prstGeom prst="line">
            <a:avLst/>
          </a:prstGeom>
          <a:noFill/>
          <a:ln w="50800">
            <a:solidFill>
              <a:srgbClr val="5A6B75"/>
            </a:solidFill>
            <a:prstDash val="solid"/>
          </a:ln>
        </p:spPr>
      </p:sp>
      <p:sp>
        <p:nvSpPr>
          <p:cNvPr id="20" name="line-16"/>
          <p:cNvSpPr/>
          <p:nvPr/>
        </p:nvSpPr>
        <p:spPr>
          <a:xfrm flipV="1">
            <a:off x="2047230" y="4363507"/>
            <a:ext cx="72676" cy="87902"/>
          </a:xfrm>
          <a:prstGeom prst="line">
            <a:avLst/>
          </a:prstGeom>
          <a:noFill/>
          <a:ln w="50800">
            <a:solidFill>
              <a:srgbClr val="5A6B75"/>
            </a:solidFill>
            <a:prstDash val="solid"/>
          </a:ln>
        </p:spPr>
      </p:sp>
      <p:sp>
        <p:nvSpPr>
          <p:cNvPr id="21" name="line-17"/>
          <p:cNvSpPr/>
          <p:nvPr/>
        </p:nvSpPr>
        <p:spPr>
          <a:xfrm flipV="1">
            <a:off x="2119906" y="4272886"/>
            <a:ext cx="71671" cy="90621"/>
          </a:xfrm>
          <a:prstGeom prst="line">
            <a:avLst/>
          </a:prstGeom>
          <a:noFill/>
          <a:ln w="50800">
            <a:solidFill>
              <a:srgbClr val="5A6B75"/>
            </a:solidFill>
            <a:prstDash val="solid"/>
          </a:ln>
        </p:spPr>
      </p:sp>
      <p:sp>
        <p:nvSpPr>
          <p:cNvPr id="22" name="line-18"/>
          <p:cNvSpPr/>
          <p:nvPr/>
        </p:nvSpPr>
        <p:spPr>
          <a:xfrm flipV="1">
            <a:off x="2191577" y="4180022"/>
            <a:ext cx="70916" cy="92864"/>
          </a:xfrm>
          <a:prstGeom prst="line">
            <a:avLst/>
          </a:prstGeom>
          <a:noFill/>
          <a:ln w="50800">
            <a:solidFill>
              <a:srgbClr val="5A6B75"/>
            </a:solidFill>
            <a:prstDash val="solid"/>
          </a:ln>
        </p:spPr>
      </p:sp>
      <p:sp>
        <p:nvSpPr>
          <p:cNvPr id="23" name="line-19"/>
          <p:cNvSpPr/>
          <p:nvPr/>
        </p:nvSpPr>
        <p:spPr>
          <a:xfrm flipV="1">
            <a:off x="2262493" y="4085393"/>
            <a:ext cx="70412" cy="94630"/>
          </a:xfrm>
          <a:prstGeom prst="line">
            <a:avLst/>
          </a:prstGeom>
          <a:noFill/>
          <a:ln w="50800">
            <a:solidFill>
              <a:srgbClr val="5A6B75"/>
            </a:solidFill>
            <a:prstDash val="solid"/>
          </a:ln>
        </p:spPr>
      </p:sp>
      <p:sp>
        <p:nvSpPr>
          <p:cNvPr id="24" name="line-20"/>
          <p:cNvSpPr/>
          <p:nvPr/>
        </p:nvSpPr>
        <p:spPr>
          <a:xfrm flipV="1">
            <a:off x="2332905" y="3989474"/>
            <a:ext cx="70156" cy="95919"/>
          </a:xfrm>
          <a:prstGeom prst="line">
            <a:avLst/>
          </a:prstGeom>
          <a:noFill/>
          <a:ln w="50800">
            <a:solidFill>
              <a:srgbClr val="5A6B75"/>
            </a:solidFill>
            <a:prstDash val="solid"/>
          </a:ln>
        </p:spPr>
      </p:sp>
      <p:sp>
        <p:nvSpPr>
          <p:cNvPr id="25" name="line-21"/>
          <p:cNvSpPr/>
          <p:nvPr/>
        </p:nvSpPr>
        <p:spPr>
          <a:xfrm flipV="1">
            <a:off x="2403062" y="3892743"/>
            <a:ext cx="70151" cy="96732"/>
          </a:xfrm>
          <a:prstGeom prst="line">
            <a:avLst/>
          </a:prstGeom>
          <a:noFill/>
          <a:ln w="50800">
            <a:solidFill>
              <a:srgbClr val="5A6B75"/>
            </a:solidFill>
            <a:prstDash val="solid"/>
          </a:ln>
        </p:spPr>
      </p:sp>
      <p:sp>
        <p:nvSpPr>
          <p:cNvPr id="26" name="line-22"/>
          <p:cNvSpPr/>
          <p:nvPr/>
        </p:nvSpPr>
        <p:spPr>
          <a:xfrm flipV="1">
            <a:off x="2473213" y="3795675"/>
            <a:ext cx="70396" cy="97068"/>
          </a:xfrm>
          <a:prstGeom prst="line">
            <a:avLst/>
          </a:prstGeom>
          <a:noFill/>
          <a:ln w="50800">
            <a:solidFill>
              <a:srgbClr val="5A6B75"/>
            </a:solidFill>
            <a:prstDash val="solid"/>
          </a:ln>
        </p:spPr>
      </p:sp>
      <p:sp>
        <p:nvSpPr>
          <p:cNvPr id="27" name="line-23"/>
          <p:cNvSpPr/>
          <p:nvPr/>
        </p:nvSpPr>
        <p:spPr>
          <a:xfrm flipV="1">
            <a:off x="2543608" y="3698748"/>
            <a:ext cx="70890" cy="96927"/>
          </a:xfrm>
          <a:prstGeom prst="line">
            <a:avLst/>
          </a:prstGeom>
          <a:noFill/>
          <a:ln w="50800">
            <a:solidFill>
              <a:srgbClr val="5A6B75"/>
            </a:solidFill>
            <a:prstDash val="solid"/>
          </a:ln>
        </p:spPr>
      </p:sp>
      <p:sp>
        <p:nvSpPr>
          <p:cNvPr id="28" name="line-24"/>
          <p:cNvSpPr/>
          <p:nvPr/>
        </p:nvSpPr>
        <p:spPr>
          <a:xfrm flipV="1">
            <a:off x="2614498" y="3602438"/>
            <a:ext cx="71634" cy="96310"/>
          </a:xfrm>
          <a:prstGeom prst="line">
            <a:avLst/>
          </a:prstGeom>
          <a:noFill/>
          <a:ln w="50800">
            <a:solidFill>
              <a:srgbClr val="5A6B75"/>
            </a:solidFill>
            <a:prstDash val="solid"/>
          </a:ln>
        </p:spPr>
      </p:sp>
      <p:sp>
        <p:nvSpPr>
          <p:cNvPr id="29" name="line-25"/>
          <p:cNvSpPr/>
          <p:nvPr/>
        </p:nvSpPr>
        <p:spPr>
          <a:xfrm flipV="1">
            <a:off x="2686132" y="3507222"/>
            <a:ext cx="72628" cy="95216"/>
          </a:xfrm>
          <a:prstGeom prst="line">
            <a:avLst/>
          </a:prstGeom>
          <a:noFill/>
          <a:ln w="50800">
            <a:solidFill>
              <a:srgbClr val="5A6B75"/>
            </a:solidFill>
            <a:prstDash val="solid"/>
          </a:ln>
        </p:spPr>
      </p:sp>
      <p:sp>
        <p:nvSpPr>
          <p:cNvPr id="30" name="line-26"/>
          <p:cNvSpPr/>
          <p:nvPr/>
        </p:nvSpPr>
        <p:spPr>
          <a:xfrm flipV="1">
            <a:off x="2758760" y="3413577"/>
            <a:ext cx="73872" cy="93645"/>
          </a:xfrm>
          <a:prstGeom prst="line">
            <a:avLst/>
          </a:prstGeom>
          <a:noFill/>
          <a:ln w="50800">
            <a:solidFill>
              <a:srgbClr val="5A6B75"/>
            </a:solidFill>
            <a:prstDash val="solid"/>
          </a:ln>
        </p:spPr>
      </p:sp>
      <p:sp>
        <p:nvSpPr>
          <p:cNvPr id="31" name="line-27"/>
          <p:cNvSpPr/>
          <p:nvPr/>
        </p:nvSpPr>
        <p:spPr>
          <a:xfrm flipV="1">
            <a:off x="2832632" y="3321979"/>
            <a:ext cx="75365" cy="91598"/>
          </a:xfrm>
          <a:prstGeom prst="line">
            <a:avLst/>
          </a:prstGeom>
          <a:noFill/>
          <a:ln w="50800">
            <a:solidFill>
              <a:srgbClr val="5A6B75"/>
            </a:solidFill>
            <a:prstDash val="solid"/>
          </a:ln>
        </p:spPr>
      </p:sp>
      <p:sp>
        <p:nvSpPr>
          <p:cNvPr id="32" name="line-28"/>
          <p:cNvSpPr/>
          <p:nvPr/>
        </p:nvSpPr>
        <p:spPr>
          <a:xfrm flipV="1">
            <a:off x="2907997" y="3232904"/>
            <a:ext cx="77108" cy="89075"/>
          </a:xfrm>
          <a:prstGeom prst="line">
            <a:avLst/>
          </a:prstGeom>
          <a:noFill/>
          <a:ln w="50800">
            <a:solidFill>
              <a:srgbClr val="5A6B75"/>
            </a:solidFill>
            <a:prstDash val="solid"/>
          </a:ln>
        </p:spPr>
      </p:sp>
      <p:sp>
        <p:nvSpPr>
          <p:cNvPr id="33" name="line-29"/>
          <p:cNvSpPr/>
          <p:nvPr/>
        </p:nvSpPr>
        <p:spPr>
          <a:xfrm flipV="1">
            <a:off x="2985105" y="3146830"/>
            <a:ext cx="79102" cy="86074"/>
          </a:xfrm>
          <a:prstGeom prst="line">
            <a:avLst/>
          </a:prstGeom>
          <a:noFill/>
          <a:ln w="50800">
            <a:solidFill>
              <a:srgbClr val="5A6B75"/>
            </a:solidFill>
            <a:prstDash val="solid"/>
          </a:ln>
        </p:spPr>
      </p:sp>
      <p:sp>
        <p:nvSpPr>
          <p:cNvPr id="34" name="line-30"/>
          <p:cNvSpPr/>
          <p:nvPr/>
        </p:nvSpPr>
        <p:spPr>
          <a:xfrm flipV="1">
            <a:off x="3064207" y="3064233"/>
            <a:ext cx="81344" cy="82597"/>
          </a:xfrm>
          <a:prstGeom prst="line">
            <a:avLst/>
          </a:prstGeom>
          <a:noFill/>
          <a:ln w="50800">
            <a:solidFill>
              <a:srgbClr val="5A6B75"/>
            </a:solidFill>
            <a:prstDash val="solid"/>
          </a:ln>
        </p:spPr>
      </p:sp>
      <p:sp>
        <p:nvSpPr>
          <p:cNvPr id="35" name="line-31"/>
          <p:cNvSpPr/>
          <p:nvPr/>
        </p:nvSpPr>
        <p:spPr>
          <a:xfrm flipV="1">
            <a:off x="3145551" y="2985589"/>
            <a:ext cx="83837" cy="78644"/>
          </a:xfrm>
          <a:prstGeom prst="line">
            <a:avLst/>
          </a:prstGeom>
          <a:noFill/>
          <a:ln w="50800">
            <a:solidFill>
              <a:srgbClr val="5A6B75"/>
            </a:solidFill>
            <a:prstDash val="solid"/>
          </a:ln>
        </p:spPr>
      </p:sp>
      <p:sp>
        <p:nvSpPr>
          <p:cNvPr id="36" name="line-32"/>
          <p:cNvSpPr/>
          <p:nvPr/>
        </p:nvSpPr>
        <p:spPr>
          <a:xfrm flipV="1">
            <a:off x="3229388" y="2911376"/>
            <a:ext cx="86580" cy="74213"/>
          </a:xfrm>
          <a:prstGeom prst="line">
            <a:avLst/>
          </a:prstGeom>
          <a:noFill/>
          <a:ln w="50800">
            <a:solidFill>
              <a:srgbClr val="5A6B75"/>
            </a:solidFill>
            <a:prstDash val="solid"/>
          </a:ln>
        </p:spPr>
      </p:sp>
      <p:sp>
        <p:nvSpPr>
          <p:cNvPr id="37" name="line-33"/>
          <p:cNvSpPr/>
          <p:nvPr/>
        </p:nvSpPr>
        <p:spPr>
          <a:xfrm flipV="1">
            <a:off x="3315968" y="2842070"/>
            <a:ext cx="89572" cy="69306"/>
          </a:xfrm>
          <a:prstGeom prst="line">
            <a:avLst/>
          </a:prstGeom>
          <a:noFill/>
          <a:ln w="50800">
            <a:solidFill>
              <a:srgbClr val="5A6B75"/>
            </a:solidFill>
            <a:prstDash val="solid"/>
          </a:ln>
        </p:spPr>
      </p:sp>
      <p:sp>
        <p:nvSpPr>
          <p:cNvPr id="38" name="line-34"/>
          <p:cNvSpPr/>
          <p:nvPr/>
        </p:nvSpPr>
        <p:spPr>
          <a:xfrm flipV="1">
            <a:off x="3405540" y="2778147"/>
            <a:ext cx="92814" cy="63923"/>
          </a:xfrm>
          <a:prstGeom prst="line">
            <a:avLst/>
          </a:prstGeom>
          <a:noFill/>
          <a:ln w="50800">
            <a:solidFill>
              <a:srgbClr val="5A6B75"/>
            </a:solidFill>
            <a:prstDash val="solid"/>
          </a:ln>
        </p:spPr>
      </p:sp>
      <p:sp>
        <p:nvSpPr>
          <p:cNvPr id="39" name="line-35"/>
          <p:cNvSpPr/>
          <p:nvPr/>
        </p:nvSpPr>
        <p:spPr>
          <a:xfrm flipV="1">
            <a:off x="3498354" y="2720084"/>
            <a:ext cx="96306" cy="58063"/>
          </a:xfrm>
          <a:prstGeom prst="line">
            <a:avLst/>
          </a:prstGeom>
          <a:noFill/>
          <a:ln w="50800">
            <a:solidFill>
              <a:srgbClr val="5A6B75"/>
            </a:solidFill>
            <a:prstDash val="solid"/>
          </a:ln>
        </p:spPr>
      </p:sp>
      <p:sp>
        <p:nvSpPr>
          <p:cNvPr id="40" name="line-36"/>
          <p:cNvSpPr/>
          <p:nvPr/>
        </p:nvSpPr>
        <p:spPr>
          <a:xfrm flipV="1">
            <a:off x="3594660" y="2668358"/>
            <a:ext cx="100048" cy="51726"/>
          </a:xfrm>
          <a:prstGeom prst="line">
            <a:avLst/>
          </a:prstGeom>
          <a:noFill/>
          <a:ln w="50800">
            <a:solidFill>
              <a:srgbClr val="5A6B75"/>
            </a:solidFill>
            <a:prstDash val="solid"/>
          </a:ln>
        </p:spPr>
      </p:sp>
      <p:sp>
        <p:nvSpPr>
          <p:cNvPr id="41" name="line-37"/>
          <p:cNvSpPr/>
          <p:nvPr/>
        </p:nvSpPr>
        <p:spPr>
          <a:xfrm flipV="1">
            <a:off x="3694708" y="2623446"/>
            <a:ext cx="104039" cy="44912"/>
          </a:xfrm>
          <a:prstGeom prst="line">
            <a:avLst/>
          </a:prstGeom>
          <a:noFill/>
          <a:ln w="50800">
            <a:solidFill>
              <a:srgbClr val="5A6B75"/>
            </a:solidFill>
            <a:prstDash val="solid"/>
          </a:ln>
        </p:spPr>
      </p:sp>
      <p:sp>
        <p:nvSpPr>
          <p:cNvPr id="42" name="line-38"/>
          <p:cNvSpPr/>
          <p:nvPr/>
        </p:nvSpPr>
        <p:spPr>
          <a:xfrm flipV="1">
            <a:off x="3798747" y="2585823"/>
            <a:ext cx="108281" cy="37622"/>
          </a:xfrm>
          <a:prstGeom prst="line">
            <a:avLst/>
          </a:prstGeom>
          <a:noFill/>
          <a:ln w="50800">
            <a:solidFill>
              <a:srgbClr val="5A6B75"/>
            </a:solidFill>
            <a:prstDash val="solid"/>
          </a:ln>
        </p:spPr>
      </p:sp>
      <p:sp>
        <p:nvSpPr>
          <p:cNvPr id="43" name="line-39"/>
          <p:cNvSpPr/>
          <p:nvPr/>
        </p:nvSpPr>
        <p:spPr>
          <a:xfrm flipV="1">
            <a:off x="3907028" y="2555967"/>
            <a:ext cx="112772" cy="29856"/>
          </a:xfrm>
          <a:prstGeom prst="line">
            <a:avLst/>
          </a:prstGeom>
          <a:noFill/>
          <a:ln w="50800">
            <a:solidFill>
              <a:srgbClr val="5A6B75"/>
            </a:solidFill>
            <a:prstDash val="solid"/>
          </a:ln>
        </p:spPr>
      </p:sp>
      <p:sp>
        <p:nvSpPr>
          <p:cNvPr id="44" name="line-40"/>
          <p:cNvSpPr/>
          <p:nvPr/>
        </p:nvSpPr>
        <p:spPr>
          <a:xfrm flipV="1">
            <a:off x="4019799" y="2534355"/>
            <a:ext cx="117513" cy="21612"/>
          </a:xfrm>
          <a:prstGeom prst="line">
            <a:avLst/>
          </a:prstGeom>
          <a:noFill/>
          <a:ln w="50800">
            <a:solidFill>
              <a:srgbClr val="5A6B75"/>
            </a:solidFill>
            <a:prstDash val="solid"/>
          </a:ln>
        </p:spPr>
      </p:sp>
      <p:sp>
        <p:nvSpPr>
          <p:cNvPr id="45" name="line-41"/>
          <p:cNvSpPr/>
          <p:nvPr/>
        </p:nvSpPr>
        <p:spPr>
          <a:xfrm flipV="1">
            <a:off x="4137312" y="2521463"/>
            <a:ext cx="122503" cy="12892"/>
          </a:xfrm>
          <a:prstGeom prst="line">
            <a:avLst/>
          </a:prstGeom>
          <a:noFill/>
          <a:ln w="50800">
            <a:solidFill>
              <a:srgbClr val="5A6B75"/>
            </a:solidFill>
            <a:prstDash val="solid"/>
          </a:ln>
        </p:spPr>
      </p:sp>
      <p:sp>
        <p:nvSpPr>
          <p:cNvPr id="46" name="line-42"/>
          <p:cNvSpPr/>
          <p:nvPr/>
        </p:nvSpPr>
        <p:spPr>
          <a:xfrm flipV="1">
            <a:off x="4259815" y="2517767"/>
            <a:ext cx="127744" cy="3696"/>
          </a:xfrm>
          <a:prstGeom prst="line">
            <a:avLst/>
          </a:prstGeom>
          <a:noFill/>
          <a:ln w="50800">
            <a:solidFill>
              <a:srgbClr val="5A6B75"/>
            </a:solidFill>
            <a:prstDash val="solid"/>
          </a:ln>
        </p:spPr>
      </p:sp>
      <p:sp>
        <p:nvSpPr>
          <p:cNvPr id="47" name="line-43"/>
          <p:cNvSpPr/>
          <p:nvPr/>
        </p:nvSpPr>
        <p:spPr>
          <a:xfrm>
            <a:off x="4387559" y="2517767"/>
            <a:ext cx="133234" cy="5977"/>
          </a:xfrm>
          <a:prstGeom prst="line">
            <a:avLst/>
          </a:prstGeom>
          <a:noFill/>
          <a:ln w="50800">
            <a:solidFill>
              <a:srgbClr val="5A6B75"/>
            </a:solidFill>
            <a:prstDash val="solid"/>
          </a:ln>
        </p:spPr>
      </p:sp>
      <p:sp>
        <p:nvSpPr>
          <p:cNvPr id="48" name="line-44"/>
          <p:cNvSpPr/>
          <p:nvPr/>
        </p:nvSpPr>
        <p:spPr>
          <a:xfrm flipV="1">
            <a:off x="3386938" y="5145060"/>
            <a:ext cx="83794" cy="12156"/>
          </a:xfrm>
          <a:prstGeom prst="line">
            <a:avLst/>
          </a:prstGeom>
          <a:noFill/>
          <a:ln w="63500">
            <a:solidFill>
              <a:srgbClr val="0F766E"/>
            </a:solidFill>
            <a:prstDash val="solid"/>
          </a:ln>
        </p:spPr>
      </p:sp>
      <p:sp>
        <p:nvSpPr>
          <p:cNvPr id="49" name="line-45"/>
          <p:cNvSpPr/>
          <p:nvPr/>
        </p:nvSpPr>
        <p:spPr>
          <a:xfrm flipV="1">
            <a:off x="3470731" y="5122654"/>
            <a:ext cx="81423" cy="22407"/>
          </a:xfrm>
          <a:prstGeom prst="line">
            <a:avLst/>
          </a:prstGeom>
          <a:noFill/>
          <a:ln w="63500">
            <a:solidFill>
              <a:srgbClr val="0F766E"/>
            </a:solidFill>
            <a:prstDash val="solid"/>
          </a:ln>
        </p:spPr>
      </p:sp>
      <p:sp>
        <p:nvSpPr>
          <p:cNvPr id="50" name="line-46"/>
          <p:cNvSpPr/>
          <p:nvPr/>
        </p:nvSpPr>
        <p:spPr>
          <a:xfrm flipV="1">
            <a:off x="3552155" y="5090513"/>
            <a:ext cx="79234" cy="32141"/>
          </a:xfrm>
          <a:prstGeom prst="line">
            <a:avLst/>
          </a:prstGeom>
          <a:noFill/>
          <a:ln w="63500">
            <a:solidFill>
              <a:srgbClr val="0F766E"/>
            </a:solidFill>
            <a:prstDash val="solid"/>
          </a:ln>
        </p:spPr>
      </p:sp>
      <p:sp>
        <p:nvSpPr>
          <p:cNvPr id="51" name="line-47"/>
          <p:cNvSpPr/>
          <p:nvPr/>
        </p:nvSpPr>
        <p:spPr>
          <a:xfrm flipV="1">
            <a:off x="3631388" y="5049152"/>
            <a:ext cx="77224" cy="41360"/>
          </a:xfrm>
          <a:prstGeom prst="line">
            <a:avLst/>
          </a:prstGeom>
          <a:noFill/>
          <a:ln w="63500">
            <a:solidFill>
              <a:srgbClr val="0F766E"/>
            </a:solidFill>
            <a:prstDash val="solid"/>
          </a:ln>
        </p:spPr>
      </p:sp>
      <p:sp>
        <p:nvSpPr>
          <p:cNvPr id="52" name="line-48"/>
          <p:cNvSpPr/>
          <p:nvPr/>
        </p:nvSpPr>
        <p:spPr>
          <a:xfrm flipV="1">
            <a:off x="3708613" y="4999089"/>
            <a:ext cx="75396" cy="50063"/>
          </a:xfrm>
          <a:prstGeom prst="line">
            <a:avLst/>
          </a:prstGeom>
          <a:noFill/>
          <a:ln w="63500">
            <a:solidFill>
              <a:srgbClr val="0F766E"/>
            </a:solidFill>
            <a:prstDash val="solid"/>
          </a:ln>
        </p:spPr>
      </p:sp>
      <p:sp>
        <p:nvSpPr>
          <p:cNvPr id="53" name="line-49"/>
          <p:cNvSpPr/>
          <p:nvPr/>
        </p:nvSpPr>
        <p:spPr>
          <a:xfrm flipV="1">
            <a:off x="3784009" y="4940839"/>
            <a:ext cx="73748" cy="58250"/>
          </a:xfrm>
          <a:prstGeom prst="line">
            <a:avLst/>
          </a:prstGeom>
          <a:noFill/>
          <a:ln w="63500">
            <a:solidFill>
              <a:srgbClr val="0F766E"/>
            </a:solidFill>
            <a:prstDash val="solid"/>
          </a:ln>
        </p:spPr>
      </p:sp>
      <p:sp>
        <p:nvSpPr>
          <p:cNvPr id="54" name="line-50"/>
          <p:cNvSpPr/>
          <p:nvPr/>
        </p:nvSpPr>
        <p:spPr>
          <a:xfrm flipV="1">
            <a:off x="3857757" y="4874919"/>
            <a:ext cx="72282" cy="65921"/>
          </a:xfrm>
          <a:prstGeom prst="line">
            <a:avLst/>
          </a:prstGeom>
          <a:noFill/>
          <a:ln w="63500">
            <a:solidFill>
              <a:srgbClr val="0F766E"/>
            </a:solidFill>
            <a:prstDash val="solid"/>
          </a:ln>
        </p:spPr>
      </p:sp>
      <p:sp>
        <p:nvSpPr>
          <p:cNvPr id="55" name="line-51"/>
          <p:cNvSpPr/>
          <p:nvPr/>
        </p:nvSpPr>
        <p:spPr>
          <a:xfrm flipV="1">
            <a:off x="3930039" y="4801844"/>
            <a:ext cx="70995" cy="73075"/>
          </a:xfrm>
          <a:prstGeom prst="line">
            <a:avLst/>
          </a:prstGeom>
          <a:noFill/>
          <a:ln w="63500">
            <a:solidFill>
              <a:srgbClr val="0F766E"/>
            </a:solidFill>
            <a:prstDash val="solid"/>
          </a:ln>
        </p:spPr>
      </p:sp>
      <p:sp>
        <p:nvSpPr>
          <p:cNvPr id="56" name="line-52"/>
          <p:cNvSpPr/>
          <p:nvPr/>
        </p:nvSpPr>
        <p:spPr>
          <a:xfrm flipV="1">
            <a:off x="4001034" y="4722130"/>
            <a:ext cx="69890" cy="79714"/>
          </a:xfrm>
          <a:prstGeom prst="line">
            <a:avLst/>
          </a:prstGeom>
          <a:noFill/>
          <a:ln w="63500">
            <a:solidFill>
              <a:srgbClr val="0F766E"/>
            </a:solidFill>
            <a:prstDash val="solid"/>
          </a:ln>
        </p:spPr>
      </p:sp>
      <p:sp>
        <p:nvSpPr>
          <p:cNvPr id="57" name="line-53"/>
          <p:cNvSpPr/>
          <p:nvPr/>
        </p:nvSpPr>
        <p:spPr>
          <a:xfrm flipV="1">
            <a:off x="4070924" y="4636294"/>
            <a:ext cx="68965" cy="85836"/>
          </a:xfrm>
          <a:prstGeom prst="line">
            <a:avLst/>
          </a:prstGeom>
          <a:noFill/>
          <a:ln w="63500">
            <a:solidFill>
              <a:srgbClr val="0F766E"/>
            </a:solidFill>
            <a:prstDash val="solid"/>
          </a:ln>
        </p:spPr>
      </p:sp>
      <p:sp>
        <p:nvSpPr>
          <p:cNvPr id="58" name="line-54"/>
          <p:cNvSpPr/>
          <p:nvPr/>
        </p:nvSpPr>
        <p:spPr>
          <a:xfrm flipV="1">
            <a:off x="4139889" y="4544851"/>
            <a:ext cx="68221" cy="91443"/>
          </a:xfrm>
          <a:prstGeom prst="line">
            <a:avLst/>
          </a:prstGeom>
          <a:noFill/>
          <a:ln w="63500">
            <a:solidFill>
              <a:srgbClr val="0F766E"/>
            </a:solidFill>
            <a:prstDash val="solid"/>
          </a:ln>
        </p:spPr>
      </p:sp>
      <p:sp>
        <p:nvSpPr>
          <p:cNvPr id="59" name="line-55"/>
          <p:cNvSpPr/>
          <p:nvPr/>
        </p:nvSpPr>
        <p:spPr>
          <a:xfrm flipV="1">
            <a:off x="4208110" y="4448318"/>
            <a:ext cx="67658" cy="96533"/>
          </a:xfrm>
          <a:prstGeom prst="line">
            <a:avLst/>
          </a:prstGeom>
          <a:noFill/>
          <a:ln w="63500">
            <a:solidFill>
              <a:srgbClr val="0F766E"/>
            </a:solidFill>
            <a:prstDash val="solid"/>
          </a:ln>
        </p:spPr>
      </p:sp>
      <p:sp>
        <p:nvSpPr>
          <p:cNvPr id="60" name="line-56"/>
          <p:cNvSpPr/>
          <p:nvPr/>
        </p:nvSpPr>
        <p:spPr>
          <a:xfrm flipV="1">
            <a:off x="4275767" y="4347211"/>
            <a:ext cx="67275" cy="101107"/>
          </a:xfrm>
          <a:prstGeom prst="line">
            <a:avLst/>
          </a:prstGeom>
          <a:noFill/>
          <a:ln w="63500">
            <a:solidFill>
              <a:srgbClr val="0F766E"/>
            </a:solidFill>
            <a:prstDash val="solid"/>
          </a:ln>
        </p:spPr>
      </p:sp>
      <p:sp>
        <p:nvSpPr>
          <p:cNvPr id="61" name="line-57"/>
          <p:cNvSpPr/>
          <p:nvPr/>
        </p:nvSpPr>
        <p:spPr>
          <a:xfrm flipV="1">
            <a:off x="4343042" y="4242046"/>
            <a:ext cx="67073" cy="105165"/>
          </a:xfrm>
          <a:prstGeom prst="line">
            <a:avLst/>
          </a:prstGeom>
          <a:noFill/>
          <a:ln w="63500">
            <a:solidFill>
              <a:srgbClr val="0F766E"/>
            </a:solidFill>
            <a:prstDash val="solid"/>
          </a:ln>
        </p:spPr>
      </p:sp>
      <p:sp>
        <p:nvSpPr>
          <p:cNvPr id="62" name="line-58"/>
          <p:cNvSpPr/>
          <p:nvPr/>
        </p:nvSpPr>
        <p:spPr>
          <a:xfrm flipV="1">
            <a:off x="4410115" y="4133338"/>
            <a:ext cx="67052" cy="108708"/>
          </a:xfrm>
          <a:prstGeom prst="line">
            <a:avLst/>
          </a:prstGeom>
          <a:noFill/>
          <a:ln w="63500">
            <a:solidFill>
              <a:srgbClr val="0F766E"/>
            </a:solidFill>
            <a:prstDash val="solid"/>
          </a:ln>
        </p:spPr>
      </p:sp>
      <p:sp>
        <p:nvSpPr>
          <p:cNvPr id="63" name="line-59"/>
          <p:cNvSpPr/>
          <p:nvPr/>
        </p:nvSpPr>
        <p:spPr>
          <a:xfrm flipV="1">
            <a:off x="4477167" y="4021604"/>
            <a:ext cx="67211" cy="111734"/>
          </a:xfrm>
          <a:prstGeom prst="line">
            <a:avLst/>
          </a:prstGeom>
          <a:noFill/>
          <a:ln w="63500">
            <a:solidFill>
              <a:srgbClr val="0F766E"/>
            </a:solidFill>
            <a:prstDash val="solid"/>
          </a:ln>
        </p:spPr>
      </p:sp>
      <p:sp>
        <p:nvSpPr>
          <p:cNvPr id="64" name="line-60"/>
          <p:cNvSpPr/>
          <p:nvPr/>
        </p:nvSpPr>
        <p:spPr>
          <a:xfrm flipV="1">
            <a:off x="4544378" y="3907361"/>
            <a:ext cx="67551" cy="114244"/>
          </a:xfrm>
          <a:prstGeom prst="line">
            <a:avLst/>
          </a:prstGeom>
          <a:noFill/>
          <a:ln w="63500">
            <a:solidFill>
              <a:srgbClr val="0F766E"/>
            </a:solidFill>
            <a:prstDash val="solid"/>
          </a:ln>
        </p:spPr>
      </p:sp>
      <p:sp>
        <p:nvSpPr>
          <p:cNvPr id="65" name="line-61"/>
          <p:cNvSpPr/>
          <p:nvPr/>
        </p:nvSpPr>
        <p:spPr>
          <a:xfrm flipV="1">
            <a:off x="4611929" y="3791123"/>
            <a:ext cx="68072" cy="116238"/>
          </a:xfrm>
          <a:prstGeom prst="line">
            <a:avLst/>
          </a:prstGeom>
          <a:noFill/>
          <a:ln w="63500">
            <a:solidFill>
              <a:srgbClr val="0F766E"/>
            </a:solidFill>
            <a:prstDash val="solid"/>
          </a:ln>
        </p:spPr>
      </p:sp>
      <p:sp>
        <p:nvSpPr>
          <p:cNvPr id="66" name="line-62"/>
          <p:cNvSpPr/>
          <p:nvPr/>
        </p:nvSpPr>
        <p:spPr>
          <a:xfrm flipV="1">
            <a:off x="4680001" y="3673407"/>
            <a:ext cx="68774" cy="117716"/>
          </a:xfrm>
          <a:prstGeom prst="line">
            <a:avLst/>
          </a:prstGeom>
          <a:noFill/>
          <a:ln w="63500">
            <a:solidFill>
              <a:srgbClr val="0F766E"/>
            </a:solidFill>
            <a:prstDash val="solid"/>
          </a:ln>
        </p:spPr>
      </p:sp>
      <p:sp>
        <p:nvSpPr>
          <p:cNvPr id="67" name="line-63"/>
          <p:cNvSpPr/>
          <p:nvPr/>
        </p:nvSpPr>
        <p:spPr>
          <a:xfrm flipV="1">
            <a:off x="4748775" y="3554730"/>
            <a:ext cx="69656" cy="118677"/>
          </a:xfrm>
          <a:prstGeom prst="line">
            <a:avLst/>
          </a:prstGeom>
          <a:noFill/>
          <a:ln w="63500">
            <a:solidFill>
              <a:srgbClr val="0F766E"/>
            </a:solidFill>
            <a:prstDash val="solid"/>
          </a:ln>
        </p:spPr>
      </p:sp>
      <p:sp>
        <p:nvSpPr>
          <p:cNvPr id="68" name="line-64"/>
          <p:cNvSpPr/>
          <p:nvPr/>
        </p:nvSpPr>
        <p:spPr>
          <a:xfrm flipV="1">
            <a:off x="4818431" y="3435607"/>
            <a:ext cx="70719" cy="119123"/>
          </a:xfrm>
          <a:prstGeom prst="line">
            <a:avLst/>
          </a:prstGeom>
          <a:noFill/>
          <a:ln w="63500">
            <a:solidFill>
              <a:srgbClr val="0F766E"/>
            </a:solidFill>
            <a:prstDash val="solid"/>
          </a:ln>
        </p:spPr>
      </p:sp>
      <p:sp>
        <p:nvSpPr>
          <p:cNvPr id="69" name="line-65"/>
          <p:cNvSpPr/>
          <p:nvPr/>
        </p:nvSpPr>
        <p:spPr>
          <a:xfrm flipV="1">
            <a:off x="4889150" y="3316554"/>
            <a:ext cx="71963" cy="119053"/>
          </a:xfrm>
          <a:prstGeom prst="line">
            <a:avLst/>
          </a:prstGeom>
          <a:noFill/>
          <a:ln w="63500">
            <a:solidFill>
              <a:srgbClr val="0F766E"/>
            </a:solidFill>
            <a:prstDash val="solid"/>
          </a:ln>
        </p:spPr>
      </p:sp>
      <p:sp>
        <p:nvSpPr>
          <p:cNvPr id="70" name="line-66"/>
          <p:cNvSpPr/>
          <p:nvPr/>
        </p:nvSpPr>
        <p:spPr>
          <a:xfrm flipV="1">
            <a:off x="4961112" y="3198087"/>
            <a:ext cx="73387" cy="118467"/>
          </a:xfrm>
          <a:prstGeom prst="line">
            <a:avLst/>
          </a:prstGeom>
          <a:noFill/>
          <a:ln w="63500">
            <a:solidFill>
              <a:srgbClr val="0F766E"/>
            </a:solidFill>
            <a:prstDash val="solid"/>
          </a:ln>
        </p:spPr>
      </p:sp>
      <p:sp>
        <p:nvSpPr>
          <p:cNvPr id="71" name="line-67"/>
          <p:cNvSpPr/>
          <p:nvPr/>
        </p:nvSpPr>
        <p:spPr>
          <a:xfrm flipV="1">
            <a:off x="5034499" y="3080723"/>
            <a:ext cx="74992" cy="117364"/>
          </a:xfrm>
          <a:prstGeom prst="line">
            <a:avLst/>
          </a:prstGeom>
          <a:noFill/>
          <a:ln w="63500">
            <a:solidFill>
              <a:srgbClr val="0F766E"/>
            </a:solidFill>
            <a:prstDash val="solid"/>
          </a:ln>
        </p:spPr>
      </p:sp>
      <p:sp>
        <p:nvSpPr>
          <p:cNvPr id="72" name="line-68"/>
          <p:cNvSpPr/>
          <p:nvPr/>
        </p:nvSpPr>
        <p:spPr>
          <a:xfrm flipV="1">
            <a:off x="5109492" y="2964978"/>
            <a:ext cx="76778" cy="115746"/>
          </a:xfrm>
          <a:prstGeom prst="line">
            <a:avLst/>
          </a:prstGeom>
          <a:noFill/>
          <a:ln w="63500">
            <a:solidFill>
              <a:srgbClr val="0F766E"/>
            </a:solidFill>
            <a:prstDash val="solid"/>
          </a:ln>
        </p:spPr>
      </p:sp>
      <p:sp>
        <p:nvSpPr>
          <p:cNvPr id="73" name="line-69"/>
          <p:cNvSpPr/>
          <p:nvPr/>
        </p:nvSpPr>
        <p:spPr>
          <a:xfrm flipV="1">
            <a:off x="5186270" y="2851367"/>
            <a:ext cx="78745" cy="113611"/>
          </a:xfrm>
          <a:prstGeom prst="line">
            <a:avLst/>
          </a:prstGeom>
          <a:noFill/>
          <a:ln w="63500">
            <a:solidFill>
              <a:srgbClr val="0F766E"/>
            </a:solidFill>
            <a:prstDash val="solid"/>
          </a:ln>
        </p:spPr>
      </p:sp>
      <p:sp>
        <p:nvSpPr>
          <p:cNvPr id="74" name="line-70"/>
          <p:cNvSpPr/>
          <p:nvPr/>
        </p:nvSpPr>
        <p:spPr>
          <a:xfrm flipV="1">
            <a:off x="5265014" y="2740406"/>
            <a:ext cx="80892" cy="110960"/>
          </a:xfrm>
          <a:prstGeom prst="line">
            <a:avLst/>
          </a:prstGeom>
          <a:noFill/>
          <a:ln w="63500">
            <a:solidFill>
              <a:srgbClr val="0F766E"/>
            </a:solidFill>
            <a:prstDash val="solid"/>
          </a:ln>
        </p:spPr>
      </p:sp>
      <p:sp>
        <p:nvSpPr>
          <p:cNvPr id="75" name="line-71"/>
          <p:cNvSpPr/>
          <p:nvPr/>
        </p:nvSpPr>
        <p:spPr>
          <a:xfrm flipV="1">
            <a:off x="5345906" y="2632612"/>
            <a:ext cx="83220" cy="107794"/>
          </a:xfrm>
          <a:prstGeom prst="line">
            <a:avLst/>
          </a:prstGeom>
          <a:noFill/>
          <a:ln w="63500">
            <a:solidFill>
              <a:srgbClr val="0F766E"/>
            </a:solidFill>
            <a:prstDash val="solid"/>
          </a:ln>
        </p:spPr>
      </p:sp>
      <p:sp>
        <p:nvSpPr>
          <p:cNvPr id="76" name="line-72"/>
          <p:cNvSpPr/>
          <p:nvPr/>
        </p:nvSpPr>
        <p:spPr>
          <a:xfrm flipV="1">
            <a:off x="5429126" y="2528501"/>
            <a:ext cx="85728" cy="104111"/>
          </a:xfrm>
          <a:prstGeom prst="line">
            <a:avLst/>
          </a:prstGeom>
          <a:noFill/>
          <a:ln w="63500">
            <a:solidFill>
              <a:srgbClr val="0F766E"/>
            </a:solidFill>
            <a:prstDash val="solid"/>
          </a:ln>
        </p:spPr>
      </p:sp>
      <p:sp>
        <p:nvSpPr>
          <p:cNvPr id="77" name="line-73"/>
          <p:cNvSpPr/>
          <p:nvPr/>
        </p:nvSpPr>
        <p:spPr>
          <a:xfrm flipV="1">
            <a:off x="5514854" y="2428589"/>
            <a:ext cx="88418" cy="99912"/>
          </a:xfrm>
          <a:prstGeom prst="line">
            <a:avLst/>
          </a:prstGeom>
          <a:noFill/>
          <a:ln w="63500">
            <a:solidFill>
              <a:srgbClr val="0F766E"/>
            </a:solidFill>
            <a:prstDash val="solid"/>
          </a:ln>
        </p:spPr>
      </p:sp>
      <p:sp>
        <p:nvSpPr>
          <p:cNvPr id="78" name="line-74"/>
          <p:cNvSpPr/>
          <p:nvPr/>
        </p:nvSpPr>
        <p:spPr>
          <a:xfrm flipV="1">
            <a:off x="5603272" y="2333392"/>
            <a:ext cx="91288" cy="95197"/>
          </a:xfrm>
          <a:prstGeom prst="line">
            <a:avLst/>
          </a:prstGeom>
          <a:noFill/>
          <a:ln w="63500">
            <a:solidFill>
              <a:srgbClr val="0F766E"/>
            </a:solidFill>
            <a:prstDash val="solid"/>
          </a:ln>
        </p:spPr>
      </p:sp>
      <p:sp>
        <p:nvSpPr>
          <p:cNvPr id="79" name="line-75"/>
          <p:cNvSpPr/>
          <p:nvPr/>
        </p:nvSpPr>
        <p:spPr>
          <a:xfrm flipV="1">
            <a:off x="5694560" y="2243426"/>
            <a:ext cx="94339" cy="89966"/>
          </a:xfrm>
          <a:prstGeom prst="line">
            <a:avLst/>
          </a:prstGeom>
          <a:noFill/>
          <a:ln w="63500">
            <a:solidFill>
              <a:srgbClr val="0F766E"/>
            </a:solidFill>
            <a:prstDash val="solid"/>
          </a:ln>
        </p:spPr>
      </p:sp>
      <p:sp>
        <p:nvSpPr>
          <p:cNvPr id="80" name="line-76"/>
          <p:cNvSpPr/>
          <p:nvPr/>
        </p:nvSpPr>
        <p:spPr>
          <a:xfrm flipV="1">
            <a:off x="5788898" y="2159206"/>
            <a:ext cx="97570" cy="84219"/>
          </a:xfrm>
          <a:prstGeom prst="line">
            <a:avLst/>
          </a:prstGeom>
          <a:noFill/>
          <a:ln w="63500">
            <a:solidFill>
              <a:srgbClr val="0F766E"/>
            </a:solidFill>
            <a:prstDash val="solid"/>
          </a:ln>
        </p:spPr>
      </p:sp>
      <p:sp>
        <p:nvSpPr>
          <p:cNvPr id="81" name="line-77"/>
          <p:cNvSpPr/>
          <p:nvPr/>
        </p:nvSpPr>
        <p:spPr>
          <a:xfrm flipV="1">
            <a:off x="5886468" y="2081250"/>
            <a:ext cx="100982" cy="77956"/>
          </a:xfrm>
          <a:prstGeom prst="line">
            <a:avLst/>
          </a:prstGeom>
          <a:noFill/>
          <a:ln w="63500">
            <a:solidFill>
              <a:srgbClr val="0F766E"/>
            </a:solidFill>
            <a:prstDash val="solid"/>
          </a:ln>
        </p:spPr>
      </p:sp>
      <p:sp>
        <p:nvSpPr>
          <p:cNvPr id="82" name="line-78"/>
          <p:cNvSpPr/>
          <p:nvPr/>
        </p:nvSpPr>
        <p:spPr>
          <a:xfrm flipV="1">
            <a:off x="5987451" y="2010073"/>
            <a:ext cx="104575" cy="71177"/>
          </a:xfrm>
          <a:prstGeom prst="line">
            <a:avLst/>
          </a:prstGeom>
          <a:noFill/>
          <a:ln w="63500">
            <a:solidFill>
              <a:srgbClr val="0F766E"/>
            </a:solidFill>
            <a:prstDash val="solid"/>
          </a:ln>
        </p:spPr>
      </p:sp>
      <p:sp>
        <p:nvSpPr>
          <p:cNvPr id="83" name="line-79"/>
          <p:cNvSpPr/>
          <p:nvPr/>
        </p:nvSpPr>
        <p:spPr>
          <a:xfrm flipV="1">
            <a:off x="6092026" y="1946191"/>
            <a:ext cx="108349" cy="63882"/>
          </a:xfrm>
          <a:prstGeom prst="line">
            <a:avLst/>
          </a:prstGeom>
          <a:noFill/>
          <a:ln w="63500">
            <a:solidFill>
              <a:srgbClr val="0F766E"/>
            </a:solidFill>
            <a:prstDash val="solid"/>
          </a:ln>
        </p:spPr>
      </p:sp>
      <p:sp>
        <p:nvSpPr>
          <p:cNvPr id="84" name="line-80"/>
          <p:cNvSpPr/>
          <p:nvPr/>
        </p:nvSpPr>
        <p:spPr>
          <a:xfrm flipV="1">
            <a:off x="6200374" y="1890120"/>
            <a:ext cx="112303" cy="56071"/>
          </a:xfrm>
          <a:prstGeom prst="line">
            <a:avLst/>
          </a:prstGeom>
          <a:noFill/>
          <a:ln w="63500">
            <a:solidFill>
              <a:srgbClr val="0F766E"/>
            </a:solidFill>
            <a:prstDash val="solid"/>
          </a:ln>
        </p:spPr>
      </p:sp>
      <p:sp>
        <p:nvSpPr>
          <p:cNvPr id="85" name="line-81"/>
          <p:cNvSpPr/>
          <p:nvPr/>
        </p:nvSpPr>
        <p:spPr>
          <a:xfrm flipV="1">
            <a:off x="6312678" y="1842377"/>
            <a:ext cx="116438" cy="47743"/>
          </a:xfrm>
          <a:prstGeom prst="line">
            <a:avLst/>
          </a:prstGeom>
          <a:noFill/>
          <a:ln w="63500">
            <a:solidFill>
              <a:srgbClr val="0F766E"/>
            </a:solidFill>
            <a:prstDash val="solid"/>
          </a:ln>
        </p:spPr>
      </p:sp>
      <p:sp>
        <p:nvSpPr>
          <p:cNvPr id="86" name="line-82"/>
          <p:cNvSpPr/>
          <p:nvPr/>
        </p:nvSpPr>
        <p:spPr>
          <a:xfrm flipV="1">
            <a:off x="6429116" y="1803477"/>
            <a:ext cx="120754" cy="38900"/>
          </a:xfrm>
          <a:prstGeom prst="line">
            <a:avLst/>
          </a:prstGeom>
          <a:noFill/>
          <a:ln w="63500">
            <a:solidFill>
              <a:srgbClr val="0F766E"/>
            </a:solidFill>
            <a:prstDash val="solid"/>
          </a:ln>
        </p:spPr>
      </p:sp>
      <p:sp>
        <p:nvSpPr>
          <p:cNvPr id="87" name="line-83"/>
          <p:cNvSpPr/>
          <p:nvPr/>
        </p:nvSpPr>
        <p:spPr>
          <a:xfrm flipV="1">
            <a:off x="6549870" y="1773936"/>
            <a:ext cx="125250" cy="29541"/>
          </a:xfrm>
          <a:prstGeom prst="line">
            <a:avLst/>
          </a:prstGeom>
          <a:noFill/>
          <a:ln w="63500">
            <a:solidFill>
              <a:srgbClr val="0F766E"/>
            </a:solidFill>
            <a:prstDash val="solid"/>
          </a:ln>
        </p:spPr>
      </p:sp>
      <p:sp>
        <p:nvSpPr>
          <p:cNvPr id="88" name="text-84"/>
          <p:cNvSpPr txBox="1"/>
          <p:nvPr/>
        </p:nvSpPr>
        <p:spPr>
          <a:xfrm>
            <a:off x="1152144" y="4517136"/>
            <a:ext cx="2011680" cy="201168"/>
          </a:xfrm>
          <a:prstGeom prst="rect">
            <a:avLst/>
          </a:prstGeom>
          <a:noFill/>
          <a:ln/>
        </p:spPr>
        <p:txBody>
          <a:bodyPr wrap="square" lIns="0" tIns="0" rIns="0" bIns="0" rtlCol="0" anchor="ctr"/>
          <a:lstStyle/>
          <a:p>
            <a:pPr algn="l" indent="0" marL="0">
              <a:lnSpc>
                <a:spcPct val="100000"/>
              </a:lnSpc>
              <a:buNone/>
            </a:pPr>
            <a:r>
              <a:rPr lang="en-US" sz="1200" b="1" dirty="0">
                <a:solidFill>
                  <a:srgbClr val="5A6B75"/>
                </a:solidFill>
                <a:latin typeface="Calibri" pitchFamily="34" charset="0"/>
                <a:ea typeface="Calibri" pitchFamily="34" charset="-122"/>
                <a:cs typeface="Calibri" pitchFamily="34" charset="-120"/>
              </a:rPr>
              <a:t>Publishing model</a:t>
            </a:r>
            <a:endParaRPr lang="en-US" sz="1200" dirty="0"/>
          </a:p>
        </p:txBody>
      </p:sp>
      <p:sp>
        <p:nvSpPr>
          <p:cNvPr id="89" name="text-85"/>
          <p:cNvSpPr txBox="1"/>
          <p:nvPr/>
        </p:nvSpPr>
        <p:spPr>
          <a:xfrm>
            <a:off x="1152144" y="4736592"/>
            <a:ext cx="914400" cy="164592"/>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today</a:t>
            </a:r>
            <a:endParaRPr lang="en-US" sz="950" dirty="0"/>
          </a:p>
        </p:txBody>
      </p:sp>
      <p:sp>
        <p:nvSpPr>
          <p:cNvPr id="90" name="text-86"/>
          <p:cNvSpPr txBox="1"/>
          <p:nvPr/>
        </p:nvSpPr>
        <p:spPr>
          <a:xfrm>
            <a:off x="4297680" y="2596896"/>
            <a:ext cx="2286000" cy="201168"/>
          </a:xfrm>
          <a:prstGeom prst="rect">
            <a:avLst/>
          </a:prstGeom>
          <a:noFill/>
          <a:ln/>
        </p:spPr>
        <p:txBody>
          <a:bodyPr wrap="square" lIns="0" tIns="0" rIns="0" bIns="0" rtlCol="0" anchor="ctr"/>
          <a:lstStyle/>
          <a:p>
            <a:pPr algn="r" indent="0" marL="0">
              <a:lnSpc>
                <a:spcPct val="100000"/>
              </a:lnSpc>
              <a:buNone/>
            </a:pPr>
            <a:r>
              <a:rPr lang="en-US" sz="1200" b="1" dirty="0">
                <a:solidFill>
                  <a:srgbClr val="0F766E"/>
                </a:solidFill>
                <a:latin typeface="Calibri" pitchFamily="34" charset="0"/>
                <a:ea typeface="Calibri" pitchFamily="34" charset="-122"/>
                <a:cs typeface="Calibri" pitchFamily="34" charset="-120"/>
              </a:rPr>
              <a:t>Digital product platform</a:t>
            </a:r>
            <a:endParaRPr lang="en-US" sz="1200" dirty="0"/>
          </a:p>
        </p:txBody>
      </p:sp>
      <p:sp>
        <p:nvSpPr>
          <p:cNvPr id="91" name="text-87"/>
          <p:cNvSpPr txBox="1"/>
          <p:nvPr/>
        </p:nvSpPr>
        <p:spPr>
          <a:xfrm>
            <a:off x="4297680" y="2816352"/>
            <a:ext cx="2286000" cy="164592"/>
          </a:xfrm>
          <a:prstGeom prst="rect">
            <a:avLst/>
          </a:prstGeom>
          <a:noFill/>
          <a:ln/>
        </p:spPr>
        <p:txBody>
          <a:bodyPr wrap="square" lIns="0" tIns="0" rIns="0" bIns="0" rtlCol="0" anchor="ctr"/>
          <a:lstStyle/>
          <a:p>
            <a:pPr algn="r" indent="0" marL="0">
              <a:lnSpc>
                <a:spcPct val="100000"/>
              </a:lnSpc>
              <a:buNone/>
            </a:pPr>
            <a:r>
              <a:rPr lang="en-US" sz="950" dirty="0">
                <a:solidFill>
                  <a:srgbClr val="0F766E"/>
                </a:solidFill>
                <a:latin typeface="Calibri" pitchFamily="34" charset="0"/>
                <a:ea typeface="Calibri" pitchFamily="34" charset="-122"/>
                <a:cs typeface="Calibri" pitchFamily="34" charset="-120"/>
              </a:rPr>
              <a:t>the agreed direction</a:t>
            </a:r>
            <a:endParaRPr lang="en-US" sz="950" dirty="0"/>
          </a:p>
        </p:txBody>
      </p:sp>
      <p:sp>
        <p:nvSpPr>
          <p:cNvPr id="92" name="oval-88"/>
          <p:cNvSpPr/>
          <p:nvPr/>
        </p:nvSpPr>
        <p:spPr>
          <a:xfrm>
            <a:off x="2268897" y="4021385"/>
            <a:ext cx="128016" cy="128016"/>
          </a:xfrm>
          <a:prstGeom prst="ellipse">
            <a:avLst/>
          </a:prstGeom>
          <a:solidFill>
            <a:srgbClr val="1C2B33"/>
          </a:solidFill>
          <a:ln w="12700">
            <a:solidFill>
              <a:srgbClr val="1C2B33"/>
            </a:solidFill>
            <a:prstDash val="solid"/>
          </a:ln>
        </p:spPr>
      </p:sp>
      <p:sp>
        <p:nvSpPr>
          <p:cNvPr id="93" name="text-89"/>
          <p:cNvSpPr txBox="1"/>
          <p:nvPr/>
        </p:nvSpPr>
        <p:spPr>
          <a:xfrm>
            <a:off x="2442633" y="3865937"/>
            <a:ext cx="1463040" cy="164592"/>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Inflection point</a:t>
            </a:r>
            <a:endParaRPr lang="en-US" sz="950" dirty="0"/>
          </a:p>
        </p:txBody>
      </p:sp>
      <p:sp>
        <p:nvSpPr>
          <p:cNvPr id="94" name="line-90"/>
          <p:cNvSpPr/>
          <p:nvPr/>
        </p:nvSpPr>
        <p:spPr>
          <a:xfrm flipV="1">
            <a:off x="3694708" y="2635987"/>
            <a:ext cx="92637" cy="32372"/>
          </a:xfrm>
          <a:prstGeom prst="line">
            <a:avLst/>
          </a:prstGeom>
          <a:noFill/>
          <a:ln w="31750">
            <a:solidFill>
              <a:srgbClr val="B45309"/>
            </a:solidFill>
            <a:prstDash val="sysDash"/>
          </a:ln>
        </p:spPr>
      </p:sp>
      <p:sp>
        <p:nvSpPr>
          <p:cNvPr id="95" name="line-91"/>
          <p:cNvSpPr/>
          <p:nvPr/>
        </p:nvSpPr>
        <p:spPr>
          <a:xfrm flipV="1">
            <a:off x="3787345" y="2630312"/>
            <a:ext cx="86541" cy="5675"/>
          </a:xfrm>
          <a:prstGeom prst="line">
            <a:avLst/>
          </a:prstGeom>
          <a:noFill/>
          <a:ln w="31750">
            <a:solidFill>
              <a:srgbClr val="B45309"/>
            </a:solidFill>
            <a:prstDash val="sysDash"/>
          </a:ln>
        </p:spPr>
      </p:sp>
      <p:sp>
        <p:nvSpPr>
          <p:cNvPr id="96" name="line-92"/>
          <p:cNvSpPr/>
          <p:nvPr/>
        </p:nvSpPr>
        <p:spPr>
          <a:xfrm>
            <a:off x="3873886" y="2630312"/>
            <a:ext cx="80445" cy="21022"/>
          </a:xfrm>
          <a:prstGeom prst="line">
            <a:avLst/>
          </a:prstGeom>
          <a:noFill/>
          <a:ln w="31750">
            <a:solidFill>
              <a:srgbClr val="B45309"/>
            </a:solidFill>
            <a:prstDash val="sysDash"/>
          </a:ln>
        </p:spPr>
      </p:sp>
      <p:sp>
        <p:nvSpPr>
          <p:cNvPr id="97" name="line-93"/>
          <p:cNvSpPr/>
          <p:nvPr/>
        </p:nvSpPr>
        <p:spPr>
          <a:xfrm>
            <a:off x="3954330" y="2651334"/>
            <a:ext cx="74349" cy="47719"/>
          </a:xfrm>
          <a:prstGeom prst="line">
            <a:avLst/>
          </a:prstGeom>
          <a:noFill/>
          <a:ln w="31750">
            <a:solidFill>
              <a:srgbClr val="B45309"/>
            </a:solidFill>
            <a:prstDash val="sysDash"/>
          </a:ln>
        </p:spPr>
      </p:sp>
      <p:sp>
        <p:nvSpPr>
          <p:cNvPr id="98" name="line-94"/>
          <p:cNvSpPr/>
          <p:nvPr/>
        </p:nvSpPr>
        <p:spPr>
          <a:xfrm>
            <a:off x="4028679" y="2699054"/>
            <a:ext cx="68253" cy="74416"/>
          </a:xfrm>
          <a:prstGeom prst="line">
            <a:avLst/>
          </a:prstGeom>
          <a:noFill/>
          <a:ln w="31750">
            <a:solidFill>
              <a:srgbClr val="B45309"/>
            </a:solidFill>
            <a:prstDash val="sysDash"/>
          </a:ln>
        </p:spPr>
      </p:sp>
      <p:sp>
        <p:nvSpPr>
          <p:cNvPr id="99" name="line-95"/>
          <p:cNvSpPr/>
          <p:nvPr/>
        </p:nvSpPr>
        <p:spPr>
          <a:xfrm>
            <a:off x="4096932" y="2773470"/>
            <a:ext cx="62157" cy="101113"/>
          </a:xfrm>
          <a:prstGeom prst="line">
            <a:avLst/>
          </a:prstGeom>
          <a:noFill/>
          <a:ln w="31750">
            <a:solidFill>
              <a:srgbClr val="B45309"/>
            </a:solidFill>
            <a:prstDash val="sysDash"/>
          </a:ln>
        </p:spPr>
      </p:sp>
      <p:sp>
        <p:nvSpPr>
          <p:cNvPr id="100" name="line-96"/>
          <p:cNvSpPr/>
          <p:nvPr/>
        </p:nvSpPr>
        <p:spPr>
          <a:xfrm>
            <a:off x="4159089" y="2874583"/>
            <a:ext cx="56061" cy="127810"/>
          </a:xfrm>
          <a:prstGeom prst="line">
            <a:avLst/>
          </a:prstGeom>
          <a:noFill/>
          <a:ln w="31750">
            <a:solidFill>
              <a:srgbClr val="B45309"/>
            </a:solidFill>
            <a:prstDash val="sysDash"/>
          </a:ln>
        </p:spPr>
      </p:sp>
      <p:sp>
        <p:nvSpPr>
          <p:cNvPr id="101" name="line-97"/>
          <p:cNvSpPr/>
          <p:nvPr/>
        </p:nvSpPr>
        <p:spPr>
          <a:xfrm>
            <a:off x="4215150" y="3002393"/>
            <a:ext cx="49965" cy="154507"/>
          </a:xfrm>
          <a:prstGeom prst="line">
            <a:avLst/>
          </a:prstGeom>
          <a:noFill/>
          <a:ln w="31750">
            <a:solidFill>
              <a:srgbClr val="B45309"/>
            </a:solidFill>
            <a:prstDash val="sysDash"/>
          </a:ln>
        </p:spPr>
      </p:sp>
      <p:sp>
        <p:nvSpPr>
          <p:cNvPr id="102" name="line-98"/>
          <p:cNvSpPr/>
          <p:nvPr/>
        </p:nvSpPr>
        <p:spPr>
          <a:xfrm>
            <a:off x="4265115" y="3156900"/>
            <a:ext cx="43869" cy="181204"/>
          </a:xfrm>
          <a:prstGeom prst="line">
            <a:avLst/>
          </a:prstGeom>
          <a:noFill/>
          <a:ln w="31750">
            <a:solidFill>
              <a:srgbClr val="B45309"/>
            </a:solidFill>
            <a:prstDash val="sysDash"/>
          </a:ln>
        </p:spPr>
      </p:sp>
      <p:sp>
        <p:nvSpPr>
          <p:cNvPr id="103" name="line-99"/>
          <p:cNvSpPr/>
          <p:nvPr/>
        </p:nvSpPr>
        <p:spPr>
          <a:xfrm>
            <a:off x="4308984" y="3338104"/>
            <a:ext cx="37773" cy="207901"/>
          </a:xfrm>
          <a:prstGeom prst="line">
            <a:avLst/>
          </a:prstGeom>
          <a:noFill/>
          <a:ln w="31750">
            <a:solidFill>
              <a:srgbClr val="B45309"/>
            </a:solidFill>
            <a:prstDash val="sysDash"/>
          </a:ln>
        </p:spPr>
      </p:sp>
      <p:sp>
        <p:nvSpPr>
          <p:cNvPr id="104" name="line-100"/>
          <p:cNvSpPr/>
          <p:nvPr/>
        </p:nvSpPr>
        <p:spPr>
          <a:xfrm>
            <a:off x="4346757" y="3546005"/>
            <a:ext cx="31677" cy="234598"/>
          </a:xfrm>
          <a:prstGeom prst="line">
            <a:avLst/>
          </a:prstGeom>
          <a:noFill/>
          <a:ln w="31750">
            <a:solidFill>
              <a:srgbClr val="B45309"/>
            </a:solidFill>
            <a:prstDash val="sysDash"/>
          </a:ln>
        </p:spPr>
      </p:sp>
      <p:sp>
        <p:nvSpPr>
          <p:cNvPr id="105" name="line-101"/>
          <p:cNvSpPr/>
          <p:nvPr/>
        </p:nvSpPr>
        <p:spPr>
          <a:xfrm>
            <a:off x="4378434" y="3780603"/>
            <a:ext cx="25581" cy="261295"/>
          </a:xfrm>
          <a:prstGeom prst="line">
            <a:avLst/>
          </a:prstGeom>
          <a:noFill/>
          <a:ln w="31750">
            <a:solidFill>
              <a:srgbClr val="B45309"/>
            </a:solidFill>
            <a:prstDash val="sysDash"/>
          </a:ln>
        </p:spPr>
      </p:sp>
      <p:sp>
        <p:nvSpPr>
          <p:cNvPr id="106" name="tri-102"/>
          <p:cNvSpPr/>
          <p:nvPr/>
        </p:nvSpPr>
        <p:spPr>
          <a:xfrm rot="8100000">
            <a:off x="4312575" y="3968746"/>
            <a:ext cx="146304" cy="146304"/>
          </a:xfrm>
          <a:prstGeom prst="triangle">
            <a:avLst/>
          </a:prstGeom>
          <a:solidFill>
            <a:srgbClr val="B45309"/>
          </a:solidFill>
          <a:ln w="12700">
            <a:solidFill>
              <a:srgbClr val="B45309"/>
            </a:solidFill>
            <a:prstDash val="solid"/>
          </a:ln>
        </p:spPr>
      </p:sp>
      <p:sp>
        <p:nvSpPr>
          <p:cNvPr id="107" name="text-103"/>
          <p:cNvSpPr txBox="1"/>
          <p:nvPr/>
        </p:nvSpPr>
        <p:spPr>
          <a:xfrm>
            <a:off x="1774468" y="2266022"/>
            <a:ext cx="1828800" cy="182880"/>
          </a:xfrm>
          <a:prstGeom prst="rect">
            <a:avLst/>
          </a:prstGeom>
          <a:noFill/>
          <a:ln/>
        </p:spPr>
        <p:txBody>
          <a:bodyPr wrap="square" lIns="0" tIns="0" rIns="0" bIns="0" rtlCol="0" anchor="ctr"/>
          <a:lstStyle/>
          <a:p>
            <a:pPr algn="r" indent="0" marL="0">
              <a:lnSpc>
                <a:spcPct val="100000"/>
              </a:lnSpc>
              <a:buNone/>
            </a:pPr>
            <a:r>
              <a:rPr lang="en-US" sz="1100" b="1" dirty="0">
                <a:solidFill>
                  <a:srgbClr val="B45309"/>
                </a:solidFill>
                <a:latin typeface="Calibri" pitchFamily="34" charset="0"/>
                <a:ea typeface="Calibri" pitchFamily="34" charset="-122"/>
                <a:cs typeface="Calibri" pitchFamily="34" charset="-120"/>
              </a:rPr>
              <a:t>The pivot — agreed</a:t>
            </a:r>
            <a:endParaRPr lang="en-US" sz="1100" dirty="0"/>
          </a:p>
        </p:txBody>
      </p:sp>
      <p:sp>
        <p:nvSpPr>
          <p:cNvPr id="108" name="line-104"/>
          <p:cNvSpPr/>
          <p:nvPr/>
        </p:nvSpPr>
        <p:spPr>
          <a:xfrm>
            <a:off x="6400800" y="3108960"/>
            <a:ext cx="0" cy="2103120"/>
          </a:xfrm>
          <a:prstGeom prst="line">
            <a:avLst/>
          </a:prstGeom>
          <a:noFill/>
          <a:ln w="19050">
            <a:solidFill>
              <a:srgbClr val="B45309"/>
            </a:solidFill>
            <a:prstDash val="sysDash"/>
          </a:ln>
        </p:spPr>
      </p:sp>
      <p:sp>
        <p:nvSpPr>
          <p:cNvPr id="109" name="text-105"/>
          <p:cNvSpPr txBox="1"/>
          <p:nvPr/>
        </p:nvSpPr>
        <p:spPr>
          <a:xfrm>
            <a:off x="5669280" y="5486400"/>
            <a:ext cx="1463040" cy="164592"/>
          </a:xfrm>
          <a:prstGeom prst="rect">
            <a:avLst/>
          </a:prstGeom>
          <a:noFill/>
          <a:ln/>
        </p:spPr>
        <p:txBody>
          <a:bodyPr wrap="square" lIns="0" tIns="0" rIns="0" bIns="0" rtlCol="0" anchor="ctr"/>
          <a:lstStyle/>
          <a:p>
            <a:pPr algn="ctr" indent="0" marL="0">
              <a:lnSpc>
                <a:spcPct val="100000"/>
              </a:lnSpc>
              <a:buNone/>
            </a:pPr>
            <a:r>
              <a:rPr lang="en-US" sz="950" b="1" dirty="0">
                <a:solidFill>
                  <a:srgbClr val="B45309"/>
                </a:solidFill>
                <a:latin typeface="Calibri" pitchFamily="34" charset="0"/>
                <a:ea typeface="Calibri" pitchFamily="34" charset="-122"/>
                <a:cs typeface="Calibri" pitchFamily="34" charset="-120"/>
              </a:rPr>
              <a:t>fixed target date</a:t>
            </a:r>
            <a:endParaRPr lang="en-US" sz="950" dirty="0"/>
          </a:p>
        </p:txBody>
      </p:sp>
      <p:sp>
        <p:nvSpPr>
          <p:cNvPr id="110" name="shape-106"/>
          <p:cNvSpPr/>
          <p:nvPr/>
        </p:nvSpPr>
        <p:spPr>
          <a:xfrm>
            <a:off x="7315200" y="1463040"/>
            <a:ext cx="4297680" cy="1078992"/>
          </a:xfrm>
          <a:prstGeom prst="roundRect">
            <a:avLst>
              <a:gd name="adj" fmla="val 6780"/>
            </a:avLst>
          </a:prstGeom>
          <a:solidFill>
            <a:srgbClr val="D6ECE9"/>
          </a:solidFill>
          <a:ln w="12700">
            <a:solidFill>
              <a:srgbClr val="D6ECE9"/>
            </a:solidFill>
            <a:prstDash val="solid"/>
          </a:ln>
        </p:spPr>
      </p:sp>
      <p:pic>
        <p:nvPicPr>
          <p:cNvPr id="111" name="icon-107" descr="preencoded.png">    </p:cNvPr>
          <p:cNvPicPr>
            <a:picLocks noChangeAspect="1"/>
          </p:cNvPicPr>
          <p:nvPr/>
        </p:nvPicPr>
        <p:blipFill>
          <a:blip r:embed="rId1"/>
          <a:stretch>
            <a:fillRect/>
          </a:stretch>
        </p:blipFill>
        <p:spPr>
          <a:xfrm>
            <a:off x="7534656" y="1682496"/>
            <a:ext cx="274320" cy="274320"/>
          </a:xfrm>
          <a:prstGeom prst="rect">
            <a:avLst/>
          </a:prstGeom>
        </p:spPr>
      </p:pic>
      <p:sp>
        <p:nvSpPr>
          <p:cNvPr id="112" name="text-108"/>
          <p:cNvSpPr txBox="1"/>
          <p:nvPr/>
        </p:nvSpPr>
        <p:spPr>
          <a:xfrm>
            <a:off x="7955280" y="162763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Understand</a:t>
            </a:r>
            <a:endParaRPr lang="en-US" sz="1750" dirty="0"/>
          </a:p>
        </p:txBody>
      </p:sp>
      <p:sp>
        <p:nvSpPr>
          <p:cNvPr id="113" name="text-109"/>
          <p:cNvSpPr txBox="1"/>
          <p:nvPr/>
        </p:nvSpPr>
        <p:spPr>
          <a:xfrm>
            <a:off x="7955280" y="192024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0F766E"/>
                </a:solidFill>
                <a:latin typeface="Calibri" pitchFamily="34" charset="0"/>
                <a:ea typeface="Calibri" pitchFamily="34" charset="-122"/>
                <a:cs typeface="Calibri" pitchFamily="34" charset="-120"/>
              </a:rPr>
              <a:t>DAYS 1–30</a:t>
            </a:r>
            <a:endParaRPr lang="en-US" sz="850" dirty="0"/>
          </a:p>
        </p:txBody>
      </p:sp>
      <p:sp>
        <p:nvSpPr>
          <p:cNvPr id="114" name="text-110"/>
          <p:cNvSpPr txBox="1"/>
          <p:nvPr/>
        </p:nvSpPr>
        <p:spPr>
          <a:xfrm>
            <a:off x="7955280" y="2121408"/>
            <a:ext cx="3474720" cy="365760"/>
          </a:xfrm>
          <a:prstGeom prst="rect">
            <a:avLst/>
          </a:prstGeom>
          <a:noFill/>
          <a:ln/>
        </p:spPr>
        <p:txBody>
          <a:bodyPr wrap="square" lIns="0" tIns="0" rIns="0" bIns="0" rtlCol="0" anchor="t"/>
          <a:lstStyle/>
          <a:p>
            <a:pPr algn="l" indent="0" marL="0">
              <a:lnSpc>
                <a:spcPct val="100000"/>
              </a:lnSpc>
              <a:buNone/>
            </a:pPr>
            <a:r>
              <a:rPr lang="en-US" sz="1150" dirty="0">
                <a:solidFill>
                  <a:srgbClr val="1C2B33"/>
                </a:solidFill>
                <a:latin typeface="Calibri" pitchFamily="34" charset="0"/>
                <a:ea typeface="Calibri" pitchFamily="34" charset="-122"/>
                <a:cs typeface="Calibri" pitchFamily="34" charset="-120"/>
              </a:rPr>
              <a:t>two baselines: the technology and the ways of working</a:t>
            </a:r>
            <a:endParaRPr lang="en-US" sz="1150" dirty="0"/>
          </a:p>
        </p:txBody>
      </p:sp>
      <p:sp>
        <p:nvSpPr>
          <p:cNvPr id="115" name="shape-111"/>
          <p:cNvSpPr/>
          <p:nvPr/>
        </p:nvSpPr>
        <p:spPr>
          <a:xfrm>
            <a:off x="7315200" y="2743200"/>
            <a:ext cx="4297680" cy="1078992"/>
          </a:xfrm>
          <a:prstGeom prst="roundRect">
            <a:avLst>
              <a:gd name="adj" fmla="val 6780"/>
            </a:avLst>
          </a:prstGeom>
          <a:solidFill>
            <a:srgbClr val="0F766E"/>
          </a:solidFill>
          <a:ln w="12700">
            <a:solidFill>
              <a:srgbClr val="0F766E"/>
            </a:solidFill>
            <a:prstDash val="solid"/>
          </a:ln>
        </p:spPr>
      </p:sp>
      <p:pic>
        <p:nvPicPr>
          <p:cNvPr id="116" name="icon-112" descr="preencoded.png">    </p:cNvPr>
          <p:cNvPicPr>
            <a:picLocks noChangeAspect="1"/>
          </p:cNvPicPr>
          <p:nvPr/>
        </p:nvPicPr>
        <p:blipFill>
          <a:blip r:embed="rId2"/>
          <a:stretch>
            <a:fillRect/>
          </a:stretch>
        </p:blipFill>
        <p:spPr>
          <a:xfrm>
            <a:off x="7534656" y="2962656"/>
            <a:ext cx="274320" cy="274320"/>
          </a:xfrm>
          <a:prstGeom prst="rect">
            <a:avLst/>
          </a:prstGeom>
        </p:spPr>
      </p:pic>
      <p:sp>
        <p:nvSpPr>
          <p:cNvPr id="117" name="text-113"/>
          <p:cNvSpPr txBox="1"/>
          <p:nvPr/>
        </p:nvSpPr>
        <p:spPr>
          <a:xfrm>
            <a:off x="7955280" y="290779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Stabilise</a:t>
            </a:r>
            <a:endParaRPr lang="en-US" sz="1750" dirty="0"/>
          </a:p>
        </p:txBody>
      </p:sp>
      <p:sp>
        <p:nvSpPr>
          <p:cNvPr id="118" name="text-114"/>
          <p:cNvSpPr txBox="1"/>
          <p:nvPr/>
        </p:nvSpPr>
        <p:spPr>
          <a:xfrm>
            <a:off x="7955280" y="320040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CFE8E5"/>
                </a:solidFill>
                <a:latin typeface="Calibri" pitchFamily="34" charset="0"/>
                <a:ea typeface="Calibri" pitchFamily="34" charset="-122"/>
                <a:cs typeface="Calibri" pitchFamily="34" charset="-120"/>
              </a:rPr>
              <a:t>DAYS 31–60</a:t>
            </a:r>
            <a:endParaRPr lang="en-US" sz="850" dirty="0"/>
          </a:p>
        </p:txBody>
      </p:sp>
      <p:sp>
        <p:nvSpPr>
          <p:cNvPr id="119" name="text-115"/>
          <p:cNvSpPr txBox="1"/>
          <p:nvPr/>
        </p:nvSpPr>
        <p:spPr>
          <a:xfrm>
            <a:off x="7955280" y="3401568"/>
            <a:ext cx="3474720" cy="365760"/>
          </a:xfrm>
          <a:prstGeom prst="rect">
            <a:avLst/>
          </a:prstGeom>
          <a:noFill/>
          <a:ln/>
        </p:spPr>
        <p:txBody>
          <a:bodyPr wrap="square" lIns="0" tIns="0" rIns="0" bIns="0" rtlCol="0" anchor="t"/>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keep today running; assess the proposal; confirm, re-scope or stop</a:t>
            </a:r>
            <a:endParaRPr lang="en-US" sz="1150" dirty="0"/>
          </a:p>
        </p:txBody>
      </p:sp>
      <p:sp>
        <p:nvSpPr>
          <p:cNvPr id="120" name="shape-116"/>
          <p:cNvSpPr/>
          <p:nvPr/>
        </p:nvSpPr>
        <p:spPr>
          <a:xfrm>
            <a:off x="7315200" y="4023360"/>
            <a:ext cx="4297680" cy="1078992"/>
          </a:xfrm>
          <a:prstGeom prst="roundRect">
            <a:avLst>
              <a:gd name="adj" fmla="val 6780"/>
            </a:avLst>
          </a:prstGeom>
          <a:solidFill>
            <a:srgbClr val="134E4A"/>
          </a:solidFill>
          <a:ln w="12700">
            <a:solidFill>
              <a:srgbClr val="134E4A"/>
            </a:solidFill>
            <a:prstDash val="solid"/>
          </a:ln>
        </p:spPr>
      </p:sp>
      <p:pic>
        <p:nvPicPr>
          <p:cNvPr id="121" name="icon-117" descr="preencoded.png">    </p:cNvPr>
          <p:cNvPicPr>
            <a:picLocks noChangeAspect="1"/>
          </p:cNvPicPr>
          <p:nvPr/>
        </p:nvPicPr>
        <p:blipFill>
          <a:blip r:embed="rId3"/>
          <a:stretch>
            <a:fillRect/>
          </a:stretch>
        </p:blipFill>
        <p:spPr>
          <a:xfrm>
            <a:off x="7534656" y="4242816"/>
            <a:ext cx="274320" cy="274320"/>
          </a:xfrm>
          <a:prstGeom prst="rect">
            <a:avLst/>
          </a:prstGeom>
        </p:spPr>
      </p:pic>
      <p:sp>
        <p:nvSpPr>
          <p:cNvPr id="122" name="text-118"/>
          <p:cNvSpPr txBox="1"/>
          <p:nvPr/>
        </p:nvSpPr>
        <p:spPr>
          <a:xfrm>
            <a:off x="7955280" y="418795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Accelerate</a:t>
            </a:r>
            <a:endParaRPr lang="en-US" sz="1750" dirty="0"/>
          </a:p>
        </p:txBody>
      </p:sp>
      <p:sp>
        <p:nvSpPr>
          <p:cNvPr id="123" name="text-119"/>
          <p:cNvSpPr txBox="1"/>
          <p:nvPr/>
        </p:nvSpPr>
        <p:spPr>
          <a:xfrm>
            <a:off x="7955280" y="448056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CFE8E5"/>
                </a:solidFill>
                <a:latin typeface="Calibri" pitchFamily="34" charset="0"/>
                <a:ea typeface="Calibri" pitchFamily="34" charset="-122"/>
                <a:cs typeface="Calibri" pitchFamily="34" charset="-120"/>
              </a:rPr>
              <a:t>DAYS 61–90 →</a:t>
            </a:r>
            <a:endParaRPr lang="en-US" sz="850" dirty="0"/>
          </a:p>
        </p:txBody>
      </p:sp>
      <p:sp>
        <p:nvSpPr>
          <p:cNvPr id="124" name="text-120"/>
          <p:cNvSpPr txBox="1"/>
          <p:nvPr/>
        </p:nvSpPr>
        <p:spPr>
          <a:xfrm>
            <a:off x="7955280" y="4681728"/>
            <a:ext cx="3474720" cy="365760"/>
          </a:xfrm>
          <a:prstGeom prst="rect">
            <a:avLst/>
          </a:prstGeom>
          <a:noFill/>
          <a:ln/>
        </p:spPr>
        <p:txBody>
          <a:bodyPr wrap="square" lIns="0" tIns="0" rIns="0" bIns="0" rtlCol="0" anchor="t"/>
          <a:lstStyle/>
          <a:p>
            <a:pPr algn="l" indent="0" marL="0">
              <a:lnSpc>
                <a:spcPct val="100000"/>
              </a:lnSpc>
              <a:buNone/>
            </a:pPr>
            <a:r>
              <a:rPr lang="en-US" sz="1150" dirty="0">
                <a:solidFill>
                  <a:srgbClr val="FFFFFF"/>
                </a:solidFill>
                <a:latin typeface="Calibri" pitchFamily="34" charset="0"/>
                <a:ea typeface="Calibri" pitchFamily="34" charset="-122"/>
                <a:cs typeface="Calibri" pitchFamily="34" charset="-120"/>
              </a:rPr>
              <a:t>first assured delivery; the plan to the date</a:t>
            </a:r>
            <a:endParaRPr lang="en-US" sz="1150" dirty="0"/>
          </a:p>
        </p:txBody>
      </p:sp>
      <p:sp>
        <p:nvSpPr>
          <p:cNvPr id="125" name="shape-121"/>
          <p:cNvSpPr/>
          <p:nvPr/>
        </p:nvSpPr>
        <p:spPr>
          <a:xfrm>
            <a:off x="7315200" y="5248656"/>
            <a:ext cx="4297680" cy="768096"/>
          </a:xfrm>
          <a:prstGeom prst="roundRect">
            <a:avLst>
              <a:gd name="adj" fmla="val 9524"/>
            </a:avLst>
          </a:prstGeom>
          <a:solidFill>
            <a:srgbClr val="FDF1E3"/>
          </a:solidFill>
          <a:ln w="12700">
            <a:solidFill>
              <a:srgbClr val="FDF1E3"/>
            </a:solidFill>
            <a:prstDash val="solid"/>
          </a:ln>
        </p:spPr>
      </p:sp>
      <p:sp>
        <p:nvSpPr>
          <p:cNvPr id="126" name="text-122"/>
          <p:cNvSpPr txBox="1"/>
          <p:nvPr/>
        </p:nvSpPr>
        <p:spPr>
          <a:xfrm>
            <a:off x="7498080" y="5303520"/>
            <a:ext cx="3931920" cy="658368"/>
          </a:xfrm>
          <a:prstGeom prst="rect">
            <a:avLst/>
          </a:prstGeom>
          <a:noFill/>
          <a:ln/>
        </p:spPr>
        <p:txBody>
          <a:bodyPr wrap="square" lIns="0" tIns="0" rIns="0" bIns="0" rtlCol="0" anchor="ctr"/>
          <a:lstStyle/>
          <a:p>
            <a:pPr algn="l" indent="0" marL="0">
              <a:lnSpc>
                <a:spcPct val="100000"/>
              </a:lnSpc>
              <a:buNone/>
            </a:pPr>
            <a:r>
              <a:rPr lang="en-US" sz="1150" b="1" dirty="0">
                <a:solidFill>
                  <a:srgbClr val="B45309"/>
                </a:solidFill>
                <a:latin typeface="Calibri" pitchFamily="34" charset="0"/>
                <a:ea typeface="Calibri" pitchFamily="34" charset="-122"/>
                <a:cs typeface="Calibri" pitchFamily="34" charset="-120"/>
              </a:rPr>
              <a:t>Every design and staffing statement that follows is a hypothesis. Gates 1 and 2 test it before anything is built.</a:t>
            </a:r>
            <a:endParaRPr lang="en-US" sz="1150" dirty="0"/>
          </a:p>
        </p:txBody>
      </p:sp>
      <p:sp>
        <p:nvSpPr>
          <p:cNvPr id="127" name="text-123"/>
          <p:cNvSpPr txBox="1"/>
          <p:nvPr/>
        </p:nvSpPr>
        <p:spPr>
          <a:xfrm>
            <a:off x="7315200" y="6108192"/>
            <a:ext cx="4297680" cy="182880"/>
          </a:xfrm>
          <a:prstGeom prst="rect">
            <a:avLst/>
          </a:prstGeom>
          <a:noFill/>
          <a:ln/>
        </p:spPr>
        <p:txBody>
          <a:bodyPr wrap="square" lIns="0" tIns="0" rIns="0" bIns="0" rtlCol="0" anchor="ctr"/>
          <a:lstStyle/>
          <a:p>
            <a:pPr algn="l" indent="0" marL="0">
              <a:lnSpc>
                <a:spcPct val="100000"/>
              </a:lnSpc>
              <a:buNone/>
            </a:pPr>
            <a:r>
              <a:rPr lang="en-US" sz="950" i="1" dirty="0">
                <a:solidFill>
                  <a:srgbClr val="5A6B75"/>
                </a:solidFill>
                <a:latin typeface="Calibri" pitchFamily="34" charset="0"/>
                <a:ea typeface="Calibri" pitchFamily="34" charset="-122"/>
                <a:cs typeface="Calibri" pitchFamily="34" charset="-120"/>
              </a:rPr>
              <a:t>Nothing that works today stops until its replacement is proven.</a:t>
            </a:r>
            <a:endParaRPr lang="en-US" sz="95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2  ·  THE FIRST 90 DAYS AGAINST THE 27 APRIL DATE</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Three gates by February; 27 April is fixed, so scope is the only lever</a:t>
            </a:r>
            <a:endParaRPr lang="en-US" sz="2000" dirty="0"/>
          </a:p>
        </p:txBody>
      </p:sp>
      <p:sp>
        <p:nvSpPr>
          <p:cNvPr id="4" name="shape-0"/>
          <p:cNvSpPr/>
          <p:nvPr/>
        </p:nvSpPr>
        <p:spPr>
          <a:xfrm>
            <a:off x="3510366" y="1243584"/>
            <a:ext cx="1269311" cy="1371600"/>
          </a:xfrm>
          <a:prstGeom prst="roundRect">
            <a:avLst>
              <a:gd name="adj" fmla="val 4322"/>
            </a:avLst>
          </a:prstGeom>
          <a:solidFill>
            <a:srgbClr val="EEF2F4"/>
          </a:solidFill>
          <a:ln w="12700">
            <a:solidFill>
              <a:srgbClr val="EEF2F4"/>
            </a:solidFill>
            <a:prstDash val="solid"/>
          </a:ln>
        </p:spPr>
      </p:sp>
      <p:sp>
        <p:nvSpPr>
          <p:cNvPr id="5" name="text-1"/>
          <p:cNvSpPr txBox="1"/>
          <p:nvPr/>
        </p:nvSpPr>
        <p:spPr>
          <a:xfrm>
            <a:off x="3144606" y="2468880"/>
            <a:ext cx="2000831" cy="146304"/>
          </a:xfrm>
          <a:prstGeom prst="rect">
            <a:avLst/>
          </a:prstGeom>
          <a:noFill/>
          <a:ln/>
        </p:spPr>
        <p:txBody>
          <a:bodyPr wrap="square" lIns="0" tIns="0" rIns="0" bIns="0" rtlCol="0" anchor="ctr"/>
          <a:lstStyle/>
          <a:p>
            <a:pPr algn="ctr" indent="0" marL="0">
              <a:lnSpc>
                <a:spcPct val="100000"/>
              </a:lnSpc>
              <a:buNone/>
            </a:pPr>
            <a:r>
              <a:rPr lang="en-US" sz="800" b="1" dirty="0">
                <a:solidFill>
                  <a:srgbClr val="5A6B75"/>
                </a:solidFill>
                <a:latin typeface="Calibri" pitchFamily="34" charset="0"/>
                <a:ea typeface="Calibri" pitchFamily="34" charset="-122"/>
                <a:cs typeface="Calibri" pitchFamily="34" charset="-120"/>
              </a:rPr>
              <a:t>Christmas slowdown</a:t>
            </a:r>
            <a:endParaRPr lang="en-US" sz="800" dirty="0"/>
          </a:p>
        </p:txBody>
      </p:sp>
      <p:sp>
        <p:nvSpPr>
          <p:cNvPr id="6" name="line-2"/>
          <p:cNvSpPr/>
          <p:nvPr/>
        </p:nvSpPr>
        <p:spPr>
          <a:xfrm>
            <a:off x="548640" y="1883664"/>
            <a:ext cx="10698480" cy="0"/>
          </a:xfrm>
          <a:prstGeom prst="line">
            <a:avLst/>
          </a:prstGeom>
          <a:noFill/>
          <a:ln w="50800">
            <a:solidFill>
              <a:srgbClr val="D4DBE0"/>
            </a:solidFill>
            <a:prstDash val="solid"/>
          </a:ln>
        </p:spPr>
      </p:sp>
      <p:sp>
        <p:nvSpPr>
          <p:cNvPr id="7" name="tri-3"/>
          <p:cNvSpPr/>
          <p:nvPr/>
        </p:nvSpPr>
        <p:spPr>
          <a:xfrm rot="5400000">
            <a:off x="11228832" y="1773936"/>
            <a:ext cx="219456" cy="219456"/>
          </a:xfrm>
          <a:prstGeom prst="triangle">
            <a:avLst/>
          </a:prstGeom>
          <a:solidFill>
            <a:srgbClr val="D4DBE0"/>
          </a:solidFill>
          <a:ln w="12700">
            <a:solidFill>
              <a:srgbClr val="D4DBE0"/>
            </a:solidFill>
            <a:prstDash val="solid"/>
          </a:ln>
        </p:spPr>
      </p:sp>
      <p:sp>
        <p:nvSpPr>
          <p:cNvPr id="8" name="shape-4"/>
          <p:cNvSpPr/>
          <p:nvPr/>
        </p:nvSpPr>
        <p:spPr>
          <a:xfrm>
            <a:off x="548640" y="1860804"/>
            <a:ext cx="5439905" cy="45720"/>
          </a:xfrm>
          <a:prstGeom prst="rect">
            <a:avLst/>
          </a:prstGeom>
          <a:solidFill>
            <a:srgbClr val="0F766E"/>
          </a:solidFill>
          <a:ln w="12700">
            <a:solidFill>
              <a:srgbClr val="0F766E"/>
            </a:solidFill>
            <a:prstDash val="solid"/>
          </a:ln>
        </p:spPr>
      </p:sp>
      <p:sp>
        <p:nvSpPr>
          <p:cNvPr id="9" name="line-5"/>
          <p:cNvSpPr/>
          <p:nvPr/>
        </p:nvSpPr>
        <p:spPr>
          <a:xfrm>
            <a:off x="548640" y="2011680"/>
            <a:ext cx="0" cy="73152"/>
          </a:xfrm>
          <a:prstGeom prst="line">
            <a:avLst/>
          </a:prstGeom>
          <a:noFill/>
          <a:ln w="12700">
            <a:solidFill>
              <a:srgbClr val="5A6B75"/>
            </a:solidFill>
            <a:prstDash val="solid"/>
          </a:ln>
        </p:spPr>
      </p:sp>
      <p:sp>
        <p:nvSpPr>
          <p:cNvPr id="10" name="text-6"/>
          <p:cNvSpPr txBox="1"/>
          <p:nvPr/>
        </p:nvSpPr>
        <p:spPr>
          <a:xfrm>
            <a:off x="365760" y="2103120"/>
            <a:ext cx="365760" cy="146304"/>
          </a:xfrm>
          <a:prstGeom prst="rect">
            <a:avLst/>
          </a:prstGeom>
          <a:noFill/>
          <a:ln/>
        </p:spPr>
        <p:txBody>
          <a:bodyPr wrap="square" lIns="0" tIns="0" rIns="0" bIns="0" rtlCol="0" anchor="ctr"/>
          <a:lstStyle/>
          <a:p>
            <a:pPr algn="ctr" indent="0" marL="0">
              <a:lnSpc>
                <a:spcPct val="100000"/>
              </a:lnSpc>
              <a:buNone/>
            </a:pPr>
            <a:r>
              <a:rPr lang="en-US" sz="800" dirty="0">
                <a:solidFill>
                  <a:srgbClr val="5A6B75"/>
                </a:solidFill>
                <a:latin typeface="Calibri" pitchFamily="34" charset="0"/>
                <a:ea typeface="Calibri" pitchFamily="34" charset="-122"/>
                <a:cs typeface="Calibri" pitchFamily="34" charset="-120"/>
              </a:rPr>
              <a:t>Nov</a:t>
            </a:r>
            <a:endParaRPr lang="en-US" sz="800" dirty="0"/>
          </a:p>
        </p:txBody>
      </p:sp>
      <p:sp>
        <p:nvSpPr>
          <p:cNvPr id="11" name="line-7"/>
          <p:cNvSpPr/>
          <p:nvPr/>
        </p:nvSpPr>
        <p:spPr>
          <a:xfrm>
            <a:off x="2361942" y="2011680"/>
            <a:ext cx="0" cy="73152"/>
          </a:xfrm>
          <a:prstGeom prst="line">
            <a:avLst/>
          </a:prstGeom>
          <a:noFill/>
          <a:ln w="12700">
            <a:solidFill>
              <a:srgbClr val="5A6B75"/>
            </a:solidFill>
            <a:prstDash val="solid"/>
          </a:ln>
        </p:spPr>
      </p:sp>
      <p:sp>
        <p:nvSpPr>
          <p:cNvPr id="12" name="text-8"/>
          <p:cNvSpPr txBox="1"/>
          <p:nvPr/>
        </p:nvSpPr>
        <p:spPr>
          <a:xfrm>
            <a:off x="2179062" y="2103120"/>
            <a:ext cx="365760" cy="146304"/>
          </a:xfrm>
          <a:prstGeom prst="rect">
            <a:avLst/>
          </a:prstGeom>
          <a:noFill/>
          <a:ln/>
        </p:spPr>
        <p:txBody>
          <a:bodyPr wrap="square" lIns="0" tIns="0" rIns="0" bIns="0" rtlCol="0" anchor="ctr"/>
          <a:lstStyle/>
          <a:p>
            <a:pPr algn="ctr" indent="0" marL="0">
              <a:lnSpc>
                <a:spcPct val="100000"/>
              </a:lnSpc>
              <a:buNone/>
            </a:pPr>
            <a:r>
              <a:rPr lang="en-US" sz="800" dirty="0">
                <a:solidFill>
                  <a:srgbClr val="5A6B75"/>
                </a:solidFill>
                <a:latin typeface="Calibri" pitchFamily="34" charset="0"/>
                <a:ea typeface="Calibri" pitchFamily="34" charset="-122"/>
                <a:cs typeface="Calibri" pitchFamily="34" charset="-120"/>
              </a:rPr>
              <a:t>Dec</a:t>
            </a:r>
            <a:endParaRPr lang="en-US" sz="800" dirty="0"/>
          </a:p>
        </p:txBody>
      </p:sp>
      <p:sp>
        <p:nvSpPr>
          <p:cNvPr id="13" name="line-9"/>
          <p:cNvSpPr/>
          <p:nvPr/>
        </p:nvSpPr>
        <p:spPr>
          <a:xfrm>
            <a:off x="4235687" y="2011680"/>
            <a:ext cx="0" cy="73152"/>
          </a:xfrm>
          <a:prstGeom prst="line">
            <a:avLst/>
          </a:prstGeom>
          <a:noFill/>
          <a:ln w="12700">
            <a:solidFill>
              <a:srgbClr val="5A6B75"/>
            </a:solidFill>
            <a:prstDash val="solid"/>
          </a:ln>
        </p:spPr>
      </p:sp>
      <p:sp>
        <p:nvSpPr>
          <p:cNvPr id="14" name="text-10"/>
          <p:cNvSpPr txBox="1"/>
          <p:nvPr/>
        </p:nvSpPr>
        <p:spPr>
          <a:xfrm>
            <a:off x="4052807" y="2103120"/>
            <a:ext cx="365760" cy="146304"/>
          </a:xfrm>
          <a:prstGeom prst="rect">
            <a:avLst/>
          </a:prstGeom>
          <a:noFill/>
          <a:ln/>
        </p:spPr>
        <p:txBody>
          <a:bodyPr wrap="square" lIns="0" tIns="0" rIns="0" bIns="0" rtlCol="0" anchor="ctr"/>
          <a:lstStyle/>
          <a:p>
            <a:pPr algn="ctr" indent="0" marL="0">
              <a:lnSpc>
                <a:spcPct val="100000"/>
              </a:lnSpc>
              <a:buNone/>
            </a:pPr>
            <a:r>
              <a:rPr lang="en-US" sz="800" dirty="0">
                <a:solidFill>
                  <a:srgbClr val="5A6B75"/>
                </a:solidFill>
                <a:latin typeface="Calibri" pitchFamily="34" charset="0"/>
                <a:ea typeface="Calibri" pitchFamily="34" charset="-122"/>
                <a:cs typeface="Calibri" pitchFamily="34" charset="-120"/>
              </a:rPr>
              <a:t>Jan</a:t>
            </a:r>
            <a:endParaRPr lang="en-US" sz="800" dirty="0"/>
          </a:p>
        </p:txBody>
      </p:sp>
      <p:sp>
        <p:nvSpPr>
          <p:cNvPr id="15" name="line-11"/>
          <p:cNvSpPr/>
          <p:nvPr/>
        </p:nvSpPr>
        <p:spPr>
          <a:xfrm>
            <a:off x="6109432" y="2011680"/>
            <a:ext cx="0" cy="73152"/>
          </a:xfrm>
          <a:prstGeom prst="line">
            <a:avLst/>
          </a:prstGeom>
          <a:noFill/>
          <a:ln w="12700">
            <a:solidFill>
              <a:srgbClr val="5A6B75"/>
            </a:solidFill>
            <a:prstDash val="solid"/>
          </a:ln>
        </p:spPr>
      </p:sp>
      <p:sp>
        <p:nvSpPr>
          <p:cNvPr id="16" name="text-12"/>
          <p:cNvSpPr txBox="1"/>
          <p:nvPr/>
        </p:nvSpPr>
        <p:spPr>
          <a:xfrm>
            <a:off x="5926552" y="2103120"/>
            <a:ext cx="365760" cy="146304"/>
          </a:xfrm>
          <a:prstGeom prst="rect">
            <a:avLst/>
          </a:prstGeom>
          <a:noFill/>
          <a:ln/>
        </p:spPr>
        <p:txBody>
          <a:bodyPr wrap="square" lIns="0" tIns="0" rIns="0" bIns="0" rtlCol="0" anchor="ctr"/>
          <a:lstStyle/>
          <a:p>
            <a:pPr algn="ctr" indent="0" marL="0">
              <a:lnSpc>
                <a:spcPct val="100000"/>
              </a:lnSpc>
              <a:buNone/>
            </a:pPr>
            <a:r>
              <a:rPr lang="en-US" sz="800" dirty="0">
                <a:solidFill>
                  <a:srgbClr val="5A6B75"/>
                </a:solidFill>
                <a:latin typeface="Calibri" pitchFamily="34" charset="0"/>
                <a:ea typeface="Calibri" pitchFamily="34" charset="-122"/>
                <a:cs typeface="Calibri" pitchFamily="34" charset="-120"/>
              </a:rPr>
              <a:t>Feb</a:t>
            </a:r>
            <a:endParaRPr lang="en-US" sz="800" dirty="0"/>
          </a:p>
        </p:txBody>
      </p:sp>
      <p:sp>
        <p:nvSpPr>
          <p:cNvPr id="17" name="line-13"/>
          <p:cNvSpPr/>
          <p:nvPr/>
        </p:nvSpPr>
        <p:spPr>
          <a:xfrm>
            <a:off x="7801847" y="2011680"/>
            <a:ext cx="0" cy="73152"/>
          </a:xfrm>
          <a:prstGeom prst="line">
            <a:avLst/>
          </a:prstGeom>
          <a:noFill/>
          <a:ln w="12700">
            <a:solidFill>
              <a:srgbClr val="5A6B75"/>
            </a:solidFill>
            <a:prstDash val="solid"/>
          </a:ln>
        </p:spPr>
      </p:sp>
      <p:sp>
        <p:nvSpPr>
          <p:cNvPr id="18" name="text-14"/>
          <p:cNvSpPr txBox="1"/>
          <p:nvPr/>
        </p:nvSpPr>
        <p:spPr>
          <a:xfrm>
            <a:off x="7618967" y="2103120"/>
            <a:ext cx="365760" cy="146304"/>
          </a:xfrm>
          <a:prstGeom prst="rect">
            <a:avLst/>
          </a:prstGeom>
          <a:noFill/>
          <a:ln/>
        </p:spPr>
        <p:txBody>
          <a:bodyPr wrap="square" lIns="0" tIns="0" rIns="0" bIns="0" rtlCol="0" anchor="ctr"/>
          <a:lstStyle/>
          <a:p>
            <a:pPr algn="ctr" indent="0" marL="0">
              <a:lnSpc>
                <a:spcPct val="100000"/>
              </a:lnSpc>
              <a:buNone/>
            </a:pPr>
            <a:r>
              <a:rPr lang="en-US" sz="800" dirty="0">
                <a:solidFill>
                  <a:srgbClr val="5A6B75"/>
                </a:solidFill>
                <a:latin typeface="Calibri" pitchFamily="34" charset="0"/>
                <a:ea typeface="Calibri" pitchFamily="34" charset="-122"/>
                <a:cs typeface="Calibri" pitchFamily="34" charset="-120"/>
              </a:rPr>
              <a:t>Mar</a:t>
            </a:r>
            <a:endParaRPr lang="en-US" sz="800" dirty="0"/>
          </a:p>
        </p:txBody>
      </p:sp>
      <p:sp>
        <p:nvSpPr>
          <p:cNvPr id="19" name="line-15"/>
          <p:cNvSpPr/>
          <p:nvPr/>
        </p:nvSpPr>
        <p:spPr>
          <a:xfrm>
            <a:off x="9675592" y="2011680"/>
            <a:ext cx="0" cy="73152"/>
          </a:xfrm>
          <a:prstGeom prst="line">
            <a:avLst/>
          </a:prstGeom>
          <a:noFill/>
          <a:ln w="12700">
            <a:solidFill>
              <a:srgbClr val="5A6B75"/>
            </a:solidFill>
            <a:prstDash val="solid"/>
          </a:ln>
        </p:spPr>
      </p:sp>
      <p:sp>
        <p:nvSpPr>
          <p:cNvPr id="20" name="text-16"/>
          <p:cNvSpPr txBox="1"/>
          <p:nvPr/>
        </p:nvSpPr>
        <p:spPr>
          <a:xfrm>
            <a:off x="9492712" y="2103120"/>
            <a:ext cx="365760" cy="146304"/>
          </a:xfrm>
          <a:prstGeom prst="rect">
            <a:avLst/>
          </a:prstGeom>
          <a:noFill/>
          <a:ln/>
        </p:spPr>
        <p:txBody>
          <a:bodyPr wrap="square" lIns="0" tIns="0" rIns="0" bIns="0" rtlCol="0" anchor="ctr"/>
          <a:lstStyle/>
          <a:p>
            <a:pPr algn="ctr" indent="0" marL="0">
              <a:lnSpc>
                <a:spcPct val="100000"/>
              </a:lnSpc>
              <a:buNone/>
            </a:pPr>
            <a:r>
              <a:rPr lang="en-US" sz="800" dirty="0">
                <a:solidFill>
                  <a:srgbClr val="5A6B75"/>
                </a:solidFill>
                <a:latin typeface="Calibri" pitchFamily="34" charset="0"/>
                <a:ea typeface="Calibri" pitchFamily="34" charset="-122"/>
                <a:cs typeface="Calibri" pitchFamily="34" charset="-120"/>
              </a:rPr>
              <a:t>Apr</a:t>
            </a:r>
            <a:endParaRPr lang="en-US" sz="800" dirty="0"/>
          </a:p>
        </p:txBody>
      </p:sp>
      <p:sp>
        <p:nvSpPr>
          <p:cNvPr id="21" name="oval-17"/>
          <p:cNvSpPr/>
          <p:nvPr/>
        </p:nvSpPr>
        <p:spPr>
          <a:xfrm>
            <a:off x="466344" y="1801368"/>
            <a:ext cx="164592" cy="164592"/>
          </a:xfrm>
          <a:prstGeom prst="ellipse">
            <a:avLst/>
          </a:prstGeom>
          <a:solidFill>
            <a:srgbClr val="5A6B75"/>
          </a:solidFill>
          <a:ln w="12700">
            <a:solidFill>
              <a:srgbClr val="5A6B75"/>
            </a:solidFill>
            <a:prstDash val="solid"/>
          </a:ln>
        </p:spPr>
      </p:sp>
      <p:sp>
        <p:nvSpPr>
          <p:cNvPr id="22" name="text-18"/>
          <p:cNvSpPr txBox="1"/>
          <p:nvPr/>
        </p:nvSpPr>
        <p:spPr>
          <a:xfrm>
            <a:off x="0" y="1444752"/>
            <a:ext cx="10972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5A6B75"/>
                </a:solidFill>
                <a:latin typeface="Calibri" pitchFamily="34" charset="0"/>
                <a:ea typeface="Calibri" pitchFamily="34" charset="-122"/>
                <a:cs typeface="Calibri" pitchFamily="34" charset="-120"/>
              </a:rPr>
              <a:t>Start</a:t>
            </a:r>
            <a:endParaRPr lang="en-US" sz="1000" dirty="0"/>
          </a:p>
        </p:txBody>
      </p:sp>
      <p:sp>
        <p:nvSpPr>
          <p:cNvPr id="23" name="oval-19"/>
          <p:cNvSpPr/>
          <p:nvPr/>
        </p:nvSpPr>
        <p:spPr>
          <a:xfrm>
            <a:off x="2179062" y="1700784"/>
            <a:ext cx="365760" cy="365760"/>
          </a:xfrm>
          <a:prstGeom prst="ellipse">
            <a:avLst/>
          </a:prstGeom>
          <a:solidFill>
            <a:srgbClr val="0F766E"/>
          </a:solidFill>
          <a:ln w="12700">
            <a:solidFill>
              <a:srgbClr val="0F766E"/>
            </a:solidFill>
            <a:prstDash val="solid"/>
          </a:ln>
        </p:spPr>
      </p:sp>
      <p:sp>
        <p:nvSpPr>
          <p:cNvPr id="24" name="text-20"/>
          <p:cNvSpPr txBox="1"/>
          <p:nvPr/>
        </p:nvSpPr>
        <p:spPr>
          <a:xfrm>
            <a:off x="2179062" y="1773936"/>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G1</a:t>
            </a:r>
            <a:endParaRPr lang="en-US" sz="1150" dirty="0"/>
          </a:p>
        </p:txBody>
      </p:sp>
      <p:sp>
        <p:nvSpPr>
          <p:cNvPr id="25" name="text-21"/>
          <p:cNvSpPr txBox="1"/>
          <p:nvPr/>
        </p:nvSpPr>
        <p:spPr>
          <a:xfrm>
            <a:off x="1813302" y="1444752"/>
            <a:ext cx="10972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0F766E"/>
                </a:solidFill>
                <a:latin typeface="Calibri" pitchFamily="34" charset="0"/>
                <a:ea typeface="Calibri" pitchFamily="34" charset="-122"/>
                <a:cs typeface="Calibri" pitchFamily="34" charset="-120"/>
              </a:rPr>
              <a:t>Day 30</a:t>
            </a:r>
            <a:endParaRPr lang="en-US" sz="1000" dirty="0"/>
          </a:p>
        </p:txBody>
      </p:sp>
      <p:sp>
        <p:nvSpPr>
          <p:cNvPr id="26" name="text-22"/>
          <p:cNvSpPr txBox="1"/>
          <p:nvPr/>
        </p:nvSpPr>
        <p:spPr>
          <a:xfrm>
            <a:off x="1538982" y="2286000"/>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1C2B33"/>
                </a:solidFill>
                <a:latin typeface="Calibri" pitchFamily="34" charset="0"/>
                <a:ea typeface="Calibri" pitchFamily="34" charset="-122"/>
                <a:cs typeface="Calibri" pitchFamily="34" charset="-120"/>
              </a:rPr>
              <a:t>Two baselines</a:t>
            </a:r>
            <a:endParaRPr lang="en-US" sz="1000" dirty="0"/>
          </a:p>
        </p:txBody>
      </p:sp>
      <p:sp>
        <p:nvSpPr>
          <p:cNvPr id="27" name="oval-23"/>
          <p:cNvSpPr/>
          <p:nvPr/>
        </p:nvSpPr>
        <p:spPr>
          <a:xfrm>
            <a:off x="3992363" y="1700784"/>
            <a:ext cx="365760" cy="365760"/>
          </a:xfrm>
          <a:prstGeom prst="ellipse">
            <a:avLst/>
          </a:prstGeom>
          <a:solidFill>
            <a:srgbClr val="0F766E"/>
          </a:solidFill>
          <a:ln w="12700">
            <a:solidFill>
              <a:srgbClr val="0F766E"/>
            </a:solidFill>
            <a:prstDash val="solid"/>
          </a:ln>
        </p:spPr>
      </p:sp>
      <p:sp>
        <p:nvSpPr>
          <p:cNvPr id="28" name="text-24"/>
          <p:cNvSpPr txBox="1"/>
          <p:nvPr/>
        </p:nvSpPr>
        <p:spPr>
          <a:xfrm>
            <a:off x="3992363" y="1773936"/>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G2</a:t>
            </a:r>
            <a:endParaRPr lang="en-US" sz="1150" dirty="0"/>
          </a:p>
        </p:txBody>
      </p:sp>
      <p:sp>
        <p:nvSpPr>
          <p:cNvPr id="29" name="text-25"/>
          <p:cNvSpPr txBox="1"/>
          <p:nvPr/>
        </p:nvSpPr>
        <p:spPr>
          <a:xfrm>
            <a:off x="3626603" y="1444752"/>
            <a:ext cx="10972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0F766E"/>
                </a:solidFill>
                <a:latin typeface="Calibri" pitchFamily="34" charset="0"/>
                <a:ea typeface="Calibri" pitchFamily="34" charset="-122"/>
                <a:cs typeface="Calibri" pitchFamily="34" charset="-120"/>
              </a:rPr>
              <a:t>Day 60</a:t>
            </a:r>
            <a:endParaRPr lang="en-US" sz="1000" dirty="0"/>
          </a:p>
        </p:txBody>
      </p:sp>
      <p:sp>
        <p:nvSpPr>
          <p:cNvPr id="30" name="text-26"/>
          <p:cNvSpPr txBox="1"/>
          <p:nvPr/>
        </p:nvSpPr>
        <p:spPr>
          <a:xfrm>
            <a:off x="3352283" y="2286000"/>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1C2B33"/>
                </a:solidFill>
                <a:latin typeface="Calibri" pitchFamily="34" charset="0"/>
                <a:ea typeface="Calibri" pitchFamily="34" charset="-122"/>
                <a:cs typeface="Calibri" pitchFamily="34" charset="-120"/>
              </a:rPr>
              <a:t>Fit test, decisions</a:t>
            </a:r>
            <a:endParaRPr lang="en-US" sz="1000" dirty="0"/>
          </a:p>
        </p:txBody>
      </p:sp>
      <p:sp>
        <p:nvSpPr>
          <p:cNvPr id="31" name="oval-27"/>
          <p:cNvSpPr/>
          <p:nvPr/>
        </p:nvSpPr>
        <p:spPr>
          <a:xfrm>
            <a:off x="5805665" y="1700784"/>
            <a:ext cx="365760" cy="365760"/>
          </a:xfrm>
          <a:prstGeom prst="ellipse">
            <a:avLst/>
          </a:prstGeom>
          <a:solidFill>
            <a:srgbClr val="134E4A"/>
          </a:solidFill>
          <a:ln w="12700">
            <a:solidFill>
              <a:srgbClr val="134E4A"/>
            </a:solidFill>
            <a:prstDash val="solid"/>
          </a:ln>
        </p:spPr>
      </p:sp>
      <p:sp>
        <p:nvSpPr>
          <p:cNvPr id="32" name="text-28"/>
          <p:cNvSpPr txBox="1"/>
          <p:nvPr/>
        </p:nvSpPr>
        <p:spPr>
          <a:xfrm>
            <a:off x="5805665" y="1773936"/>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G3</a:t>
            </a:r>
            <a:endParaRPr lang="en-US" sz="1150" dirty="0"/>
          </a:p>
        </p:txBody>
      </p:sp>
      <p:sp>
        <p:nvSpPr>
          <p:cNvPr id="33" name="text-29"/>
          <p:cNvSpPr txBox="1"/>
          <p:nvPr/>
        </p:nvSpPr>
        <p:spPr>
          <a:xfrm>
            <a:off x="5439905" y="1444752"/>
            <a:ext cx="10972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134E4A"/>
                </a:solidFill>
                <a:latin typeface="Calibri" pitchFamily="34" charset="0"/>
                <a:ea typeface="Calibri" pitchFamily="34" charset="-122"/>
                <a:cs typeface="Calibri" pitchFamily="34" charset="-120"/>
              </a:rPr>
              <a:t>Day 90</a:t>
            </a:r>
            <a:endParaRPr lang="en-US" sz="1000" dirty="0"/>
          </a:p>
        </p:txBody>
      </p:sp>
      <p:sp>
        <p:nvSpPr>
          <p:cNvPr id="34" name="text-30"/>
          <p:cNvSpPr txBox="1"/>
          <p:nvPr/>
        </p:nvSpPr>
        <p:spPr>
          <a:xfrm>
            <a:off x="5165585" y="2286000"/>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1C2B33"/>
                </a:solidFill>
                <a:latin typeface="Calibri" pitchFamily="34" charset="0"/>
                <a:ea typeface="Calibri" pitchFamily="34" charset="-122"/>
                <a:cs typeface="Calibri" pitchFamily="34" charset="-120"/>
              </a:rPr>
              <a:t>First assured delivery</a:t>
            </a:r>
            <a:endParaRPr lang="en-US" sz="1000" dirty="0"/>
          </a:p>
        </p:txBody>
      </p:sp>
      <p:sp>
        <p:nvSpPr>
          <p:cNvPr id="35" name="oval-31"/>
          <p:cNvSpPr/>
          <p:nvPr/>
        </p:nvSpPr>
        <p:spPr>
          <a:xfrm>
            <a:off x="11137392" y="1773936"/>
            <a:ext cx="219456" cy="219456"/>
          </a:xfrm>
          <a:prstGeom prst="ellipse">
            <a:avLst/>
          </a:prstGeom>
          <a:solidFill>
            <a:srgbClr val="B45309"/>
          </a:solidFill>
          <a:ln w="12700">
            <a:solidFill>
              <a:srgbClr val="B45309"/>
            </a:solidFill>
            <a:prstDash val="solid"/>
          </a:ln>
        </p:spPr>
      </p:sp>
      <p:sp>
        <p:nvSpPr>
          <p:cNvPr id="36" name="text-32"/>
          <p:cNvSpPr txBox="1"/>
          <p:nvPr/>
        </p:nvSpPr>
        <p:spPr>
          <a:xfrm>
            <a:off x="10698480" y="1444752"/>
            <a:ext cx="10972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B45309"/>
                </a:solidFill>
                <a:latin typeface="Calibri" pitchFamily="34" charset="0"/>
                <a:ea typeface="Calibri" pitchFamily="34" charset="-122"/>
                <a:cs typeface="Calibri" pitchFamily="34" charset="-120"/>
              </a:rPr>
              <a:t>27 April</a:t>
            </a:r>
            <a:endParaRPr lang="en-US" sz="1000" dirty="0"/>
          </a:p>
        </p:txBody>
      </p:sp>
      <p:sp>
        <p:nvSpPr>
          <p:cNvPr id="37" name="text-33"/>
          <p:cNvSpPr txBox="1"/>
          <p:nvPr/>
        </p:nvSpPr>
        <p:spPr>
          <a:xfrm>
            <a:off x="10424160" y="2286000"/>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B45309"/>
                </a:solidFill>
                <a:latin typeface="Calibri" pitchFamily="34" charset="0"/>
                <a:ea typeface="Calibri" pitchFamily="34" charset="-122"/>
                <a:cs typeface="Calibri" pitchFamily="34" charset="-120"/>
              </a:rPr>
              <a:t>fixed</a:t>
            </a:r>
            <a:endParaRPr lang="en-US" sz="1000" dirty="0"/>
          </a:p>
        </p:txBody>
      </p:sp>
      <p:sp>
        <p:nvSpPr>
          <p:cNvPr id="38" name="text-34"/>
          <p:cNvSpPr txBox="1"/>
          <p:nvPr/>
        </p:nvSpPr>
        <p:spPr>
          <a:xfrm>
            <a:off x="6079985" y="1444752"/>
            <a:ext cx="5075695" cy="182880"/>
          </a:xfrm>
          <a:prstGeom prst="rect">
            <a:avLst/>
          </a:prstGeom>
          <a:noFill/>
          <a:ln/>
        </p:spPr>
        <p:txBody>
          <a:bodyPr wrap="square" lIns="0" tIns="0" rIns="0" bIns="0" rtlCol="0" anchor="ctr"/>
          <a:lstStyle/>
          <a:p>
            <a:pPr algn="ctr" indent="0" marL="0">
              <a:lnSpc>
                <a:spcPct val="100000"/>
              </a:lnSpc>
              <a:buNone/>
            </a:pPr>
            <a:r>
              <a:rPr lang="en-US" sz="850" i="1" dirty="0">
                <a:solidFill>
                  <a:srgbClr val="5A6B75"/>
                </a:solidFill>
                <a:latin typeface="Calibri" pitchFamily="34" charset="0"/>
                <a:ea typeface="Calibri" pitchFamily="34" charset="-122"/>
                <a:cs typeface="Calibri" pitchFamily="34" charset="-120"/>
              </a:rPr>
              <a:t>≈ 12 working weeks left after day 90 — build waves, cutover rehearsal, go-live</a:t>
            </a:r>
            <a:endParaRPr lang="en-US" sz="850" dirty="0"/>
          </a:p>
        </p:txBody>
      </p:sp>
      <p:sp>
        <p:nvSpPr>
          <p:cNvPr id="39" name="shape-35"/>
          <p:cNvSpPr/>
          <p:nvPr/>
        </p:nvSpPr>
        <p:spPr>
          <a:xfrm>
            <a:off x="548640" y="2743200"/>
            <a:ext cx="3383280" cy="1371600"/>
          </a:xfrm>
          <a:prstGeom prst="roundRect">
            <a:avLst>
              <a:gd name="adj" fmla="val 5333"/>
            </a:avLst>
          </a:prstGeom>
          <a:solidFill>
            <a:srgbClr val="EEF2F4"/>
          </a:solidFill>
          <a:ln w="12700">
            <a:solidFill>
              <a:srgbClr val="EEF2F4"/>
            </a:solidFill>
            <a:prstDash val="solid"/>
          </a:ln>
        </p:spPr>
      </p:sp>
      <p:pic>
        <p:nvPicPr>
          <p:cNvPr id="40" name="icon-36" descr="preencoded.png">    </p:cNvPr>
          <p:cNvPicPr>
            <a:picLocks noChangeAspect="1"/>
          </p:cNvPicPr>
          <p:nvPr/>
        </p:nvPicPr>
        <p:blipFill>
          <a:blip r:embed="rId1"/>
          <a:stretch>
            <a:fillRect/>
          </a:stretch>
        </p:blipFill>
        <p:spPr>
          <a:xfrm>
            <a:off x="713232" y="2926080"/>
            <a:ext cx="201168" cy="201168"/>
          </a:xfrm>
          <a:prstGeom prst="rect">
            <a:avLst/>
          </a:prstGeom>
        </p:spPr>
      </p:pic>
      <p:sp>
        <p:nvSpPr>
          <p:cNvPr id="41" name="text-37"/>
          <p:cNvSpPr txBox="1"/>
          <p:nvPr/>
        </p:nvSpPr>
        <p:spPr>
          <a:xfrm>
            <a:off x="1005840" y="2907792"/>
            <a:ext cx="2834640"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Technology and product baseline</a:t>
            </a:r>
            <a:endParaRPr lang="en-US" sz="1150" dirty="0"/>
          </a:p>
        </p:txBody>
      </p:sp>
      <p:sp>
        <p:nvSpPr>
          <p:cNvPr id="42" name="text-38"/>
          <p:cNvSpPr txBox="1"/>
          <p:nvPr/>
        </p:nvSpPr>
        <p:spPr>
          <a:xfrm>
            <a:off x="713232" y="3236976"/>
            <a:ext cx="3054096" cy="768096"/>
          </a:xfrm>
          <a:prstGeom prst="rect">
            <a:avLst/>
          </a:prstGeom>
          <a:noFill/>
          <a:ln/>
        </p:spPr>
        <p:txBody>
          <a:bodyPr wrap="square" lIns="0" tIns="0" rIns="0" bIns="0" rtlCol="0" anchor="t"/>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Systems, integrations, contracts, partners, run cost; licence model; what is in flight</a:t>
            </a:r>
            <a:endParaRPr lang="en-US" sz="1000" dirty="0"/>
          </a:p>
        </p:txBody>
      </p:sp>
      <p:sp>
        <p:nvSpPr>
          <p:cNvPr id="43" name="shape-39"/>
          <p:cNvSpPr/>
          <p:nvPr/>
        </p:nvSpPr>
        <p:spPr>
          <a:xfrm>
            <a:off x="4078224" y="2743200"/>
            <a:ext cx="3383280" cy="1371600"/>
          </a:xfrm>
          <a:prstGeom prst="roundRect">
            <a:avLst>
              <a:gd name="adj" fmla="val 5333"/>
            </a:avLst>
          </a:prstGeom>
          <a:solidFill>
            <a:srgbClr val="D6ECE9"/>
          </a:solidFill>
          <a:ln w="12700">
            <a:solidFill>
              <a:srgbClr val="D6ECE9"/>
            </a:solidFill>
            <a:prstDash val="solid"/>
          </a:ln>
        </p:spPr>
      </p:sp>
      <p:pic>
        <p:nvPicPr>
          <p:cNvPr id="44" name="icon-40" descr="preencoded.png">    </p:cNvPr>
          <p:cNvPicPr>
            <a:picLocks noChangeAspect="1"/>
          </p:cNvPicPr>
          <p:nvPr/>
        </p:nvPicPr>
        <p:blipFill>
          <a:blip r:embed="rId2"/>
          <a:stretch>
            <a:fillRect/>
          </a:stretch>
        </p:blipFill>
        <p:spPr>
          <a:xfrm>
            <a:off x="4242816" y="2926080"/>
            <a:ext cx="201168" cy="201168"/>
          </a:xfrm>
          <a:prstGeom prst="rect">
            <a:avLst/>
          </a:prstGeom>
        </p:spPr>
      </p:pic>
      <p:sp>
        <p:nvSpPr>
          <p:cNvPr id="45" name="text-41"/>
          <p:cNvSpPr txBox="1"/>
          <p:nvPr/>
        </p:nvSpPr>
        <p:spPr>
          <a:xfrm>
            <a:off x="4535424" y="2907792"/>
            <a:ext cx="2834640"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Ways-of-working baseline</a:t>
            </a:r>
            <a:endParaRPr lang="en-US" sz="1150" dirty="0"/>
          </a:p>
        </p:txBody>
      </p:sp>
      <p:sp>
        <p:nvSpPr>
          <p:cNvPr id="46" name="text-42"/>
          <p:cNvSpPr txBox="1"/>
          <p:nvPr/>
        </p:nvSpPr>
        <p:spPr>
          <a:xfrm>
            <a:off x="4242816" y="3236976"/>
            <a:ext cx="3054096" cy="768096"/>
          </a:xfrm>
          <a:prstGeom prst="rect">
            <a:avLst/>
          </a:prstGeom>
          <a:noFill/>
          <a:ln/>
        </p:spPr>
        <p:txBody>
          <a:bodyPr wrap="square" lIns="0" tIns="0" rIns="0" bIns="0" rtlCol="0" anchor="t"/>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Processes, SOPs, SLAs, mandated requirements; hand-offs; what each ceremony produces</a:t>
            </a:r>
            <a:endParaRPr lang="en-US" sz="1000" dirty="0"/>
          </a:p>
        </p:txBody>
      </p:sp>
      <p:sp>
        <p:nvSpPr>
          <p:cNvPr id="47" name="tri-43"/>
          <p:cNvSpPr/>
          <p:nvPr/>
        </p:nvSpPr>
        <p:spPr>
          <a:xfrm rot="5400000">
            <a:off x="7598664" y="3346704"/>
            <a:ext cx="164592" cy="164592"/>
          </a:xfrm>
          <a:prstGeom prst="triangle">
            <a:avLst/>
          </a:prstGeom>
          <a:solidFill>
            <a:srgbClr val="5A6B75"/>
          </a:solidFill>
          <a:ln w="12700">
            <a:solidFill>
              <a:srgbClr val="5A6B75"/>
            </a:solidFill>
            <a:prstDash val="solid"/>
          </a:ln>
        </p:spPr>
      </p:sp>
      <p:sp>
        <p:nvSpPr>
          <p:cNvPr id="48" name="shape-44"/>
          <p:cNvSpPr/>
          <p:nvPr/>
        </p:nvSpPr>
        <p:spPr>
          <a:xfrm>
            <a:off x="7790688" y="2743200"/>
            <a:ext cx="3822192" cy="1371600"/>
          </a:xfrm>
          <a:prstGeom prst="roundRect">
            <a:avLst>
              <a:gd name="adj" fmla="val 5333"/>
            </a:avLst>
          </a:prstGeom>
          <a:solidFill>
            <a:srgbClr val="134E4A"/>
          </a:solidFill>
          <a:ln w="12700">
            <a:solidFill>
              <a:srgbClr val="134E4A"/>
            </a:solidFill>
            <a:prstDash val="solid"/>
          </a:ln>
        </p:spPr>
      </p:sp>
      <p:sp>
        <p:nvSpPr>
          <p:cNvPr id="49" name="text-45"/>
          <p:cNvSpPr txBox="1"/>
          <p:nvPr/>
        </p:nvSpPr>
        <p:spPr>
          <a:xfrm>
            <a:off x="7973568" y="2907792"/>
            <a:ext cx="3456432" cy="23774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The fit test — at Gate 2</a:t>
            </a:r>
            <a:endParaRPr lang="en-US" sz="1150" dirty="0"/>
          </a:p>
        </p:txBody>
      </p:sp>
      <p:sp>
        <p:nvSpPr>
          <p:cNvPr id="50" name="text-46"/>
          <p:cNvSpPr txBox="1"/>
          <p:nvPr/>
        </p:nvSpPr>
        <p:spPr>
          <a:xfrm>
            <a:off x="7973568" y="3218688"/>
            <a:ext cx="3456432" cy="256032"/>
          </a:xfrm>
          <a:prstGeom prst="rect">
            <a:avLst/>
          </a:prstGeom>
          <a:noFill/>
          <a:ln/>
        </p:spPr>
        <p:txBody>
          <a:bodyPr wrap="square" lIns="0" tIns="0" rIns="0" bIns="0" rtlCol="0" anchor="ctr"/>
          <a:lstStyle/>
          <a:p>
            <a:pPr algn="l" indent="0" marL="0">
              <a:lnSpc>
                <a:spcPct val="100000"/>
              </a:lnSpc>
              <a:buNone/>
            </a:pPr>
            <a:r>
              <a:rPr lang="en-US" sz="1000" b="1" dirty="0">
                <a:solidFill>
                  <a:srgbClr val="FFFFFF"/>
                </a:solidFill>
                <a:latin typeface="Calibri" pitchFamily="34" charset="0"/>
                <a:ea typeface="Calibri" pitchFamily="34" charset="-122"/>
                <a:cs typeface="Calibri" pitchFamily="34" charset="-120"/>
              </a:rPr>
              <a:t>Does the proposal support the way we want to work?</a:t>
            </a:r>
            <a:endParaRPr lang="en-US" sz="1000" dirty="0"/>
          </a:p>
        </p:txBody>
      </p:sp>
      <p:sp>
        <p:nvSpPr>
          <p:cNvPr id="51" name="text-47"/>
          <p:cNvSpPr txBox="1"/>
          <p:nvPr/>
        </p:nvSpPr>
        <p:spPr>
          <a:xfrm>
            <a:off x="7973568" y="3493008"/>
            <a:ext cx="3456432" cy="256032"/>
          </a:xfrm>
          <a:prstGeom prst="rect">
            <a:avLst/>
          </a:prstGeom>
          <a:noFill/>
          <a:ln/>
        </p:spPr>
        <p:txBody>
          <a:bodyPr wrap="square" lIns="0" tIns="0" rIns="0" bIns="0" rtlCol="0" anchor="ctr"/>
          <a:lstStyle/>
          <a:p>
            <a:pPr algn="l" indent="0" marL="0">
              <a:lnSpc>
                <a:spcPct val="100000"/>
              </a:lnSpc>
              <a:buNone/>
            </a:pPr>
            <a:r>
              <a:rPr lang="en-US" sz="1000" b="1" dirty="0">
                <a:solidFill>
                  <a:srgbClr val="FFFFFF"/>
                </a:solidFill>
                <a:latin typeface="Calibri" pitchFamily="34" charset="0"/>
                <a:ea typeface="Calibri" pitchFamily="34" charset="-122"/>
                <a:cs typeface="Calibri" pitchFamily="34" charset="-120"/>
              </a:rPr>
              <a:t>Is each component in the right tier, under the right rule?</a:t>
            </a:r>
            <a:endParaRPr lang="en-US" sz="1000" dirty="0"/>
          </a:p>
        </p:txBody>
      </p:sp>
      <p:sp>
        <p:nvSpPr>
          <p:cNvPr id="52" name="text-48"/>
          <p:cNvSpPr txBox="1"/>
          <p:nvPr/>
        </p:nvSpPr>
        <p:spPr>
          <a:xfrm>
            <a:off x="7973568" y="3767328"/>
            <a:ext cx="3456432" cy="256032"/>
          </a:xfrm>
          <a:prstGeom prst="rect">
            <a:avLst/>
          </a:prstGeom>
          <a:noFill/>
          <a:ln/>
        </p:spPr>
        <p:txBody>
          <a:bodyPr wrap="square" lIns="0" tIns="0" rIns="0" bIns="0" rtlCol="0" anchor="ctr"/>
          <a:lstStyle/>
          <a:p>
            <a:pPr algn="l" indent="0" marL="0">
              <a:lnSpc>
                <a:spcPct val="100000"/>
              </a:lnSpc>
              <a:buNone/>
            </a:pPr>
            <a:r>
              <a:rPr lang="en-US" sz="1000" b="1" dirty="0">
                <a:solidFill>
                  <a:srgbClr val="FFFFFF"/>
                </a:solidFill>
                <a:latin typeface="Calibri" pitchFamily="34" charset="0"/>
                <a:ea typeface="Calibri" pitchFamily="34" charset="-122"/>
                <a:cs typeface="Calibri" pitchFamily="34" charset="-120"/>
              </a:rPr>
              <a:t>What tooling and AI help or hinder?</a:t>
            </a:r>
            <a:endParaRPr lang="en-US" sz="1000" dirty="0"/>
          </a:p>
        </p:txBody>
      </p:sp>
      <p:sp>
        <p:nvSpPr>
          <p:cNvPr id="53" name="shape-49"/>
          <p:cNvSpPr/>
          <p:nvPr/>
        </p:nvSpPr>
        <p:spPr>
          <a:xfrm>
            <a:off x="548640" y="4279392"/>
            <a:ext cx="11064240" cy="1883664"/>
          </a:xfrm>
          <a:prstGeom prst="roundRect">
            <a:avLst>
              <a:gd name="adj" fmla="val 3883"/>
            </a:avLst>
          </a:prstGeom>
          <a:solidFill>
            <a:srgbClr val="FDF1E3"/>
          </a:solidFill>
          <a:ln w="12700">
            <a:solidFill>
              <a:srgbClr val="FDF1E3"/>
            </a:solidFill>
            <a:prstDash val="solid"/>
          </a:ln>
        </p:spPr>
      </p:sp>
      <p:pic>
        <p:nvPicPr>
          <p:cNvPr id="54" name="icon-50" descr="preencoded.png">    </p:cNvPr>
          <p:cNvPicPr>
            <a:picLocks noChangeAspect="1"/>
          </p:cNvPicPr>
          <p:nvPr/>
        </p:nvPicPr>
        <p:blipFill>
          <a:blip r:embed="rId3"/>
          <a:stretch>
            <a:fillRect/>
          </a:stretch>
        </p:blipFill>
        <p:spPr>
          <a:xfrm>
            <a:off x="768096" y="4462272"/>
            <a:ext cx="219456" cy="219456"/>
          </a:xfrm>
          <a:prstGeom prst="rect">
            <a:avLst/>
          </a:prstGeom>
        </p:spPr>
      </p:pic>
      <p:sp>
        <p:nvSpPr>
          <p:cNvPr id="55" name="text-51"/>
          <p:cNvSpPr txBox="1"/>
          <p:nvPr/>
        </p:nvSpPr>
        <p:spPr>
          <a:xfrm>
            <a:off x="1078992" y="4480560"/>
            <a:ext cx="6400800" cy="201168"/>
          </a:xfrm>
          <a:prstGeom prst="rect">
            <a:avLst/>
          </a:prstGeom>
          <a:noFill/>
          <a:ln/>
        </p:spPr>
        <p:txBody>
          <a:bodyPr wrap="square" lIns="0" tIns="0" rIns="0" bIns="0" rtlCol="0" anchor="ctr"/>
          <a:lstStyle/>
          <a:p>
            <a:pPr algn="l" indent="0" marL="0">
              <a:lnSpc>
                <a:spcPct val="100000"/>
              </a:lnSpc>
              <a:buNone/>
            </a:pPr>
            <a:r>
              <a:rPr lang="en-US" sz="950" b="1" spc="200" kern="0" dirty="0">
                <a:solidFill>
                  <a:srgbClr val="B45309"/>
                </a:solidFill>
                <a:latin typeface="Calibri" pitchFamily="34" charset="0"/>
                <a:ea typeface="Calibri" pitchFamily="34" charset="-122"/>
                <a:cs typeface="Calibri" pitchFamily="34" charset="-120"/>
              </a:rPr>
              <a:t>THE REALITY: SCOPE IS THE ONLY LEVER</a:t>
            </a:r>
            <a:endParaRPr lang="en-US" sz="950" dirty="0"/>
          </a:p>
        </p:txBody>
      </p:sp>
      <p:sp>
        <p:nvSpPr>
          <p:cNvPr id="56" name="oval-52"/>
          <p:cNvSpPr/>
          <p:nvPr/>
        </p:nvSpPr>
        <p:spPr>
          <a:xfrm>
            <a:off x="768096" y="4846320"/>
            <a:ext cx="73152" cy="73152"/>
          </a:xfrm>
          <a:prstGeom prst="ellipse">
            <a:avLst/>
          </a:prstGeom>
          <a:solidFill>
            <a:srgbClr val="B45309"/>
          </a:solidFill>
          <a:ln w="12700">
            <a:solidFill>
              <a:srgbClr val="B45309"/>
            </a:solidFill>
            <a:prstDash val="solid"/>
          </a:ln>
        </p:spPr>
      </p:sp>
      <p:sp>
        <p:nvSpPr>
          <p:cNvPr id="57" name="text-53"/>
          <p:cNvSpPr txBox="1"/>
          <p:nvPr/>
        </p:nvSpPr>
        <p:spPr>
          <a:xfrm>
            <a:off x="932688" y="4773168"/>
            <a:ext cx="512064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Understand and stabilise fast</a:t>
            </a:r>
            <a:endParaRPr lang="en-US" sz="1100" dirty="0"/>
          </a:p>
        </p:txBody>
      </p:sp>
      <p:sp>
        <p:nvSpPr>
          <p:cNvPr id="58" name="text-54"/>
          <p:cNvSpPr txBox="1"/>
          <p:nvPr/>
        </p:nvSpPr>
        <p:spPr>
          <a:xfrm>
            <a:off x="932688" y="4992624"/>
            <a:ext cx="5120640" cy="329184"/>
          </a:xfrm>
          <a:prstGeom prst="rect">
            <a:avLst/>
          </a:prstGeom>
          <a:noFill/>
          <a:ln/>
        </p:spPr>
        <p:txBody>
          <a:bodyPr wrap="square" lIns="0" tIns="0" rIns="0" bIns="0" rtlCol="0" anchor="t"/>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The baselines are weeks, not a quarter — in-flight work is confirmed or stopped by Gate 1, not Gate 2</a:t>
            </a:r>
            <a:endParaRPr lang="en-US" sz="950" dirty="0"/>
          </a:p>
        </p:txBody>
      </p:sp>
      <p:sp>
        <p:nvSpPr>
          <p:cNvPr id="59" name="oval-55"/>
          <p:cNvSpPr/>
          <p:nvPr/>
        </p:nvSpPr>
        <p:spPr>
          <a:xfrm>
            <a:off x="6254496" y="4846320"/>
            <a:ext cx="73152" cy="73152"/>
          </a:xfrm>
          <a:prstGeom prst="ellipse">
            <a:avLst/>
          </a:prstGeom>
          <a:solidFill>
            <a:srgbClr val="B45309"/>
          </a:solidFill>
          <a:ln w="12700">
            <a:solidFill>
              <a:srgbClr val="B45309"/>
            </a:solidFill>
            <a:prstDash val="solid"/>
          </a:ln>
        </p:spPr>
      </p:sp>
      <p:sp>
        <p:nvSpPr>
          <p:cNvPr id="60" name="text-56"/>
          <p:cNvSpPr txBox="1"/>
          <p:nvPr/>
        </p:nvSpPr>
        <p:spPr>
          <a:xfrm>
            <a:off x="6419088" y="4773168"/>
            <a:ext cx="512064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Hold the agreed scope firmly</a:t>
            </a:r>
            <a:endParaRPr lang="en-US" sz="1100" dirty="0"/>
          </a:p>
        </p:txBody>
      </p:sp>
      <p:sp>
        <p:nvSpPr>
          <p:cNvPr id="61" name="text-57"/>
          <p:cNvSpPr txBox="1"/>
          <p:nvPr/>
        </p:nvSpPr>
        <p:spPr>
          <a:xfrm>
            <a:off x="6419088" y="4992624"/>
            <a:ext cx="5120640" cy="329184"/>
          </a:xfrm>
          <a:prstGeom prst="rect">
            <a:avLst/>
          </a:prstGeom>
          <a:noFill/>
          <a:ln/>
        </p:spPr>
        <p:txBody>
          <a:bodyPr wrap="square" lIns="0" tIns="0" rIns="0" bIns="0" rtlCol="0" anchor="t"/>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No growth on the back of hoped-for AI or efficiency gains; anything that does not fit moves to Day 1.5</a:t>
            </a:r>
            <a:endParaRPr lang="en-US" sz="950" dirty="0"/>
          </a:p>
        </p:txBody>
      </p:sp>
      <p:sp>
        <p:nvSpPr>
          <p:cNvPr id="62" name="oval-58"/>
          <p:cNvSpPr/>
          <p:nvPr/>
        </p:nvSpPr>
        <p:spPr>
          <a:xfrm>
            <a:off x="768096" y="5449824"/>
            <a:ext cx="73152" cy="73152"/>
          </a:xfrm>
          <a:prstGeom prst="ellipse">
            <a:avLst/>
          </a:prstGeom>
          <a:solidFill>
            <a:srgbClr val="B45309"/>
          </a:solidFill>
          <a:ln w="12700">
            <a:solidFill>
              <a:srgbClr val="B45309"/>
            </a:solidFill>
            <a:prstDash val="solid"/>
          </a:ln>
        </p:spPr>
      </p:sp>
      <p:sp>
        <p:nvSpPr>
          <p:cNvPr id="63" name="text-59"/>
          <p:cNvSpPr txBox="1"/>
          <p:nvPr/>
        </p:nvSpPr>
        <p:spPr>
          <a:xfrm>
            <a:off x="932688" y="5376672"/>
            <a:ext cx="512064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No slippage on quality or risk</a:t>
            </a:r>
            <a:endParaRPr lang="en-US" sz="1100" dirty="0"/>
          </a:p>
        </p:txBody>
      </p:sp>
      <p:sp>
        <p:nvSpPr>
          <p:cNvPr id="64" name="text-60"/>
          <p:cNvSpPr txBox="1"/>
          <p:nvPr/>
        </p:nvSpPr>
        <p:spPr>
          <a:xfrm>
            <a:off x="932688" y="5596128"/>
            <a:ext cx="5120640" cy="329184"/>
          </a:xfrm>
          <a:prstGeom prst="rect">
            <a:avLst/>
          </a:prstGeom>
          <a:noFill/>
          <a:ln/>
        </p:spPr>
        <p:txBody>
          <a:bodyPr wrap="square" lIns="0" tIns="0" rIns="0" bIns="0" rtlCol="0" anchor="t"/>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Assurance gates stay in place however tight the date; the date flexes scope, never the gates</a:t>
            </a:r>
            <a:endParaRPr lang="en-US" sz="950" dirty="0"/>
          </a:p>
        </p:txBody>
      </p:sp>
      <p:sp>
        <p:nvSpPr>
          <p:cNvPr id="65" name="oval-61"/>
          <p:cNvSpPr/>
          <p:nvPr/>
        </p:nvSpPr>
        <p:spPr>
          <a:xfrm>
            <a:off x="6254496" y="5449824"/>
            <a:ext cx="73152" cy="73152"/>
          </a:xfrm>
          <a:prstGeom prst="ellipse">
            <a:avLst/>
          </a:prstGeom>
          <a:solidFill>
            <a:srgbClr val="B45309"/>
          </a:solidFill>
          <a:ln w="12700">
            <a:solidFill>
              <a:srgbClr val="B45309"/>
            </a:solidFill>
            <a:prstDash val="solid"/>
          </a:ln>
        </p:spPr>
      </p:sp>
      <p:sp>
        <p:nvSpPr>
          <p:cNvPr id="66" name="text-62"/>
          <p:cNvSpPr txBox="1"/>
          <p:nvPr/>
        </p:nvSpPr>
        <p:spPr>
          <a:xfrm>
            <a:off x="6419088" y="5376672"/>
            <a:ext cx="512064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Decide early, in writing</a:t>
            </a:r>
            <a:endParaRPr lang="en-US" sz="1100" dirty="0"/>
          </a:p>
        </p:txBody>
      </p:sp>
      <p:sp>
        <p:nvSpPr>
          <p:cNvPr id="67" name="text-63"/>
          <p:cNvSpPr txBox="1"/>
          <p:nvPr/>
        </p:nvSpPr>
        <p:spPr>
          <a:xfrm>
            <a:off x="6419088" y="5596128"/>
            <a:ext cx="5120640" cy="329184"/>
          </a:xfrm>
          <a:prstGeom prst="rect">
            <a:avLst/>
          </a:prstGeom>
          <a:noFill/>
          <a:ln/>
        </p:spPr>
        <p:txBody>
          <a:bodyPr wrap="square" lIns="0" tIns="0" rIns="0" bIns="0" rtlCol="0" anchor="t"/>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Gate 2 brings any scope-versus-date trade-off to the board in February, not April</a:t>
            </a:r>
            <a:endParaRPr lang="en-US" sz="950" dirty="0"/>
          </a:p>
        </p:txBody>
      </p:sp>
      <p:sp>
        <p:nvSpPr>
          <p:cNvPr id="68" name="text-64"/>
          <p:cNvSpPr txBox="1"/>
          <p:nvPr/>
        </p:nvSpPr>
        <p:spPr>
          <a:xfrm>
            <a:off x="548640" y="6309360"/>
            <a:ext cx="1106424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Dates assume a 1 November start.</a:t>
            </a:r>
            <a:endParaRPr lang="en-US" sz="85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3  ·  HOW GATE 2 ASSESSES EACH COMPONENT</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Four questions for every component: what it is decides how we spend time, money and concern</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shape-2"/>
          <p:cNvSpPr/>
          <p:nvPr/>
        </p:nvSpPr>
        <p:spPr>
          <a:xfrm>
            <a:off x="548640" y="1554480"/>
            <a:ext cx="2743200" cy="603504"/>
          </a:xfrm>
          <a:prstGeom prst="roundRect">
            <a:avLst>
              <a:gd name="adj" fmla="val 50000"/>
            </a:avLst>
          </a:prstGeom>
          <a:solidFill>
            <a:srgbClr val="134E4A"/>
          </a:solidFill>
          <a:ln w="12700">
            <a:solidFill>
              <a:srgbClr val="134E4A"/>
            </a:solidFill>
            <a:prstDash val="solid"/>
          </a:ln>
        </p:spPr>
      </p:sp>
      <p:sp>
        <p:nvSpPr>
          <p:cNvPr id="7" name="text-3"/>
          <p:cNvSpPr txBox="1"/>
          <p:nvPr/>
        </p:nvSpPr>
        <p:spPr>
          <a:xfrm>
            <a:off x="749808" y="1554480"/>
            <a:ext cx="274320" cy="603504"/>
          </a:xfrm>
          <a:prstGeom prst="rect">
            <a:avLst/>
          </a:prstGeom>
          <a:noFill/>
          <a:ln/>
        </p:spPr>
        <p:txBody>
          <a:bodyPr wrap="square" lIns="0" tIns="0" rIns="0" bIns="0" rtlCol="0" anchor="ctr"/>
          <a:lstStyle/>
          <a:p>
            <a:pPr algn="l" indent="0" marL="0">
              <a:lnSpc>
                <a:spcPct val="100000"/>
              </a:lnSpc>
              <a:buNone/>
            </a:pPr>
            <a:r>
              <a:rPr lang="en-US" sz="1350" b="1" dirty="0">
                <a:solidFill>
                  <a:srgbClr val="CFE8E5"/>
                </a:solidFill>
                <a:latin typeface="Calibri" pitchFamily="34" charset="0"/>
                <a:ea typeface="Calibri" pitchFamily="34" charset="-122"/>
                <a:cs typeface="Calibri" pitchFamily="34" charset="-120"/>
              </a:rPr>
              <a:t>1</a:t>
            </a:r>
            <a:endParaRPr lang="en-US" sz="1350" dirty="0"/>
          </a:p>
        </p:txBody>
      </p:sp>
      <p:sp>
        <p:nvSpPr>
          <p:cNvPr id="8" name="text-4"/>
          <p:cNvSpPr txBox="1"/>
          <p:nvPr/>
        </p:nvSpPr>
        <p:spPr>
          <a:xfrm>
            <a:off x="914400" y="1554480"/>
            <a:ext cx="2286000" cy="603504"/>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What kind of thing is it?</a:t>
            </a:r>
            <a:endParaRPr lang="en-US" sz="1150" dirty="0"/>
          </a:p>
        </p:txBody>
      </p:sp>
      <p:sp>
        <p:nvSpPr>
          <p:cNvPr id="9" name="tri-5"/>
          <p:cNvSpPr/>
          <p:nvPr/>
        </p:nvSpPr>
        <p:spPr>
          <a:xfrm rot="5400000">
            <a:off x="3337560" y="1792224"/>
            <a:ext cx="128016" cy="128016"/>
          </a:xfrm>
          <a:prstGeom prst="triangle">
            <a:avLst/>
          </a:prstGeom>
          <a:solidFill>
            <a:srgbClr val="5A6B75"/>
          </a:solidFill>
          <a:ln w="12700">
            <a:solidFill>
              <a:srgbClr val="5A6B75"/>
            </a:solidFill>
            <a:prstDash val="solid"/>
          </a:ln>
        </p:spPr>
      </p:sp>
      <p:sp>
        <p:nvSpPr>
          <p:cNvPr id="10" name="shape-6"/>
          <p:cNvSpPr/>
          <p:nvPr/>
        </p:nvSpPr>
        <p:spPr>
          <a:xfrm>
            <a:off x="3493008" y="1554480"/>
            <a:ext cx="1874520" cy="603504"/>
          </a:xfrm>
          <a:prstGeom prst="roundRect">
            <a:avLst>
              <a:gd name="adj" fmla="val 50000"/>
            </a:avLst>
          </a:prstGeom>
          <a:solidFill>
            <a:srgbClr val="134E4A"/>
          </a:solidFill>
          <a:ln w="12700">
            <a:solidFill>
              <a:srgbClr val="134E4A"/>
            </a:solidFill>
            <a:prstDash val="solid"/>
          </a:ln>
        </p:spPr>
      </p:sp>
      <p:sp>
        <p:nvSpPr>
          <p:cNvPr id="11" name="text-7"/>
          <p:cNvSpPr txBox="1"/>
          <p:nvPr/>
        </p:nvSpPr>
        <p:spPr>
          <a:xfrm>
            <a:off x="3694176" y="1554480"/>
            <a:ext cx="274320" cy="603504"/>
          </a:xfrm>
          <a:prstGeom prst="rect">
            <a:avLst/>
          </a:prstGeom>
          <a:noFill/>
          <a:ln/>
        </p:spPr>
        <p:txBody>
          <a:bodyPr wrap="square" lIns="0" tIns="0" rIns="0" bIns="0" rtlCol="0" anchor="ctr"/>
          <a:lstStyle/>
          <a:p>
            <a:pPr algn="l" indent="0" marL="0">
              <a:lnSpc>
                <a:spcPct val="100000"/>
              </a:lnSpc>
              <a:buNone/>
            </a:pPr>
            <a:r>
              <a:rPr lang="en-US" sz="1350" b="1" dirty="0">
                <a:solidFill>
                  <a:srgbClr val="CFE8E5"/>
                </a:solidFill>
                <a:latin typeface="Calibri" pitchFamily="34" charset="0"/>
                <a:ea typeface="Calibri" pitchFamily="34" charset="-122"/>
                <a:cs typeface="Calibri" pitchFamily="34" charset="-120"/>
              </a:rPr>
              <a:t>2</a:t>
            </a:r>
            <a:endParaRPr lang="en-US" sz="1350" dirty="0"/>
          </a:p>
        </p:txBody>
      </p:sp>
      <p:sp>
        <p:nvSpPr>
          <p:cNvPr id="12" name="text-8"/>
          <p:cNvSpPr txBox="1"/>
          <p:nvPr/>
        </p:nvSpPr>
        <p:spPr>
          <a:xfrm>
            <a:off x="3858768" y="1554480"/>
            <a:ext cx="1417320" cy="6035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Spending judged on?</a:t>
            </a:r>
            <a:endParaRPr lang="en-US" sz="1100" dirty="0"/>
          </a:p>
        </p:txBody>
      </p:sp>
      <p:sp>
        <p:nvSpPr>
          <p:cNvPr id="13" name="tri-9"/>
          <p:cNvSpPr/>
          <p:nvPr/>
        </p:nvSpPr>
        <p:spPr>
          <a:xfrm rot="5400000">
            <a:off x="5413248" y="1792224"/>
            <a:ext cx="128016" cy="128016"/>
          </a:xfrm>
          <a:prstGeom prst="triangle">
            <a:avLst/>
          </a:prstGeom>
          <a:solidFill>
            <a:srgbClr val="5A6B75"/>
          </a:solidFill>
          <a:ln w="12700">
            <a:solidFill>
              <a:srgbClr val="5A6B75"/>
            </a:solidFill>
            <a:prstDash val="solid"/>
          </a:ln>
        </p:spPr>
      </p:sp>
      <p:sp>
        <p:nvSpPr>
          <p:cNvPr id="14" name="shape-10"/>
          <p:cNvSpPr/>
          <p:nvPr/>
        </p:nvSpPr>
        <p:spPr>
          <a:xfrm>
            <a:off x="5568696" y="1554480"/>
            <a:ext cx="1874520" cy="603504"/>
          </a:xfrm>
          <a:prstGeom prst="roundRect">
            <a:avLst>
              <a:gd name="adj" fmla="val 50000"/>
            </a:avLst>
          </a:prstGeom>
          <a:solidFill>
            <a:srgbClr val="134E4A"/>
          </a:solidFill>
          <a:ln w="12700">
            <a:solidFill>
              <a:srgbClr val="134E4A"/>
            </a:solidFill>
            <a:prstDash val="solid"/>
          </a:ln>
        </p:spPr>
      </p:sp>
      <p:sp>
        <p:nvSpPr>
          <p:cNvPr id="15" name="text-11"/>
          <p:cNvSpPr txBox="1"/>
          <p:nvPr/>
        </p:nvSpPr>
        <p:spPr>
          <a:xfrm>
            <a:off x="5769864" y="1554480"/>
            <a:ext cx="274320" cy="603504"/>
          </a:xfrm>
          <a:prstGeom prst="rect">
            <a:avLst/>
          </a:prstGeom>
          <a:noFill/>
          <a:ln/>
        </p:spPr>
        <p:txBody>
          <a:bodyPr wrap="square" lIns="0" tIns="0" rIns="0" bIns="0" rtlCol="0" anchor="ctr"/>
          <a:lstStyle/>
          <a:p>
            <a:pPr algn="l" indent="0" marL="0">
              <a:lnSpc>
                <a:spcPct val="100000"/>
              </a:lnSpc>
              <a:buNone/>
            </a:pPr>
            <a:r>
              <a:rPr lang="en-US" sz="1350" b="1" dirty="0">
                <a:solidFill>
                  <a:srgbClr val="CFE8E5"/>
                </a:solidFill>
                <a:latin typeface="Calibri" pitchFamily="34" charset="0"/>
                <a:ea typeface="Calibri" pitchFamily="34" charset="-122"/>
                <a:cs typeface="Calibri" pitchFamily="34" charset="-120"/>
              </a:rPr>
              <a:t>3</a:t>
            </a:r>
            <a:endParaRPr lang="en-US" sz="1350" dirty="0"/>
          </a:p>
        </p:txBody>
      </p:sp>
      <p:sp>
        <p:nvSpPr>
          <p:cNvPr id="16" name="text-12"/>
          <p:cNvSpPr txBox="1"/>
          <p:nvPr/>
        </p:nvSpPr>
        <p:spPr>
          <a:xfrm>
            <a:off x="5934456" y="1554480"/>
            <a:ext cx="1417320" cy="6035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How resilient?</a:t>
            </a:r>
            <a:endParaRPr lang="en-US" sz="1100" dirty="0"/>
          </a:p>
        </p:txBody>
      </p:sp>
      <p:sp>
        <p:nvSpPr>
          <p:cNvPr id="17" name="tri-13"/>
          <p:cNvSpPr/>
          <p:nvPr/>
        </p:nvSpPr>
        <p:spPr>
          <a:xfrm rot="5400000">
            <a:off x="7488936" y="1792224"/>
            <a:ext cx="128016" cy="128016"/>
          </a:xfrm>
          <a:prstGeom prst="triangle">
            <a:avLst/>
          </a:prstGeom>
          <a:solidFill>
            <a:srgbClr val="5A6B75"/>
          </a:solidFill>
          <a:ln w="12700">
            <a:solidFill>
              <a:srgbClr val="5A6B75"/>
            </a:solidFill>
            <a:prstDash val="solid"/>
          </a:ln>
        </p:spPr>
      </p:sp>
      <p:sp>
        <p:nvSpPr>
          <p:cNvPr id="18" name="shape-14"/>
          <p:cNvSpPr/>
          <p:nvPr/>
        </p:nvSpPr>
        <p:spPr>
          <a:xfrm>
            <a:off x="7644384" y="1554480"/>
            <a:ext cx="2194560" cy="603504"/>
          </a:xfrm>
          <a:prstGeom prst="roundRect">
            <a:avLst>
              <a:gd name="adj" fmla="val 50000"/>
            </a:avLst>
          </a:prstGeom>
          <a:solidFill>
            <a:srgbClr val="134E4A"/>
          </a:solidFill>
          <a:ln w="12700">
            <a:solidFill>
              <a:srgbClr val="134E4A"/>
            </a:solidFill>
            <a:prstDash val="solid"/>
          </a:ln>
        </p:spPr>
      </p:sp>
      <p:sp>
        <p:nvSpPr>
          <p:cNvPr id="19" name="text-15"/>
          <p:cNvSpPr txBox="1"/>
          <p:nvPr/>
        </p:nvSpPr>
        <p:spPr>
          <a:xfrm>
            <a:off x="7845552" y="1554480"/>
            <a:ext cx="274320" cy="603504"/>
          </a:xfrm>
          <a:prstGeom prst="rect">
            <a:avLst/>
          </a:prstGeom>
          <a:noFill/>
          <a:ln/>
        </p:spPr>
        <p:txBody>
          <a:bodyPr wrap="square" lIns="0" tIns="0" rIns="0" bIns="0" rtlCol="0" anchor="ctr"/>
          <a:lstStyle/>
          <a:p>
            <a:pPr algn="l" indent="0" marL="0">
              <a:lnSpc>
                <a:spcPct val="100000"/>
              </a:lnSpc>
              <a:buNone/>
            </a:pPr>
            <a:r>
              <a:rPr lang="en-US" sz="1350" b="1" dirty="0">
                <a:solidFill>
                  <a:srgbClr val="CFE8E5"/>
                </a:solidFill>
                <a:latin typeface="Calibri" pitchFamily="34" charset="0"/>
                <a:ea typeface="Calibri" pitchFamily="34" charset="-122"/>
                <a:cs typeface="Calibri" pitchFamily="34" charset="-120"/>
              </a:rPr>
              <a:t>4</a:t>
            </a:r>
            <a:endParaRPr lang="en-US" sz="1350" dirty="0"/>
          </a:p>
        </p:txBody>
      </p:sp>
      <p:sp>
        <p:nvSpPr>
          <p:cNvPr id="20" name="text-16"/>
          <p:cNvSpPr txBox="1"/>
          <p:nvPr/>
        </p:nvSpPr>
        <p:spPr>
          <a:xfrm>
            <a:off x="8010144" y="1554480"/>
            <a:ext cx="1737360" cy="6035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Build or buy?</a:t>
            </a:r>
            <a:endParaRPr lang="en-US" sz="1100" dirty="0"/>
          </a:p>
        </p:txBody>
      </p:sp>
      <p:sp>
        <p:nvSpPr>
          <p:cNvPr id="21" name="shape-17"/>
          <p:cNvSpPr/>
          <p:nvPr/>
        </p:nvSpPr>
        <p:spPr>
          <a:xfrm>
            <a:off x="10076688" y="1554480"/>
            <a:ext cx="1737360" cy="603504"/>
          </a:xfrm>
          <a:prstGeom prst="roundRect">
            <a:avLst>
              <a:gd name="adj" fmla="val 50000"/>
            </a:avLst>
          </a:prstGeom>
          <a:ln w="19050">
            <a:solidFill>
              <a:srgbClr val="0F766E"/>
            </a:solidFill>
            <a:prstDash val="sysDash"/>
          </a:ln>
        </p:spPr>
      </p:sp>
      <p:sp>
        <p:nvSpPr>
          <p:cNvPr id="22" name="text-18"/>
          <p:cNvSpPr txBox="1"/>
          <p:nvPr/>
        </p:nvSpPr>
        <p:spPr>
          <a:xfrm>
            <a:off x="10076688" y="1664208"/>
            <a:ext cx="1737360" cy="146304"/>
          </a:xfrm>
          <a:prstGeom prst="rect">
            <a:avLst/>
          </a:prstGeom>
          <a:noFill/>
          <a:ln/>
        </p:spPr>
        <p:txBody>
          <a:bodyPr wrap="square" lIns="0" tIns="0" rIns="0" bIns="0" rtlCol="0" anchor="ctr"/>
          <a:lstStyle/>
          <a:p>
            <a:pPr algn="ctr"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BONUS, NOT A RULE</a:t>
            </a:r>
            <a:endParaRPr lang="en-US" sz="800" dirty="0"/>
          </a:p>
        </p:txBody>
      </p:sp>
      <p:sp>
        <p:nvSpPr>
          <p:cNvPr id="23" name="text-19"/>
          <p:cNvSpPr txBox="1"/>
          <p:nvPr/>
        </p:nvSpPr>
        <p:spPr>
          <a:xfrm>
            <a:off x="10076688" y="1847088"/>
            <a:ext cx="1737360" cy="219456"/>
          </a:xfrm>
          <a:prstGeom prst="rect">
            <a:avLst/>
          </a:prstGeom>
          <a:noFill/>
          <a:ln/>
        </p:spPr>
        <p:txBody>
          <a:bodyPr wrap="square" lIns="0" tIns="0" rIns="0" bIns="0" rtlCol="0" anchor="ctr"/>
          <a:lstStyle/>
          <a:p>
            <a:pPr algn="ctr" indent="0" marL="0">
              <a:lnSpc>
                <a:spcPct val="100000"/>
              </a:lnSpc>
              <a:buNone/>
            </a:pPr>
            <a:r>
              <a:rPr lang="en-US" sz="1100" b="1" dirty="0">
                <a:solidFill>
                  <a:srgbClr val="0F766E"/>
                </a:solidFill>
                <a:latin typeface="Calibri" pitchFamily="34" charset="0"/>
                <a:ea typeface="Calibri" pitchFamily="34" charset="-122"/>
                <a:cs typeface="Calibri" pitchFamily="34" charset="-120"/>
              </a:rPr>
              <a:t>Where AI helps</a:t>
            </a:r>
            <a:endParaRPr lang="en-US" sz="1100" dirty="0"/>
          </a:p>
        </p:txBody>
      </p:sp>
      <p:sp>
        <p:nvSpPr>
          <p:cNvPr id="24" name="shape-20"/>
          <p:cNvSpPr/>
          <p:nvPr/>
        </p:nvSpPr>
        <p:spPr>
          <a:xfrm>
            <a:off x="548640" y="2395728"/>
            <a:ext cx="2743200" cy="768096"/>
          </a:xfrm>
          <a:prstGeom prst="roundRect">
            <a:avLst>
              <a:gd name="adj" fmla="val 9524"/>
            </a:avLst>
          </a:prstGeom>
          <a:solidFill>
            <a:srgbClr val="EEF2F4"/>
          </a:solidFill>
          <a:ln w="12700">
            <a:solidFill>
              <a:srgbClr val="EEF2F4"/>
            </a:solidFill>
            <a:prstDash val="solid"/>
          </a:ln>
        </p:spPr>
      </p:sp>
      <p:sp>
        <p:nvSpPr>
          <p:cNvPr id="25" name="shape-21"/>
          <p:cNvSpPr/>
          <p:nvPr/>
        </p:nvSpPr>
        <p:spPr>
          <a:xfrm>
            <a:off x="548640" y="2395728"/>
            <a:ext cx="402336" cy="768096"/>
          </a:xfrm>
          <a:prstGeom prst="roundRect">
            <a:avLst>
              <a:gd name="adj" fmla="val 18182"/>
            </a:avLst>
          </a:prstGeom>
          <a:solidFill>
            <a:srgbClr val="134E4A"/>
          </a:solidFill>
          <a:ln w="12700">
            <a:solidFill>
              <a:srgbClr val="134E4A"/>
            </a:solidFill>
            <a:prstDash val="solid"/>
          </a:ln>
        </p:spPr>
      </p:sp>
      <p:sp>
        <p:nvSpPr>
          <p:cNvPr id="26" name="shape-22"/>
          <p:cNvSpPr/>
          <p:nvPr/>
        </p:nvSpPr>
        <p:spPr>
          <a:xfrm>
            <a:off x="877824" y="2395728"/>
            <a:ext cx="73152" cy="768096"/>
          </a:xfrm>
          <a:prstGeom prst="rect">
            <a:avLst/>
          </a:prstGeom>
          <a:solidFill>
            <a:srgbClr val="134E4A"/>
          </a:solidFill>
          <a:ln w="12700">
            <a:solidFill>
              <a:srgbClr val="134E4A"/>
            </a:solidFill>
            <a:prstDash val="solid"/>
          </a:ln>
        </p:spPr>
      </p:sp>
      <p:sp>
        <p:nvSpPr>
          <p:cNvPr id="27" name="text-23"/>
          <p:cNvSpPr txBox="1"/>
          <p:nvPr/>
        </p:nvSpPr>
        <p:spPr>
          <a:xfrm>
            <a:off x="548640" y="2395728"/>
            <a:ext cx="402336" cy="768096"/>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28" name="text-24"/>
          <p:cNvSpPr txBox="1"/>
          <p:nvPr/>
        </p:nvSpPr>
        <p:spPr>
          <a:xfrm>
            <a:off x="1042416" y="2395728"/>
            <a:ext cx="2157984" cy="768096"/>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AMH Online — web, desktop, mobile, and the APIs into third-party systems</a:t>
            </a:r>
            <a:endParaRPr lang="en-US" sz="950" dirty="0"/>
          </a:p>
        </p:txBody>
      </p:sp>
      <p:sp>
        <p:nvSpPr>
          <p:cNvPr id="29" name="shape-25"/>
          <p:cNvSpPr/>
          <p:nvPr/>
        </p:nvSpPr>
        <p:spPr>
          <a:xfrm>
            <a:off x="3493008" y="2395728"/>
            <a:ext cx="1874520" cy="768096"/>
          </a:xfrm>
          <a:prstGeom prst="roundRect">
            <a:avLst>
              <a:gd name="adj" fmla="val 9524"/>
            </a:avLst>
          </a:prstGeom>
          <a:solidFill>
            <a:srgbClr val="FFFFFF"/>
          </a:solidFill>
          <a:ln w="15875">
            <a:solidFill>
              <a:srgbClr val="D4DBE0"/>
            </a:solidFill>
            <a:prstDash val="solid"/>
          </a:ln>
        </p:spPr>
      </p:sp>
      <p:sp>
        <p:nvSpPr>
          <p:cNvPr id="30" name="text-26"/>
          <p:cNvSpPr txBox="1"/>
          <p:nvPr/>
        </p:nvSpPr>
        <p:spPr>
          <a:xfrm>
            <a:off x="3566160" y="2395728"/>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Commercials, opportunity, strategy</a:t>
            </a:r>
            <a:endParaRPr lang="en-US" sz="950" dirty="0"/>
          </a:p>
        </p:txBody>
      </p:sp>
      <p:sp>
        <p:nvSpPr>
          <p:cNvPr id="31" name="shape-27"/>
          <p:cNvSpPr/>
          <p:nvPr/>
        </p:nvSpPr>
        <p:spPr>
          <a:xfrm>
            <a:off x="5568696" y="2395728"/>
            <a:ext cx="1874520" cy="768096"/>
          </a:xfrm>
          <a:prstGeom prst="roundRect">
            <a:avLst>
              <a:gd name="adj" fmla="val 9524"/>
            </a:avLst>
          </a:prstGeom>
          <a:solidFill>
            <a:srgbClr val="FFFFFF"/>
          </a:solidFill>
          <a:ln w="15875">
            <a:solidFill>
              <a:srgbClr val="D4DBE0"/>
            </a:solidFill>
            <a:prstDash val="solid"/>
          </a:ln>
        </p:spPr>
      </p:sp>
      <p:sp>
        <p:nvSpPr>
          <p:cNvPr id="32" name="text-28"/>
          <p:cNvSpPr txBox="1"/>
          <p:nvPr/>
        </p:nvSpPr>
        <p:spPr>
          <a:xfrm>
            <a:off x="5641848" y="2395728"/>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34E4A"/>
                </a:solidFill>
                <a:latin typeface="Calibri" pitchFamily="34" charset="0"/>
                <a:ea typeface="Calibri" pitchFamily="34" charset="-122"/>
                <a:cs typeface="Calibri" pitchFamily="34" charset="-120"/>
              </a:rPr>
              <a:t>Bullet-proof: life-critical content</a:t>
            </a:r>
            <a:endParaRPr lang="en-US" sz="950" dirty="0"/>
          </a:p>
        </p:txBody>
      </p:sp>
      <p:sp>
        <p:nvSpPr>
          <p:cNvPr id="33" name="shape-29"/>
          <p:cNvSpPr/>
          <p:nvPr/>
        </p:nvSpPr>
        <p:spPr>
          <a:xfrm>
            <a:off x="7644384" y="2395728"/>
            <a:ext cx="2194560" cy="768096"/>
          </a:xfrm>
          <a:prstGeom prst="roundRect">
            <a:avLst>
              <a:gd name="adj" fmla="val 9524"/>
            </a:avLst>
          </a:prstGeom>
          <a:solidFill>
            <a:srgbClr val="D6ECE9"/>
          </a:solidFill>
          <a:ln w="15875">
            <a:solidFill>
              <a:srgbClr val="D6ECE9"/>
            </a:solidFill>
            <a:prstDash val="solid"/>
          </a:ln>
        </p:spPr>
      </p:sp>
      <p:sp>
        <p:nvSpPr>
          <p:cNvPr id="34" name="text-30"/>
          <p:cNvSpPr txBox="1"/>
          <p:nvPr/>
        </p:nvSpPr>
        <p:spPr>
          <a:xfrm>
            <a:off x="7717536" y="2395728"/>
            <a:ext cx="204825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34E4A"/>
                </a:solidFill>
                <a:latin typeface="Calibri" pitchFamily="34" charset="0"/>
                <a:ea typeface="Calibri" pitchFamily="34" charset="-122"/>
                <a:cs typeface="Calibri" pitchFamily="34" charset="-120"/>
              </a:rPr>
              <a:t>Build: strong appetite to wrap our own technical solutions</a:t>
            </a:r>
            <a:endParaRPr lang="en-US" sz="950" dirty="0"/>
          </a:p>
        </p:txBody>
      </p:sp>
      <p:sp>
        <p:nvSpPr>
          <p:cNvPr id="35" name="tri-31"/>
          <p:cNvSpPr/>
          <p:nvPr/>
        </p:nvSpPr>
        <p:spPr>
          <a:xfrm rot="5400000">
            <a:off x="3337560" y="2724912"/>
            <a:ext cx="109728" cy="109728"/>
          </a:xfrm>
          <a:prstGeom prst="triangle">
            <a:avLst/>
          </a:prstGeom>
          <a:solidFill>
            <a:srgbClr val="D4DBE0"/>
          </a:solidFill>
          <a:ln w="12700">
            <a:solidFill>
              <a:srgbClr val="D4DBE0"/>
            </a:solidFill>
            <a:prstDash val="solid"/>
          </a:ln>
        </p:spPr>
      </p:sp>
      <p:sp>
        <p:nvSpPr>
          <p:cNvPr id="36" name="tri-32"/>
          <p:cNvSpPr/>
          <p:nvPr/>
        </p:nvSpPr>
        <p:spPr>
          <a:xfrm rot="5400000">
            <a:off x="5413248" y="2724912"/>
            <a:ext cx="109728" cy="109728"/>
          </a:xfrm>
          <a:prstGeom prst="triangle">
            <a:avLst/>
          </a:prstGeom>
          <a:solidFill>
            <a:srgbClr val="D4DBE0"/>
          </a:solidFill>
          <a:ln w="12700">
            <a:solidFill>
              <a:srgbClr val="D4DBE0"/>
            </a:solidFill>
            <a:prstDash val="solid"/>
          </a:ln>
        </p:spPr>
      </p:sp>
      <p:sp>
        <p:nvSpPr>
          <p:cNvPr id="37" name="tri-33"/>
          <p:cNvSpPr/>
          <p:nvPr/>
        </p:nvSpPr>
        <p:spPr>
          <a:xfrm rot="5400000">
            <a:off x="7488936" y="2724912"/>
            <a:ext cx="109728" cy="109728"/>
          </a:xfrm>
          <a:prstGeom prst="triangle">
            <a:avLst/>
          </a:prstGeom>
          <a:solidFill>
            <a:srgbClr val="D4DBE0"/>
          </a:solidFill>
          <a:ln w="12700">
            <a:solidFill>
              <a:srgbClr val="D4DBE0"/>
            </a:solidFill>
            <a:prstDash val="solid"/>
          </a:ln>
        </p:spPr>
      </p:sp>
      <p:sp>
        <p:nvSpPr>
          <p:cNvPr id="38" name="shape-34"/>
          <p:cNvSpPr/>
          <p:nvPr/>
        </p:nvSpPr>
        <p:spPr>
          <a:xfrm>
            <a:off x="10076688" y="2395728"/>
            <a:ext cx="1737360" cy="768096"/>
          </a:xfrm>
          <a:prstGeom prst="roundRect">
            <a:avLst>
              <a:gd name="adj" fmla="val 9524"/>
            </a:avLst>
          </a:prstGeom>
          <a:solidFill>
            <a:srgbClr val="D6ECE9"/>
          </a:solidFill>
          <a:ln w="15875">
            <a:solidFill>
              <a:srgbClr val="0F766E"/>
            </a:solidFill>
            <a:prstDash val="sysDash"/>
          </a:ln>
        </p:spPr>
      </p:sp>
      <p:sp>
        <p:nvSpPr>
          <p:cNvPr id="39" name="oval-35"/>
          <p:cNvSpPr/>
          <p:nvPr/>
        </p:nvSpPr>
        <p:spPr>
          <a:xfrm>
            <a:off x="10149840" y="2688336"/>
            <a:ext cx="182880" cy="182880"/>
          </a:xfrm>
          <a:prstGeom prst="ellipse">
            <a:avLst/>
          </a:prstGeom>
          <a:solidFill>
            <a:srgbClr val="0F766E"/>
          </a:solidFill>
          <a:ln w="12700">
            <a:solidFill>
              <a:srgbClr val="0F766E"/>
            </a:solidFill>
            <a:prstDash val="solid"/>
          </a:ln>
        </p:spPr>
      </p:sp>
      <p:sp>
        <p:nvSpPr>
          <p:cNvPr id="40" name="text-36"/>
          <p:cNvSpPr txBox="1"/>
          <p:nvPr/>
        </p:nvSpPr>
        <p:spPr>
          <a:xfrm>
            <a:off x="10149840" y="2688336"/>
            <a:ext cx="1828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41" name="text-37"/>
          <p:cNvSpPr txBox="1"/>
          <p:nvPr/>
        </p:nvSpPr>
        <p:spPr>
          <a:xfrm>
            <a:off x="10405872" y="2395728"/>
            <a:ext cx="1335024" cy="768096"/>
          </a:xfrm>
          <a:prstGeom prst="rect">
            <a:avLst/>
          </a:prstGeom>
          <a:noFill/>
          <a:ln/>
        </p:spPr>
        <p:txBody>
          <a:bodyPr wrap="square" lIns="0" tIns="0" rIns="0" bIns="0" rtlCol="0" anchor="ctr"/>
          <a:lstStyle/>
          <a:p>
            <a:pPr algn="l" indent="0" marL="0">
              <a:lnSpc>
                <a:spcPct val="100000"/>
              </a:lnSpc>
              <a:buNone/>
            </a:pPr>
            <a:r>
              <a:rPr lang="en-US" sz="900" dirty="0">
                <a:solidFill>
                  <a:srgbClr val="134E4A"/>
                </a:solidFill>
                <a:latin typeface="Calibri" pitchFamily="34" charset="0"/>
                <a:ea typeface="Calibri" pitchFamily="34" charset="-122"/>
                <a:cs typeface="Calibri" pitchFamily="34" charset="-120"/>
              </a:rPr>
              <a:t>Accelerate and de-risk product work</a:t>
            </a:r>
            <a:endParaRPr lang="en-US" sz="900" dirty="0"/>
          </a:p>
        </p:txBody>
      </p:sp>
      <p:sp>
        <p:nvSpPr>
          <p:cNvPr id="42" name="shape-38"/>
          <p:cNvSpPr/>
          <p:nvPr/>
        </p:nvSpPr>
        <p:spPr>
          <a:xfrm>
            <a:off x="548640" y="3255264"/>
            <a:ext cx="2743200" cy="768096"/>
          </a:xfrm>
          <a:prstGeom prst="roundRect">
            <a:avLst>
              <a:gd name="adj" fmla="val 9524"/>
            </a:avLst>
          </a:prstGeom>
          <a:solidFill>
            <a:srgbClr val="EEF2F4"/>
          </a:solidFill>
          <a:ln w="12700">
            <a:solidFill>
              <a:srgbClr val="EEF2F4"/>
            </a:solidFill>
            <a:prstDash val="solid"/>
          </a:ln>
        </p:spPr>
      </p:sp>
      <p:sp>
        <p:nvSpPr>
          <p:cNvPr id="43" name="shape-39"/>
          <p:cNvSpPr/>
          <p:nvPr/>
        </p:nvSpPr>
        <p:spPr>
          <a:xfrm>
            <a:off x="548640" y="3255264"/>
            <a:ext cx="402336" cy="768096"/>
          </a:xfrm>
          <a:prstGeom prst="roundRect">
            <a:avLst>
              <a:gd name="adj" fmla="val 18182"/>
            </a:avLst>
          </a:prstGeom>
          <a:solidFill>
            <a:srgbClr val="0F766E"/>
          </a:solidFill>
          <a:ln w="12700">
            <a:solidFill>
              <a:srgbClr val="0F766E"/>
            </a:solidFill>
            <a:prstDash val="solid"/>
          </a:ln>
        </p:spPr>
      </p:sp>
      <p:sp>
        <p:nvSpPr>
          <p:cNvPr id="44" name="shape-40"/>
          <p:cNvSpPr/>
          <p:nvPr/>
        </p:nvSpPr>
        <p:spPr>
          <a:xfrm>
            <a:off x="877824" y="3255264"/>
            <a:ext cx="73152" cy="768096"/>
          </a:xfrm>
          <a:prstGeom prst="rect">
            <a:avLst/>
          </a:prstGeom>
          <a:solidFill>
            <a:srgbClr val="0F766E"/>
          </a:solidFill>
          <a:ln w="12700">
            <a:solidFill>
              <a:srgbClr val="0F766E"/>
            </a:solidFill>
            <a:prstDash val="solid"/>
          </a:ln>
        </p:spPr>
      </p:sp>
      <p:sp>
        <p:nvSpPr>
          <p:cNvPr id="45" name="text-41"/>
          <p:cNvSpPr txBox="1"/>
          <p:nvPr/>
        </p:nvSpPr>
        <p:spPr>
          <a:xfrm>
            <a:off x="548640" y="3255264"/>
            <a:ext cx="402336" cy="768096"/>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46" name="text-42"/>
          <p:cNvSpPr txBox="1"/>
          <p:nvPr/>
        </p:nvSpPr>
        <p:spPr>
          <a:xfrm>
            <a:off x="1042416" y="3255264"/>
            <a:ext cx="2157984" cy="768096"/>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Quark Content and PriXM — authoring and publishing</a:t>
            </a:r>
            <a:endParaRPr lang="en-US" sz="950" dirty="0"/>
          </a:p>
        </p:txBody>
      </p:sp>
      <p:sp>
        <p:nvSpPr>
          <p:cNvPr id="47" name="shape-43"/>
          <p:cNvSpPr/>
          <p:nvPr/>
        </p:nvSpPr>
        <p:spPr>
          <a:xfrm>
            <a:off x="3493008" y="3255264"/>
            <a:ext cx="1874520" cy="768096"/>
          </a:xfrm>
          <a:prstGeom prst="roundRect">
            <a:avLst>
              <a:gd name="adj" fmla="val 9524"/>
            </a:avLst>
          </a:prstGeom>
          <a:solidFill>
            <a:srgbClr val="FFFFFF"/>
          </a:solidFill>
          <a:ln w="15875">
            <a:solidFill>
              <a:srgbClr val="D4DBE0"/>
            </a:solidFill>
            <a:prstDash val="solid"/>
          </a:ln>
        </p:spPr>
      </p:sp>
      <p:sp>
        <p:nvSpPr>
          <p:cNvPr id="48" name="text-44"/>
          <p:cNvSpPr txBox="1"/>
          <p:nvPr/>
        </p:nvSpPr>
        <p:spPr>
          <a:xfrm>
            <a:off x="3566160" y="3255264"/>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Fit for authors, portability, cost</a:t>
            </a:r>
            <a:endParaRPr lang="en-US" sz="950" dirty="0"/>
          </a:p>
        </p:txBody>
      </p:sp>
      <p:sp>
        <p:nvSpPr>
          <p:cNvPr id="49" name="shape-45"/>
          <p:cNvSpPr/>
          <p:nvPr/>
        </p:nvSpPr>
        <p:spPr>
          <a:xfrm>
            <a:off x="5568696" y="3255264"/>
            <a:ext cx="1874520" cy="768096"/>
          </a:xfrm>
          <a:prstGeom prst="roundRect">
            <a:avLst>
              <a:gd name="adj" fmla="val 9524"/>
            </a:avLst>
          </a:prstGeom>
          <a:solidFill>
            <a:srgbClr val="FFFFFF"/>
          </a:solidFill>
          <a:ln w="15875">
            <a:solidFill>
              <a:srgbClr val="D4DBE0"/>
            </a:solidFill>
            <a:prstDash val="solid"/>
          </a:ln>
        </p:spPr>
      </p:sp>
      <p:sp>
        <p:nvSpPr>
          <p:cNvPr id="50" name="text-46"/>
          <p:cNvSpPr txBox="1"/>
          <p:nvPr/>
        </p:nvSpPr>
        <p:spPr>
          <a:xfrm>
            <a:off x="5641848" y="3255264"/>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Business hours; never the only copy</a:t>
            </a:r>
            <a:endParaRPr lang="en-US" sz="950" dirty="0"/>
          </a:p>
        </p:txBody>
      </p:sp>
      <p:sp>
        <p:nvSpPr>
          <p:cNvPr id="51" name="shape-47"/>
          <p:cNvSpPr/>
          <p:nvPr/>
        </p:nvSpPr>
        <p:spPr>
          <a:xfrm>
            <a:off x="7644384" y="3255264"/>
            <a:ext cx="2194560" cy="768096"/>
          </a:xfrm>
          <a:prstGeom prst="roundRect">
            <a:avLst>
              <a:gd name="adj" fmla="val 9524"/>
            </a:avLst>
          </a:prstGeom>
          <a:solidFill>
            <a:srgbClr val="FFFFFF"/>
          </a:solidFill>
          <a:ln w="15875">
            <a:solidFill>
              <a:srgbClr val="D4DBE0"/>
            </a:solidFill>
            <a:prstDash val="solid"/>
          </a:ln>
        </p:spPr>
      </p:sp>
      <p:sp>
        <p:nvSpPr>
          <p:cNvPr id="52" name="text-48"/>
          <p:cNvSpPr txBox="1"/>
          <p:nvPr/>
        </p:nvSpPr>
        <p:spPr>
          <a:xfrm>
            <a:off x="7717536" y="3255264"/>
            <a:ext cx="204825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Buy and configure: plugins, paid features, small code where it pays</a:t>
            </a:r>
            <a:endParaRPr lang="en-US" sz="950" dirty="0"/>
          </a:p>
        </p:txBody>
      </p:sp>
      <p:sp>
        <p:nvSpPr>
          <p:cNvPr id="53" name="tri-49"/>
          <p:cNvSpPr/>
          <p:nvPr/>
        </p:nvSpPr>
        <p:spPr>
          <a:xfrm rot="5400000">
            <a:off x="3337560" y="3584448"/>
            <a:ext cx="109728" cy="109728"/>
          </a:xfrm>
          <a:prstGeom prst="triangle">
            <a:avLst/>
          </a:prstGeom>
          <a:solidFill>
            <a:srgbClr val="D4DBE0"/>
          </a:solidFill>
          <a:ln w="12700">
            <a:solidFill>
              <a:srgbClr val="D4DBE0"/>
            </a:solidFill>
            <a:prstDash val="solid"/>
          </a:ln>
        </p:spPr>
      </p:sp>
      <p:sp>
        <p:nvSpPr>
          <p:cNvPr id="54" name="tri-50"/>
          <p:cNvSpPr/>
          <p:nvPr/>
        </p:nvSpPr>
        <p:spPr>
          <a:xfrm rot="5400000">
            <a:off x="5413248" y="3584448"/>
            <a:ext cx="109728" cy="109728"/>
          </a:xfrm>
          <a:prstGeom prst="triangle">
            <a:avLst/>
          </a:prstGeom>
          <a:solidFill>
            <a:srgbClr val="D4DBE0"/>
          </a:solidFill>
          <a:ln w="12700">
            <a:solidFill>
              <a:srgbClr val="D4DBE0"/>
            </a:solidFill>
            <a:prstDash val="solid"/>
          </a:ln>
        </p:spPr>
      </p:sp>
      <p:sp>
        <p:nvSpPr>
          <p:cNvPr id="55" name="tri-51"/>
          <p:cNvSpPr/>
          <p:nvPr/>
        </p:nvSpPr>
        <p:spPr>
          <a:xfrm rot="5400000">
            <a:off x="7488936" y="3584448"/>
            <a:ext cx="109728" cy="109728"/>
          </a:xfrm>
          <a:prstGeom prst="triangle">
            <a:avLst/>
          </a:prstGeom>
          <a:solidFill>
            <a:srgbClr val="D4DBE0"/>
          </a:solidFill>
          <a:ln w="12700">
            <a:solidFill>
              <a:srgbClr val="D4DBE0"/>
            </a:solidFill>
            <a:prstDash val="solid"/>
          </a:ln>
        </p:spPr>
      </p:sp>
      <p:sp>
        <p:nvSpPr>
          <p:cNvPr id="56" name="shape-52"/>
          <p:cNvSpPr/>
          <p:nvPr/>
        </p:nvSpPr>
        <p:spPr>
          <a:xfrm>
            <a:off x="10076688" y="3255264"/>
            <a:ext cx="1737360" cy="768096"/>
          </a:xfrm>
          <a:prstGeom prst="roundRect">
            <a:avLst>
              <a:gd name="adj" fmla="val 9524"/>
            </a:avLst>
          </a:prstGeom>
          <a:solidFill>
            <a:srgbClr val="D6ECE9"/>
          </a:solidFill>
          <a:ln w="15875">
            <a:solidFill>
              <a:srgbClr val="0F766E"/>
            </a:solidFill>
            <a:prstDash val="sysDash"/>
          </a:ln>
        </p:spPr>
      </p:sp>
      <p:sp>
        <p:nvSpPr>
          <p:cNvPr id="57" name="oval-53"/>
          <p:cNvSpPr/>
          <p:nvPr/>
        </p:nvSpPr>
        <p:spPr>
          <a:xfrm>
            <a:off x="10149840" y="3547872"/>
            <a:ext cx="182880" cy="182880"/>
          </a:xfrm>
          <a:prstGeom prst="ellipse">
            <a:avLst/>
          </a:prstGeom>
          <a:solidFill>
            <a:srgbClr val="0F766E"/>
          </a:solidFill>
          <a:ln w="12700">
            <a:solidFill>
              <a:srgbClr val="0F766E"/>
            </a:solidFill>
            <a:prstDash val="solid"/>
          </a:ln>
        </p:spPr>
      </p:sp>
      <p:sp>
        <p:nvSpPr>
          <p:cNvPr id="58" name="text-54"/>
          <p:cNvSpPr txBox="1"/>
          <p:nvPr/>
        </p:nvSpPr>
        <p:spPr>
          <a:xfrm>
            <a:off x="10149840" y="3547872"/>
            <a:ext cx="1828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59" name="text-55"/>
          <p:cNvSpPr txBox="1"/>
          <p:nvPr/>
        </p:nvSpPr>
        <p:spPr>
          <a:xfrm>
            <a:off x="10405872" y="3255264"/>
            <a:ext cx="1335024" cy="768096"/>
          </a:xfrm>
          <a:prstGeom prst="rect">
            <a:avLst/>
          </a:prstGeom>
          <a:noFill/>
          <a:ln/>
        </p:spPr>
        <p:txBody>
          <a:bodyPr wrap="square" lIns="0" tIns="0" rIns="0" bIns="0" rtlCol="0" anchor="ctr"/>
          <a:lstStyle/>
          <a:p>
            <a:pPr algn="l" indent="0" marL="0">
              <a:lnSpc>
                <a:spcPct val="100000"/>
              </a:lnSpc>
              <a:buNone/>
            </a:pPr>
            <a:r>
              <a:rPr lang="en-US" sz="900" dirty="0">
                <a:solidFill>
                  <a:srgbClr val="134E4A"/>
                </a:solidFill>
                <a:latin typeface="Calibri" pitchFamily="34" charset="0"/>
                <a:ea typeface="Calibri" pitchFamily="34" charset="-122"/>
                <a:cs typeface="Calibri" pitchFamily="34" charset="-120"/>
              </a:rPr>
              <a:t>Author assistance; human sign-off</a:t>
            </a:r>
            <a:endParaRPr lang="en-US" sz="900" dirty="0"/>
          </a:p>
        </p:txBody>
      </p:sp>
      <p:sp>
        <p:nvSpPr>
          <p:cNvPr id="60" name="shape-56"/>
          <p:cNvSpPr/>
          <p:nvPr/>
        </p:nvSpPr>
        <p:spPr>
          <a:xfrm>
            <a:off x="548640" y="4114800"/>
            <a:ext cx="2743200" cy="768096"/>
          </a:xfrm>
          <a:prstGeom prst="roundRect">
            <a:avLst>
              <a:gd name="adj" fmla="val 9524"/>
            </a:avLst>
          </a:prstGeom>
          <a:solidFill>
            <a:srgbClr val="EEF2F4"/>
          </a:solidFill>
          <a:ln w="12700">
            <a:solidFill>
              <a:srgbClr val="EEF2F4"/>
            </a:solidFill>
            <a:prstDash val="solid"/>
          </a:ln>
        </p:spPr>
      </p:sp>
      <p:sp>
        <p:nvSpPr>
          <p:cNvPr id="61" name="shape-57"/>
          <p:cNvSpPr/>
          <p:nvPr/>
        </p:nvSpPr>
        <p:spPr>
          <a:xfrm>
            <a:off x="548640" y="4114800"/>
            <a:ext cx="402336" cy="768096"/>
          </a:xfrm>
          <a:prstGeom prst="roundRect">
            <a:avLst>
              <a:gd name="adj" fmla="val 18182"/>
            </a:avLst>
          </a:prstGeom>
          <a:solidFill>
            <a:srgbClr val="8A99A3"/>
          </a:solidFill>
          <a:ln w="12700">
            <a:solidFill>
              <a:srgbClr val="8A99A3"/>
            </a:solidFill>
            <a:prstDash val="solid"/>
          </a:ln>
        </p:spPr>
      </p:sp>
      <p:sp>
        <p:nvSpPr>
          <p:cNvPr id="62" name="shape-58"/>
          <p:cNvSpPr/>
          <p:nvPr/>
        </p:nvSpPr>
        <p:spPr>
          <a:xfrm>
            <a:off x="877824" y="4114800"/>
            <a:ext cx="73152" cy="768096"/>
          </a:xfrm>
          <a:prstGeom prst="rect">
            <a:avLst/>
          </a:prstGeom>
          <a:solidFill>
            <a:srgbClr val="8A99A3"/>
          </a:solidFill>
          <a:ln w="12700">
            <a:solidFill>
              <a:srgbClr val="8A99A3"/>
            </a:solidFill>
            <a:prstDash val="solid"/>
          </a:ln>
        </p:spPr>
      </p:sp>
      <p:sp>
        <p:nvSpPr>
          <p:cNvPr id="63" name="text-59"/>
          <p:cNvSpPr txBox="1"/>
          <p:nvPr/>
        </p:nvSpPr>
        <p:spPr>
          <a:xfrm>
            <a:off x="548640" y="4114800"/>
            <a:ext cx="402336" cy="768096"/>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64" name="text-60"/>
          <p:cNvSpPr txBox="1"/>
          <p:nvPr/>
        </p:nvSpPr>
        <p:spPr>
          <a:xfrm>
            <a:off x="1042416" y="4114800"/>
            <a:ext cx="2157984" cy="768096"/>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D365 / Dataverse, WooCommerce shop, D365 internal shop, Wiise, Power BI</a:t>
            </a:r>
            <a:endParaRPr lang="en-US" sz="950" dirty="0"/>
          </a:p>
        </p:txBody>
      </p:sp>
      <p:sp>
        <p:nvSpPr>
          <p:cNvPr id="65" name="shape-61"/>
          <p:cNvSpPr/>
          <p:nvPr/>
        </p:nvSpPr>
        <p:spPr>
          <a:xfrm>
            <a:off x="3493008" y="4114800"/>
            <a:ext cx="1874520" cy="768096"/>
          </a:xfrm>
          <a:prstGeom prst="roundRect">
            <a:avLst>
              <a:gd name="adj" fmla="val 9524"/>
            </a:avLst>
          </a:prstGeom>
          <a:solidFill>
            <a:srgbClr val="FFFFFF"/>
          </a:solidFill>
          <a:ln w="15875">
            <a:solidFill>
              <a:srgbClr val="D4DBE0"/>
            </a:solidFill>
            <a:prstDash val="solid"/>
          </a:ln>
        </p:spPr>
      </p:sp>
      <p:sp>
        <p:nvSpPr>
          <p:cNvPr id="66" name="text-62"/>
          <p:cNvSpPr txBox="1"/>
          <p:nvPr/>
        </p:nvSpPr>
        <p:spPr>
          <a:xfrm>
            <a:off x="3566160" y="4114800"/>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Cost and effort vs efficiency gained</a:t>
            </a:r>
            <a:endParaRPr lang="en-US" sz="950" dirty="0"/>
          </a:p>
        </p:txBody>
      </p:sp>
      <p:sp>
        <p:nvSpPr>
          <p:cNvPr id="67" name="shape-63"/>
          <p:cNvSpPr/>
          <p:nvPr/>
        </p:nvSpPr>
        <p:spPr>
          <a:xfrm>
            <a:off x="5568696" y="4114800"/>
            <a:ext cx="1874520" cy="768096"/>
          </a:xfrm>
          <a:prstGeom prst="roundRect">
            <a:avLst>
              <a:gd name="adj" fmla="val 9524"/>
            </a:avLst>
          </a:prstGeom>
          <a:solidFill>
            <a:srgbClr val="FFFFFF"/>
          </a:solidFill>
          <a:ln w="15875">
            <a:solidFill>
              <a:srgbClr val="D4DBE0"/>
            </a:solidFill>
            <a:prstDash val="solid"/>
          </a:ln>
        </p:spPr>
      </p:sp>
      <p:sp>
        <p:nvSpPr>
          <p:cNvPr id="68" name="text-64"/>
          <p:cNvSpPr txBox="1"/>
          <p:nvPr/>
        </p:nvSpPr>
        <p:spPr>
          <a:xfrm>
            <a:off x="5641848" y="4114800"/>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Standard; no shared fate with A</a:t>
            </a:r>
            <a:endParaRPr lang="en-US" sz="950" dirty="0"/>
          </a:p>
        </p:txBody>
      </p:sp>
      <p:sp>
        <p:nvSpPr>
          <p:cNvPr id="69" name="shape-65"/>
          <p:cNvSpPr/>
          <p:nvPr/>
        </p:nvSpPr>
        <p:spPr>
          <a:xfrm>
            <a:off x="7644384" y="4114800"/>
            <a:ext cx="2194560" cy="768096"/>
          </a:xfrm>
          <a:prstGeom prst="roundRect">
            <a:avLst>
              <a:gd name="adj" fmla="val 9524"/>
            </a:avLst>
          </a:prstGeom>
          <a:solidFill>
            <a:srgbClr val="FFFFFF"/>
          </a:solidFill>
          <a:ln w="15875">
            <a:solidFill>
              <a:srgbClr val="D4DBE0"/>
            </a:solidFill>
            <a:prstDash val="solid"/>
          </a:ln>
        </p:spPr>
      </p:sp>
      <p:sp>
        <p:nvSpPr>
          <p:cNvPr id="70" name="text-66"/>
          <p:cNvSpPr txBox="1"/>
          <p:nvPr/>
        </p:nvSpPr>
        <p:spPr>
          <a:xfrm>
            <a:off x="7717536" y="4114800"/>
            <a:ext cx="204825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Buy: standard set-up; deviate by exception only</a:t>
            </a:r>
            <a:endParaRPr lang="en-US" sz="950" dirty="0"/>
          </a:p>
        </p:txBody>
      </p:sp>
      <p:sp>
        <p:nvSpPr>
          <p:cNvPr id="71" name="tri-67"/>
          <p:cNvSpPr/>
          <p:nvPr/>
        </p:nvSpPr>
        <p:spPr>
          <a:xfrm rot="5400000">
            <a:off x="3337560" y="4443984"/>
            <a:ext cx="109728" cy="109728"/>
          </a:xfrm>
          <a:prstGeom prst="triangle">
            <a:avLst/>
          </a:prstGeom>
          <a:solidFill>
            <a:srgbClr val="D4DBE0"/>
          </a:solidFill>
          <a:ln w="12700">
            <a:solidFill>
              <a:srgbClr val="D4DBE0"/>
            </a:solidFill>
            <a:prstDash val="solid"/>
          </a:ln>
        </p:spPr>
      </p:sp>
      <p:sp>
        <p:nvSpPr>
          <p:cNvPr id="72" name="tri-68"/>
          <p:cNvSpPr/>
          <p:nvPr/>
        </p:nvSpPr>
        <p:spPr>
          <a:xfrm rot="5400000">
            <a:off x="5413248" y="4443984"/>
            <a:ext cx="109728" cy="109728"/>
          </a:xfrm>
          <a:prstGeom prst="triangle">
            <a:avLst/>
          </a:prstGeom>
          <a:solidFill>
            <a:srgbClr val="D4DBE0"/>
          </a:solidFill>
          <a:ln w="12700">
            <a:solidFill>
              <a:srgbClr val="D4DBE0"/>
            </a:solidFill>
            <a:prstDash val="solid"/>
          </a:ln>
        </p:spPr>
      </p:sp>
      <p:sp>
        <p:nvSpPr>
          <p:cNvPr id="73" name="tri-69"/>
          <p:cNvSpPr/>
          <p:nvPr/>
        </p:nvSpPr>
        <p:spPr>
          <a:xfrm rot="5400000">
            <a:off x="7488936" y="4443984"/>
            <a:ext cx="109728" cy="109728"/>
          </a:xfrm>
          <a:prstGeom prst="triangle">
            <a:avLst/>
          </a:prstGeom>
          <a:solidFill>
            <a:srgbClr val="D4DBE0"/>
          </a:solidFill>
          <a:ln w="12700">
            <a:solidFill>
              <a:srgbClr val="D4DBE0"/>
            </a:solidFill>
            <a:prstDash val="solid"/>
          </a:ln>
        </p:spPr>
      </p:sp>
      <p:sp>
        <p:nvSpPr>
          <p:cNvPr id="74" name="shape-70"/>
          <p:cNvSpPr/>
          <p:nvPr/>
        </p:nvSpPr>
        <p:spPr>
          <a:xfrm>
            <a:off x="10076688" y="4114800"/>
            <a:ext cx="1737360" cy="768096"/>
          </a:xfrm>
          <a:prstGeom prst="roundRect">
            <a:avLst>
              <a:gd name="adj" fmla="val 9524"/>
            </a:avLst>
          </a:prstGeom>
          <a:solidFill>
            <a:srgbClr val="D6ECE9"/>
          </a:solidFill>
          <a:ln w="15875">
            <a:solidFill>
              <a:srgbClr val="0F766E"/>
            </a:solidFill>
            <a:prstDash val="sysDash"/>
          </a:ln>
        </p:spPr>
      </p:sp>
      <p:sp>
        <p:nvSpPr>
          <p:cNvPr id="75" name="oval-71"/>
          <p:cNvSpPr/>
          <p:nvPr/>
        </p:nvSpPr>
        <p:spPr>
          <a:xfrm>
            <a:off x="10149840" y="4407408"/>
            <a:ext cx="182880" cy="182880"/>
          </a:xfrm>
          <a:prstGeom prst="ellipse">
            <a:avLst/>
          </a:prstGeom>
          <a:solidFill>
            <a:srgbClr val="0F766E"/>
          </a:solidFill>
          <a:ln w="12700">
            <a:solidFill>
              <a:srgbClr val="0F766E"/>
            </a:solidFill>
            <a:prstDash val="solid"/>
          </a:ln>
        </p:spPr>
      </p:sp>
      <p:sp>
        <p:nvSpPr>
          <p:cNvPr id="76" name="text-72"/>
          <p:cNvSpPr txBox="1"/>
          <p:nvPr/>
        </p:nvSpPr>
        <p:spPr>
          <a:xfrm>
            <a:off x="10149840" y="4407408"/>
            <a:ext cx="1828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77" name="text-73"/>
          <p:cNvSpPr txBox="1"/>
          <p:nvPr/>
        </p:nvSpPr>
        <p:spPr>
          <a:xfrm>
            <a:off x="10405872" y="4114800"/>
            <a:ext cx="1335024" cy="768096"/>
          </a:xfrm>
          <a:prstGeom prst="rect">
            <a:avLst/>
          </a:prstGeom>
          <a:noFill/>
          <a:ln/>
        </p:spPr>
        <p:txBody>
          <a:bodyPr wrap="square" lIns="0" tIns="0" rIns="0" bIns="0" rtlCol="0" anchor="ctr"/>
          <a:lstStyle/>
          <a:p>
            <a:pPr algn="l" indent="0" marL="0">
              <a:lnSpc>
                <a:spcPct val="100000"/>
              </a:lnSpc>
              <a:buNone/>
            </a:pPr>
            <a:r>
              <a:rPr lang="en-US" sz="900" dirty="0">
                <a:solidFill>
                  <a:srgbClr val="134E4A"/>
                </a:solidFill>
                <a:latin typeface="Calibri" pitchFamily="34" charset="0"/>
                <a:ea typeface="Calibri" pitchFamily="34" charset="-122"/>
                <a:cs typeface="Calibri" pitchFamily="34" charset="-120"/>
              </a:rPr>
              <a:t>Woven into process; must-haves shrink</a:t>
            </a:r>
            <a:endParaRPr lang="en-US" sz="900" dirty="0"/>
          </a:p>
        </p:txBody>
      </p:sp>
      <p:sp>
        <p:nvSpPr>
          <p:cNvPr id="78" name="shape-74"/>
          <p:cNvSpPr/>
          <p:nvPr/>
        </p:nvSpPr>
        <p:spPr>
          <a:xfrm>
            <a:off x="548640" y="4974336"/>
            <a:ext cx="2743200" cy="768096"/>
          </a:xfrm>
          <a:prstGeom prst="roundRect">
            <a:avLst>
              <a:gd name="adj" fmla="val 9524"/>
            </a:avLst>
          </a:prstGeom>
          <a:solidFill>
            <a:srgbClr val="FDF1E3"/>
          </a:solidFill>
          <a:ln w="12700">
            <a:solidFill>
              <a:srgbClr val="FDF1E3"/>
            </a:solidFill>
            <a:prstDash val="solid"/>
          </a:ln>
        </p:spPr>
      </p:sp>
      <p:sp>
        <p:nvSpPr>
          <p:cNvPr id="79" name="shape-75"/>
          <p:cNvSpPr/>
          <p:nvPr/>
        </p:nvSpPr>
        <p:spPr>
          <a:xfrm>
            <a:off x="548640" y="4974336"/>
            <a:ext cx="402336" cy="768096"/>
          </a:xfrm>
          <a:prstGeom prst="roundRect">
            <a:avLst>
              <a:gd name="adj" fmla="val 18182"/>
            </a:avLst>
          </a:prstGeom>
          <a:solidFill>
            <a:srgbClr val="B45309"/>
          </a:solidFill>
          <a:ln w="12700">
            <a:solidFill>
              <a:srgbClr val="B45309"/>
            </a:solidFill>
            <a:prstDash val="solid"/>
          </a:ln>
        </p:spPr>
      </p:sp>
      <p:sp>
        <p:nvSpPr>
          <p:cNvPr id="80" name="shape-76"/>
          <p:cNvSpPr/>
          <p:nvPr/>
        </p:nvSpPr>
        <p:spPr>
          <a:xfrm>
            <a:off x="877824" y="4974336"/>
            <a:ext cx="73152" cy="768096"/>
          </a:xfrm>
          <a:prstGeom prst="rect">
            <a:avLst/>
          </a:prstGeom>
          <a:solidFill>
            <a:srgbClr val="B45309"/>
          </a:solidFill>
          <a:ln w="12700">
            <a:solidFill>
              <a:srgbClr val="B45309"/>
            </a:solidFill>
            <a:prstDash val="solid"/>
          </a:ln>
        </p:spPr>
      </p:sp>
      <p:sp>
        <p:nvSpPr>
          <p:cNvPr id="81" name="text-77"/>
          <p:cNvSpPr txBox="1"/>
          <p:nvPr/>
        </p:nvSpPr>
        <p:spPr>
          <a:xfrm>
            <a:off x="548640" y="4974336"/>
            <a:ext cx="402336" cy="768096"/>
          </a:xfrm>
          <a:prstGeom prst="rect">
            <a:avLst/>
          </a:prstGeom>
          <a:noFill/>
          <a:ln/>
        </p:spPr>
        <p:txBody>
          <a:bodyPr wrap="square" lIns="0" tIns="0" rIns="0" bIns="0" rtlCol="0" anchor="ctr"/>
          <a:lstStyle/>
          <a:p>
            <a:pPr algn="ctr" indent="0" marL="0">
              <a:lnSpc>
                <a:spcPct val="100000"/>
              </a:lnSpc>
              <a:buNone/>
            </a:pPr>
            <a:r>
              <a:rPr lang="en-US" sz="1600" b="1" dirty="0">
                <a:solidFill>
                  <a:srgbClr val="FFFFFF"/>
                </a:solidFill>
                <a:latin typeface="Calibri" pitchFamily="34" charset="0"/>
                <a:ea typeface="Calibri" pitchFamily="34" charset="-122"/>
                <a:cs typeface="Calibri" pitchFamily="34" charset="-120"/>
              </a:rPr>
              <a:t>X</a:t>
            </a:r>
            <a:endParaRPr lang="en-US" sz="1600" dirty="0"/>
          </a:p>
        </p:txBody>
      </p:sp>
      <p:sp>
        <p:nvSpPr>
          <p:cNvPr id="82" name="text-78"/>
          <p:cNvSpPr txBox="1"/>
          <p:nvPr/>
        </p:nvSpPr>
        <p:spPr>
          <a:xfrm>
            <a:off x="1042416" y="4974336"/>
            <a:ext cx="2157984" cy="768096"/>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Azure identity and access plane, API gateway / service bus, monitoring, standards</a:t>
            </a:r>
            <a:endParaRPr lang="en-US" sz="950" dirty="0"/>
          </a:p>
        </p:txBody>
      </p:sp>
      <p:sp>
        <p:nvSpPr>
          <p:cNvPr id="83" name="shape-79"/>
          <p:cNvSpPr/>
          <p:nvPr/>
        </p:nvSpPr>
        <p:spPr>
          <a:xfrm>
            <a:off x="3493008" y="4974336"/>
            <a:ext cx="1874520" cy="768096"/>
          </a:xfrm>
          <a:prstGeom prst="roundRect">
            <a:avLst>
              <a:gd name="adj" fmla="val 9524"/>
            </a:avLst>
          </a:prstGeom>
          <a:solidFill>
            <a:srgbClr val="FFFFFF"/>
          </a:solidFill>
          <a:ln w="15875">
            <a:solidFill>
              <a:srgbClr val="D4DBE0"/>
            </a:solidFill>
            <a:prstDash val="solid"/>
          </a:ln>
        </p:spPr>
      </p:sp>
      <p:sp>
        <p:nvSpPr>
          <p:cNvPr id="84" name="text-80"/>
          <p:cNvSpPr txBox="1"/>
          <p:nvPr/>
        </p:nvSpPr>
        <p:spPr>
          <a:xfrm>
            <a:off x="3566160" y="4974336"/>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Inherits, plus risk and reputation</a:t>
            </a:r>
            <a:endParaRPr lang="en-US" sz="950" dirty="0"/>
          </a:p>
        </p:txBody>
      </p:sp>
      <p:sp>
        <p:nvSpPr>
          <p:cNvPr id="85" name="shape-81"/>
          <p:cNvSpPr/>
          <p:nvPr/>
        </p:nvSpPr>
        <p:spPr>
          <a:xfrm>
            <a:off x="5568696" y="4974336"/>
            <a:ext cx="1874520" cy="768096"/>
          </a:xfrm>
          <a:prstGeom prst="roundRect">
            <a:avLst>
              <a:gd name="adj" fmla="val 9524"/>
            </a:avLst>
          </a:prstGeom>
          <a:solidFill>
            <a:srgbClr val="FFFFFF"/>
          </a:solidFill>
          <a:ln w="15875">
            <a:solidFill>
              <a:srgbClr val="D4DBE0"/>
            </a:solidFill>
            <a:prstDash val="solid"/>
          </a:ln>
        </p:spPr>
      </p:sp>
      <p:sp>
        <p:nvSpPr>
          <p:cNvPr id="86" name="text-82"/>
          <p:cNvSpPr txBox="1"/>
          <p:nvPr/>
        </p:nvSpPr>
        <p:spPr>
          <a:xfrm>
            <a:off x="5641848" y="4974336"/>
            <a:ext cx="172821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Inherits A wherever it sits in A’s path</a:t>
            </a:r>
            <a:endParaRPr lang="en-US" sz="950" dirty="0"/>
          </a:p>
        </p:txBody>
      </p:sp>
      <p:sp>
        <p:nvSpPr>
          <p:cNvPr id="87" name="shape-83"/>
          <p:cNvSpPr/>
          <p:nvPr/>
        </p:nvSpPr>
        <p:spPr>
          <a:xfrm>
            <a:off x="7644384" y="4974336"/>
            <a:ext cx="2194560" cy="768096"/>
          </a:xfrm>
          <a:prstGeom prst="roundRect">
            <a:avLst>
              <a:gd name="adj" fmla="val 9524"/>
            </a:avLst>
          </a:prstGeom>
          <a:solidFill>
            <a:srgbClr val="FFFFFF"/>
          </a:solidFill>
          <a:ln w="15875">
            <a:solidFill>
              <a:srgbClr val="D4DBE0"/>
            </a:solidFill>
            <a:prstDash val="solid"/>
          </a:ln>
        </p:spPr>
      </p:sp>
      <p:sp>
        <p:nvSpPr>
          <p:cNvPr id="88" name="text-84"/>
          <p:cNvSpPr txBox="1"/>
          <p:nvPr/>
        </p:nvSpPr>
        <p:spPr>
          <a:xfrm>
            <a:off x="7717536" y="4974336"/>
            <a:ext cx="2048256" cy="768096"/>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Buy, but bend to accommodate A and third parties</a:t>
            </a:r>
            <a:endParaRPr lang="en-US" sz="950" dirty="0"/>
          </a:p>
        </p:txBody>
      </p:sp>
      <p:sp>
        <p:nvSpPr>
          <p:cNvPr id="89" name="tri-85"/>
          <p:cNvSpPr/>
          <p:nvPr/>
        </p:nvSpPr>
        <p:spPr>
          <a:xfrm rot="5400000">
            <a:off x="3337560" y="5303520"/>
            <a:ext cx="109728" cy="109728"/>
          </a:xfrm>
          <a:prstGeom prst="triangle">
            <a:avLst/>
          </a:prstGeom>
          <a:solidFill>
            <a:srgbClr val="D4DBE0"/>
          </a:solidFill>
          <a:ln w="12700">
            <a:solidFill>
              <a:srgbClr val="D4DBE0"/>
            </a:solidFill>
            <a:prstDash val="solid"/>
          </a:ln>
        </p:spPr>
      </p:sp>
      <p:sp>
        <p:nvSpPr>
          <p:cNvPr id="90" name="tri-86"/>
          <p:cNvSpPr/>
          <p:nvPr/>
        </p:nvSpPr>
        <p:spPr>
          <a:xfrm rot="5400000">
            <a:off x="5413248" y="5303520"/>
            <a:ext cx="109728" cy="109728"/>
          </a:xfrm>
          <a:prstGeom prst="triangle">
            <a:avLst/>
          </a:prstGeom>
          <a:solidFill>
            <a:srgbClr val="D4DBE0"/>
          </a:solidFill>
          <a:ln w="12700">
            <a:solidFill>
              <a:srgbClr val="D4DBE0"/>
            </a:solidFill>
            <a:prstDash val="solid"/>
          </a:ln>
        </p:spPr>
      </p:sp>
      <p:sp>
        <p:nvSpPr>
          <p:cNvPr id="91" name="tri-87"/>
          <p:cNvSpPr/>
          <p:nvPr/>
        </p:nvSpPr>
        <p:spPr>
          <a:xfrm rot="5400000">
            <a:off x="7488936" y="5303520"/>
            <a:ext cx="109728" cy="109728"/>
          </a:xfrm>
          <a:prstGeom prst="triangle">
            <a:avLst/>
          </a:prstGeom>
          <a:solidFill>
            <a:srgbClr val="D4DBE0"/>
          </a:solidFill>
          <a:ln w="12700">
            <a:solidFill>
              <a:srgbClr val="D4DBE0"/>
            </a:solidFill>
            <a:prstDash val="solid"/>
          </a:ln>
        </p:spPr>
      </p:sp>
      <p:sp>
        <p:nvSpPr>
          <p:cNvPr id="92" name="shape-88"/>
          <p:cNvSpPr/>
          <p:nvPr/>
        </p:nvSpPr>
        <p:spPr>
          <a:xfrm>
            <a:off x="10076688" y="4974336"/>
            <a:ext cx="1737360" cy="768096"/>
          </a:xfrm>
          <a:prstGeom prst="roundRect">
            <a:avLst>
              <a:gd name="adj" fmla="val 9524"/>
            </a:avLst>
          </a:prstGeom>
          <a:solidFill>
            <a:srgbClr val="D6ECE9"/>
          </a:solidFill>
          <a:ln w="15875">
            <a:solidFill>
              <a:srgbClr val="0F766E"/>
            </a:solidFill>
            <a:prstDash val="sysDash"/>
          </a:ln>
        </p:spPr>
      </p:sp>
      <p:sp>
        <p:nvSpPr>
          <p:cNvPr id="93" name="oval-89"/>
          <p:cNvSpPr/>
          <p:nvPr/>
        </p:nvSpPr>
        <p:spPr>
          <a:xfrm>
            <a:off x="10149840" y="5266944"/>
            <a:ext cx="182880" cy="182880"/>
          </a:xfrm>
          <a:prstGeom prst="ellipse">
            <a:avLst/>
          </a:prstGeom>
          <a:solidFill>
            <a:srgbClr val="0F766E"/>
          </a:solidFill>
          <a:ln w="12700">
            <a:solidFill>
              <a:srgbClr val="0F766E"/>
            </a:solidFill>
            <a:prstDash val="solid"/>
          </a:ln>
        </p:spPr>
      </p:sp>
      <p:sp>
        <p:nvSpPr>
          <p:cNvPr id="94" name="text-90"/>
          <p:cNvSpPr txBox="1"/>
          <p:nvPr/>
        </p:nvSpPr>
        <p:spPr>
          <a:xfrm>
            <a:off x="10149840" y="5266944"/>
            <a:ext cx="18288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95" name="text-91"/>
          <p:cNvSpPr txBox="1"/>
          <p:nvPr/>
        </p:nvSpPr>
        <p:spPr>
          <a:xfrm>
            <a:off x="10405872" y="4974336"/>
            <a:ext cx="1335024" cy="768096"/>
          </a:xfrm>
          <a:prstGeom prst="rect">
            <a:avLst/>
          </a:prstGeom>
          <a:noFill/>
          <a:ln/>
        </p:spPr>
        <p:txBody>
          <a:bodyPr wrap="square" lIns="0" tIns="0" rIns="0" bIns="0" rtlCol="0" anchor="ctr"/>
          <a:lstStyle/>
          <a:p>
            <a:pPr algn="l" indent="0" marL="0">
              <a:lnSpc>
                <a:spcPct val="100000"/>
              </a:lnSpc>
              <a:buNone/>
            </a:pPr>
            <a:r>
              <a:rPr lang="en-US" sz="900" dirty="0">
                <a:solidFill>
                  <a:srgbClr val="134E4A"/>
                </a:solidFill>
                <a:latin typeface="Calibri" pitchFamily="34" charset="0"/>
                <a:ea typeface="Calibri" pitchFamily="34" charset="-122"/>
                <a:cs typeface="Calibri" pitchFamily="34" charset="-120"/>
              </a:rPr>
              <a:t>Review, triage, runbooks</a:t>
            </a:r>
            <a:endParaRPr lang="en-US" sz="9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4  ·  THE RESILIENCE TOOLKIT FOR THE PRODUCT</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Five kinds of protection a five-nines product needs on the way to an intelligent digital platform</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shape-2"/>
          <p:cNvSpPr/>
          <p:nvPr/>
        </p:nvSpPr>
        <p:spPr>
          <a:xfrm>
            <a:off x="548640" y="1463040"/>
            <a:ext cx="2125066" cy="3657600"/>
          </a:xfrm>
          <a:prstGeom prst="roundRect">
            <a:avLst>
              <a:gd name="adj" fmla="val 3442"/>
            </a:avLst>
          </a:prstGeom>
          <a:solidFill>
            <a:srgbClr val="134E4A"/>
          </a:solidFill>
          <a:ln w="12700">
            <a:solidFill>
              <a:srgbClr val="134E4A"/>
            </a:solidFill>
            <a:prstDash val="solid"/>
          </a:ln>
        </p:spPr>
      </p:sp>
      <p:pic>
        <p:nvPicPr>
          <p:cNvPr id="7" name="icon-3" descr="preencoded.png">    </p:cNvPr>
          <p:cNvPicPr>
            <a:picLocks noChangeAspect="1"/>
          </p:cNvPicPr>
          <p:nvPr/>
        </p:nvPicPr>
        <p:blipFill>
          <a:blip r:embed="rId1"/>
          <a:stretch>
            <a:fillRect/>
          </a:stretch>
        </p:blipFill>
        <p:spPr>
          <a:xfrm>
            <a:off x="694944" y="1627632"/>
            <a:ext cx="219456" cy="219456"/>
          </a:xfrm>
          <a:prstGeom prst="rect">
            <a:avLst/>
          </a:prstGeom>
        </p:spPr>
      </p:pic>
      <p:sp>
        <p:nvSpPr>
          <p:cNvPr id="8" name="text-4"/>
          <p:cNvSpPr txBox="1"/>
          <p:nvPr/>
        </p:nvSpPr>
        <p:spPr>
          <a:xfrm>
            <a:off x="1005840"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1 · Isolate</a:t>
            </a:r>
            <a:endParaRPr lang="en-US" sz="1150" dirty="0"/>
          </a:p>
        </p:txBody>
      </p:sp>
      <p:sp>
        <p:nvSpPr>
          <p:cNvPr id="9" name="text-5"/>
          <p:cNvSpPr txBox="1"/>
          <p:nvPr/>
        </p:nvSpPr>
        <p:spPr>
          <a:xfrm>
            <a:off x="694944"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CFE8E5"/>
                </a:solidFill>
                <a:latin typeface="Calibri" pitchFamily="34" charset="0"/>
                <a:ea typeface="Calibri" pitchFamily="34" charset="-122"/>
                <a:cs typeface="Calibri" pitchFamily="34" charset="-120"/>
              </a:rPr>
              <a:t>no shared fate</a:t>
            </a:r>
            <a:endParaRPr lang="en-US" sz="850" dirty="0"/>
          </a:p>
        </p:txBody>
      </p:sp>
      <p:sp>
        <p:nvSpPr>
          <p:cNvPr id="10" name="shape-6"/>
          <p:cNvSpPr/>
          <p:nvPr/>
        </p:nvSpPr>
        <p:spPr>
          <a:xfrm>
            <a:off x="658368" y="2286000"/>
            <a:ext cx="1905610" cy="457200"/>
          </a:xfrm>
          <a:prstGeom prst="roundRect">
            <a:avLst>
              <a:gd name="adj" fmla="val 10000"/>
            </a:avLst>
          </a:prstGeom>
          <a:solidFill>
            <a:srgbClr val="2A6660"/>
          </a:solidFill>
          <a:ln w="12700">
            <a:solidFill>
              <a:srgbClr val="2A6660"/>
            </a:solidFill>
            <a:prstDash val="solid"/>
          </a:ln>
        </p:spPr>
      </p:sp>
      <p:sp>
        <p:nvSpPr>
          <p:cNvPr id="11" name="text-7"/>
          <p:cNvSpPr txBox="1"/>
          <p:nvPr/>
        </p:nvSpPr>
        <p:spPr>
          <a:xfrm>
            <a:off x="731520"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Hub and spoke; commodity behind the bus</a:t>
            </a:r>
            <a:endParaRPr lang="en-US" sz="950" dirty="0"/>
          </a:p>
        </p:txBody>
      </p:sp>
      <p:sp>
        <p:nvSpPr>
          <p:cNvPr id="12" name="shape-8"/>
          <p:cNvSpPr/>
          <p:nvPr/>
        </p:nvSpPr>
        <p:spPr>
          <a:xfrm>
            <a:off x="658368" y="2834640"/>
            <a:ext cx="1905610" cy="457200"/>
          </a:xfrm>
          <a:prstGeom prst="roundRect">
            <a:avLst>
              <a:gd name="adj" fmla="val 10000"/>
            </a:avLst>
          </a:prstGeom>
          <a:solidFill>
            <a:srgbClr val="2A6660"/>
          </a:solidFill>
          <a:ln w="12700">
            <a:solidFill>
              <a:srgbClr val="2A6660"/>
            </a:solidFill>
            <a:prstDash val="solid"/>
          </a:ln>
        </p:spPr>
      </p:sp>
      <p:sp>
        <p:nvSpPr>
          <p:cNvPr id="13" name="text-9"/>
          <p:cNvSpPr txBox="1"/>
          <p:nvPr/>
        </p:nvSpPr>
        <p:spPr>
          <a:xfrm>
            <a:off x="731520"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Published content at the edge (CDN)</a:t>
            </a:r>
            <a:endParaRPr lang="en-US" sz="950" dirty="0"/>
          </a:p>
        </p:txBody>
      </p:sp>
      <p:sp>
        <p:nvSpPr>
          <p:cNvPr id="14" name="shape-10"/>
          <p:cNvSpPr/>
          <p:nvPr/>
        </p:nvSpPr>
        <p:spPr>
          <a:xfrm>
            <a:off x="658368" y="3383280"/>
            <a:ext cx="1905610" cy="457200"/>
          </a:xfrm>
          <a:prstGeom prst="roundRect">
            <a:avLst>
              <a:gd name="adj" fmla="val 10000"/>
            </a:avLst>
          </a:prstGeom>
          <a:solidFill>
            <a:srgbClr val="2A6660"/>
          </a:solidFill>
          <a:ln w="12700">
            <a:solidFill>
              <a:srgbClr val="2A6660"/>
            </a:solidFill>
            <a:prstDash val="solid"/>
          </a:ln>
        </p:spPr>
      </p:sp>
      <p:sp>
        <p:nvSpPr>
          <p:cNvPr id="15" name="text-11"/>
          <p:cNvSpPr txBox="1"/>
          <p:nvPr/>
        </p:nvSpPr>
        <p:spPr>
          <a:xfrm>
            <a:off x="731520"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Entitlements cached, with grace</a:t>
            </a:r>
            <a:endParaRPr lang="en-US" sz="950" dirty="0"/>
          </a:p>
        </p:txBody>
      </p:sp>
      <p:sp>
        <p:nvSpPr>
          <p:cNvPr id="16" name="shape-12"/>
          <p:cNvSpPr/>
          <p:nvPr/>
        </p:nvSpPr>
        <p:spPr>
          <a:xfrm>
            <a:off x="658368" y="3931920"/>
            <a:ext cx="1905610" cy="457200"/>
          </a:xfrm>
          <a:prstGeom prst="roundRect">
            <a:avLst>
              <a:gd name="adj" fmla="val 10000"/>
            </a:avLst>
          </a:prstGeom>
          <a:solidFill>
            <a:srgbClr val="2A6660"/>
          </a:solidFill>
          <a:ln w="12700">
            <a:solidFill>
              <a:srgbClr val="2A6660"/>
            </a:solidFill>
            <a:prstDash val="solid"/>
          </a:ln>
        </p:spPr>
      </p:sp>
      <p:sp>
        <p:nvSpPr>
          <p:cNvPr id="17" name="text-13"/>
          <p:cNvSpPr txBox="1"/>
          <p:nvPr/>
        </p:nvSpPr>
        <p:spPr>
          <a:xfrm>
            <a:off x="731520"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Read-only degraded mode</a:t>
            </a:r>
            <a:endParaRPr lang="en-US" sz="950" dirty="0"/>
          </a:p>
        </p:txBody>
      </p:sp>
      <p:sp>
        <p:nvSpPr>
          <p:cNvPr id="18" name="shape-14"/>
          <p:cNvSpPr/>
          <p:nvPr/>
        </p:nvSpPr>
        <p:spPr>
          <a:xfrm>
            <a:off x="658368" y="4480560"/>
            <a:ext cx="1905610" cy="457200"/>
          </a:xfrm>
          <a:prstGeom prst="roundRect">
            <a:avLst>
              <a:gd name="adj" fmla="val 10000"/>
            </a:avLst>
          </a:prstGeom>
          <a:solidFill>
            <a:srgbClr val="2A6660"/>
          </a:solidFill>
          <a:ln w="12700">
            <a:solidFill>
              <a:srgbClr val="2A6660"/>
            </a:solidFill>
            <a:prstDash val="solid"/>
          </a:ln>
        </p:spPr>
      </p:sp>
      <p:sp>
        <p:nvSpPr>
          <p:cNvPr id="19" name="text-15"/>
          <p:cNvSpPr txBox="1"/>
          <p:nvPr/>
        </p:nvSpPr>
        <p:spPr>
          <a:xfrm>
            <a:off x="731520"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FFFFFF"/>
                </a:solidFill>
                <a:latin typeface="Calibri" pitchFamily="34" charset="0"/>
                <a:ea typeface="Calibri" pitchFamily="34" charset="-122"/>
                <a:cs typeface="Calibri" pitchFamily="34" charset="-120"/>
              </a:rPr>
              <a:t>Bulkheads, circuit breakers, back-pressure</a:t>
            </a:r>
            <a:endParaRPr lang="en-US" sz="950" dirty="0"/>
          </a:p>
        </p:txBody>
      </p:sp>
      <p:sp>
        <p:nvSpPr>
          <p:cNvPr id="20" name="shape-16"/>
          <p:cNvSpPr/>
          <p:nvPr/>
        </p:nvSpPr>
        <p:spPr>
          <a:xfrm>
            <a:off x="2783434" y="1463040"/>
            <a:ext cx="2125066" cy="3657600"/>
          </a:xfrm>
          <a:prstGeom prst="roundRect">
            <a:avLst>
              <a:gd name="adj" fmla="val 3442"/>
            </a:avLst>
          </a:prstGeom>
          <a:solidFill>
            <a:srgbClr val="EEF2F4"/>
          </a:solidFill>
          <a:ln w="12700">
            <a:solidFill>
              <a:srgbClr val="EEF2F4"/>
            </a:solidFill>
            <a:prstDash val="solid"/>
          </a:ln>
        </p:spPr>
      </p:sp>
      <p:pic>
        <p:nvPicPr>
          <p:cNvPr id="21" name="icon-17" descr="preencoded.png">    </p:cNvPr>
          <p:cNvPicPr>
            <a:picLocks noChangeAspect="1"/>
          </p:cNvPicPr>
          <p:nvPr/>
        </p:nvPicPr>
        <p:blipFill>
          <a:blip r:embed="rId2"/>
          <a:stretch>
            <a:fillRect/>
          </a:stretch>
        </p:blipFill>
        <p:spPr>
          <a:xfrm>
            <a:off x="2929738" y="1627632"/>
            <a:ext cx="219456" cy="219456"/>
          </a:xfrm>
          <a:prstGeom prst="rect">
            <a:avLst/>
          </a:prstGeom>
        </p:spPr>
      </p:pic>
      <p:sp>
        <p:nvSpPr>
          <p:cNvPr id="22" name="text-18"/>
          <p:cNvSpPr txBox="1"/>
          <p:nvPr/>
        </p:nvSpPr>
        <p:spPr>
          <a:xfrm>
            <a:off x="3240634"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2 · Replicate</a:t>
            </a:r>
            <a:endParaRPr lang="en-US" sz="1150" dirty="0"/>
          </a:p>
        </p:txBody>
      </p:sp>
      <p:sp>
        <p:nvSpPr>
          <p:cNvPr id="23" name="text-19"/>
          <p:cNvSpPr txBox="1"/>
          <p:nvPr/>
        </p:nvSpPr>
        <p:spPr>
          <a:xfrm>
            <a:off x="2929738"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no single point</a:t>
            </a:r>
            <a:endParaRPr lang="en-US" sz="850" dirty="0"/>
          </a:p>
        </p:txBody>
      </p:sp>
      <p:sp>
        <p:nvSpPr>
          <p:cNvPr id="24" name="shape-20"/>
          <p:cNvSpPr/>
          <p:nvPr/>
        </p:nvSpPr>
        <p:spPr>
          <a:xfrm>
            <a:off x="2893162" y="2286000"/>
            <a:ext cx="1905610" cy="457200"/>
          </a:xfrm>
          <a:prstGeom prst="roundRect">
            <a:avLst>
              <a:gd name="adj" fmla="val 10000"/>
            </a:avLst>
          </a:prstGeom>
          <a:solidFill>
            <a:srgbClr val="FFFFFF"/>
          </a:solidFill>
          <a:ln w="12700">
            <a:solidFill>
              <a:srgbClr val="FFFFFF"/>
            </a:solidFill>
            <a:prstDash val="solid"/>
          </a:ln>
        </p:spPr>
      </p:sp>
      <p:sp>
        <p:nvSpPr>
          <p:cNvPr id="25" name="text-21"/>
          <p:cNvSpPr txBox="1"/>
          <p:nvPr/>
        </p:nvSpPr>
        <p:spPr>
          <a:xfrm>
            <a:off x="2966314"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Active-active across regions</a:t>
            </a:r>
            <a:endParaRPr lang="en-US" sz="950" dirty="0"/>
          </a:p>
        </p:txBody>
      </p:sp>
      <p:sp>
        <p:nvSpPr>
          <p:cNvPr id="26" name="shape-22"/>
          <p:cNvSpPr/>
          <p:nvPr/>
        </p:nvSpPr>
        <p:spPr>
          <a:xfrm>
            <a:off x="2893162" y="2834640"/>
            <a:ext cx="1905610" cy="457200"/>
          </a:xfrm>
          <a:prstGeom prst="roundRect">
            <a:avLst>
              <a:gd name="adj" fmla="val 10000"/>
            </a:avLst>
          </a:prstGeom>
          <a:solidFill>
            <a:srgbClr val="FFFFFF"/>
          </a:solidFill>
          <a:ln w="12700">
            <a:solidFill>
              <a:srgbClr val="FFFFFF"/>
            </a:solidFill>
            <a:prstDash val="solid"/>
          </a:ln>
        </p:spPr>
      </p:sp>
      <p:sp>
        <p:nvSpPr>
          <p:cNvPr id="27" name="text-23"/>
          <p:cNvSpPr txBox="1"/>
          <p:nvPr/>
        </p:nvSpPr>
        <p:spPr>
          <a:xfrm>
            <a:off x="2966314"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Stateless services, replicated data</a:t>
            </a:r>
            <a:endParaRPr lang="en-US" sz="950" dirty="0"/>
          </a:p>
        </p:txBody>
      </p:sp>
      <p:sp>
        <p:nvSpPr>
          <p:cNvPr id="28" name="shape-24"/>
          <p:cNvSpPr/>
          <p:nvPr/>
        </p:nvSpPr>
        <p:spPr>
          <a:xfrm>
            <a:off x="2893162" y="3383280"/>
            <a:ext cx="1905610" cy="457200"/>
          </a:xfrm>
          <a:prstGeom prst="roundRect">
            <a:avLst>
              <a:gd name="adj" fmla="val 10000"/>
            </a:avLst>
          </a:prstGeom>
          <a:solidFill>
            <a:srgbClr val="FFFFFF"/>
          </a:solidFill>
          <a:ln w="12700">
            <a:solidFill>
              <a:srgbClr val="FFFFFF"/>
            </a:solidFill>
            <a:prstDash val="solid"/>
          </a:ln>
        </p:spPr>
      </p:sp>
      <p:sp>
        <p:nvSpPr>
          <p:cNvPr id="29" name="text-25"/>
          <p:cNvSpPr txBox="1"/>
          <p:nvPr/>
        </p:nvSpPr>
        <p:spPr>
          <a:xfrm>
            <a:off x="2966314"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Identity-provider outage plan</a:t>
            </a:r>
            <a:endParaRPr lang="en-US" sz="950" dirty="0"/>
          </a:p>
        </p:txBody>
      </p:sp>
      <p:sp>
        <p:nvSpPr>
          <p:cNvPr id="30" name="shape-26"/>
          <p:cNvSpPr/>
          <p:nvPr/>
        </p:nvSpPr>
        <p:spPr>
          <a:xfrm>
            <a:off x="2893162" y="3931920"/>
            <a:ext cx="1905610" cy="457200"/>
          </a:xfrm>
          <a:prstGeom prst="roundRect">
            <a:avLst>
              <a:gd name="adj" fmla="val 10000"/>
            </a:avLst>
          </a:prstGeom>
          <a:solidFill>
            <a:srgbClr val="FFFFFF"/>
          </a:solidFill>
          <a:ln w="12700">
            <a:solidFill>
              <a:srgbClr val="FFFFFF"/>
            </a:solidFill>
            <a:prstDash val="solid"/>
          </a:ln>
        </p:spPr>
      </p:sp>
      <p:sp>
        <p:nvSpPr>
          <p:cNvPr id="31" name="text-27"/>
          <p:cNvSpPr txBox="1"/>
          <p:nvPr/>
        </p:nvSpPr>
        <p:spPr>
          <a:xfrm>
            <a:off x="2966314"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SaaS and vendor failover plans</a:t>
            </a:r>
            <a:endParaRPr lang="en-US" sz="950" dirty="0"/>
          </a:p>
        </p:txBody>
      </p:sp>
      <p:sp>
        <p:nvSpPr>
          <p:cNvPr id="32" name="shape-28"/>
          <p:cNvSpPr/>
          <p:nvPr/>
        </p:nvSpPr>
        <p:spPr>
          <a:xfrm>
            <a:off x="2893162" y="4480560"/>
            <a:ext cx="1905610" cy="457200"/>
          </a:xfrm>
          <a:prstGeom prst="roundRect">
            <a:avLst>
              <a:gd name="adj" fmla="val 10000"/>
            </a:avLst>
          </a:prstGeom>
          <a:solidFill>
            <a:srgbClr val="FFFFFF"/>
          </a:solidFill>
          <a:ln w="12700">
            <a:solidFill>
              <a:srgbClr val="FFFFFF"/>
            </a:solidFill>
            <a:prstDash val="solid"/>
          </a:ln>
        </p:spPr>
      </p:sp>
      <p:sp>
        <p:nvSpPr>
          <p:cNvPr id="33" name="text-29"/>
          <p:cNvSpPr txBox="1"/>
          <p:nvPr/>
        </p:nvSpPr>
        <p:spPr>
          <a:xfrm>
            <a:off x="2966314"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Capacity headroom and load testing</a:t>
            </a:r>
            <a:endParaRPr lang="en-US" sz="950" dirty="0"/>
          </a:p>
        </p:txBody>
      </p:sp>
      <p:sp>
        <p:nvSpPr>
          <p:cNvPr id="34" name="shape-30"/>
          <p:cNvSpPr/>
          <p:nvPr/>
        </p:nvSpPr>
        <p:spPr>
          <a:xfrm>
            <a:off x="5018227" y="1463040"/>
            <a:ext cx="2125066" cy="3657600"/>
          </a:xfrm>
          <a:prstGeom prst="roundRect">
            <a:avLst>
              <a:gd name="adj" fmla="val 3442"/>
            </a:avLst>
          </a:prstGeom>
          <a:solidFill>
            <a:srgbClr val="EEF2F4"/>
          </a:solidFill>
          <a:ln w="12700">
            <a:solidFill>
              <a:srgbClr val="EEF2F4"/>
            </a:solidFill>
            <a:prstDash val="solid"/>
          </a:ln>
        </p:spPr>
      </p:sp>
      <p:pic>
        <p:nvPicPr>
          <p:cNvPr id="35" name="icon-31" descr="preencoded.png">    </p:cNvPr>
          <p:cNvPicPr>
            <a:picLocks noChangeAspect="1"/>
          </p:cNvPicPr>
          <p:nvPr/>
        </p:nvPicPr>
        <p:blipFill>
          <a:blip r:embed="rId3"/>
          <a:stretch>
            <a:fillRect/>
          </a:stretch>
        </p:blipFill>
        <p:spPr>
          <a:xfrm>
            <a:off x="5164531" y="1627632"/>
            <a:ext cx="219456" cy="219456"/>
          </a:xfrm>
          <a:prstGeom prst="rect">
            <a:avLst/>
          </a:prstGeom>
        </p:spPr>
      </p:pic>
      <p:sp>
        <p:nvSpPr>
          <p:cNvPr id="36" name="text-32"/>
          <p:cNvSpPr txBox="1"/>
          <p:nvPr/>
        </p:nvSpPr>
        <p:spPr>
          <a:xfrm>
            <a:off x="5475427"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3 · Release safely</a:t>
            </a:r>
            <a:endParaRPr lang="en-US" sz="1150" dirty="0"/>
          </a:p>
        </p:txBody>
      </p:sp>
      <p:sp>
        <p:nvSpPr>
          <p:cNvPr id="37" name="text-33"/>
          <p:cNvSpPr txBox="1"/>
          <p:nvPr/>
        </p:nvSpPr>
        <p:spPr>
          <a:xfrm>
            <a:off x="5164531"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no big-bang change</a:t>
            </a:r>
            <a:endParaRPr lang="en-US" sz="850" dirty="0"/>
          </a:p>
        </p:txBody>
      </p:sp>
      <p:sp>
        <p:nvSpPr>
          <p:cNvPr id="38" name="shape-34"/>
          <p:cNvSpPr/>
          <p:nvPr/>
        </p:nvSpPr>
        <p:spPr>
          <a:xfrm>
            <a:off x="5127955" y="2286000"/>
            <a:ext cx="1905610" cy="457200"/>
          </a:xfrm>
          <a:prstGeom prst="roundRect">
            <a:avLst>
              <a:gd name="adj" fmla="val 10000"/>
            </a:avLst>
          </a:prstGeom>
          <a:solidFill>
            <a:srgbClr val="FFFFFF"/>
          </a:solidFill>
          <a:ln w="12700">
            <a:solidFill>
              <a:srgbClr val="FFFFFF"/>
            </a:solidFill>
            <a:prstDash val="solid"/>
          </a:ln>
        </p:spPr>
      </p:sp>
      <p:sp>
        <p:nvSpPr>
          <p:cNvPr id="39" name="text-35"/>
          <p:cNvSpPr txBox="1"/>
          <p:nvPr/>
        </p:nvSpPr>
        <p:spPr>
          <a:xfrm>
            <a:off x="5201107"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Feature switches — ship dark, release deliberately</a:t>
            </a:r>
            <a:endParaRPr lang="en-US" sz="950" dirty="0"/>
          </a:p>
        </p:txBody>
      </p:sp>
      <p:sp>
        <p:nvSpPr>
          <p:cNvPr id="40" name="shape-36"/>
          <p:cNvSpPr/>
          <p:nvPr/>
        </p:nvSpPr>
        <p:spPr>
          <a:xfrm>
            <a:off x="5127955" y="2834640"/>
            <a:ext cx="1905610" cy="457200"/>
          </a:xfrm>
          <a:prstGeom prst="roundRect">
            <a:avLst>
              <a:gd name="adj" fmla="val 10000"/>
            </a:avLst>
          </a:prstGeom>
          <a:solidFill>
            <a:srgbClr val="FFFFFF"/>
          </a:solidFill>
          <a:ln w="12700">
            <a:solidFill>
              <a:srgbClr val="FFFFFF"/>
            </a:solidFill>
            <a:prstDash val="solid"/>
          </a:ln>
        </p:spPr>
      </p:sp>
      <p:sp>
        <p:nvSpPr>
          <p:cNvPr id="41" name="text-37"/>
          <p:cNvSpPr txBox="1"/>
          <p:nvPr/>
        </p:nvSpPr>
        <p:spPr>
          <a:xfrm>
            <a:off x="5201107"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Blue/green deployment</a:t>
            </a:r>
            <a:endParaRPr lang="en-US" sz="950" dirty="0"/>
          </a:p>
        </p:txBody>
      </p:sp>
      <p:sp>
        <p:nvSpPr>
          <p:cNvPr id="42" name="shape-38"/>
          <p:cNvSpPr/>
          <p:nvPr/>
        </p:nvSpPr>
        <p:spPr>
          <a:xfrm>
            <a:off x="5127955" y="3383280"/>
            <a:ext cx="1905610" cy="457200"/>
          </a:xfrm>
          <a:prstGeom prst="roundRect">
            <a:avLst>
              <a:gd name="adj" fmla="val 10000"/>
            </a:avLst>
          </a:prstGeom>
          <a:solidFill>
            <a:srgbClr val="FFFFFF"/>
          </a:solidFill>
          <a:ln w="12700">
            <a:solidFill>
              <a:srgbClr val="FFFFFF"/>
            </a:solidFill>
            <a:prstDash val="solid"/>
          </a:ln>
        </p:spPr>
      </p:sp>
      <p:sp>
        <p:nvSpPr>
          <p:cNvPr id="43" name="text-39"/>
          <p:cNvSpPr txBox="1"/>
          <p:nvPr/>
        </p:nvSpPr>
        <p:spPr>
          <a:xfrm>
            <a:off x="5201107"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Canary by cohort, automated rollback</a:t>
            </a:r>
            <a:endParaRPr lang="en-US" sz="950" dirty="0"/>
          </a:p>
        </p:txBody>
      </p:sp>
      <p:sp>
        <p:nvSpPr>
          <p:cNvPr id="44" name="shape-40"/>
          <p:cNvSpPr/>
          <p:nvPr/>
        </p:nvSpPr>
        <p:spPr>
          <a:xfrm>
            <a:off x="5127955" y="3931920"/>
            <a:ext cx="1905610" cy="457200"/>
          </a:xfrm>
          <a:prstGeom prst="roundRect">
            <a:avLst>
              <a:gd name="adj" fmla="val 10000"/>
            </a:avLst>
          </a:prstGeom>
          <a:solidFill>
            <a:srgbClr val="FFFFFF"/>
          </a:solidFill>
          <a:ln w="12700">
            <a:solidFill>
              <a:srgbClr val="FFFFFF"/>
            </a:solidFill>
            <a:prstDash val="solid"/>
          </a:ln>
        </p:spPr>
      </p:sp>
      <p:sp>
        <p:nvSpPr>
          <p:cNvPr id="45" name="text-41"/>
          <p:cNvSpPr txBox="1"/>
          <p:nvPr/>
        </p:nvSpPr>
        <p:spPr>
          <a:xfrm>
            <a:off x="5201107"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Expand/contract schema changes</a:t>
            </a:r>
            <a:endParaRPr lang="en-US" sz="950" dirty="0"/>
          </a:p>
        </p:txBody>
      </p:sp>
      <p:sp>
        <p:nvSpPr>
          <p:cNvPr id="46" name="shape-42"/>
          <p:cNvSpPr/>
          <p:nvPr/>
        </p:nvSpPr>
        <p:spPr>
          <a:xfrm>
            <a:off x="5127955" y="4480560"/>
            <a:ext cx="1905610" cy="457200"/>
          </a:xfrm>
          <a:prstGeom prst="roundRect">
            <a:avLst>
              <a:gd name="adj" fmla="val 10000"/>
            </a:avLst>
          </a:prstGeom>
          <a:solidFill>
            <a:srgbClr val="FFFFFF"/>
          </a:solidFill>
          <a:ln w="12700">
            <a:solidFill>
              <a:srgbClr val="FFFFFF"/>
            </a:solidFill>
            <a:prstDash val="solid"/>
          </a:ln>
        </p:spPr>
      </p:sp>
      <p:sp>
        <p:nvSpPr>
          <p:cNvPr id="47" name="text-43"/>
          <p:cNvSpPr txBox="1"/>
          <p:nvPr/>
        </p:nvSpPr>
        <p:spPr>
          <a:xfrm>
            <a:off x="5201107"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Immutable, versioned content releases</a:t>
            </a:r>
            <a:endParaRPr lang="en-US" sz="950" dirty="0"/>
          </a:p>
        </p:txBody>
      </p:sp>
      <p:sp>
        <p:nvSpPr>
          <p:cNvPr id="48" name="shape-44"/>
          <p:cNvSpPr/>
          <p:nvPr/>
        </p:nvSpPr>
        <p:spPr>
          <a:xfrm>
            <a:off x="7253021" y="1463040"/>
            <a:ext cx="2125066" cy="3657600"/>
          </a:xfrm>
          <a:prstGeom prst="roundRect">
            <a:avLst>
              <a:gd name="adj" fmla="val 3442"/>
            </a:avLst>
          </a:prstGeom>
          <a:solidFill>
            <a:srgbClr val="EEF2F4"/>
          </a:solidFill>
          <a:ln w="12700">
            <a:solidFill>
              <a:srgbClr val="EEF2F4"/>
            </a:solidFill>
            <a:prstDash val="solid"/>
          </a:ln>
        </p:spPr>
      </p:sp>
      <p:pic>
        <p:nvPicPr>
          <p:cNvPr id="49" name="icon-45" descr="preencoded.png">    </p:cNvPr>
          <p:cNvPicPr>
            <a:picLocks noChangeAspect="1"/>
          </p:cNvPicPr>
          <p:nvPr/>
        </p:nvPicPr>
        <p:blipFill>
          <a:blip r:embed="rId4"/>
          <a:stretch>
            <a:fillRect/>
          </a:stretch>
        </p:blipFill>
        <p:spPr>
          <a:xfrm>
            <a:off x="7399325" y="1627632"/>
            <a:ext cx="219456" cy="219456"/>
          </a:xfrm>
          <a:prstGeom prst="rect">
            <a:avLst/>
          </a:prstGeom>
        </p:spPr>
      </p:pic>
      <p:sp>
        <p:nvSpPr>
          <p:cNvPr id="50" name="text-46"/>
          <p:cNvSpPr txBox="1"/>
          <p:nvPr/>
        </p:nvSpPr>
        <p:spPr>
          <a:xfrm>
            <a:off x="7710221"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4 · Detect and respond</a:t>
            </a:r>
            <a:endParaRPr lang="en-US" sz="1150" dirty="0"/>
          </a:p>
        </p:txBody>
      </p:sp>
      <p:sp>
        <p:nvSpPr>
          <p:cNvPr id="51" name="text-47"/>
          <p:cNvSpPr txBox="1"/>
          <p:nvPr/>
        </p:nvSpPr>
        <p:spPr>
          <a:xfrm>
            <a:off x="7399325"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minutes, not hours</a:t>
            </a:r>
            <a:endParaRPr lang="en-US" sz="850" dirty="0"/>
          </a:p>
        </p:txBody>
      </p:sp>
      <p:sp>
        <p:nvSpPr>
          <p:cNvPr id="52" name="shape-48"/>
          <p:cNvSpPr/>
          <p:nvPr/>
        </p:nvSpPr>
        <p:spPr>
          <a:xfrm>
            <a:off x="7362749" y="2286000"/>
            <a:ext cx="1905610" cy="457200"/>
          </a:xfrm>
          <a:prstGeom prst="roundRect">
            <a:avLst>
              <a:gd name="adj" fmla="val 10000"/>
            </a:avLst>
          </a:prstGeom>
          <a:solidFill>
            <a:srgbClr val="FFFFFF"/>
          </a:solidFill>
          <a:ln w="12700">
            <a:solidFill>
              <a:srgbClr val="FFFFFF"/>
            </a:solidFill>
            <a:prstDash val="solid"/>
          </a:ln>
        </p:spPr>
      </p:sp>
      <p:sp>
        <p:nvSpPr>
          <p:cNvPr id="53" name="text-49"/>
          <p:cNvSpPr txBox="1"/>
          <p:nvPr/>
        </p:nvSpPr>
        <p:spPr>
          <a:xfrm>
            <a:off x="7435901"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SLOs and error budgets</a:t>
            </a:r>
            <a:endParaRPr lang="en-US" sz="950" dirty="0"/>
          </a:p>
        </p:txBody>
      </p:sp>
      <p:sp>
        <p:nvSpPr>
          <p:cNvPr id="54" name="shape-50"/>
          <p:cNvSpPr/>
          <p:nvPr/>
        </p:nvSpPr>
        <p:spPr>
          <a:xfrm>
            <a:off x="7362749" y="2834640"/>
            <a:ext cx="1905610" cy="457200"/>
          </a:xfrm>
          <a:prstGeom prst="roundRect">
            <a:avLst>
              <a:gd name="adj" fmla="val 10000"/>
            </a:avLst>
          </a:prstGeom>
          <a:solidFill>
            <a:srgbClr val="FFFFFF"/>
          </a:solidFill>
          <a:ln w="12700">
            <a:solidFill>
              <a:srgbClr val="FFFFFF"/>
            </a:solidFill>
            <a:prstDash val="solid"/>
          </a:ln>
        </p:spPr>
      </p:sp>
      <p:sp>
        <p:nvSpPr>
          <p:cNvPr id="55" name="text-51"/>
          <p:cNvSpPr txBox="1"/>
          <p:nvPr/>
        </p:nvSpPr>
        <p:spPr>
          <a:xfrm>
            <a:off x="7435901"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Synthetic checks from customer locations</a:t>
            </a:r>
            <a:endParaRPr lang="en-US" sz="950" dirty="0"/>
          </a:p>
        </p:txBody>
      </p:sp>
      <p:sp>
        <p:nvSpPr>
          <p:cNvPr id="56" name="shape-52"/>
          <p:cNvSpPr/>
          <p:nvPr/>
        </p:nvSpPr>
        <p:spPr>
          <a:xfrm>
            <a:off x="7362749" y="3383280"/>
            <a:ext cx="1905610" cy="457200"/>
          </a:xfrm>
          <a:prstGeom prst="roundRect">
            <a:avLst>
              <a:gd name="adj" fmla="val 10000"/>
            </a:avLst>
          </a:prstGeom>
          <a:solidFill>
            <a:srgbClr val="FFFFFF"/>
          </a:solidFill>
          <a:ln w="12700">
            <a:solidFill>
              <a:srgbClr val="FFFFFF"/>
            </a:solidFill>
            <a:prstDash val="solid"/>
          </a:ln>
        </p:spPr>
      </p:sp>
      <p:sp>
        <p:nvSpPr>
          <p:cNvPr id="57" name="text-53"/>
          <p:cNvSpPr txBox="1"/>
          <p:nvPr/>
        </p:nvSpPr>
        <p:spPr>
          <a:xfrm>
            <a:off x="7435901"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Runbooks; 24×7 on-call via MSP</a:t>
            </a:r>
            <a:endParaRPr lang="en-US" sz="950" dirty="0"/>
          </a:p>
        </p:txBody>
      </p:sp>
      <p:sp>
        <p:nvSpPr>
          <p:cNvPr id="58" name="shape-54"/>
          <p:cNvSpPr/>
          <p:nvPr/>
        </p:nvSpPr>
        <p:spPr>
          <a:xfrm>
            <a:off x="7362749" y="3931920"/>
            <a:ext cx="1905610" cy="457200"/>
          </a:xfrm>
          <a:prstGeom prst="roundRect">
            <a:avLst>
              <a:gd name="adj" fmla="val 10000"/>
            </a:avLst>
          </a:prstGeom>
          <a:solidFill>
            <a:srgbClr val="FFFFFF"/>
          </a:solidFill>
          <a:ln w="12700">
            <a:solidFill>
              <a:srgbClr val="FFFFFF"/>
            </a:solidFill>
            <a:prstDash val="solid"/>
          </a:ln>
        </p:spPr>
      </p:sp>
      <p:sp>
        <p:nvSpPr>
          <p:cNvPr id="59" name="text-55"/>
          <p:cNvSpPr txBox="1"/>
          <p:nvPr/>
        </p:nvSpPr>
        <p:spPr>
          <a:xfrm>
            <a:off x="7435901"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Status page and incident comms</a:t>
            </a:r>
            <a:endParaRPr lang="en-US" sz="950" dirty="0"/>
          </a:p>
        </p:txBody>
      </p:sp>
      <p:sp>
        <p:nvSpPr>
          <p:cNvPr id="60" name="shape-56"/>
          <p:cNvSpPr/>
          <p:nvPr/>
        </p:nvSpPr>
        <p:spPr>
          <a:xfrm>
            <a:off x="7362749" y="4480560"/>
            <a:ext cx="1905610" cy="457200"/>
          </a:xfrm>
          <a:prstGeom prst="roundRect">
            <a:avLst>
              <a:gd name="adj" fmla="val 10000"/>
            </a:avLst>
          </a:prstGeom>
          <a:solidFill>
            <a:srgbClr val="FFFFFF"/>
          </a:solidFill>
          <a:ln w="12700">
            <a:solidFill>
              <a:srgbClr val="FFFFFF"/>
            </a:solidFill>
            <a:prstDash val="solid"/>
          </a:ln>
        </p:spPr>
      </p:sp>
      <p:sp>
        <p:nvSpPr>
          <p:cNvPr id="61" name="text-57"/>
          <p:cNvSpPr txBox="1"/>
          <p:nvPr/>
        </p:nvSpPr>
        <p:spPr>
          <a:xfrm>
            <a:off x="7435901"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Game days and DR drills (RTO/RPO)</a:t>
            </a:r>
            <a:endParaRPr lang="en-US" sz="950" dirty="0"/>
          </a:p>
        </p:txBody>
      </p:sp>
      <p:sp>
        <p:nvSpPr>
          <p:cNvPr id="62" name="shape-58"/>
          <p:cNvSpPr/>
          <p:nvPr/>
        </p:nvSpPr>
        <p:spPr>
          <a:xfrm>
            <a:off x="9487814" y="1463040"/>
            <a:ext cx="2125066" cy="3657600"/>
          </a:xfrm>
          <a:prstGeom prst="roundRect">
            <a:avLst>
              <a:gd name="adj" fmla="val 3442"/>
            </a:avLst>
          </a:prstGeom>
          <a:solidFill>
            <a:srgbClr val="EEF2F4"/>
          </a:solidFill>
          <a:ln w="12700">
            <a:solidFill>
              <a:srgbClr val="EEF2F4"/>
            </a:solidFill>
            <a:prstDash val="solid"/>
          </a:ln>
        </p:spPr>
      </p:sp>
      <p:pic>
        <p:nvPicPr>
          <p:cNvPr id="63" name="icon-59" descr="preencoded.png">    </p:cNvPr>
          <p:cNvPicPr>
            <a:picLocks noChangeAspect="1"/>
          </p:cNvPicPr>
          <p:nvPr/>
        </p:nvPicPr>
        <p:blipFill>
          <a:blip r:embed="rId5"/>
          <a:stretch>
            <a:fillRect/>
          </a:stretch>
        </p:blipFill>
        <p:spPr>
          <a:xfrm>
            <a:off x="9634118" y="1627632"/>
            <a:ext cx="219456" cy="219456"/>
          </a:xfrm>
          <a:prstGeom prst="rect">
            <a:avLst/>
          </a:prstGeom>
        </p:spPr>
      </p:pic>
      <p:sp>
        <p:nvSpPr>
          <p:cNvPr id="64" name="text-60"/>
          <p:cNvSpPr txBox="1"/>
          <p:nvPr/>
        </p:nvSpPr>
        <p:spPr>
          <a:xfrm>
            <a:off x="9945014"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5 · Protect the content</a:t>
            </a:r>
            <a:endParaRPr lang="en-US" sz="1150" dirty="0"/>
          </a:p>
        </p:txBody>
      </p:sp>
      <p:sp>
        <p:nvSpPr>
          <p:cNvPr id="65" name="text-61"/>
          <p:cNvSpPr txBox="1"/>
          <p:nvPr/>
        </p:nvSpPr>
        <p:spPr>
          <a:xfrm>
            <a:off x="9634118"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integrity above all</a:t>
            </a:r>
            <a:endParaRPr lang="en-US" sz="850" dirty="0"/>
          </a:p>
        </p:txBody>
      </p:sp>
      <p:sp>
        <p:nvSpPr>
          <p:cNvPr id="66" name="shape-62"/>
          <p:cNvSpPr/>
          <p:nvPr/>
        </p:nvSpPr>
        <p:spPr>
          <a:xfrm>
            <a:off x="9597542" y="2286000"/>
            <a:ext cx="1905610" cy="457200"/>
          </a:xfrm>
          <a:prstGeom prst="roundRect">
            <a:avLst>
              <a:gd name="adj" fmla="val 10000"/>
            </a:avLst>
          </a:prstGeom>
          <a:solidFill>
            <a:srgbClr val="FFFFFF"/>
          </a:solidFill>
          <a:ln w="12700">
            <a:solidFill>
              <a:srgbClr val="FFFFFF"/>
            </a:solidFill>
            <a:prstDash val="solid"/>
          </a:ln>
        </p:spPr>
      </p:sp>
      <p:sp>
        <p:nvSpPr>
          <p:cNvPr id="67" name="text-63"/>
          <p:cNvSpPr txBox="1"/>
          <p:nvPr/>
        </p:nvSpPr>
        <p:spPr>
          <a:xfrm>
            <a:off x="9670694" y="232257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Content checksums and integrity checks</a:t>
            </a:r>
            <a:endParaRPr lang="en-US" sz="950" dirty="0"/>
          </a:p>
        </p:txBody>
      </p:sp>
      <p:sp>
        <p:nvSpPr>
          <p:cNvPr id="68" name="shape-64"/>
          <p:cNvSpPr/>
          <p:nvPr/>
        </p:nvSpPr>
        <p:spPr>
          <a:xfrm>
            <a:off x="9597542" y="2834640"/>
            <a:ext cx="1905610" cy="457200"/>
          </a:xfrm>
          <a:prstGeom prst="roundRect">
            <a:avLst>
              <a:gd name="adj" fmla="val 10000"/>
            </a:avLst>
          </a:prstGeom>
          <a:solidFill>
            <a:srgbClr val="FFFFFF"/>
          </a:solidFill>
          <a:ln w="12700">
            <a:solidFill>
              <a:srgbClr val="FFFFFF"/>
            </a:solidFill>
            <a:prstDash val="solid"/>
          </a:ln>
        </p:spPr>
      </p:sp>
      <p:sp>
        <p:nvSpPr>
          <p:cNvPr id="69" name="text-65"/>
          <p:cNvSpPr txBox="1"/>
          <p:nvPr/>
        </p:nvSpPr>
        <p:spPr>
          <a:xfrm>
            <a:off x="9670694" y="287121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Copies held outside the authoring tool</a:t>
            </a:r>
            <a:endParaRPr lang="en-US" sz="950" dirty="0"/>
          </a:p>
        </p:txBody>
      </p:sp>
      <p:sp>
        <p:nvSpPr>
          <p:cNvPr id="70" name="shape-66"/>
          <p:cNvSpPr/>
          <p:nvPr/>
        </p:nvSpPr>
        <p:spPr>
          <a:xfrm>
            <a:off x="9597542" y="3383280"/>
            <a:ext cx="1905610" cy="457200"/>
          </a:xfrm>
          <a:prstGeom prst="roundRect">
            <a:avLst>
              <a:gd name="adj" fmla="val 10000"/>
            </a:avLst>
          </a:prstGeom>
          <a:solidFill>
            <a:srgbClr val="FFFFFF"/>
          </a:solidFill>
          <a:ln w="12700">
            <a:solidFill>
              <a:srgbClr val="FFFFFF"/>
            </a:solidFill>
            <a:prstDash val="solid"/>
          </a:ln>
        </p:spPr>
      </p:sp>
      <p:sp>
        <p:nvSpPr>
          <p:cNvPr id="71" name="text-67"/>
          <p:cNvSpPr txBox="1"/>
          <p:nvPr/>
        </p:nvSpPr>
        <p:spPr>
          <a:xfrm>
            <a:off x="9670694" y="341985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Replay from the bus after outages</a:t>
            </a:r>
            <a:endParaRPr lang="en-US" sz="950" dirty="0"/>
          </a:p>
        </p:txBody>
      </p:sp>
      <p:sp>
        <p:nvSpPr>
          <p:cNvPr id="72" name="shape-68"/>
          <p:cNvSpPr/>
          <p:nvPr/>
        </p:nvSpPr>
        <p:spPr>
          <a:xfrm>
            <a:off x="9597542" y="3931920"/>
            <a:ext cx="1905610" cy="457200"/>
          </a:xfrm>
          <a:prstGeom prst="roundRect">
            <a:avLst>
              <a:gd name="adj" fmla="val 10000"/>
            </a:avLst>
          </a:prstGeom>
          <a:solidFill>
            <a:srgbClr val="FFFFFF"/>
          </a:solidFill>
          <a:ln w="12700">
            <a:solidFill>
              <a:srgbClr val="FFFFFF"/>
            </a:solidFill>
            <a:prstDash val="solid"/>
          </a:ln>
        </p:spPr>
      </p:sp>
      <p:sp>
        <p:nvSpPr>
          <p:cNvPr id="73" name="text-69"/>
          <p:cNvSpPr txBox="1"/>
          <p:nvPr/>
        </p:nvSpPr>
        <p:spPr>
          <a:xfrm>
            <a:off x="9670694" y="396849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Audit trail: what changed, when, who</a:t>
            </a:r>
            <a:endParaRPr lang="en-US" sz="950" dirty="0"/>
          </a:p>
        </p:txBody>
      </p:sp>
      <p:sp>
        <p:nvSpPr>
          <p:cNvPr id="74" name="shape-70"/>
          <p:cNvSpPr/>
          <p:nvPr/>
        </p:nvSpPr>
        <p:spPr>
          <a:xfrm>
            <a:off x="9597542" y="4480560"/>
            <a:ext cx="1905610" cy="457200"/>
          </a:xfrm>
          <a:prstGeom prst="roundRect">
            <a:avLst>
              <a:gd name="adj" fmla="val 10000"/>
            </a:avLst>
          </a:prstGeom>
          <a:solidFill>
            <a:srgbClr val="FFFFFF"/>
          </a:solidFill>
          <a:ln w="12700">
            <a:solidFill>
              <a:srgbClr val="FFFFFF"/>
            </a:solidFill>
            <a:prstDash val="solid"/>
          </a:ln>
        </p:spPr>
      </p:sp>
      <p:sp>
        <p:nvSpPr>
          <p:cNvPr id="75" name="text-71"/>
          <p:cNvSpPr txBox="1"/>
          <p:nvPr/>
        </p:nvSpPr>
        <p:spPr>
          <a:xfrm>
            <a:off x="9670694" y="4517136"/>
            <a:ext cx="1759306" cy="384048"/>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AI-generated test evidence, human gate</a:t>
            </a:r>
            <a:endParaRPr lang="en-US" sz="950" dirty="0"/>
          </a:p>
        </p:txBody>
      </p:sp>
      <p:sp>
        <p:nvSpPr>
          <p:cNvPr id="76" name="text-72"/>
          <p:cNvSpPr txBox="1"/>
          <p:nvPr/>
        </p:nvSpPr>
        <p:spPr>
          <a:xfrm>
            <a:off x="548640" y="5193792"/>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POSTURE BY TIER — THE TOOLKIT APPLIES IN FULL TO A, AND TO X WHEREVER IT SITS IN A’S PATH</a:t>
            </a:r>
            <a:endParaRPr lang="en-US" sz="800" dirty="0"/>
          </a:p>
        </p:txBody>
      </p:sp>
      <p:sp>
        <p:nvSpPr>
          <p:cNvPr id="77" name="shape-73"/>
          <p:cNvSpPr/>
          <p:nvPr/>
        </p:nvSpPr>
        <p:spPr>
          <a:xfrm>
            <a:off x="548640" y="5449824"/>
            <a:ext cx="2683764" cy="512064"/>
          </a:xfrm>
          <a:prstGeom prst="roundRect">
            <a:avLst>
              <a:gd name="adj" fmla="val 14286"/>
            </a:avLst>
          </a:prstGeom>
          <a:solidFill>
            <a:srgbClr val="EEF2F4"/>
          </a:solidFill>
          <a:ln w="12700">
            <a:solidFill>
              <a:srgbClr val="EEF2F4"/>
            </a:solidFill>
            <a:prstDash val="solid"/>
          </a:ln>
        </p:spPr>
      </p:sp>
      <p:sp>
        <p:nvSpPr>
          <p:cNvPr id="78" name="shape-74"/>
          <p:cNvSpPr/>
          <p:nvPr/>
        </p:nvSpPr>
        <p:spPr>
          <a:xfrm>
            <a:off x="548640" y="5449824"/>
            <a:ext cx="402336" cy="512064"/>
          </a:xfrm>
          <a:prstGeom prst="roundRect">
            <a:avLst>
              <a:gd name="adj" fmla="val 18182"/>
            </a:avLst>
          </a:prstGeom>
          <a:solidFill>
            <a:srgbClr val="134E4A"/>
          </a:solidFill>
          <a:ln w="12700">
            <a:solidFill>
              <a:srgbClr val="134E4A"/>
            </a:solidFill>
            <a:prstDash val="solid"/>
          </a:ln>
        </p:spPr>
      </p:sp>
      <p:sp>
        <p:nvSpPr>
          <p:cNvPr id="79" name="shape-75"/>
          <p:cNvSpPr/>
          <p:nvPr/>
        </p:nvSpPr>
        <p:spPr>
          <a:xfrm>
            <a:off x="877824" y="5449824"/>
            <a:ext cx="73152" cy="512064"/>
          </a:xfrm>
          <a:prstGeom prst="rect">
            <a:avLst/>
          </a:prstGeom>
          <a:solidFill>
            <a:srgbClr val="134E4A"/>
          </a:solidFill>
          <a:ln w="12700">
            <a:solidFill>
              <a:srgbClr val="134E4A"/>
            </a:solidFill>
            <a:prstDash val="solid"/>
          </a:ln>
        </p:spPr>
      </p:sp>
      <p:sp>
        <p:nvSpPr>
          <p:cNvPr id="80" name="text-76"/>
          <p:cNvSpPr txBox="1"/>
          <p:nvPr/>
        </p:nvSpPr>
        <p:spPr>
          <a:xfrm>
            <a:off x="548640"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A</a:t>
            </a:r>
            <a:endParaRPr lang="en-US" sz="1450" dirty="0"/>
          </a:p>
        </p:txBody>
      </p:sp>
      <p:sp>
        <p:nvSpPr>
          <p:cNvPr id="81" name="text-77"/>
          <p:cNvSpPr txBox="1"/>
          <p:nvPr/>
        </p:nvSpPr>
        <p:spPr>
          <a:xfrm>
            <a:off x="1060704" y="5486400"/>
            <a:ext cx="2135124"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Product</a:t>
            </a:r>
            <a:endParaRPr lang="en-US" sz="1100" dirty="0"/>
          </a:p>
        </p:txBody>
      </p:sp>
      <p:sp>
        <p:nvSpPr>
          <p:cNvPr id="82" name="text-78"/>
          <p:cNvSpPr txBox="1"/>
          <p:nvPr/>
        </p:nvSpPr>
        <p:spPr>
          <a:xfrm>
            <a:off x="1060704" y="5705856"/>
            <a:ext cx="2135124" cy="182880"/>
          </a:xfrm>
          <a:prstGeom prst="rect">
            <a:avLst/>
          </a:prstGeom>
          <a:noFill/>
          <a:ln/>
        </p:spPr>
        <p:txBody>
          <a:bodyPr wrap="square" lIns="0" tIns="0" rIns="0" bIns="0" rtlCol="0" anchor="ctr"/>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99.999% · ≈ 5 min a year · all five groups</a:t>
            </a:r>
            <a:endParaRPr lang="en-US" sz="900" dirty="0"/>
          </a:p>
        </p:txBody>
      </p:sp>
      <p:sp>
        <p:nvSpPr>
          <p:cNvPr id="83" name="shape-79"/>
          <p:cNvSpPr/>
          <p:nvPr/>
        </p:nvSpPr>
        <p:spPr>
          <a:xfrm>
            <a:off x="3342132" y="5449824"/>
            <a:ext cx="2683764" cy="512064"/>
          </a:xfrm>
          <a:prstGeom prst="roundRect">
            <a:avLst>
              <a:gd name="adj" fmla="val 14286"/>
            </a:avLst>
          </a:prstGeom>
          <a:solidFill>
            <a:srgbClr val="EEF2F4"/>
          </a:solidFill>
          <a:ln w="12700">
            <a:solidFill>
              <a:srgbClr val="EEF2F4"/>
            </a:solidFill>
            <a:prstDash val="solid"/>
          </a:ln>
        </p:spPr>
      </p:sp>
      <p:sp>
        <p:nvSpPr>
          <p:cNvPr id="84" name="shape-80"/>
          <p:cNvSpPr/>
          <p:nvPr/>
        </p:nvSpPr>
        <p:spPr>
          <a:xfrm>
            <a:off x="3342132" y="5449824"/>
            <a:ext cx="402336" cy="512064"/>
          </a:xfrm>
          <a:prstGeom prst="roundRect">
            <a:avLst>
              <a:gd name="adj" fmla="val 18182"/>
            </a:avLst>
          </a:prstGeom>
          <a:solidFill>
            <a:srgbClr val="0F766E"/>
          </a:solidFill>
          <a:ln w="12700">
            <a:solidFill>
              <a:srgbClr val="0F766E"/>
            </a:solidFill>
            <a:prstDash val="solid"/>
          </a:ln>
        </p:spPr>
      </p:sp>
      <p:sp>
        <p:nvSpPr>
          <p:cNvPr id="85" name="shape-81"/>
          <p:cNvSpPr/>
          <p:nvPr/>
        </p:nvSpPr>
        <p:spPr>
          <a:xfrm>
            <a:off x="3671316" y="5449824"/>
            <a:ext cx="73152" cy="512064"/>
          </a:xfrm>
          <a:prstGeom prst="rect">
            <a:avLst/>
          </a:prstGeom>
          <a:solidFill>
            <a:srgbClr val="0F766E"/>
          </a:solidFill>
          <a:ln w="12700">
            <a:solidFill>
              <a:srgbClr val="0F766E"/>
            </a:solidFill>
            <a:prstDash val="solid"/>
          </a:ln>
        </p:spPr>
      </p:sp>
      <p:sp>
        <p:nvSpPr>
          <p:cNvPr id="86" name="text-82"/>
          <p:cNvSpPr txBox="1"/>
          <p:nvPr/>
        </p:nvSpPr>
        <p:spPr>
          <a:xfrm>
            <a:off x="3342132"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B</a:t>
            </a:r>
            <a:endParaRPr lang="en-US" sz="1450" dirty="0"/>
          </a:p>
        </p:txBody>
      </p:sp>
      <p:sp>
        <p:nvSpPr>
          <p:cNvPr id="87" name="text-83"/>
          <p:cNvSpPr txBox="1"/>
          <p:nvPr/>
        </p:nvSpPr>
        <p:spPr>
          <a:xfrm>
            <a:off x="3854196" y="5486400"/>
            <a:ext cx="2135124"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Content tooling</a:t>
            </a:r>
            <a:endParaRPr lang="en-US" sz="1100" dirty="0"/>
          </a:p>
        </p:txBody>
      </p:sp>
      <p:sp>
        <p:nvSpPr>
          <p:cNvPr id="88" name="text-84"/>
          <p:cNvSpPr txBox="1"/>
          <p:nvPr/>
        </p:nvSpPr>
        <p:spPr>
          <a:xfrm>
            <a:off x="3854196" y="5705856"/>
            <a:ext cx="2135124" cy="182880"/>
          </a:xfrm>
          <a:prstGeom prst="rect">
            <a:avLst/>
          </a:prstGeom>
          <a:noFill/>
          <a:ln/>
        </p:spPr>
        <p:txBody>
          <a:bodyPr wrap="square" lIns="0" tIns="0" rIns="0" bIns="0" rtlCol="0" anchor="ctr"/>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business hours · groups 5 and 3 only</a:t>
            </a:r>
            <a:endParaRPr lang="en-US" sz="900" dirty="0"/>
          </a:p>
        </p:txBody>
      </p:sp>
      <p:sp>
        <p:nvSpPr>
          <p:cNvPr id="89" name="shape-85"/>
          <p:cNvSpPr/>
          <p:nvPr/>
        </p:nvSpPr>
        <p:spPr>
          <a:xfrm>
            <a:off x="6135624" y="5449824"/>
            <a:ext cx="2683764" cy="512064"/>
          </a:xfrm>
          <a:prstGeom prst="roundRect">
            <a:avLst>
              <a:gd name="adj" fmla="val 14286"/>
            </a:avLst>
          </a:prstGeom>
          <a:solidFill>
            <a:srgbClr val="EEF2F4"/>
          </a:solidFill>
          <a:ln w="12700">
            <a:solidFill>
              <a:srgbClr val="EEF2F4"/>
            </a:solidFill>
            <a:prstDash val="solid"/>
          </a:ln>
        </p:spPr>
      </p:sp>
      <p:sp>
        <p:nvSpPr>
          <p:cNvPr id="90" name="shape-86"/>
          <p:cNvSpPr/>
          <p:nvPr/>
        </p:nvSpPr>
        <p:spPr>
          <a:xfrm>
            <a:off x="6135624" y="5449824"/>
            <a:ext cx="402336" cy="512064"/>
          </a:xfrm>
          <a:prstGeom prst="roundRect">
            <a:avLst>
              <a:gd name="adj" fmla="val 18182"/>
            </a:avLst>
          </a:prstGeom>
          <a:solidFill>
            <a:srgbClr val="8A99A3"/>
          </a:solidFill>
          <a:ln w="12700">
            <a:solidFill>
              <a:srgbClr val="8A99A3"/>
            </a:solidFill>
            <a:prstDash val="solid"/>
          </a:ln>
        </p:spPr>
      </p:sp>
      <p:sp>
        <p:nvSpPr>
          <p:cNvPr id="91" name="shape-87"/>
          <p:cNvSpPr/>
          <p:nvPr/>
        </p:nvSpPr>
        <p:spPr>
          <a:xfrm>
            <a:off x="6464808" y="5449824"/>
            <a:ext cx="73152" cy="512064"/>
          </a:xfrm>
          <a:prstGeom prst="rect">
            <a:avLst/>
          </a:prstGeom>
          <a:solidFill>
            <a:srgbClr val="8A99A3"/>
          </a:solidFill>
          <a:ln w="12700">
            <a:solidFill>
              <a:srgbClr val="8A99A3"/>
            </a:solidFill>
            <a:prstDash val="solid"/>
          </a:ln>
        </p:spPr>
      </p:sp>
      <p:sp>
        <p:nvSpPr>
          <p:cNvPr id="92" name="text-88"/>
          <p:cNvSpPr txBox="1"/>
          <p:nvPr/>
        </p:nvSpPr>
        <p:spPr>
          <a:xfrm>
            <a:off x="6135624"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C</a:t>
            </a:r>
            <a:endParaRPr lang="en-US" sz="1450" dirty="0"/>
          </a:p>
        </p:txBody>
      </p:sp>
      <p:sp>
        <p:nvSpPr>
          <p:cNvPr id="93" name="text-89"/>
          <p:cNvSpPr txBox="1"/>
          <p:nvPr/>
        </p:nvSpPr>
        <p:spPr>
          <a:xfrm>
            <a:off x="6647688" y="5486400"/>
            <a:ext cx="2135124"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Commodity</a:t>
            </a:r>
            <a:endParaRPr lang="en-US" sz="1100" dirty="0"/>
          </a:p>
        </p:txBody>
      </p:sp>
      <p:sp>
        <p:nvSpPr>
          <p:cNvPr id="94" name="text-90"/>
          <p:cNvSpPr txBox="1"/>
          <p:nvPr/>
        </p:nvSpPr>
        <p:spPr>
          <a:xfrm>
            <a:off x="6647688" y="5705856"/>
            <a:ext cx="2135124" cy="182880"/>
          </a:xfrm>
          <a:prstGeom prst="rect">
            <a:avLst/>
          </a:prstGeom>
          <a:noFill/>
          <a:ln/>
        </p:spPr>
        <p:txBody>
          <a:bodyPr wrap="square" lIns="0" tIns="0" rIns="0" bIns="0" rtlCol="0" anchor="ctr"/>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standard · maintenance windows; bus replay</a:t>
            </a:r>
            <a:endParaRPr lang="en-US" sz="900" dirty="0"/>
          </a:p>
        </p:txBody>
      </p:sp>
      <p:sp>
        <p:nvSpPr>
          <p:cNvPr id="95" name="shape-91"/>
          <p:cNvSpPr/>
          <p:nvPr/>
        </p:nvSpPr>
        <p:spPr>
          <a:xfrm>
            <a:off x="8929116" y="5449824"/>
            <a:ext cx="2683764" cy="512064"/>
          </a:xfrm>
          <a:prstGeom prst="roundRect">
            <a:avLst>
              <a:gd name="adj" fmla="val 14286"/>
            </a:avLst>
          </a:prstGeom>
          <a:solidFill>
            <a:srgbClr val="FDF1E3"/>
          </a:solidFill>
          <a:ln w="12700">
            <a:solidFill>
              <a:srgbClr val="FDF1E3"/>
            </a:solidFill>
            <a:prstDash val="solid"/>
          </a:ln>
        </p:spPr>
      </p:sp>
      <p:sp>
        <p:nvSpPr>
          <p:cNvPr id="96" name="shape-92"/>
          <p:cNvSpPr/>
          <p:nvPr/>
        </p:nvSpPr>
        <p:spPr>
          <a:xfrm>
            <a:off x="8929116" y="5449824"/>
            <a:ext cx="402336" cy="512064"/>
          </a:xfrm>
          <a:prstGeom prst="roundRect">
            <a:avLst>
              <a:gd name="adj" fmla="val 18182"/>
            </a:avLst>
          </a:prstGeom>
          <a:solidFill>
            <a:srgbClr val="B45309"/>
          </a:solidFill>
          <a:ln w="12700">
            <a:solidFill>
              <a:srgbClr val="B45309"/>
            </a:solidFill>
            <a:prstDash val="solid"/>
          </a:ln>
        </p:spPr>
      </p:sp>
      <p:sp>
        <p:nvSpPr>
          <p:cNvPr id="97" name="shape-93"/>
          <p:cNvSpPr/>
          <p:nvPr/>
        </p:nvSpPr>
        <p:spPr>
          <a:xfrm>
            <a:off x="9258300" y="5449824"/>
            <a:ext cx="73152" cy="512064"/>
          </a:xfrm>
          <a:prstGeom prst="rect">
            <a:avLst/>
          </a:prstGeom>
          <a:solidFill>
            <a:srgbClr val="B45309"/>
          </a:solidFill>
          <a:ln w="12700">
            <a:solidFill>
              <a:srgbClr val="B45309"/>
            </a:solidFill>
            <a:prstDash val="solid"/>
          </a:ln>
        </p:spPr>
      </p:sp>
      <p:sp>
        <p:nvSpPr>
          <p:cNvPr id="98" name="text-94"/>
          <p:cNvSpPr txBox="1"/>
          <p:nvPr/>
        </p:nvSpPr>
        <p:spPr>
          <a:xfrm>
            <a:off x="8929116"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X</a:t>
            </a:r>
            <a:endParaRPr lang="en-US" sz="1450" dirty="0"/>
          </a:p>
        </p:txBody>
      </p:sp>
      <p:sp>
        <p:nvSpPr>
          <p:cNvPr id="99" name="text-95"/>
          <p:cNvSpPr txBox="1"/>
          <p:nvPr/>
        </p:nvSpPr>
        <p:spPr>
          <a:xfrm>
            <a:off x="9441180" y="5486400"/>
            <a:ext cx="2135124"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Cross-cutting</a:t>
            </a:r>
            <a:endParaRPr lang="en-US" sz="1100" dirty="0"/>
          </a:p>
        </p:txBody>
      </p:sp>
      <p:sp>
        <p:nvSpPr>
          <p:cNvPr id="100" name="text-96"/>
          <p:cNvSpPr txBox="1"/>
          <p:nvPr/>
        </p:nvSpPr>
        <p:spPr>
          <a:xfrm>
            <a:off x="9441180" y="5705856"/>
            <a:ext cx="2135124" cy="182880"/>
          </a:xfrm>
          <a:prstGeom prst="rect">
            <a:avLst/>
          </a:prstGeom>
          <a:noFill/>
          <a:ln/>
        </p:spPr>
        <p:txBody>
          <a:bodyPr wrap="square" lIns="0" tIns="0" rIns="0" bIns="0" rtlCol="0" anchor="ctr"/>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inherits A in A’s path · groups 1, 2, 4</a:t>
            </a:r>
            <a:endParaRPr lang="en-US" sz="9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5  ·  PUBLISHING AND ROLLBACK INSIDE THE PRODUCT</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One publishing hub, regional nodes that serve alone, rollback by re-pointing</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shape-2"/>
          <p:cNvSpPr/>
          <p:nvPr/>
        </p:nvSpPr>
        <p:spPr>
          <a:xfrm>
            <a:off x="548640" y="2286000"/>
            <a:ext cx="1828800" cy="1188720"/>
          </a:xfrm>
          <a:prstGeom prst="roundRect">
            <a:avLst>
              <a:gd name="adj" fmla="val 7692"/>
            </a:avLst>
          </a:prstGeom>
          <a:solidFill>
            <a:srgbClr val="134E4A"/>
          </a:solidFill>
          <a:ln w="12700">
            <a:solidFill>
              <a:srgbClr val="134E4A"/>
            </a:solidFill>
            <a:prstDash val="solid"/>
          </a:ln>
        </p:spPr>
      </p:sp>
      <p:pic>
        <p:nvPicPr>
          <p:cNvPr id="7" name="icon-3" descr="preencoded.png">    </p:cNvPr>
          <p:cNvPicPr>
            <a:picLocks noChangeAspect="1"/>
          </p:cNvPicPr>
          <p:nvPr/>
        </p:nvPicPr>
        <p:blipFill>
          <a:blip r:embed="rId1"/>
          <a:stretch>
            <a:fillRect/>
          </a:stretch>
        </p:blipFill>
        <p:spPr>
          <a:xfrm>
            <a:off x="694944" y="2432304"/>
            <a:ext cx="237744" cy="237744"/>
          </a:xfrm>
          <a:prstGeom prst="rect">
            <a:avLst/>
          </a:prstGeom>
        </p:spPr>
      </p:pic>
      <p:sp>
        <p:nvSpPr>
          <p:cNvPr id="8" name="text-4"/>
          <p:cNvSpPr txBox="1"/>
          <p:nvPr/>
        </p:nvSpPr>
        <p:spPr>
          <a:xfrm>
            <a:off x="1024128" y="2414016"/>
            <a:ext cx="1280160" cy="237744"/>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Publishing hub</a:t>
            </a:r>
            <a:endParaRPr lang="en-US" sz="1200" dirty="0"/>
          </a:p>
        </p:txBody>
      </p:sp>
      <p:sp>
        <p:nvSpPr>
          <p:cNvPr id="9" name="text-5"/>
          <p:cNvSpPr txBox="1"/>
          <p:nvPr/>
        </p:nvSpPr>
        <p:spPr>
          <a:xfrm>
            <a:off x="694944" y="2743200"/>
            <a:ext cx="1645920" cy="164592"/>
          </a:xfrm>
          <a:prstGeom prst="rect">
            <a:avLst/>
          </a:prstGeom>
          <a:noFill/>
          <a:ln/>
        </p:spPr>
        <p:txBody>
          <a:bodyPr wrap="square" lIns="0" tIns="0" rIns="0" bIns="0" rtlCol="0" anchor="ctr"/>
          <a:lstStyle/>
          <a:p>
            <a:pPr algn="l" indent="0" marL="0">
              <a:lnSpc>
                <a:spcPct val="100000"/>
              </a:lnSpc>
              <a:buNone/>
            </a:pPr>
            <a:r>
              <a:rPr lang="en-US" sz="850" dirty="0">
                <a:solidFill>
                  <a:srgbClr val="CFE8E5"/>
                </a:solidFill>
                <a:latin typeface="Calibri" pitchFamily="34" charset="0"/>
                <a:ea typeface="Calibri" pitchFamily="34" charset="-122"/>
                <a:cs typeface="Calibri" pitchFamily="34" charset="-120"/>
              </a:rPr>
              <a:t>authoring → review → approve</a:t>
            </a:r>
            <a:endParaRPr lang="en-US" sz="850" dirty="0"/>
          </a:p>
        </p:txBody>
      </p:sp>
      <p:sp>
        <p:nvSpPr>
          <p:cNvPr id="10" name="text-6"/>
          <p:cNvSpPr txBox="1"/>
          <p:nvPr/>
        </p:nvSpPr>
        <p:spPr>
          <a:xfrm>
            <a:off x="694944" y="2907792"/>
            <a:ext cx="1645920" cy="164592"/>
          </a:xfrm>
          <a:prstGeom prst="rect">
            <a:avLst/>
          </a:prstGeom>
          <a:noFill/>
          <a:ln/>
        </p:spPr>
        <p:txBody>
          <a:bodyPr wrap="square" lIns="0" tIns="0" rIns="0" bIns="0" rtlCol="0" anchor="ctr"/>
          <a:lstStyle/>
          <a:p>
            <a:pPr algn="l" indent="0" marL="0">
              <a:lnSpc>
                <a:spcPct val="100000"/>
              </a:lnSpc>
              <a:buNone/>
            </a:pPr>
            <a:r>
              <a:rPr lang="en-US" sz="850" dirty="0">
                <a:solidFill>
                  <a:srgbClr val="CFE8E5"/>
                </a:solidFill>
                <a:latin typeface="Calibri" pitchFamily="34" charset="0"/>
                <a:ea typeface="Calibri" pitchFamily="34" charset="-122"/>
                <a:cs typeface="Calibri" pitchFamily="34" charset="-120"/>
              </a:rPr>
              <a:t>build → test evidence → sign</a:t>
            </a:r>
            <a:endParaRPr lang="en-US" sz="850" dirty="0"/>
          </a:p>
        </p:txBody>
      </p:sp>
      <p:sp>
        <p:nvSpPr>
          <p:cNvPr id="11" name="shape-7"/>
          <p:cNvSpPr/>
          <p:nvPr/>
        </p:nvSpPr>
        <p:spPr>
          <a:xfrm>
            <a:off x="694944" y="3163824"/>
            <a:ext cx="1536192" cy="201168"/>
          </a:xfrm>
          <a:prstGeom prst="roundRect">
            <a:avLst>
              <a:gd name="adj" fmla="val 18182"/>
            </a:avLst>
          </a:prstGeom>
          <a:solidFill>
            <a:srgbClr val="0F766E"/>
          </a:solidFill>
          <a:ln w="12700">
            <a:solidFill>
              <a:srgbClr val="0F766E"/>
            </a:solidFill>
            <a:prstDash val="solid"/>
          </a:ln>
        </p:spPr>
      </p:sp>
      <p:sp>
        <p:nvSpPr>
          <p:cNvPr id="12" name="text-8"/>
          <p:cNvSpPr txBox="1"/>
          <p:nvPr/>
        </p:nvSpPr>
        <p:spPr>
          <a:xfrm>
            <a:off x="694944" y="3163824"/>
            <a:ext cx="1536192" cy="201168"/>
          </a:xfrm>
          <a:prstGeom prst="rect">
            <a:avLst/>
          </a:prstGeom>
          <a:noFill/>
          <a:ln/>
        </p:spPr>
        <p:txBody>
          <a:bodyPr wrap="square" lIns="0" tIns="0" rIns="0" bIns="0" rtlCol="0" anchor="ctr"/>
          <a:lstStyle/>
          <a:p>
            <a:pPr algn="ctr" indent="0" marL="0">
              <a:lnSpc>
                <a:spcPct val="100000"/>
              </a:lnSpc>
              <a:buNone/>
            </a:pPr>
            <a:r>
              <a:rPr lang="en-US" sz="850" b="1" dirty="0">
                <a:solidFill>
                  <a:srgbClr val="FFFFFF"/>
                </a:solidFill>
                <a:latin typeface="Calibri" pitchFamily="34" charset="0"/>
                <a:ea typeface="Calibri" pitchFamily="34" charset="-122"/>
                <a:cs typeface="Calibri" pitchFamily="34" charset="-120"/>
              </a:rPr>
              <a:t>release manifest  {content vN, code vN}</a:t>
            </a:r>
            <a:endParaRPr lang="en-US" sz="850" dirty="0"/>
          </a:p>
        </p:txBody>
      </p:sp>
      <p:sp>
        <p:nvSpPr>
          <p:cNvPr id="13" name="shape-9"/>
          <p:cNvSpPr/>
          <p:nvPr/>
        </p:nvSpPr>
        <p:spPr>
          <a:xfrm>
            <a:off x="3200400" y="2286000"/>
            <a:ext cx="1371600" cy="1188720"/>
          </a:xfrm>
          <a:prstGeom prst="roundRect">
            <a:avLst>
              <a:gd name="adj" fmla="val 7692"/>
            </a:avLst>
          </a:prstGeom>
          <a:solidFill>
            <a:srgbClr val="FDF1E3"/>
          </a:solidFill>
          <a:ln w="12700">
            <a:solidFill>
              <a:srgbClr val="B45309"/>
            </a:solidFill>
            <a:prstDash val="solid"/>
          </a:ln>
        </p:spPr>
      </p:sp>
      <p:pic>
        <p:nvPicPr>
          <p:cNvPr id="14" name="icon-10" descr="preencoded.png">    </p:cNvPr>
          <p:cNvPicPr>
            <a:picLocks noChangeAspect="1"/>
          </p:cNvPicPr>
          <p:nvPr/>
        </p:nvPicPr>
        <p:blipFill>
          <a:blip r:embed="rId2"/>
          <a:stretch>
            <a:fillRect/>
          </a:stretch>
        </p:blipFill>
        <p:spPr>
          <a:xfrm>
            <a:off x="3346704" y="2432304"/>
            <a:ext cx="219456" cy="219456"/>
          </a:xfrm>
          <a:prstGeom prst="rect">
            <a:avLst/>
          </a:prstGeom>
        </p:spPr>
      </p:pic>
      <p:sp>
        <p:nvSpPr>
          <p:cNvPr id="15" name="text-11"/>
          <p:cNvSpPr txBox="1"/>
          <p:nvPr/>
        </p:nvSpPr>
        <p:spPr>
          <a:xfrm>
            <a:off x="3639312" y="2414016"/>
            <a:ext cx="914400" cy="237744"/>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Event log</a:t>
            </a:r>
            <a:endParaRPr lang="en-US" sz="1100" dirty="0"/>
          </a:p>
        </p:txBody>
      </p:sp>
      <p:sp>
        <p:nvSpPr>
          <p:cNvPr id="16" name="text-12"/>
          <p:cNvSpPr txBox="1"/>
          <p:nvPr/>
        </p:nvSpPr>
        <p:spPr>
          <a:xfrm>
            <a:off x="3310128" y="2743200"/>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as proposed: the bus</a:t>
            </a:r>
            <a:endParaRPr lang="en-US" sz="850" dirty="0"/>
          </a:p>
        </p:txBody>
      </p:sp>
      <p:sp>
        <p:nvSpPr>
          <p:cNvPr id="17" name="text-13"/>
          <p:cNvSpPr txBox="1"/>
          <p:nvPr/>
        </p:nvSpPr>
        <p:spPr>
          <a:xfrm>
            <a:off x="3310128" y="2889504"/>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needs: immutable, ordered,</a:t>
            </a:r>
            <a:endParaRPr lang="en-US" sz="850" dirty="0"/>
          </a:p>
        </p:txBody>
      </p:sp>
      <p:sp>
        <p:nvSpPr>
          <p:cNvPr id="18" name="text-14"/>
          <p:cNvSpPr txBox="1"/>
          <p:nvPr/>
        </p:nvSpPr>
        <p:spPr>
          <a:xfrm>
            <a:off x="3310128" y="3035808"/>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retained, replayable</a:t>
            </a:r>
            <a:endParaRPr lang="en-US" sz="850" dirty="0"/>
          </a:p>
        </p:txBody>
      </p:sp>
      <p:sp>
        <p:nvSpPr>
          <p:cNvPr id="19" name="text-15"/>
          <p:cNvSpPr txBox="1"/>
          <p:nvPr/>
        </p:nvSpPr>
        <p:spPr>
          <a:xfrm>
            <a:off x="3310128" y="3182112"/>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fan-out to every node</a:t>
            </a:r>
            <a:endParaRPr lang="en-US" sz="850" dirty="0"/>
          </a:p>
        </p:txBody>
      </p:sp>
      <p:sp>
        <p:nvSpPr>
          <p:cNvPr id="20" name="line-16"/>
          <p:cNvSpPr/>
          <p:nvPr/>
        </p:nvSpPr>
        <p:spPr>
          <a:xfrm>
            <a:off x="2377440" y="2880360"/>
            <a:ext cx="768096" cy="0"/>
          </a:xfrm>
          <a:prstGeom prst="line">
            <a:avLst/>
          </a:prstGeom>
          <a:noFill/>
          <a:ln w="31750">
            <a:solidFill>
              <a:srgbClr val="134E4A"/>
            </a:solidFill>
            <a:prstDash val="solid"/>
            <a:tailEnd type="triangle"/>
          </a:ln>
        </p:spPr>
      </p:sp>
      <p:sp>
        <p:nvSpPr>
          <p:cNvPr id="21" name="text-17"/>
          <p:cNvSpPr txBox="1"/>
          <p:nvPr/>
        </p:nvSpPr>
        <p:spPr>
          <a:xfrm>
            <a:off x="2377440" y="2651760"/>
            <a:ext cx="822960" cy="146304"/>
          </a:xfrm>
          <a:prstGeom prst="rect">
            <a:avLst/>
          </a:prstGeom>
          <a:noFill/>
          <a:ln/>
        </p:spPr>
        <p:txBody>
          <a:bodyPr wrap="square" lIns="0" tIns="0" rIns="0" bIns="0" rtlCol="0" anchor="ctr"/>
          <a:lstStyle/>
          <a:p>
            <a:pPr algn="ctr" indent="0" marL="0">
              <a:lnSpc>
                <a:spcPct val="100000"/>
              </a:lnSpc>
              <a:buNone/>
            </a:pPr>
            <a:r>
              <a:rPr lang="en-US" sz="800" b="1" dirty="0">
                <a:solidFill>
                  <a:srgbClr val="134E4A"/>
                </a:solidFill>
                <a:latin typeface="Calibri" pitchFamily="34" charset="0"/>
                <a:ea typeface="Calibri" pitchFamily="34" charset="-122"/>
                <a:cs typeface="Calibri" pitchFamily="34" charset="-120"/>
              </a:rPr>
              <a:t>publish</a:t>
            </a:r>
            <a:endParaRPr lang="en-US" sz="800" dirty="0"/>
          </a:p>
        </p:txBody>
      </p:sp>
      <p:sp>
        <p:nvSpPr>
          <p:cNvPr id="22" name="shape-18"/>
          <p:cNvSpPr/>
          <p:nvPr/>
        </p:nvSpPr>
        <p:spPr>
          <a:xfrm>
            <a:off x="4937760" y="1463040"/>
            <a:ext cx="1920240" cy="804672"/>
          </a:xfrm>
          <a:prstGeom prst="roundRect">
            <a:avLst>
              <a:gd name="adj" fmla="val 11364"/>
            </a:avLst>
          </a:prstGeom>
          <a:solidFill>
            <a:srgbClr val="0F766E"/>
          </a:solidFill>
          <a:ln w="12700">
            <a:solidFill>
              <a:srgbClr val="0F766E"/>
            </a:solidFill>
            <a:prstDash val="solid"/>
          </a:ln>
        </p:spPr>
      </p:sp>
      <p:pic>
        <p:nvPicPr>
          <p:cNvPr id="23" name="icon-19" descr="preencoded.png">    </p:cNvPr>
          <p:cNvPicPr>
            <a:picLocks noChangeAspect="1"/>
          </p:cNvPicPr>
          <p:nvPr/>
        </p:nvPicPr>
        <p:blipFill>
          <a:blip r:embed="rId3"/>
          <a:stretch>
            <a:fillRect/>
          </a:stretch>
        </p:blipFill>
        <p:spPr>
          <a:xfrm>
            <a:off x="5065776" y="1591056"/>
            <a:ext cx="201168" cy="201168"/>
          </a:xfrm>
          <a:prstGeom prst="rect">
            <a:avLst/>
          </a:prstGeom>
        </p:spPr>
      </p:pic>
      <p:sp>
        <p:nvSpPr>
          <p:cNvPr id="24" name="text-20"/>
          <p:cNvSpPr txBox="1"/>
          <p:nvPr/>
        </p:nvSpPr>
        <p:spPr>
          <a:xfrm>
            <a:off x="5340096" y="1572768"/>
            <a:ext cx="13716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Region 1</a:t>
            </a:r>
            <a:endParaRPr lang="en-US" sz="1100" dirty="0"/>
          </a:p>
        </p:txBody>
      </p:sp>
      <p:sp>
        <p:nvSpPr>
          <p:cNvPr id="25" name="text-21"/>
          <p:cNvSpPr txBox="1"/>
          <p:nvPr/>
        </p:nvSpPr>
        <p:spPr>
          <a:xfrm>
            <a:off x="5065776" y="1828800"/>
            <a:ext cx="1664208" cy="146304"/>
          </a:xfrm>
          <a:prstGeom prst="rect">
            <a:avLst/>
          </a:prstGeom>
          <a:noFill/>
          <a:ln/>
        </p:spPr>
        <p:txBody>
          <a:bodyPr wrap="square" lIns="0" tIns="0" rIns="0" bIns="0" rtlCol="0" anchor="ctr"/>
          <a:lstStyle/>
          <a:p>
            <a:pPr algn="l" indent="0" marL="0">
              <a:lnSpc>
                <a:spcPct val="100000"/>
              </a:lnSpc>
              <a:buNone/>
            </a:pPr>
            <a:r>
              <a:rPr lang="en-US" sz="800" i="1" dirty="0">
                <a:solidFill>
                  <a:srgbClr val="CFE8E5"/>
                </a:solidFill>
                <a:latin typeface="Calibri" pitchFamily="34" charset="0"/>
                <a:ea typeface="Calibri" pitchFamily="34" charset="-122"/>
                <a:cs typeface="Calibri" pitchFamily="34" charset="-120"/>
              </a:rPr>
              <a:t>primary for its users</a:t>
            </a:r>
            <a:endParaRPr lang="en-US" sz="800" dirty="0"/>
          </a:p>
        </p:txBody>
      </p:sp>
      <p:sp>
        <p:nvSpPr>
          <p:cNvPr id="26" name="text-22"/>
          <p:cNvSpPr txBox="1"/>
          <p:nvPr/>
        </p:nvSpPr>
        <p:spPr>
          <a:xfrm>
            <a:off x="5065776" y="1975104"/>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content vN · app · entitlement cache</a:t>
            </a:r>
            <a:endParaRPr lang="en-US" sz="850" dirty="0"/>
          </a:p>
        </p:txBody>
      </p:sp>
      <p:sp>
        <p:nvSpPr>
          <p:cNvPr id="27" name="text-23"/>
          <p:cNvSpPr txBox="1"/>
          <p:nvPr/>
        </p:nvSpPr>
        <p:spPr>
          <a:xfrm>
            <a:off x="5065776" y="2103120"/>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serves alone if the hub is down</a:t>
            </a:r>
            <a:endParaRPr lang="en-US" sz="850" dirty="0"/>
          </a:p>
        </p:txBody>
      </p:sp>
      <p:sp>
        <p:nvSpPr>
          <p:cNvPr id="28" name="line-24"/>
          <p:cNvSpPr/>
          <p:nvPr/>
        </p:nvSpPr>
        <p:spPr>
          <a:xfrm flipV="1">
            <a:off x="4572000" y="1865376"/>
            <a:ext cx="310896" cy="1014984"/>
          </a:xfrm>
          <a:prstGeom prst="line">
            <a:avLst/>
          </a:prstGeom>
          <a:noFill/>
          <a:ln w="19050">
            <a:solidFill>
              <a:srgbClr val="B45309"/>
            </a:solidFill>
            <a:prstDash val="sysDash"/>
            <a:tailEnd type="triangle"/>
          </a:ln>
        </p:spPr>
      </p:sp>
      <p:sp>
        <p:nvSpPr>
          <p:cNvPr id="29" name="shape-25"/>
          <p:cNvSpPr/>
          <p:nvPr/>
        </p:nvSpPr>
        <p:spPr>
          <a:xfrm>
            <a:off x="4937760" y="2377440"/>
            <a:ext cx="1920240" cy="804672"/>
          </a:xfrm>
          <a:prstGeom prst="roundRect">
            <a:avLst>
              <a:gd name="adj" fmla="val 11364"/>
            </a:avLst>
          </a:prstGeom>
          <a:solidFill>
            <a:srgbClr val="0F766E"/>
          </a:solidFill>
          <a:ln w="12700">
            <a:solidFill>
              <a:srgbClr val="0F766E"/>
            </a:solidFill>
            <a:prstDash val="solid"/>
          </a:ln>
        </p:spPr>
      </p:sp>
      <p:pic>
        <p:nvPicPr>
          <p:cNvPr id="30" name="icon-26" descr="preencoded.png">    </p:cNvPr>
          <p:cNvPicPr>
            <a:picLocks noChangeAspect="1"/>
          </p:cNvPicPr>
          <p:nvPr/>
        </p:nvPicPr>
        <p:blipFill>
          <a:blip r:embed="rId4"/>
          <a:stretch>
            <a:fillRect/>
          </a:stretch>
        </p:blipFill>
        <p:spPr>
          <a:xfrm>
            <a:off x="5065776" y="2505456"/>
            <a:ext cx="201168" cy="201168"/>
          </a:xfrm>
          <a:prstGeom prst="rect">
            <a:avLst/>
          </a:prstGeom>
        </p:spPr>
      </p:pic>
      <p:sp>
        <p:nvSpPr>
          <p:cNvPr id="31" name="text-27"/>
          <p:cNvSpPr txBox="1"/>
          <p:nvPr/>
        </p:nvSpPr>
        <p:spPr>
          <a:xfrm>
            <a:off x="5340096" y="2487168"/>
            <a:ext cx="13716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Region 2</a:t>
            </a:r>
            <a:endParaRPr lang="en-US" sz="1100" dirty="0"/>
          </a:p>
        </p:txBody>
      </p:sp>
      <p:sp>
        <p:nvSpPr>
          <p:cNvPr id="32" name="text-28"/>
          <p:cNvSpPr txBox="1"/>
          <p:nvPr/>
        </p:nvSpPr>
        <p:spPr>
          <a:xfrm>
            <a:off x="5065776" y="2743200"/>
            <a:ext cx="1664208" cy="146304"/>
          </a:xfrm>
          <a:prstGeom prst="rect">
            <a:avLst/>
          </a:prstGeom>
          <a:noFill/>
          <a:ln/>
        </p:spPr>
        <p:txBody>
          <a:bodyPr wrap="square" lIns="0" tIns="0" rIns="0" bIns="0" rtlCol="0" anchor="ctr"/>
          <a:lstStyle/>
          <a:p>
            <a:pPr algn="l" indent="0" marL="0">
              <a:lnSpc>
                <a:spcPct val="100000"/>
              </a:lnSpc>
              <a:buNone/>
            </a:pPr>
            <a:r>
              <a:rPr lang="en-US" sz="800" i="1" dirty="0">
                <a:solidFill>
                  <a:srgbClr val="CFE8E5"/>
                </a:solidFill>
                <a:latin typeface="Calibri" pitchFamily="34" charset="0"/>
                <a:ea typeface="Calibri" pitchFamily="34" charset="-122"/>
                <a:cs typeface="Calibri" pitchFamily="34" charset="-120"/>
              </a:rPr>
              <a:t>primary for its users</a:t>
            </a:r>
            <a:endParaRPr lang="en-US" sz="800" dirty="0"/>
          </a:p>
        </p:txBody>
      </p:sp>
      <p:sp>
        <p:nvSpPr>
          <p:cNvPr id="33" name="text-29"/>
          <p:cNvSpPr txBox="1"/>
          <p:nvPr/>
        </p:nvSpPr>
        <p:spPr>
          <a:xfrm>
            <a:off x="5065776" y="2889504"/>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content vN · app · entitlement cache</a:t>
            </a:r>
            <a:endParaRPr lang="en-US" sz="850" dirty="0"/>
          </a:p>
        </p:txBody>
      </p:sp>
      <p:sp>
        <p:nvSpPr>
          <p:cNvPr id="34" name="text-30"/>
          <p:cNvSpPr txBox="1"/>
          <p:nvPr/>
        </p:nvSpPr>
        <p:spPr>
          <a:xfrm>
            <a:off x="5065776" y="3017520"/>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serves alone if the hub is down</a:t>
            </a:r>
            <a:endParaRPr lang="en-US" sz="850" dirty="0"/>
          </a:p>
        </p:txBody>
      </p:sp>
      <p:sp>
        <p:nvSpPr>
          <p:cNvPr id="35" name="line-31"/>
          <p:cNvSpPr/>
          <p:nvPr/>
        </p:nvSpPr>
        <p:spPr>
          <a:xfrm flipV="1">
            <a:off x="4572000" y="2779776"/>
            <a:ext cx="310896" cy="100584"/>
          </a:xfrm>
          <a:prstGeom prst="line">
            <a:avLst/>
          </a:prstGeom>
          <a:noFill/>
          <a:ln w="19050">
            <a:solidFill>
              <a:srgbClr val="B45309"/>
            </a:solidFill>
            <a:prstDash val="sysDash"/>
            <a:tailEnd type="triangle"/>
          </a:ln>
        </p:spPr>
      </p:sp>
      <p:sp>
        <p:nvSpPr>
          <p:cNvPr id="36" name="shape-32"/>
          <p:cNvSpPr/>
          <p:nvPr/>
        </p:nvSpPr>
        <p:spPr>
          <a:xfrm>
            <a:off x="4937760" y="3291840"/>
            <a:ext cx="1920240" cy="804672"/>
          </a:xfrm>
          <a:prstGeom prst="roundRect">
            <a:avLst>
              <a:gd name="adj" fmla="val 11364"/>
            </a:avLst>
          </a:prstGeom>
          <a:solidFill>
            <a:srgbClr val="D6ECE9"/>
          </a:solidFill>
          <a:ln w="12700">
            <a:solidFill>
              <a:srgbClr val="D6ECE9"/>
            </a:solidFill>
            <a:prstDash val="solid"/>
          </a:ln>
        </p:spPr>
      </p:sp>
      <p:pic>
        <p:nvPicPr>
          <p:cNvPr id="37" name="icon-33" descr="preencoded.png">    </p:cNvPr>
          <p:cNvPicPr>
            <a:picLocks noChangeAspect="1"/>
          </p:cNvPicPr>
          <p:nvPr/>
        </p:nvPicPr>
        <p:blipFill>
          <a:blip r:embed="rId5"/>
          <a:stretch>
            <a:fillRect/>
          </a:stretch>
        </p:blipFill>
        <p:spPr>
          <a:xfrm>
            <a:off x="5065776" y="3419856"/>
            <a:ext cx="201168" cy="201168"/>
          </a:xfrm>
          <a:prstGeom prst="rect">
            <a:avLst/>
          </a:prstGeom>
        </p:spPr>
      </p:pic>
      <p:sp>
        <p:nvSpPr>
          <p:cNvPr id="38" name="text-34"/>
          <p:cNvSpPr txBox="1"/>
          <p:nvPr/>
        </p:nvSpPr>
        <p:spPr>
          <a:xfrm>
            <a:off x="5340096" y="3401568"/>
            <a:ext cx="13716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Region 3</a:t>
            </a:r>
            <a:endParaRPr lang="en-US" sz="1100" dirty="0"/>
          </a:p>
        </p:txBody>
      </p:sp>
      <p:sp>
        <p:nvSpPr>
          <p:cNvPr id="39" name="text-35"/>
          <p:cNvSpPr txBox="1"/>
          <p:nvPr/>
        </p:nvSpPr>
        <p:spPr>
          <a:xfrm>
            <a:off x="5065776" y="3657600"/>
            <a:ext cx="1664208" cy="146304"/>
          </a:xfrm>
          <a:prstGeom prst="rect">
            <a:avLst/>
          </a:prstGeom>
          <a:noFill/>
          <a:ln/>
        </p:spPr>
        <p:txBody>
          <a:bodyPr wrap="square" lIns="0" tIns="0" rIns="0" bIns="0" rtlCol="0" anchor="ctr"/>
          <a:lstStyle/>
          <a:p>
            <a:pPr algn="l" indent="0" marL="0">
              <a:lnSpc>
                <a:spcPct val="100000"/>
              </a:lnSpc>
              <a:buNone/>
            </a:pPr>
            <a:r>
              <a:rPr lang="en-US" sz="800" i="1" dirty="0">
                <a:solidFill>
                  <a:srgbClr val="5A6B75"/>
                </a:solidFill>
                <a:latin typeface="Calibri" pitchFamily="34" charset="0"/>
                <a:ea typeface="Calibri" pitchFamily="34" charset="-122"/>
                <a:cs typeface="Calibri" pitchFamily="34" charset="-120"/>
              </a:rPr>
              <a:t>standby + rebuild from log</a:t>
            </a:r>
            <a:endParaRPr lang="en-US" sz="800" dirty="0"/>
          </a:p>
        </p:txBody>
      </p:sp>
      <p:sp>
        <p:nvSpPr>
          <p:cNvPr id="40" name="text-36"/>
          <p:cNvSpPr txBox="1"/>
          <p:nvPr/>
        </p:nvSpPr>
        <p:spPr>
          <a:xfrm>
            <a:off x="5065776" y="3803904"/>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content vN · app · entitlement cache</a:t>
            </a:r>
            <a:endParaRPr lang="en-US" sz="850" dirty="0"/>
          </a:p>
        </p:txBody>
      </p:sp>
      <p:sp>
        <p:nvSpPr>
          <p:cNvPr id="41" name="text-37"/>
          <p:cNvSpPr txBox="1"/>
          <p:nvPr/>
        </p:nvSpPr>
        <p:spPr>
          <a:xfrm>
            <a:off x="5065776" y="3931920"/>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serves alone if the hub is down</a:t>
            </a:r>
            <a:endParaRPr lang="en-US" sz="850" dirty="0"/>
          </a:p>
        </p:txBody>
      </p:sp>
      <p:sp>
        <p:nvSpPr>
          <p:cNvPr id="42" name="line-38"/>
          <p:cNvSpPr/>
          <p:nvPr/>
        </p:nvSpPr>
        <p:spPr>
          <a:xfrm>
            <a:off x="4572000" y="2880360"/>
            <a:ext cx="310896" cy="813816"/>
          </a:xfrm>
          <a:prstGeom prst="line">
            <a:avLst/>
          </a:prstGeom>
          <a:noFill/>
          <a:ln w="19050">
            <a:solidFill>
              <a:srgbClr val="B45309"/>
            </a:solidFill>
            <a:prstDash val="sysDash"/>
            <a:tailEnd type="triangle"/>
          </a:ln>
        </p:spPr>
      </p:sp>
      <p:sp>
        <p:nvSpPr>
          <p:cNvPr id="43" name="text-39"/>
          <p:cNvSpPr txBox="1"/>
          <p:nvPr/>
        </p:nvSpPr>
        <p:spPr>
          <a:xfrm>
            <a:off x="4937760" y="4114800"/>
            <a:ext cx="1920240" cy="146304"/>
          </a:xfrm>
          <a:prstGeom prst="rect">
            <a:avLst/>
          </a:prstGeom>
          <a:noFill/>
          <a:ln/>
        </p:spPr>
        <p:txBody>
          <a:bodyPr wrap="square" lIns="0" tIns="0" rIns="0" bIns="0" rtlCol="0" anchor="ctr"/>
          <a:lstStyle/>
          <a:p>
            <a:pPr algn="ctr" indent="0" marL="0">
              <a:lnSpc>
                <a:spcPct val="100000"/>
              </a:lnSpc>
              <a:buNone/>
            </a:pPr>
            <a:r>
              <a:rPr lang="en-US" sz="850" i="1" dirty="0">
                <a:solidFill>
                  <a:srgbClr val="5A6B75"/>
                </a:solidFill>
                <a:latin typeface="Calibri" pitchFamily="34" charset="0"/>
                <a:ea typeface="Calibri" pitchFamily="34" charset="-122"/>
                <a:cs typeface="Calibri" pitchFamily="34" charset="-120"/>
              </a:rPr>
              <a:t>nodes are backups for each other</a:t>
            </a:r>
            <a:endParaRPr lang="en-US" sz="850" dirty="0"/>
          </a:p>
        </p:txBody>
      </p:sp>
      <p:sp>
        <p:nvSpPr>
          <p:cNvPr id="44" name="shape-40"/>
          <p:cNvSpPr/>
          <p:nvPr/>
        </p:nvSpPr>
        <p:spPr>
          <a:xfrm>
            <a:off x="8229600" y="1645920"/>
            <a:ext cx="1097280" cy="2286000"/>
          </a:xfrm>
          <a:prstGeom prst="roundRect">
            <a:avLst>
              <a:gd name="adj" fmla="val 8333"/>
            </a:avLst>
          </a:prstGeom>
          <a:solidFill>
            <a:srgbClr val="EEF2F4"/>
          </a:solidFill>
          <a:ln w="12700">
            <a:solidFill>
              <a:srgbClr val="EEF2F4"/>
            </a:solidFill>
            <a:prstDash val="solid"/>
          </a:ln>
        </p:spPr>
      </p:sp>
      <p:sp>
        <p:nvSpPr>
          <p:cNvPr id="45" name="text-41"/>
          <p:cNvSpPr txBox="1"/>
          <p:nvPr/>
        </p:nvSpPr>
        <p:spPr>
          <a:xfrm>
            <a:off x="8229600" y="1792224"/>
            <a:ext cx="1097280" cy="182880"/>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Multi-CDN edge</a:t>
            </a:r>
            <a:endParaRPr lang="en-US" sz="950" dirty="0"/>
          </a:p>
        </p:txBody>
      </p:sp>
      <p:sp>
        <p:nvSpPr>
          <p:cNvPr id="46" name="text-42"/>
          <p:cNvSpPr txBox="1"/>
          <p:nvPr/>
        </p:nvSpPr>
        <p:spPr>
          <a:xfrm>
            <a:off x="8302752" y="2029968"/>
            <a:ext cx="950976" cy="1188720"/>
          </a:xfrm>
          <a:prstGeom prst="rect">
            <a:avLst/>
          </a:prstGeom>
          <a:noFill/>
          <a:ln/>
        </p:spPr>
        <p:txBody>
          <a:bodyPr wrap="square" lIns="0" tIns="0" rIns="0" bIns="0" rtlCol="0" anchor="t"/>
          <a:lstStyle/>
          <a:p>
            <a:pPr algn="ctr" indent="0" marL="0">
              <a:lnSpc>
                <a:spcPct val="100000"/>
              </a:lnSpc>
              <a:buNone/>
            </a:pPr>
            <a:r>
              <a:rPr lang="en-US" sz="850" dirty="0">
                <a:solidFill>
                  <a:srgbClr val="5A6B75"/>
                </a:solidFill>
                <a:latin typeface="Calibri" pitchFamily="34" charset="0"/>
                <a:ea typeface="Calibri" pitchFamily="34" charset="-122"/>
                <a:cs typeface="Calibri" pitchFamily="34" charset="-120"/>
              </a:rPr>
              <a:t>published content cached at the edge</a:t>
            </a:r>
            <a:endParaRPr lang="en-US" sz="850" dirty="0"/>
          </a:p>
          <a:p>
            <a:pPr algn="ctr" indent="0" marL="0">
              <a:lnSpc>
                <a:spcPct val="100000"/>
              </a:lnSpc>
              <a:buNone/>
            </a:pPr>
            <a:endParaRPr lang="en-US" sz="850" dirty="0"/>
          </a:p>
          <a:p>
            <a:pPr algn="ctr" indent="0" marL="0">
              <a:lnSpc>
                <a:spcPct val="100000"/>
              </a:lnSpc>
              <a:buNone/>
            </a:pPr>
            <a:r>
              <a:rPr lang="en-US" sz="850" dirty="0">
                <a:solidFill>
                  <a:srgbClr val="5A6B75"/>
                </a:solidFill>
                <a:latin typeface="Calibri" pitchFamily="34" charset="0"/>
                <a:ea typeface="Calibri" pitchFamily="34" charset="-122"/>
                <a:cs typeface="Calibri" pitchFamily="34" charset="-120"/>
              </a:rPr>
              <a:t>anycast DNS and health-based routing to the nearest healthy node</a:t>
            </a:r>
            <a:endParaRPr lang="en-US" sz="850" dirty="0"/>
          </a:p>
        </p:txBody>
      </p:sp>
      <p:pic>
        <p:nvPicPr>
          <p:cNvPr id="47" name="icon-43" descr="preencoded.png">    </p:cNvPr>
          <p:cNvPicPr>
            <a:picLocks noChangeAspect="1"/>
          </p:cNvPicPr>
          <p:nvPr/>
        </p:nvPicPr>
        <p:blipFill>
          <a:blip r:embed="rId6"/>
          <a:stretch>
            <a:fillRect/>
          </a:stretch>
        </p:blipFill>
        <p:spPr>
          <a:xfrm>
            <a:off x="8668512" y="3474720"/>
            <a:ext cx="219456" cy="219456"/>
          </a:xfrm>
          <a:prstGeom prst="rect">
            <a:avLst/>
          </a:prstGeom>
        </p:spPr>
      </p:pic>
      <p:sp>
        <p:nvSpPr>
          <p:cNvPr id="48" name="line-44"/>
          <p:cNvSpPr/>
          <p:nvPr/>
        </p:nvSpPr>
        <p:spPr>
          <a:xfrm>
            <a:off x="6858000" y="1865376"/>
            <a:ext cx="1371600" cy="923544"/>
          </a:xfrm>
          <a:prstGeom prst="line">
            <a:avLst/>
          </a:prstGeom>
          <a:noFill/>
          <a:ln w="25400">
            <a:solidFill>
              <a:srgbClr val="0F766E"/>
            </a:solidFill>
            <a:prstDash val="solid"/>
          </a:ln>
        </p:spPr>
      </p:sp>
      <p:sp>
        <p:nvSpPr>
          <p:cNvPr id="49" name="line-45"/>
          <p:cNvSpPr/>
          <p:nvPr/>
        </p:nvSpPr>
        <p:spPr>
          <a:xfrm>
            <a:off x="6858000" y="2779776"/>
            <a:ext cx="1371600" cy="9144"/>
          </a:xfrm>
          <a:prstGeom prst="line">
            <a:avLst/>
          </a:prstGeom>
          <a:noFill/>
          <a:ln w="25400">
            <a:solidFill>
              <a:srgbClr val="0F766E"/>
            </a:solidFill>
            <a:prstDash val="solid"/>
          </a:ln>
        </p:spPr>
      </p:sp>
      <p:sp>
        <p:nvSpPr>
          <p:cNvPr id="50" name="line-46"/>
          <p:cNvSpPr/>
          <p:nvPr/>
        </p:nvSpPr>
        <p:spPr>
          <a:xfrm flipV="1">
            <a:off x="6858000" y="2788920"/>
            <a:ext cx="1371600" cy="905256"/>
          </a:xfrm>
          <a:prstGeom prst="line">
            <a:avLst/>
          </a:prstGeom>
          <a:noFill/>
          <a:ln w="25400">
            <a:solidFill>
              <a:srgbClr val="0F766E"/>
            </a:solidFill>
            <a:prstDash val="solid"/>
          </a:ln>
        </p:spPr>
      </p:sp>
      <p:sp>
        <p:nvSpPr>
          <p:cNvPr id="51" name="oval-47"/>
          <p:cNvSpPr/>
          <p:nvPr/>
        </p:nvSpPr>
        <p:spPr>
          <a:xfrm>
            <a:off x="9838944" y="2478024"/>
            <a:ext cx="621792" cy="621792"/>
          </a:xfrm>
          <a:prstGeom prst="ellipse">
            <a:avLst/>
          </a:prstGeom>
          <a:solidFill>
            <a:srgbClr val="134E4A"/>
          </a:solidFill>
          <a:ln w="12700">
            <a:solidFill>
              <a:srgbClr val="134E4A"/>
            </a:solidFill>
            <a:prstDash val="solid"/>
          </a:ln>
        </p:spPr>
      </p:sp>
      <p:pic>
        <p:nvPicPr>
          <p:cNvPr id="52" name="icon-48" descr="preencoded.png">    </p:cNvPr>
          <p:cNvPicPr>
            <a:picLocks noChangeAspect="1"/>
          </p:cNvPicPr>
          <p:nvPr/>
        </p:nvPicPr>
        <p:blipFill>
          <a:blip r:embed="rId7"/>
          <a:stretch>
            <a:fillRect/>
          </a:stretch>
        </p:blipFill>
        <p:spPr>
          <a:xfrm>
            <a:off x="10021824" y="2660904"/>
            <a:ext cx="256032" cy="256032"/>
          </a:xfrm>
          <a:prstGeom prst="rect">
            <a:avLst/>
          </a:prstGeom>
        </p:spPr>
      </p:pic>
      <p:sp>
        <p:nvSpPr>
          <p:cNvPr id="53" name="text-49"/>
          <p:cNvSpPr txBox="1"/>
          <p:nvPr/>
        </p:nvSpPr>
        <p:spPr>
          <a:xfrm>
            <a:off x="9144000" y="3163824"/>
            <a:ext cx="2011680" cy="365760"/>
          </a:xfrm>
          <a:prstGeom prst="rect">
            <a:avLst/>
          </a:prstGeom>
          <a:noFill/>
          <a:ln/>
        </p:spPr>
        <p:txBody>
          <a:bodyPr wrap="square" lIns="0" tIns="0" rIns="0" bIns="0" rtlCol="0" anchor="t"/>
          <a:lstStyle/>
          <a:p>
            <a:pPr algn="ctr" indent="0" marL="0">
              <a:lnSpc>
                <a:spcPct val="100000"/>
              </a:lnSpc>
              <a:buNone/>
            </a:pPr>
            <a:r>
              <a:rPr lang="en-US" sz="950" dirty="0">
                <a:solidFill>
                  <a:srgbClr val="1C2B33"/>
                </a:solidFill>
                <a:latin typeface="Calibri" pitchFamily="34" charset="0"/>
                <a:ea typeface="Calibri" pitchFamily="34" charset="-122"/>
                <a:cs typeface="Calibri" pitchFamily="34" charset="-120"/>
              </a:rPr>
              <a:t>clinicians, institutions,</a:t>
            </a:r>
            <a:endParaRPr lang="en-US" sz="950" dirty="0"/>
          </a:p>
          <a:p>
            <a:pPr algn="ctr" indent="0" marL="0">
              <a:lnSpc>
                <a:spcPct val="100000"/>
              </a:lnSpc>
              <a:buNone/>
            </a:pPr>
            <a:r>
              <a:rPr lang="en-US" sz="950" dirty="0">
                <a:solidFill>
                  <a:srgbClr val="1C2B33"/>
                </a:solidFill>
                <a:latin typeface="Calibri" pitchFamily="34" charset="0"/>
                <a:ea typeface="Calibri" pitchFamily="34" charset="-122"/>
                <a:cs typeface="Calibri" pitchFamily="34" charset="-120"/>
              </a:rPr>
              <a:t>third-party systems</a:t>
            </a:r>
            <a:endParaRPr lang="en-US" sz="950" dirty="0"/>
          </a:p>
        </p:txBody>
      </p:sp>
      <p:sp>
        <p:nvSpPr>
          <p:cNvPr id="54" name="line-50"/>
          <p:cNvSpPr/>
          <p:nvPr/>
        </p:nvSpPr>
        <p:spPr>
          <a:xfrm>
            <a:off x="9326880" y="2788920"/>
            <a:ext cx="493776" cy="0"/>
          </a:xfrm>
          <a:prstGeom prst="line">
            <a:avLst/>
          </a:prstGeom>
          <a:noFill/>
          <a:ln w="31750">
            <a:solidFill>
              <a:srgbClr val="134E4A"/>
            </a:solidFill>
            <a:prstDash val="solid"/>
          </a:ln>
        </p:spPr>
      </p:sp>
      <p:sp>
        <p:nvSpPr>
          <p:cNvPr id="55" name="shape-51"/>
          <p:cNvSpPr/>
          <p:nvPr/>
        </p:nvSpPr>
        <p:spPr>
          <a:xfrm>
            <a:off x="548640" y="4297680"/>
            <a:ext cx="5394960" cy="1792224"/>
          </a:xfrm>
          <a:prstGeom prst="roundRect">
            <a:avLst>
              <a:gd name="adj" fmla="val 4082"/>
            </a:avLst>
          </a:prstGeom>
          <a:solidFill>
            <a:srgbClr val="EEF2F4"/>
          </a:solidFill>
          <a:ln w="12700">
            <a:solidFill>
              <a:srgbClr val="EEF2F4"/>
            </a:solidFill>
            <a:prstDash val="solid"/>
          </a:ln>
        </p:spPr>
      </p:sp>
      <p:sp>
        <p:nvSpPr>
          <p:cNvPr id="56" name="text-52"/>
          <p:cNvSpPr txBox="1"/>
          <p:nvPr/>
        </p:nvSpPr>
        <p:spPr>
          <a:xfrm>
            <a:off x="749808" y="442569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ROLLBACK IN THIS WORLD</a:t>
            </a:r>
            <a:endParaRPr lang="en-US" sz="800" dirty="0"/>
          </a:p>
        </p:txBody>
      </p:sp>
      <p:sp>
        <p:nvSpPr>
          <p:cNvPr id="57" name="oval-53"/>
          <p:cNvSpPr/>
          <p:nvPr/>
        </p:nvSpPr>
        <p:spPr>
          <a:xfrm>
            <a:off x="754380" y="4796028"/>
            <a:ext cx="64008" cy="64008"/>
          </a:xfrm>
          <a:prstGeom prst="ellipse">
            <a:avLst/>
          </a:prstGeom>
          <a:solidFill>
            <a:srgbClr val="0F766E"/>
          </a:solidFill>
          <a:ln w="12700">
            <a:solidFill>
              <a:srgbClr val="0F766E"/>
            </a:solidFill>
            <a:prstDash val="solid"/>
          </a:ln>
        </p:spPr>
      </p:sp>
      <p:sp>
        <p:nvSpPr>
          <p:cNvPr id="58" name="text-54"/>
          <p:cNvSpPr txBox="1"/>
          <p:nvPr/>
        </p:nvSpPr>
        <p:spPr>
          <a:xfrm>
            <a:off x="914400" y="4700016"/>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Every node holds the last N manifests; rolling back is re-pointing to vN-1 — seconds, no redeploy</a:t>
            </a:r>
            <a:endParaRPr lang="en-US" sz="950" dirty="0"/>
          </a:p>
        </p:txBody>
      </p:sp>
      <p:sp>
        <p:nvSpPr>
          <p:cNvPr id="59" name="oval-55"/>
          <p:cNvSpPr/>
          <p:nvPr/>
        </p:nvSpPr>
        <p:spPr>
          <a:xfrm>
            <a:off x="754380" y="5106924"/>
            <a:ext cx="64008" cy="64008"/>
          </a:xfrm>
          <a:prstGeom prst="ellipse">
            <a:avLst/>
          </a:prstGeom>
          <a:solidFill>
            <a:srgbClr val="0F766E"/>
          </a:solidFill>
          <a:ln w="12700">
            <a:solidFill>
              <a:srgbClr val="0F766E"/>
            </a:solidFill>
            <a:prstDash val="solid"/>
          </a:ln>
        </p:spPr>
      </p:sp>
      <p:sp>
        <p:nvSpPr>
          <p:cNvPr id="60" name="text-56"/>
          <p:cNvSpPr txBox="1"/>
          <p:nvPr/>
        </p:nvSpPr>
        <p:spPr>
          <a:xfrm>
            <a:off x="914400" y="5010912"/>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Content and code roll back together, because the manifest binds them</a:t>
            </a:r>
            <a:endParaRPr lang="en-US" sz="950" dirty="0"/>
          </a:p>
        </p:txBody>
      </p:sp>
      <p:sp>
        <p:nvSpPr>
          <p:cNvPr id="61" name="oval-57"/>
          <p:cNvSpPr/>
          <p:nvPr/>
        </p:nvSpPr>
        <p:spPr>
          <a:xfrm>
            <a:off x="754380" y="5417820"/>
            <a:ext cx="64008" cy="64008"/>
          </a:xfrm>
          <a:prstGeom prst="ellipse">
            <a:avLst/>
          </a:prstGeom>
          <a:solidFill>
            <a:srgbClr val="0F766E"/>
          </a:solidFill>
          <a:ln w="12700">
            <a:solidFill>
              <a:srgbClr val="0F766E"/>
            </a:solidFill>
            <a:prstDash val="solid"/>
          </a:ln>
        </p:spPr>
      </p:sp>
      <p:sp>
        <p:nvSpPr>
          <p:cNvPr id="62" name="text-58"/>
          <p:cNvSpPr txBox="1"/>
          <p:nvPr/>
        </p:nvSpPr>
        <p:spPr>
          <a:xfrm>
            <a:off x="914400" y="5321808"/>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A lost node is rebuilt by replaying the log from a known offset — no backups to restore first</a:t>
            </a:r>
            <a:endParaRPr lang="en-US" sz="950" dirty="0"/>
          </a:p>
        </p:txBody>
      </p:sp>
      <p:sp>
        <p:nvSpPr>
          <p:cNvPr id="63" name="oval-59"/>
          <p:cNvSpPr/>
          <p:nvPr/>
        </p:nvSpPr>
        <p:spPr>
          <a:xfrm>
            <a:off x="754380" y="5728716"/>
            <a:ext cx="64008" cy="64008"/>
          </a:xfrm>
          <a:prstGeom prst="ellipse">
            <a:avLst/>
          </a:prstGeom>
          <a:solidFill>
            <a:srgbClr val="0F766E"/>
          </a:solidFill>
          <a:ln w="12700">
            <a:solidFill>
              <a:srgbClr val="0F766E"/>
            </a:solidFill>
            <a:prstDash val="solid"/>
          </a:ln>
        </p:spPr>
      </p:sp>
      <p:sp>
        <p:nvSpPr>
          <p:cNvPr id="64" name="text-60"/>
          <p:cNvSpPr txBox="1"/>
          <p:nvPr/>
        </p:nvSpPr>
        <p:spPr>
          <a:xfrm>
            <a:off x="914400" y="5632704"/>
            <a:ext cx="4846320" cy="27432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Canary = publish vN to one node or cohort, watch the SLO, then fan out</a:t>
            </a:r>
            <a:endParaRPr lang="en-US" sz="950" dirty="0"/>
          </a:p>
        </p:txBody>
      </p:sp>
      <p:sp>
        <p:nvSpPr>
          <p:cNvPr id="65" name="shape-61"/>
          <p:cNvSpPr/>
          <p:nvPr/>
        </p:nvSpPr>
        <p:spPr>
          <a:xfrm>
            <a:off x="6126480" y="4297680"/>
            <a:ext cx="5486400" cy="1792224"/>
          </a:xfrm>
          <a:prstGeom prst="roundRect">
            <a:avLst>
              <a:gd name="adj" fmla="val 4082"/>
            </a:avLst>
          </a:prstGeom>
          <a:solidFill>
            <a:srgbClr val="FDF1E3"/>
          </a:solidFill>
          <a:ln w="12700">
            <a:solidFill>
              <a:srgbClr val="FDF1E3"/>
            </a:solidFill>
            <a:prstDash val="solid"/>
          </a:ln>
        </p:spPr>
      </p:sp>
      <p:sp>
        <p:nvSpPr>
          <p:cNvPr id="66" name="text-62"/>
          <p:cNvSpPr txBox="1"/>
          <p:nvPr/>
        </p:nvSpPr>
        <p:spPr>
          <a:xfrm>
            <a:off x="6327648" y="442569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B45309"/>
                </a:solidFill>
                <a:latin typeface="Calibri" pitchFamily="34" charset="0"/>
                <a:ea typeface="Calibri" pitchFamily="34" charset="-122"/>
                <a:cs typeface="Calibri" pitchFamily="34" charset="-120"/>
              </a:rPr>
              <a:t>OTHER CONSIDERATIONS — TO EVALUATE AT GATE 2, NOT CHANGES</a:t>
            </a:r>
            <a:endParaRPr lang="en-US" sz="800" dirty="0"/>
          </a:p>
        </p:txBody>
      </p:sp>
      <p:sp>
        <p:nvSpPr>
          <p:cNvPr id="67" name="text-63"/>
          <p:cNvSpPr txBox="1"/>
          <p:nvPr/>
        </p:nvSpPr>
        <p:spPr>
          <a:xfrm>
            <a:off x="6327648" y="4718304"/>
            <a:ext cx="2834640" cy="182880"/>
          </a:xfrm>
          <a:prstGeom prst="rect">
            <a:avLst/>
          </a:prstGeom>
          <a:noFill/>
          <a:ln/>
        </p:spPr>
        <p:txBody>
          <a:bodyPr wrap="square" lIns="0" tIns="0" rIns="0" bIns="0" rtlCol="0" anchor="ctr"/>
          <a:lstStyle/>
          <a:p>
            <a:pPr algn="l" indent="0" marL="0">
              <a:lnSpc>
                <a:spcPct val="100000"/>
              </a:lnSpc>
              <a:buNone/>
            </a:pPr>
            <a:r>
              <a:rPr lang="en-US" sz="900" b="1" dirty="0">
                <a:solidFill>
                  <a:srgbClr val="1C2B33"/>
                </a:solidFill>
                <a:latin typeface="Calibri" pitchFamily="34" charset="0"/>
                <a:ea typeface="Calibri" pitchFamily="34" charset="-122"/>
                <a:cs typeface="Calibri" pitchFamily="34" charset="-120"/>
              </a:rPr>
              <a:t>Event backbone: replay and ordering for the product path</a:t>
            </a:r>
            <a:endParaRPr lang="en-US" sz="900" dirty="0"/>
          </a:p>
        </p:txBody>
      </p:sp>
      <p:sp>
        <p:nvSpPr>
          <p:cNvPr id="68" name="shape-64"/>
          <p:cNvSpPr/>
          <p:nvPr/>
        </p:nvSpPr>
        <p:spPr>
          <a:xfrm>
            <a:off x="9235440" y="4718304"/>
            <a:ext cx="1078992" cy="155448"/>
          </a:xfrm>
          <a:prstGeom prst="roundRect">
            <a:avLst>
              <a:gd name="adj" fmla="val 50000"/>
            </a:avLst>
          </a:prstGeom>
          <a:solidFill>
            <a:srgbClr val="B45309"/>
          </a:solidFill>
          <a:ln w="12700">
            <a:solidFill>
              <a:srgbClr val="B45309"/>
            </a:solidFill>
            <a:prstDash val="solid"/>
          </a:ln>
        </p:spPr>
      </p:sp>
      <p:sp>
        <p:nvSpPr>
          <p:cNvPr id="69" name="text-65"/>
          <p:cNvSpPr txBox="1"/>
          <p:nvPr/>
        </p:nvSpPr>
        <p:spPr>
          <a:xfrm>
            <a:off x="9235440" y="4718304"/>
            <a:ext cx="1078992"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Kafka-class log</a:t>
            </a:r>
            <a:endParaRPr lang="en-US" sz="750" dirty="0"/>
          </a:p>
        </p:txBody>
      </p:sp>
      <p:sp>
        <p:nvSpPr>
          <p:cNvPr id="70" name="text-66"/>
          <p:cNvSpPr txBox="1"/>
          <p:nvPr/>
        </p:nvSpPr>
        <p:spPr>
          <a:xfrm>
            <a:off x="10387584" y="4718304"/>
            <a:ext cx="118872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bus as proposed otherwise</a:t>
            </a:r>
            <a:endParaRPr lang="en-US" sz="800" dirty="0"/>
          </a:p>
        </p:txBody>
      </p:sp>
      <p:sp>
        <p:nvSpPr>
          <p:cNvPr id="71" name="text-67"/>
          <p:cNvSpPr txBox="1"/>
          <p:nvPr/>
        </p:nvSpPr>
        <p:spPr>
          <a:xfrm>
            <a:off x="6327648" y="4974336"/>
            <a:ext cx="2834640" cy="182880"/>
          </a:xfrm>
          <a:prstGeom prst="rect">
            <a:avLst/>
          </a:prstGeom>
          <a:noFill/>
          <a:ln/>
        </p:spPr>
        <p:txBody>
          <a:bodyPr wrap="square" lIns="0" tIns="0" rIns="0" bIns="0" rtlCol="0" anchor="ctr"/>
          <a:lstStyle/>
          <a:p>
            <a:pPr algn="l" indent="0" marL="0">
              <a:lnSpc>
                <a:spcPct val="100000"/>
              </a:lnSpc>
              <a:buNone/>
            </a:pPr>
            <a:r>
              <a:rPr lang="en-US" sz="900" b="1" dirty="0">
                <a:solidFill>
                  <a:srgbClr val="1C2B33"/>
                </a:solidFill>
                <a:latin typeface="Calibri" pitchFamily="34" charset="0"/>
                <a:ea typeface="Calibri" pitchFamily="34" charset="-122"/>
                <a:cs typeface="Calibri" pitchFamily="34" charset="-120"/>
              </a:rPr>
              <a:t>Institutional single sign-on for universities and hospitals</a:t>
            </a:r>
            <a:endParaRPr lang="en-US" sz="900" dirty="0"/>
          </a:p>
        </p:txBody>
      </p:sp>
      <p:sp>
        <p:nvSpPr>
          <p:cNvPr id="72" name="shape-68"/>
          <p:cNvSpPr/>
          <p:nvPr/>
        </p:nvSpPr>
        <p:spPr>
          <a:xfrm>
            <a:off x="9235440" y="4974336"/>
            <a:ext cx="1078992" cy="155448"/>
          </a:xfrm>
          <a:prstGeom prst="roundRect">
            <a:avLst>
              <a:gd name="adj" fmla="val 50000"/>
            </a:avLst>
          </a:prstGeom>
          <a:solidFill>
            <a:srgbClr val="B45309"/>
          </a:solidFill>
          <a:ln w="12700">
            <a:solidFill>
              <a:srgbClr val="B45309"/>
            </a:solidFill>
            <a:prstDash val="solid"/>
          </a:ln>
        </p:spPr>
      </p:sp>
      <p:sp>
        <p:nvSpPr>
          <p:cNvPr id="73" name="text-69"/>
          <p:cNvSpPr txBox="1"/>
          <p:nvPr/>
        </p:nvSpPr>
        <p:spPr>
          <a:xfrm>
            <a:off x="9235440" y="4974336"/>
            <a:ext cx="1078992"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Shibboleth / SAML</a:t>
            </a:r>
            <a:endParaRPr lang="en-US" sz="750" dirty="0"/>
          </a:p>
        </p:txBody>
      </p:sp>
      <p:sp>
        <p:nvSpPr>
          <p:cNvPr id="74" name="text-70"/>
          <p:cNvSpPr txBox="1"/>
          <p:nvPr/>
        </p:nvSpPr>
        <p:spPr>
          <a:xfrm>
            <a:off x="10387584" y="4974336"/>
            <a:ext cx="118872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via the identity plane</a:t>
            </a:r>
            <a:endParaRPr lang="en-US" sz="800" dirty="0"/>
          </a:p>
        </p:txBody>
      </p:sp>
      <p:sp>
        <p:nvSpPr>
          <p:cNvPr id="75" name="text-71"/>
          <p:cNvSpPr txBox="1"/>
          <p:nvPr/>
        </p:nvSpPr>
        <p:spPr>
          <a:xfrm>
            <a:off x="6327648" y="5230368"/>
            <a:ext cx="2834640" cy="182880"/>
          </a:xfrm>
          <a:prstGeom prst="rect">
            <a:avLst/>
          </a:prstGeom>
          <a:noFill/>
          <a:ln/>
        </p:spPr>
        <p:txBody>
          <a:bodyPr wrap="square" lIns="0" tIns="0" rIns="0" bIns="0" rtlCol="0" anchor="ctr"/>
          <a:lstStyle/>
          <a:p>
            <a:pPr algn="l" indent="0" marL="0">
              <a:lnSpc>
                <a:spcPct val="100000"/>
              </a:lnSpc>
              <a:buNone/>
            </a:pPr>
            <a:r>
              <a:rPr lang="en-US" sz="900" b="1" dirty="0">
                <a:solidFill>
                  <a:srgbClr val="1C2B33"/>
                </a:solidFill>
                <a:latin typeface="Calibri" pitchFamily="34" charset="0"/>
                <a:ea typeface="Calibri" pitchFamily="34" charset="-122"/>
                <a:cs typeface="Calibri" pitchFamily="34" charset="-120"/>
              </a:rPr>
              <a:t>Learning-platform integration</a:t>
            </a:r>
            <a:endParaRPr lang="en-US" sz="900" dirty="0"/>
          </a:p>
        </p:txBody>
      </p:sp>
      <p:sp>
        <p:nvSpPr>
          <p:cNvPr id="76" name="shape-72"/>
          <p:cNvSpPr/>
          <p:nvPr/>
        </p:nvSpPr>
        <p:spPr>
          <a:xfrm>
            <a:off x="9235440" y="5230368"/>
            <a:ext cx="1078992" cy="155448"/>
          </a:xfrm>
          <a:prstGeom prst="roundRect">
            <a:avLst>
              <a:gd name="adj" fmla="val 50000"/>
            </a:avLst>
          </a:prstGeom>
          <a:solidFill>
            <a:srgbClr val="B45309"/>
          </a:solidFill>
          <a:ln w="12700">
            <a:solidFill>
              <a:srgbClr val="B45309"/>
            </a:solidFill>
            <a:prstDash val="solid"/>
          </a:ln>
        </p:spPr>
      </p:sp>
      <p:sp>
        <p:nvSpPr>
          <p:cNvPr id="77" name="text-73"/>
          <p:cNvSpPr txBox="1"/>
          <p:nvPr/>
        </p:nvSpPr>
        <p:spPr>
          <a:xfrm>
            <a:off x="9235440" y="5230368"/>
            <a:ext cx="1078992"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LTI / LIS</a:t>
            </a:r>
            <a:endParaRPr lang="en-US" sz="750" dirty="0"/>
          </a:p>
        </p:txBody>
      </p:sp>
      <p:sp>
        <p:nvSpPr>
          <p:cNvPr id="78" name="text-74"/>
          <p:cNvSpPr txBox="1"/>
          <p:nvPr/>
        </p:nvSpPr>
        <p:spPr>
          <a:xfrm>
            <a:off x="10387584" y="5230368"/>
            <a:ext cx="118872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where institutions embed content</a:t>
            </a:r>
            <a:endParaRPr lang="en-US" sz="800" dirty="0"/>
          </a:p>
        </p:txBody>
      </p:sp>
      <p:sp>
        <p:nvSpPr>
          <p:cNvPr id="79" name="text-75"/>
          <p:cNvSpPr txBox="1"/>
          <p:nvPr/>
        </p:nvSpPr>
        <p:spPr>
          <a:xfrm>
            <a:off x="6327648" y="5486400"/>
            <a:ext cx="2834640" cy="182880"/>
          </a:xfrm>
          <a:prstGeom prst="rect">
            <a:avLst/>
          </a:prstGeom>
          <a:noFill/>
          <a:ln/>
        </p:spPr>
        <p:txBody>
          <a:bodyPr wrap="square" lIns="0" tIns="0" rIns="0" bIns="0" rtlCol="0" anchor="ctr"/>
          <a:lstStyle/>
          <a:p>
            <a:pPr algn="l" indent="0" marL="0">
              <a:lnSpc>
                <a:spcPct val="100000"/>
              </a:lnSpc>
              <a:buNone/>
            </a:pPr>
            <a:r>
              <a:rPr lang="en-US" sz="900" b="1" dirty="0">
                <a:solidFill>
                  <a:srgbClr val="1C2B33"/>
                </a:solidFill>
                <a:latin typeface="Calibri" pitchFamily="34" charset="0"/>
                <a:ea typeface="Calibri" pitchFamily="34" charset="-122"/>
                <a:cs typeface="Calibri" pitchFamily="34" charset="-120"/>
              </a:rPr>
              <a:t>Clinical and prescribing system integration</a:t>
            </a:r>
            <a:endParaRPr lang="en-US" sz="900" dirty="0"/>
          </a:p>
        </p:txBody>
      </p:sp>
      <p:sp>
        <p:nvSpPr>
          <p:cNvPr id="80" name="shape-76"/>
          <p:cNvSpPr/>
          <p:nvPr/>
        </p:nvSpPr>
        <p:spPr>
          <a:xfrm>
            <a:off x="9235440" y="5486400"/>
            <a:ext cx="1078992" cy="155448"/>
          </a:xfrm>
          <a:prstGeom prst="roundRect">
            <a:avLst>
              <a:gd name="adj" fmla="val 50000"/>
            </a:avLst>
          </a:prstGeom>
          <a:solidFill>
            <a:srgbClr val="B45309"/>
          </a:solidFill>
          <a:ln w="12700">
            <a:solidFill>
              <a:srgbClr val="B45309"/>
            </a:solidFill>
            <a:prstDash val="solid"/>
          </a:ln>
        </p:spPr>
      </p:sp>
      <p:sp>
        <p:nvSpPr>
          <p:cNvPr id="81" name="text-77"/>
          <p:cNvSpPr txBox="1"/>
          <p:nvPr/>
        </p:nvSpPr>
        <p:spPr>
          <a:xfrm>
            <a:off x="9235440" y="5486400"/>
            <a:ext cx="1078992"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clinical standards</a:t>
            </a:r>
            <a:endParaRPr lang="en-US" sz="750" dirty="0"/>
          </a:p>
        </p:txBody>
      </p:sp>
      <p:sp>
        <p:nvSpPr>
          <p:cNvPr id="82" name="text-78"/>
          <p:cNvSpPr txBox="1"/>
          <p:nvPr/>
        </p:nvSpPr>
        <p:spPr>
          <a:xfrm>
            <a:off x="10387584" y="5486400"/>
            <a:ext cx="118872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contracts before connections</a:t>
            </a:r>
            <a:endParaRPr lang="en-US" sz="800" dirty="0"/>
          </a:p>
        </p:txBody>
      </p:sp>
      <p:sp>
        <p:nvSpPr>
          <p:cNvPr id="83" name="text-79"/>
          <p:cNvSpPr txBox="1"/>
          <p:nvPr/>
        </p:nvSpPr>
        <p:spPr>
          <a:xfrm>
            <a:off x="6327648" y="5742432"/>
            <a:ext cx="2834640" cy="182880"/>
          </a:xfrm>
          <a:prstGeom prst="rect">
            <a:avLst/>
          </a:prstGeom>
          <a:noFill/>
          <a:ln/>
        </p:spPr>
        <p:txBody>
          <a:bodyPr wrap="square" lIns="0" tIns="0" rIns="0" bIns="0" rtlCol="0" anchor="ctr"/>
          <a:lstStyle/>
          <a:p>
            <a:pPr algn="l" indent="0" marL="0">
              <a:lnSpc>
                <a:spcPct val="100000"/>
              </a:lnSpc>
              <a:buNone/>
            </a:pPr>
            <a:r>
              <a:rPr lang="en-US" sz="900" b="1" dirty="0">
                <a:solidFill>
                  <a:srgbClr val="1C2B33"/>
                </a:solidFill>
                <a:latin typeface="Calibri" pitchFamily="34" charset="0"/>
                <a:ea typeface="Calibri" pitchFamily="34" charset="-122"/>
                <a:cs typeface="Calibri" pitchFamily="34" charset="-120"/>
              </a:rPr>
              <a:t>Operating any of it with a team of six</a:t>
            </a:r>
            <a:endParaRPr lang="en-US" sz="900" dirty="0"/>
          </a:p>
        </p:txBody>
      </p:sp>
      <p:sp>
        <p:nvSpPr>
          <p:cNvPr id="84" name="shape-80"/>
          <p:cNvSpPr/>
          <p:nvPr/>
        </p:nvSpPr>
        <p:spPr>
          <a:xfrm>
            <a:off x="9235440" y="5742432"/>
            <a:ext cx="1078992" cy="155448"/>
          </a:xfrm>
          <a:prstGeom prst="roundRect">
            <a:avLst>
              <a:gd name="adj" fmla="val 50000"/>
            </a:avLst>
          </a:prstGeom>
          <a:solidFill>
            <a:srgbClr val="B45309"/>
          </a:solidFill>
          <a:ln w="12700">
            <a:solidFill>
              <a:srgbClr val="B45309"/>
            </a:solidFill>
            <a:prstDash val="solid"/>
          </a:ln>
        </p:spPr>
      </p:sp>
      <p:sp>
        <p:nvSpPr>
          <p:cNvPr id="85" name="text-81"/>
          <p:cNvSpPr txBox="1"/>
          <p:nvPr/>
        </p:nvSpPr>
        <p:spPr>
          <a:xfrm>
            <a:off x="9235440" y="5742432"/>
            <a:ext cx="1078992"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managed only</a:t>
            </a:r>
            <a:endParaRPr lang="en-US" sz="750" dirty="0"/>
          </a:p>
        </p:txBody>
      </p:sp>
      <p:sp>
        <p:nvSpPr>
          <p:cNvPr id="86" name="text-82"/>
          <p:cNvSpPr txBox="1"/>
          <p:nvPr/>
        </p:nvSpPr>
        <p:spPr>
          <a:xfrm>
            <a:off x="10387584" y="5742432"/>
            <a:ext cx="118872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never self-run</a:t>
            </a:r>
            <a:endParaRPr lang="en-US" sz="8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6  ·  THE TEAM THE NEXT STAGE NEEDS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A minimum viable team of six, and the options Gate 2 decides</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text-2"/>
          <p:cNvSpPr txBox="1"/>
          <p:nvPr/>
        </p:nvSpPr>
        <p:spPr>
          <a:xfrm>
            <a:off x="54864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MINIMUM VIABLE TEAM — WHO OWNS WHAT</a:t>
            </a:r>
            <a:endParaRPr lang="en-US" sz="800" dirty="0"/>
          </a:p>
        </p:txBody>
      </p:sp>
      <p:sp>
        <p:nvSpPr>
          <p:cNvPr id="7" name="shape-3"/>
          <p:cNvSpPr/>
          <p:nvPr/>
        </p:nvSpPr>
        <p:spPr>
          <a:xfrm>
            <a:off x="548640" y="1682496"/>
            <a:ext cx="6949440" cy="548640"/>
          </a:xfrm>
          <a:prstGeom prst="roundRect">
            <a:avLst>
              <a:gd name="adj" fmla="val 13333"/>
            </a:avLst>
          </a:prstGeom>
          <a:solidFill>
            <a:srgbClr val="134E4A"/>
          </a:solidFill>
          <a:ln w="12700">
            <a:solidFill>
              <a:srgbClr val="134E4A"/>
            </a:solidFill>
            <a:prstDash val="solid"/>
          </a:ln>
        </p:spPr>
      </p:sp>
      <p:sp>
        <p:nvSpPr>
          <p:cNvPr id="8" name="text-4"/>
          <p:cNvSpPr txBox="1"/>
          <p:nvPr/>
        </p:nvSpPr>
        <p:spPr>
          <a:xfrm>
            <a:off x="713232" y="168249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FFFFFF"/>
                </a:solidFill>
                <a:latin typeface="Calibri" pitchFamily="34" charset="0"/>
                <a:ea typeface="Calibri" pitchFamily="34" charset="-122"/>
                <a:cs typeface="Calibri" pitchFamily="34" charset="-120"/>
              </a:rPr>
              <a:t>CTO</a:t>
            </a:r>
            <a:endParaRPr lang="en-US" sz="1350" dirty="0"/>
          </a:p>
        </p:txBody>
      </p:sp>
      <p:sp>
        <p:nvSpPr>
          <p:cNvPr id="9" name="text-5"/>
          <p:cNvSpPr txBox="1"/>
          <p:nvPr/>
        </p:nvSpPr>
        <p:spPr>
          <a:xfrm>
            <a:off x="3200400" y="168249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CFE8E5"/>
                </a:solidFill>
                <a:latin typeface="Calibri" pitchFamily="34" charset="0"/>
                <a:ea typeface="Calibri" pitchFamily="34" charset="-122"/>
                <a:cs typeface="Calibri" pitchFamily="34" charset="-120"/>
              </a:rPr>
              <a:t>Strategy, architecture, transformation, PM, roadmap</a:t>
            </a:r>
            <a:endParaRPr lang="en-US" sz="1050" dirty="0"/>
          </a:p>
        </p:txBody>
      </p:sp>
      <p:sp>
        <p:nvSpPr>
          <p:cNvPr id="10" name="shape-6"/>
          <p:cNvSpPr/>
          <p:nvPr/>
        </p:nvSpPr>
        <p:spPr>
          <a:xfrm>
            <a:off x="7205472" y="1892808"/>
            <a:ext cx="201168" cy="146304"/>
          </a:xfrm>
          <a:prstGeom prst="roundRect">
            <a:avLst>
              <a:gd name="adj" fmla="val 50000"/>
            </a:avLst>
          </a:prstGeom>
          <a:solidFill>
            <a:srgbClr val="0F766E"/>
          </a:solidFill>
          <a:ln w="12700">
            <a:solidFill>
              <a:srgbClr val="0F766E"/>
            </a:solidFill>
            <a:prstDash val="solid"/>
          </a:ln>
        </p:spPr>
      </p:sp>
      <p:sp>
        <p:nvSpPr>
          <p:cNvPr id="11" name="text-7"/>
          <p:cNvSpPr txBox="1"/>
          <p:nvPr/>
        </p:nvSpPr>
        <p:spPr>
          <a:xfrm>
            <a:off x="7205472"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12" name="shape-8"/>
          <p:cNvSpPr/>
          <p:nvPr/>
        </p:nvSpPr>
        <p:spPr>
          <a:xfrm>
            <a:off x="6949440" y="1892808"/>
            <a:ext cx="201168" cy="146304"/>
          </a:xfrm>
          <a:prstGeom prst="roundRect">
            <a:avLst>
              <a:gd name="adj" fmla="val 50000"/>
            </a:avLst>
          </a:prstGeom>
          <a:solidFill>
            <a:srgbClr val="0F766E"/>
          </a:solidFill>
          <a:ln w="12700">
            <a:solidFill>
              <a:srgbClr val="0F766E"/>
            </a:solidFill>
            <a:prstDash val="solid"/>
          </a:ln>
        </p:spPr>
      </p:sp>
      <p:sp>
        <p:nvSpPr>
          <p:cNvPr id="13" name="text-9"/>
          <p:cNvSpPr txBox="1"/>
          <p:nvPr/>
        </p:nvSpPr>
        <p:spPr>
          <a:xfrm>
            <a:off x="6949440"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14" name="shape-10"/>
          <p:cNvSpPr/>
          <p:nvPr/>
        </p:nvSpPr>
        <p:spPr>
          <a:xfrm>
            <a:off x="6693408" y="1892808"/>
            <a:ext cx="201168" cy="146304"/>
          </a:xfrm>
          <a:prstGeom prst="roundRect">
            <a:avLst>
              <a:gd name="adj" fmla="val 50000"/>
            </a:avLst>
          </a:prstGeom>
          <a:solidFill>
            <a:srgbClr val="8A99A3"/>
          </a:solidFill>
          <a:ln w="12700">
            <a:solidFill>
              <a:srgbClr val="8A99A3"/>
            </a:solidFill>
            <a:prstDash val="solid"/>
          </a:ln>
        </p:spPr>
      </p:sp>
      <p:sp>
        <p:nvSpPr>
          <p:cNvPr id="15" name="text-11"/>
          <p:cNvSpPr txBox="1"/>
          <p:nvPr/>
        </p:nvSpPr>
        <p:spPr>
          <a:xfrm>
            <a:off x="6693408"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16" name="shape-12"/>
          <p:cNvSpPr/>
          <p:nvPr/>
        </p:nvSpPr>
        <p:spPr>
          <a:xfrm>
            <a:off x="6437376" y="1892808"/>
            <a:ext cx="201168" cy="146304"/>
          </a:xfrm>
          <a:prstGeom prst="roundRect">
            <a:avLst>
              <a:gd name="adj" fmla="val 50000"/>
            </a:avLst>
          </a:prstGeom>
          <a:solidFill>
            <a:srgbClr val="B45309"/>
          </a:solidFill>
          <a:ln w="12700">
            <a:solidFill>
              <a:srgbClr val="B45309"/>
            </a:solidFill>
            <a:prstDash val="solid"/>
          </a:ln>
        </p:spPr>
      </p:sp>
      <p:sp>
        <p:nvSpPr>
          <p:cNvPr id="17" name="text-13"/>
          <p:cNvSpPr txBox="1"/>
          <p:nvPr/>
        </p:nvSpPr>
        <p:spPr>
          <a:xfrm>
            <a:off x="6437376"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18" name="shape-14"/>
          <p:cNvSpPr/>
          <p:nvPr/>
        </p:nvSpPr>
        <p:spPr>
          <a:xfrm>
            <a:off x="548640" y="2322576"/>
            <a:ext cx="6949440" cy="548640"/>
          </a:xfrm>
          <a:prstGeom prst="roundRect">
            <a:avLst>
              <a:gd name="adj" fmla="val 13333"/>
            </a:avLst>
          </a:prstGeom>
          <a:solidFill>
            <a:srgbClr val="EEF2F4"/>
          </a:solidFill>
          <a:ln w="12700">
            <a:solidFill>
              <a:srgbClr val="EEF2F4"/>
            </a:solidFill>
            <a:prstDash val="solid"/>
          </a:ln>
        </p:spPr>
      </p:sp>
      <p:sp>
        <p:nvSpPr>
          <p:cNvPr id="19" name="text-15"/>
          <p:cNvSpPr txBox="1"/>
          <p:nvPr/>
        </p:nvSpPr>
        <p:spPr>
          <a:xfrm>
            <a:off x="713232" y="232257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Lead Engineer</a:t>
            </a:r>
            <a:endParaRPr lang="en-US" sz="1350" dirty="0"/>
          </a:p>
        </p:txBody>
      </p:sp>
      <p:sp>
        <p:nvSpPr>
          <p:cNvPr id="20" name="text-16"/>
          <p:cNvSpPr txBox="1"/>
          <p:nvPr/>
        </p:nvSpPr>
        <p:spPr>
          <a:xfrm>
            <a:off x="3200400" y="232257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Standards, build, maintain, technical QA</a:t>
            </a:r>
            <a:endParaRPr lang="en-US" sz="1050" dirty="0"/>
          </a:p>
        </p:txBody>
      </p:sp>
      <p:sp>
        <p:nvSpPr>
          <p:cNvPr id="21" name="shape-17"/>
          <p:cNvSpPr/>
          <p:nvPr/>
        </p:nvSpPr>
        <p:spPr>
          <a:xfrm>
            <a:off x="7205472" y="2532888"/>
            <a:ext cx="201168" cy="146304"/>
          </a:xfrm>
          <a:prstGeom prst="roundRect">
            <a:avLst>
              <a:gd name="adj" fmla="val 50000"/>
            </a:avLst>
          </a:prstGeom>
          <a:solidFill>
            <a:srgbClr val="134E4A"/>
          </a:solidFill>
          <a:ln w="12700">
            <a:solidFill>
              <a:srgbClr val="134E4A"/>
            </a:solidFill>
            <a:prstDash val="solid"/>
          </a:ln>
        </p:spPr>
      </p:sp>
      <p:sp>
        <p:nvSpPr>
          <p:cNvPr id="22" name="text-18"/>
          <p:cNvSpPr txBox="1"/>
          <p:nvPr/>
        </p:nvSpPr>
        <p:spPr>
          <a:xfrm>
            <a:off x="7205472" y="253288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23" name="shape-19"/>
          <p:cNvSpPr/>
          <p:nvPr/>
        </p:nvSpPr>
        <p:spPr>
          <a:xfrm>
            <a:off x="6949440" y="2532888"/>
            <a:ext cx="201168" cy="146304"/>
          </a:xfrm>
          <a:prstGeom prst="roundRect">
            <a:avLst>
              <a:gd name="adj" fmla="val 50000"/>
            </a:avLst>
          </a:prstGeom>
          <a:solidFill>
            <a:srgbClr val="B45309"/>
          </a:solidFill>
          <a:ln w="12700">
            <a:solidFill>
              <a:srgbClr val="B45309"/>
            </a:solidFill>
            <a:prstDash val="solid"/>
          </a:ln>
        </p:spPr>
      </p:sp>
      <p:sp>
        <p:nvSpPr>
          <p:cNvPr id="24" name="text-20"/>
          <p:cNvSpPr txBox="1"/>
          <p:nvPr/>
        </p:nvSpPr>
        <p:spPr>
          <a:xfrm>
            <a:off x="6949440" y="253288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25" name="shape-21"/>
          <p:cNvSpPr/>
          <p:nvPr/>
        </p:nvSpPr>
        <p:spPr>
          <a:xfrm>
            <a:off x="6693408" y="2532888"/>
            <a:ext cx="201168" cy="146304"/>
          </a:xfrm>
          <a:prstGeom prst="roundRect">
            <a:avLst>
              <a:gd name="adj" fmla="val 50000"/>
            </a:avLst>
          </a:prstGeom>
          <a:solidFill>
            <a:srgbClr val="0F766E"/>
          </a:solidFill>
          <a:ln w="12700">
            <a:solidFill>
              <a:srgbClr val="0F766E"/>
            </a:solidFill>
            <a:prstDash val="solid"/>
          </a:ln>
        </p:spPr>
      </p:sp>
      <p:sp>
        <p:nvSpPr>
          <p:cNvPr id="26" name="text-22"/>
          <p:cNvSpPr txBox="1"/>
          <p:nvPr/>
        </p:nvSpPr>
        <p:spPr>
          <a:xfrm>
            <a:off x="6693408" y="253288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27" name="shape-23"/>
          <p:cNvSpPr/>
          <p:nvPr/>
        </p:nvSpPr>
        <p:spPr>
          <a:xfrm>
            <a:off x="548640" y="2962656"/>
            <a:ext cx="6949440" cy="548640"/>
          </a:xfrm>
          <a:prstGeom prst="roundRect">
            <a:avLst>
              <a:gd name="adj" fmla="val 13333"/>
            </a:avLst>
          </a:prstGeom>
          <a:solidFill>
            <a:srgbClr val="EEF2F4"/>
          </a:solidFill>
          <a:ln w="12700">
            <a:solidFill>
              <a:srgbClr val="EEF2F4"/>
            </a:solidFill>
            <a:prstDash val="solid"/>
          </a:ln>
        </p:spPr>
      </p:sp>
      <p:sp>
        <p:nvSpPr>
          <p:cNvPr id="28" name="text-24"/>
          <p:cNvSpPr txBox="1"/>
          <p:nvPr/>
        </p:nvSpPr>
        <p:spPr>
          <a:xfrm>
            <a:off x="713232" y="296265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Developer</a:t>
            </a:r>
            <a:endParaRPr lang="en-US" sz="1350" dirty="0"/>
          </a:p>
        </p:txBody>
      </p:sp>
      <p:sp>
        <p:nvSpPr>
          <p:cNvPr id="29" name="text-25"/>
          <p:cNvSpPr txBox="1"/>
          <p:nvPr/>
        </p:nvSpPr>
        <p:spPr>
          <a:xfrm>
            <a:off x="3200400" y="296265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Build, maintain, technical QA</a:t>
            </a:r>
            <a:endParaRPr lang="en-US" sz="1050" dirty="0"/>
          </a:p>
        </p:txBody>
      </p:sp>
      <p:sp>
        <p:nvSpPr>
          <p:cNvPr id="30" name="shape-26"/>
          <p:cNvSpPr/>
          <p:nvPr/>
        </p:nvSpPr>
        <p:spPr>
          <a:xfrm>
            <a:off x="7205472" y="3172968"/>
            <a:ext cx="201168" cy="146304"/>
          </a:xfrm>
          <a:prstGeom prst="roundRect">
            <a:avLst>
              <a:gd name="adj" fmla="val 50000"/>
            </a:avLst>
          </a:prstGeom>
          <a:solidFill>
            <a:srgbClr val="134E4A"/>
          </a:solidFill>
          <a:ln w="12700">
            <a:solidFill>
              <a:srgbClr val="134E4A"/>
            </a:solidFill>
            <a:prstDash val="solid"/>
          </a:ln>
        </p:spPr>
      </p:sp>
      <p:sp>
        <p:nvSpPr>
          <p:cNvPr id="31" name="text-27"/>
          <p:cNvSpPr txBox="1"/>
          <p:nvPr/>
        </p:nvSpPr>
        <p:spPr>
          <a:xfrm>
            <a:off x="7205472" y="317296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32" name="shape-28"/>
          <p:cNvSpPr/>
          <p:nvPr/>
        </p:nvSpPr>
        <p:spPr>
          <a:xfrm>
            <a:off x="6949440" y="3172968"/>
            <a:ext cx="201168" cy="146304"/>
          </a:xfrm>
          <a:prstGeom prst="roundRect">
            <a:avLst>
              <a:gd name="adj" fmla="val 50000"/>
            </a:avLst>
          </a:prstGeom>
          <a:solidFill>
            <a:srgbClr val="B45309"/>
          </a:solidFill>
          <a:ln w="12700">
            <a:solidFill>
              <a:srgbClr val="B45309"/>
            </a:solidFill>
            <a:prstDash val="solid"/>
          </a:ln>
        </p:spPr>
      </p:sp>
      <p:sp>
        <p:nvSpPr>
          <p:cNvPr id="33" name="text-29"/>
          <p:cNvSpPr txBox="1"/>
          <p:nvPr/>
        </p:nvSpPr>
        <p:spPr>
          <a:xfrm>
            <a:off x="6949440" y="317296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34" name="shape-30"/>
          <p:cNvSpPr/>
          <p:nvPr/>
        </p:nvSpPr>
        <p:spPr>
          <a:xfrm>
            <a:off x="548640" y="3602736"/>
            <a:ext cx="6949440" cy="548640"/>
          </a:xfrm>
          <a:prstGeom prst="roundRect">
            <a:avLst>
              <a:gd name="adj" fmla="val 13333"/>
            </a:avLst>
          </a:prstGeom>
          <a:solidFill>
            <a:srgbClr val="EEF2F4"/>
          </a:solidFill>
          <a:ln w="12700">
            <a:solidFill>
              <a:srgbClr val="EEF2F4"/>
            </a:solidFill>
            <a:prstDash val="solid"/>
          </a:ln>
        </p:spPr>
      </p:sp>
      <p:sp>
        <p:nvSpPr>
          <p:cNvPr id="35" name="text-31"/>
          <p:cNvSpPr txBox="1"/>
          <p:nvPr/>
        </p:nvSpPr>
        <p:spPr>
          <a:xfrm>
            <a:off x="713232" y="360273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DevSecOps Platform Engineer</a:t>
            </a:r>
            <a:endParaRPr lang="en-US" sz="1350" dirty="0"/>
          </a:p>
        </p:txBody>
      </p:sp>
      <p:sp>
        <p:nvSpPr>
          <p:cNvPr id="36" name="text-32"/>
          <p:cNvSpPr txBox="1"/>
          <p:nvPr/>
        </p:nvSpPr>
        <p:spPr>
          <a:xfrm>
            <a:off x="3200400" y="360273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Security, platform, pipeline</a:t>
            </a:r>
            <a:endParaRPr lang="en-US" sz="1050" dirty="0"/>
          </a:p>
        </p:txBody>
      </p:sp>
      <p:sp>
        <p:nvSpPr>
          <p:cNvPr id="37" name="shape-33"/>
          <p:cNvSpPr/>
          <p:nvPr/>
        </p:nvSpPr>
        <p:spPr>
          <a:xfrm>
            <a:off x="7205472" y="3813048"/>
            <a:ext cx="201168" cy="146304"/>
          </a:xfrm>
          <a:prstGeom prst="roundRect">
            <a:avLst>
              <a:gd name="adj" fmla="val 50000"/>
            </a:avLst>
          </a:prstGeom>
          <a:solidFill>
            <a:srgbClr val="B45309"/>
          </a:solidFill>
          <a:ln w="12700">
            <a:solidFill>
              <a:srgbClr val="B45309"/>
            </a:solidFill>
            <a:prstDash val="solid"/>
          </a:ln>
        </p:spPr>
      </p:sp>
      <p:sp>
        <p:nvSpPr>
          <p:cNvPr id="38" name="text-34"/>
          <p:cNvSpPr txBox="1"/>
          <p:nvPr/>
        </p:nvSpPr>
        <p:spPr>
          <a:xfrm>
            <a:off x="7205472" y="381304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39" name="shape-35"/>
          <p:cNvSpPr/>
          <p:nvPr/>
        </p:nvSpPr>
        <p:spPr>
          <a:xfrm>
            <a:off x="6949440" y="3813048"/>
            <a:ext cx="201168" cy="146304"/>
          </a:xfrm>
          <a:prstGeom prst="roundRect">
            <a:avLst>
              <a:gd name="adj" fmla="val 50000"/>
            </a:avLst>
          </a:prstGeom>
          <a:solidFill>
            <a:srgbClr val="134E4A"/>
          </a:solidFill>
          <a:ln w="12700">
            <a:solidFill>
              <a:srgbClr val="134E4A"/>
            </a:solidFill>
            <a:prstDash val="solid"/>
          </a:ln>
        </p:spPr>
      </p:sp>
      <p:sp>
        <p:nvSpPr>
          <p:cNvPr id="40" name="text-36"/>
          <p:cNvSpPr txBox="1"/>
          <p:nvPr/>
        </p:nvSpPr>
        <p:spPr>
          <a:xfrm>
            <a:off x="6949440" y="381304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41" name="shape-37"/>
          <p:cNvSpPr/>
          <p:nvPr/>
        </p:nvSpPr>
        <p:spPr>
          <a:xfrm>
            <a:off x="6693408" y="3813048"/>
            <a:ext cx="201168" cy="146304"/>
          </a:xfrm>
          <a:prstGeom prst="roundRect">
            <a:avLst>
              <a:gd name="adj" fmla="val 50000"/>
            </a:avLst>
          </a:prstGeom>
          <a:solidFill>
            <a:srgbClr val="0F766E"/>
          </a:solidFill>
          <a:ln w="12700">
            <a:solidFill>
              <a:srgbClr val="0F766E"/>
            </a:solidFill>
            <a:prstDash val="solid"/>
          </a:ln>
        </p:spPr>
      </p:sp>
      <p:sp>
        <p:nvSpPr>
          <p:cNvPr id="42" name="text-38"/>
          <p:cNvSpPr txBox="1"/>
          <p:nvPr/>
        </p:nvSpPr>
        <p:spPr>
          <a:xfrm>
            <a:off x="6693408" y="381304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43" name="shape-39"/>
          <p:cNvSpPr/>
          <p:nvPr/>
        </p:nvSpPr>
        <p:spPr>
          <a:xfrm>
            <a:off x="548640" y="4242816"/>
            <a:ext cx="6949440" cy="548640"/>
          </a:xfrm>
          <a:prstGeom prst="roundRect">
            <a:avLst>
              <a:gd name="adj" fmla="val 13333"/>
            </a:avLst>
          </a:prstGeom>
          <a:solidFill>
            <a:srgbClr val="EEF2F4"/>
          </a:solidFill>
          <a:ln w="12700">
            <a:solidFill>
              <a:srgbClr val="EEF2F4"/>
            </a:solidFill>
            <a:prstDash val="solid"/>
          </a:ln>
        </p:spPr>
      </p:sp>
      <p:sp>
        <p:nvSpPr>
          <p:cNvPr id="44" name="text-40"/>
          <p:cNvSpPr txBox="1"/>
          <p:nvPr/>
        </p:nvSpPr>
        <p:spPr>
          <a:xfrm>
            <a:off x="713232" y="424281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Product</a:t>
            </a:r>
            <a:endParaRPr lang="en-US" sz="1350" dirty="0"/>
          </a:p>
        </p:txBody>
      </p:sp>
      <p:sp>
        <p:nvSpPr>
          <p:cNvPr id="45" name="text-41"/>
          <p:cNvSpPr txBox="1"/>
          <p:nvPr/>
        </p:nvSpPr>
        <p:spPr>
          <a:xfrm>
            <a:off x="3200400" y="424281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Project, research, design</a:t>
            </a:r>
            <a:endParaRPr lang="en-US" sz="1050" dirty="0"/>
          </a:p>
        </p:txBody>
      </p:sp>
      <p:sp>
        <p:nvSpPr>
          <p:cNvPr id="46" name="shape-42"/>
          <p:cNvSpPr/>
          <p:nvPr/>
        </p:nvSpPr>
        <p:spPr>
          <a:xfrm>
            <a:off x="7205472" y="4453128"/>
            <a:ext cx="201168" cy="146304"/>
          </a:xfrm>
          <a:prstGeom prst="roundRect">
            <a:avLst>
              <a:gd name="adj" fmla="val 50000"/>
            </a:avLst>
          </a:prstGeom>
          <a:solidFill>
            <a:srgbClr val="134E4A"/>
          </a:solidFill>
          <a:ln w="12700">
            <a:solidFill>
              <a:srgbClr val="134E4A"/>
            </a:solidFill>
            <a:prstDash val="solid"/>
          </a:ln>
        </p:spPr>
      </p:sp>
      <p:sp>
        <p:nvSpPr>
          <p:cNvPr id="47" name="text-43"/>
          <p:cNvSpPr txBox="1"/>
          <p:nvPr/>
        </p:nvSpPr>
        <p:spPr>
          <a:xfrm>
            <a:off x="7205472" y="445312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48" name="shape-44"/>
          <p:cNvSpPr/>
          <p:nvPr/>
        </p:nvSpPr>
        <p:spPr>
          <a:xfrm>
            <a:off x="6949440" y="4453128"/>
            <a:ext cx="201168" cy="146304"/>
          </a:xfrm>
          <a:prstGeom prst="roundRect">
            <a:avLst>
              <a:gd name="adj" fmla="val 50000"/>
            </a:avLst>
          </a:prstGeom>
          <a:solidFill>
            <a:srgbClr val="0F766E"/>
          </a:solidFill>
          <a:ln w="12700">
            <a:solidFill>
              <a:srgbClr val="0F766E"/>
            </a:solidFill>
            <a:prstDash val="solid"/>
          </a:ln>
        </p:spPr>
      </p:sp>
      <p:sp>
        <p:nvSpPr>
          <p:cNvPr id="49" name="text-45"/>
          <p:cNvSpPr txBox="1"/>
          <p:nvPr/>
        </p:nvSpPr>
        <p:spPr>
          <a:xfrm>
            <a:off x="6949440" y="445312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50" name="shape-46"/>
          <p:cNvSpPr/>
          <p:nvPr/>
        </p:nvSpPr>
        <p:spPr>
          <a:xfrm>
            <a:off x="6693408" y="4453128"/>
            <a:ext cx="201168" cy="146304"/>
          </a:xfrm>
          <a:prstGeom prst="roundRect">
            <a:avLst>
              <a:gd name="adj" fmla="val 50000"/>
            </a:avLst>
          </a:prstGeom>
          <a:solidFill>
            <a:srgbClr val="8A99A3"/>
          </a:solidFill>
          <a:ln w="12700">
            <a:solidFill>
              <a:srgbClr val="8A99A3"/>
            </a:solidFill>
            <a:prstDash val="solid"/>
          </a:ln>
        </p:spPr>
      </p:sp>
      <p:sp>
        <p:nvSpPr>
          <p:cNvPr id="51" name="text-47"/>
          <p:cNvSpPr txBox="1"/>
          <p:nvPr/>
        </p:nvSpPr>
        <p:spPr>
          <a:xfrm>
            <a:off x="6693408" y="445312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52" name="shape-48"/>
          <p:cNvSpPr/>
          <p:nvPr/>
        </p:nvSpPr>
        <p:spPr>
          <a:xfrm>
            <a:off x="548640" y="4882896"/>
            <a:ext cx="6949440" cy="548640"/>
          </a:xfrm>
          <a:prstGeom prst="roundRect">
            <a:avLst>
              <a:gd name="adj" fmla="val 13333"/>
            </a:avLst>
          </a:prstGeom>
          <a:solidFill>
            <a:srgbClr val="EEF2F4"/>
          </a:solidFill>
          <a:ln w="12700">
            <a:solidFill>
              <a:srgbClr val="EEF2F4"/>
            </a:solidFill>
            <a:prstDash val="solid"/>
          </a:ln>
        </p:spPr>
      </p:sp>
      <p:sp>
        <p:nvSpPr>
          <p:cNvPr id="53" name="text-49"/>
          <p:cNvSpPr txBox="1"/>
          <p:nvPr/>
        </p:nvSpPr>
        <p:spPr>
          <a:xfrm>
            <a:off x="713232" y="4882896"/>
            <a:ext cx="2286000" cy="54864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BA / QA</a:t>
            </a:r>
            <a:endParaRPr lang="en-US" sz="1350" dirty="0"/>
          </a:p>
        </p:txBody>
      </p:sp>
      <p:sp>
        <p:nvSpPr>
          <p:cNvPr id="54" name="text-50"/>
          <p:cNvSpPr txBox="1"/>
          <p:nvPr/>
        </p:nvSpPr>
        <p:spPr>
          <a:xfrm>
            <a:off x="3200400" y="4882896"/>
            <a:ext cx="3291840" cy="54864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User testing, QA, product assistance</a:t>
            </a:r>
            <a:endParaRPr lang="en-US" sz="1050" dirty="0"/>
          </a:p>
        </p:txBody>
      </p:sp>
      <p:sp>
        <p:nvSpPr>
          <p:cNvPr id="55" name="shape-51"/>
          <p:cNvSpPr/>
          <p:nvPr/>
        </p:nvSpPr>
        <p:spPr>
          <a:xfrm>
            <a:off x="7205472" y="5093208"/>
            <a:ext cx="201168" cy="146304"/>
          </a:xfrm>
          <a:prstGeom prst="roundRect">
            <a:avLst>
              <a:gd name="adj" fmla="val 50000"/>
            </a:avLst>
          </a:prstGeom>
          <a:solidFill>
            <a:srgbClr val="134E4A"/>
          </a:solidFill>
          <a:ln w="12700">
            <a:solidFill>
              <a:srgbClr val="134E4A"/>
            </a:solidFill>
            <a:prstDash val="solid"/>
          </a:ln>
        </p:spPr>
      </p:sp>
      <p:sp>
        <p:nvSpPr>
          <p:cNvPr id="56" name="text-52"/>
          <p:cNvSpPr txBox="1"/>
          <p:nvPr/>
        </p:nvSpPr>
        <p:spPr>
          <a:xfrm>
            <a:off x="7205472" y="50932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57" name="shape-53"/>
          <p:cNvSpPr/>
          <p:nvPr/>
        </p:nvSpPr>
        <p:spPr>
          <a:xfrm>
            <a:off x="6949440" y="5093208"/>
            <a:ext cx="201168" cy="146304"/>
          </a:xfrm>
          <a:prstGeom prst="roundRect">
            <a:avLst>
              <a:gd name="adj" fmla="val 50000"/>
            </a:avLst>
          </a:prstGeom>
          <a:solidFill>
            <a:srgbClr val="8A99A3"/>
          </a:solidFill>
          <a:ln w="12700">
            <a:solidFill>
              <a:srgbClr val="8A99A3"/>
            </a:solidFill>
            <a:prstDash val="solid"/>
          </a:ln>
        </p:spPr>
      </p:sp>
      <p:sp>
        <p:nvSpPr>
          <p:cNvPr id="58" name="text-54"/>
          <p:cNvSpPr txBox="1"/>
          <p:nvPr/>
        </p:nvSpPr>
        <p:spPr>
          <a:xfrm>
            <a:off x="6949440" y="50932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59" name="text-55"/>
          <p:cNvSpPr txBox="1"/>
          <p:nvPr/>
        </p:nvSpPr>
        <p:spPr>
          <a:xfrm>
            <a:off x="777240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OPTIONS THE GATE 2 DECISION WOULD CHOOSE BETWEEN</a:t>
            </a:r>
            <a:endParaRPr lang="en-US" sz="800" dirty="0"/>
          </a:p>
        </p:txBody>
      </p:sp>
      <p:sp>
        <p:nvSpPr>
          <p:cNvPr id="60" name="shape-56"/>
          <p:cNvSpPr/>
          <p:nvPr/>
        </p:nvSpPr>
        <p:spPr>
          <a:xfrm>
            <a:off x="7772400" y="1682496"/>
            <a:ext cx="3840480" cy="694944"/>
          </a:xfrm>
          <a:prstGeom prst="roundRect">
            <a:avLst>
              <a:gd name="adj" fmla="val 10526"/>
            </a:avLst>
          </a:prstGeom>
          <a:solidFill>
            <a:srgbClr val="FFFFFF"/>
          </a:solidFill>
          <a:ln w="15875">
            <a:solidFill>
              <a:srgbClr val="D4DBE0"/>
            </a:solidFill>
            <a:prstDash val="solid"/>
          </a:ln>
        </p:spPr>
      </p:sp>
      <p:pic>
        <p:nvPicPr>
          <p:cNvPr id="61" name="icon-57" descr="preencoded.png">    </p:cNvPr>
          <p:cNvPicPr>
            <a:picLocks noChangeAspect="1"/>
          </p:cNvPicPr>
          <p:nvPr/>
        </p:nvPicPr>
        <p:blipFill>
          <a:blip r:embed="rId1"/>
          <a:stretch>
            <a:fillRect/>
          </a:stretch>
        </p:blipFill>
        <p:spPr>
          <a:xfrm>
            <a:off x="7918704" y="1828800"/>
            <a:ext cx="182880" cy="182880"/>
          </a:xfrm>
          <a:prstGeom prst="rect">
            <a:avLst/>
          </a:prstGeom>
        </p:spPr>
      </p:pic>
      <p:sp>
        <p:nvSpPr>
          <p:cNvPr id="62" name="text-58"/>
          <p:cNvSpPr txBox="1"/>
          <p:nvPr/>
        </p:nvSpPr>
        <p:spPr>
          <a:xfrm>
            <a:off x="8193024" y="1755648"/>
            <a:ext cx="3291840" cy="347472"/>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Second engineer, or the vendor’s 0.6 PM</a:t>
            </a:r>
            <a:endParaRPr lang="en-US" sz="1100" dirty="0"/>
          </a:p>
        </p:txBody>
      </p:sp>
      <p:sp>
        <p:nvSpPr>
          <p:cNvPr id="63" name="text-59"/>
          <p:cNvSpPr txBox="1"/>
          <p:nvPr/>
        </p:nvSpPr>
        <p:spPr>
          <a:xfrm>
            <a:off x="7918704" y="2121408"/>
            <a:ext cx="3547872" cy="219456"/>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how much of A is built in-house</a:t>
            </a:r>
            <a:endParaRPr lang="en-US" sz="950" dirty="0"/>
          </a:p>
        </p:txBody>
      </p:sp>
      <p:sp>
        <p:nvSpPr>
          <p:cNvPr id="64" name="shape-60"/>
          <p:cNvSpPr/>
          <p:nvPr/>
        </p:nvSpPr>
        <p:spPr>
          <a:xfrm>
            <a:off x="7772400" y="2468880"/>
            <a:ext cx="3840480" cy="694944"/>
          </a:xfrm>
          <a:prstGeom prst="roundRect">
            <a:avLst>
              <a:gd name="adj" fmla="val 10526"/>
            </a:avLst>
          </a:prstGeom>
          <a:solidFill>
            <a:srgbClr val="FFFFFF"/>
          </a:solidFill>
          <a:ln w="15875">
            <a:solidFill>
              <a:srgbClr val="D4DBE0"/>
            </a:solidFill>
            <a:prstDash val="solid"/>
          </a:ln>
        </p:spPr>
      </p:sp>
      <p:pic>
        <p:nvPicPr>
          <p:cNvPr id="65" name="icon-61" descr="preencoded.png">    </p:cNvPr>
          <p:cNvPicPr>
            <a:picLocks noChangeAspect="1"/>
          </p:cNvPicPr>
          <p:nvPr/>
        </p:nvPicPr>
        <p:blipFill>
          <a:blip r:embed="rId2"/>
          <a:stretch>
            <a:fillRect/>
          </a:stretch>
        </p:blipFill>
        <p:spPr>
          <a:xfrm>
            <a:off x="7918704" y="2615184"/>
            <a:ext cx="182880" cy="182880"/>
          </a:xfrm>
          <a:prstGeom prst="rect">
            <a:avLst/>
          </a:prstGeom>
        </p:spPr>
      </p:pic>
      <p:sp>
        <p:nvSpPr>
          <p:cNvPr id="66" name="text-62"/>
          <p:cNvSpPr txBox="1"/>
          <p:nvPr/>
        </p:nvSpPr>
        <p:spPr>
          <a:xfrm>
            <a:off x="8193024" y="2542032"/>
            <a:ext cx="3291840" cy="347472"/>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AI budget instead of more headcount</a:t>
            </a:r>
            <a:endParaRPr lang="en-US" sz="1100" dirty="0"/>
          </a:p>
        </p:txBody>
      </p:sp>
      <p:sp>
        <p:nvSpPr>
          <p:cNvPr id="67" name="text-63"/>
          <p:cNvSpPr txBox="1"/>
          <p:nvPr/>
        </p:nvSpPr>
        <p:spPr>
          <a:xfrm>
            <a:off x="7918704" y="2907792"/>
            <a:ext cx="3547872" cy="219456"/>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accelerate and de-risk product work</a:t>
            </a:r>
            <a:endParaRPr lang="en-US" sz="950" dirty="0"/>
          </a:p>
        </p:txBody>
      </p:sp>
      <p:sp>
        <p:nvSpPr>
          <p:cNvPr id="68" name="shape-64"/>
          <p:cNvSpPr/>
          <p:nvPr/>
        </p:nvSpPr>
        <p:spPr>
          <a:xfrm>
            <a:off x="7772400" y="3255264"/>
            <a:ext cx="3840480" cy="694944"/>
          </a:xfrm>
          <a:prstGeom prst="roundRect">
            <a:avLst>
              <a:gd name="adj" fmla="val 10526"/>
            </a:avLst>
          </a:prstGeom>
          <a:solidFill>
            <a:srgbClr val="FFFFFF"/>
          </a:solidFill>
          <a:ln w="15875">
            <a:solidFill>
              <a:srgbClr val="D4DBE0"/>
            </a:solidFill>
            <a:prstDash val="solid"/>
          </a:ln>
        </p:spPr>
      </p:sp>
      <p:pic>
        <p:nvPicPr>
          <p:cNvPr id="69" name="icon-65" descr="preencoded.png">    </p:cNvPr>
          <p:cNvPicPr>
            <a:picLocks noChangeAspect="1"/>
          </p:cNvPicPr>
          <p:nvPr/>
        </p:nvPicPr>
        <p:blipFill>
          <a:blip r:embed="rId3"/>
          <a:stretch>
            <a:fillRect/>
          </a:stretch>
        </p:blipFill>
        <p:spPr>
          <a:xfrm>
            <a:off x="7918704" y="3401568"/>
            <a:ext cx="182880" cy="182880"/>
          </a:xfrm>
          <a:prstGeom prst="rect">
            <a:avLst/>
          </a:prstGeom>
        </p:spPr>
      </p:pic>
      <p:sp>
        <p:nvSpPr>
          <p:cNvPr id="70" name="text-66"/>
          <p:cNvSpPr txBox="1"/>
          <p:nvPr/>
        </p:nvSpPr>
        <p:spPr>
          <a:xfrm>
            <a:off x="8193024" y="3328416"/>
            <a:ext cx="3291840" cy="347472"/>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Research and design in-house, or partner</a:t>
            </a:r>
            <a:endParaRPr lang="en-US" sz="1100" dirty="0"/>
          </a:p>
        </p:txBody>
      </p:sp>
      <p:sp>
        <p:nvSpPr>
          <p:cNvPr id="71" name="text-67"/>
          <p:cNvSpPr txBox="1"/>
          <p:nvPr/>
        </p:nvSpPr>
        <p:spPr>
          <a:xfrm>
            <a:off x="7918704" y="3694176"/>
            <a:ext cx="3547872" cy="219456"/>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depends on the licence model found at Gate 1</a:t>
            </a:r>
            <a:endParaRPr lang="en-US" sz="950" dirty="0"/>
          </a:p>
        </p:txBody>
      </p:sp>
      <p:sp>
        <p:nvSpPr>
          <p:cNvPr id="72" name="shape-68"/>
          <p:cNvSpPr/>
          <p:nvPr/>
        </p:nvSpPr>
        <p:spPr>
          <a:xfrm>
            <a:off x="7772400" y="4041648"/>
            <a:ext cx="3840480" cy="694944"/>
          </a:xfrm>
          <a:prstGeom prst="roundRect">
            <a:avLst>
              <a:gd name="adj" fmla="val 10526"/>
            </a:avLst>
          </a:prstGeom>
          <a:solidFill>
            <a:srgbClr val="FFFFFF"/>
          </a:solidFill>
          <a:ln w="15875">
            <a:solidFill>
              <a:srgbClr val="D4DBE0"/>
            </a:solidFill>
            <a:prstDash val="solid"/>
          </a:ln>
        </p:spPr>
      </p:sp>
      <p:pic>
        <p:nvPicPr>
          <p:cNvPr id="73" name="icon-69" descr="preencoded.png">    </p:cNvPr>
          <p:cNvPicPr>
            <a:picLocks noChangeAspect="1"/>
          </p:cNvPicPr>
          <p:nvPr/>
        </p:nvPicPr>
        <p:blipFill>
          <a:blip r:embed="rId4"/>
          <a:stretch>
            <a:fillRect/>
          </a:stretch>
        </p:blipFill>
        <p:spPr>
          <a:xfrm>
            <a:off x="7918704" y="4187952"/>
            <a:ext cx="182880" cy="182880"/>
          </a:xfrm>
          <a:prstGeom prst="rect">
            <a:avLst/>
          </a:prstGeom>
        </p:spPr>
      </p:pic>
      <p:sp>
        <p:nvSpPr>
          <p:cNvPr id="74" name="text-70"/>
          <p:cNvSpPr txBox="1"/>
          <p:nvPr/>
        </p:nvSpPr>
        <p:spPr>
          <a:xfrm>
            <a:off x="8193024" y="4114800"/>
            <a:ext cx="3291840" cy="347472"/>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QA in-house, or evidence from partners</a:t>
            </a:r>
            <a:endParaRPr lang="en-US" sz="1100" dirty="0"/>
          </a:p>
        </p:txBody>
      </p:sp>
      <p:sp>
        <p:nvSpPr>
          <p:cNvPr id="75" name="text-71"/>
          <p:cNvSpPr txBox="1"/>
          <p:nvPr/>
        </p:nvSpPr>
        <p:spPr>
          <a:xfrm>
            <a:off x="7918704" y="4480560"/>
            <a:ext cx="3547872" cy="219456"/>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the gates need evidence</a:t>
            </a:r>
            <a:endParaRPr lang="en-US" sz="950" dirty="0"/>
          </a:p>
        </p:txBody>
      </p:sp>
      <p:sp>
        <p:nvSpPr>
          <p:cNvPr id="76" name="shape-72"/>
          <p:cNvSpPr/>
          <p:nvPr/>
        </p:nvSpPr>
        <p:spPr>
          <a:xfrm>
            <a:off x="7772400" y="4828032"/>
            <a:ext cx="3840480" cy="1024128"/>
          </a:xfrm>
          <a:prstGeom prst="roundRect">
            <a:avLst>
              <a:gd name="adj" fmla="val 7143"/>
            </a:avLst>
          </a:prstGeom>
          <a:solidFill>
            <a:srgbClr val="FDF1E3"/>
          </a:solidFill>
          <a:ln w="12700">
            <a:solidFill>
              <a:srgbClr val="FDF1E3"/>
            </a:solidFill>
            <a:prstDash val="solid"/>
          </a:ln>
        </p:spPr>
      </p:sp>
      <p:sp>
        <p:nvSpPr>
          <p:cNvPr id="77" name="text-73"/>
          <p:cNvSpPr txBox="1"/>
          <p:nvPr/>
        </p:nvSpPr>
        <p:spPr>
          <a:xfrm>
            <a:off x="7918704" y="4937760"/>
            <a:ext cx="3547872" cy="182880"/>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B45309"/>
                </a:solidFill>
                <a:latin typeface="Calibri" pitchFamily="34" charset="0"/>
                <a:ea typeface="Calibri" pitchFamily="34" charset="-122"/>
                <a:cs typeface="Calibri" pitchFamily="34" charset="-120"/>
              </a:rPr>
              <a:t>NOT IN THE TEAM — PARTNER OR MSP</a:t>
            </a:r>
            <a:endParaRPr lang="en-US" sz="850" dirty="0"/>
          </a:p>
        </p:txBody>
      </p:sp>
      <p:sp>
        <p:nvSpPr>
          <p:cNvPr id="78" name="oval-74"/>
          <p:cNvSpPr/>
          <p:nvPr/>
        </p:nvSpPr>
        <p:spPr>
          <a:xfrm>
            <a:off x="7946136" y="5221224"/>
            <a:ext cx="54864" cy="54864"/>
          </a:xfrm>
          <a:prstGeom prst="ellipse">
            <a:avLst/>
          </a:prstGeom>
          <a:solidFill>
            <a:srgbClr val="B45309"/>
          </a:solidFill>
          <a:ln w="12700">
            <a:solidFill>
              <a:srgbClr val="B45309"/>
            </a:solidFill>
            <a:prstDash val="solid"/>
          </a:ln>
        </p:spPr>
      </p:sp>
      <p:sp>
        <p:nvSpPr>
          <p:cNvPr id="79" name="text-75"/>
          <p:cNvSpPr txBox="1"/>
          <p:nvPr/>
        </p:nvSpPr>
        <p:spPr>
          <a:xfrm>
            <a:off x="8083296" y="5157216"/>
            <a:ext cx="3383280" cy="182880"/>
          </a:xfrm>
          <a:prstGeom prst="rect">
            <a:avLst/>
          </a:prstGeom>
          <a:noFill/>
          <a:ln/>
        </p:spPr>
        <p:txBody>
          <a:bodyPr wrap="square" lIns="0" tIns="0" rIns="0" bIns="0" rtlCol="0" anchor="ctr"/>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24×7 operations and on-call</a:t>
            </a:r>
            <a:endParaRPr lang="en-US" sz="1000" dirty="0"/>
          </a:p>
        </p:txBody>
      </p:sp>
      <p:sp>
        <p:nvSpPr>
          <p:cNvPr id="80" name="oval-76"/>
          <p:cNvSpPr/>
          <p:nvPr/>
        </p:nvSpPr>
        <p:spPr>
          <a:xfrm>
            <a:off x="7946136" y="5385816"/>
            <a:ext cx="54864" cy="54864"/>
          </a:xfrm>
          <a:prstGeom prst="ellipse">
            <a:avLst/>
          </a:prstGeom>
          <a:solidFill>
            <a:srgbClr val="B45309"/>
          </a:solidFill>
          <a:ln w="12700">
            <a:solidFill>
              <a:srgbClr val="B45309"/>
            </a:solidFill>
            <a:prstDash val="solid"/>
          </a:ln>
        </p:spPr>
      </p:sp>
      <p:sp>
        <p:nvSpPr>
          <p:cNvPr id="81" name="text-77"/>
          <p:cNvSpPr txBox="1"/>
          <p:nvPr/>
        </p:nvSpPr>
        <p:spPr>
          <a:xfrm>
            <a:off x="8083296" y="5321808"/>
            <a:ext cx="3383280" cy="182880"/>
          </a:xfrm>
          <a:prstGeom prst="rect">
            <a:avLst/>
          </a:prstGeom>
          <a:noFill/>
          <a:ln/>
        </p:spPr>
        <p:txBody>
          <a:bodyPr wrap="square" lIns="0" tIns="0" rIns="0" bIns="0" rtlCol="0" anchor="ctr"/>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Security operations</a:t>
            </a:r>
            <a:endParaRPr lang="en-US" sz="1000" dirty="0"/>
          </a:p>
        </p:txBody>
      </p:sp>
      <p:sp>
        <p:nvSpPr>
          <p:cNvPr id="82" name="oval-78"/>
          <p:cNvSpPr/>
          <p:nvPr/>
        </p:nvSpPr>
        <p:spPr>
          <a:xfrm>
            <a:off x="7946136" y="5550408"/>
            <a:ext cx="54864" cy="54864"/>
          </a:xfrm>
          <a:prstGeom prst="ellipse">
            <a:avLst/>
          </a:prstGeom>
          <a:solidFill>
            <a:srgbClr val="B45309"/>
          </a:solidFill>
          <a:ln w="12700">
            <a:solidFill>
              <a:srgbClr val="B45309"/>
            </a:solidFill>
            <a:prstDash val="solid"/>
          </a:ln>
        </p:spPr>
      </p:sp>
      <p:sp>
        <p:nvSpPr>
          <p:cNvPr id="83" name="text-79"/>
          <p:cNvSpPr txBox="1"/>
          <p:nvPr/>
        </p:nvSpPr>
        <p:spPr>
          <a:xfrm>
            <a:off x="8083296" y="5486400"/>
            <a:ext cx="3383280" cy="182880"/>
          </a:xfrm>
          <a:prstGeom prst="rect">
            <a:avLst/>
          </a:prstGeom>
          <a:noFill/>
          <a:ln/>
        </p:spPr>
        <p:txBody>
          <a:bodyPr wrap="square" lIns="0" tIns="0" rIns="0" bIns="0" rtlCol="0" anchor="ctr"/>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Commodity configuration</a:t>
            </a:r>
            <a:endParaRPr lang="en-US" sz="1000" dirty="0"/>
          </a:p>
        </p:txBody>
      </p:sp>
      <p:sp>
        <p:nvSpPr>
          <p:cNvPr id="84" name="oval-80"/>
          <p:cNvSpPr/>
          <p:nvPr/>
        </p:nvSpPr>
        <p:spPr>
          <a:xfrm>
            <a:off x="7946136" y="5715000"/>
            <a:ext cx="54864" cy="54864"/>
          </a:xfrm>
          <a:prstGeom prst="ellipse">
            <a:avLst/>
          </a:prstGeom>
          <a:solidFill>
            <a:srgbClr val="B45309"/>
          </a:solidFill>
          <a:ln w="12700">
            <a:solidFill>
              <a:srgbClr val="B45309"/>
            </a:solidFill>
            <a:prstDash val="solid"/>
          </a:ln>
        </p:spPr>
      </p:sp>
      <p:sp>
        <p:nvSpPr>
          <p:cNvPr id="85" name="text-81"/>
          <p:cNvSpPr txBox="1"/>
          <p:nvPr/>
        </p:nvSpPr>
        <p:spPr>
          <a:xfrm>
            <a:off x="8083296" y="5650992"/>
            <a:ext cx="3383280" cy="182880"/>
          </a:xfrm>
          <a:prstGeom prst="rect">
            <a:avLst/>
          </a:prstGeom>
          <a:noFill/>
          <a:ln/>
        </p:spPr>
        <p:txBody>
          <a:bodyPr wrap="square" lIns="0" tIns="0" rIns="0" bIns="0" rtlCol="0" anchor="ctr"/>
          <a:lstStyle/>
          <a:p>
            <a:pPr algn="l" indent="0" marL="0">
              <a:lnSpc>
                <a:spcPct val="100000"/>
              </a:lnSpc>
              <a:buNone/>
            </a:pPr>
            <a:r>
              <a:rPr lang="en-US" sz="1000" dirty="0">
                <a:solidFill>
                  <a:srgbClr val="1C2B33"/>
                </a:solidFill>
                <a:latin typeface="Calibri" pitchFamily="34" charset="0"/>
                <a:ea typeface="Calibri" pitchFamily="34" charset="-122"/>
                <a:cs typeface="Calibri" pitchFamily="34" charset="-120"/>
              </a:rPr>
              <a:t>Content operations (outside remit)</a:t>
            </a:r>
            <a:endParaRPr lang="en-US" sz="1000" dirty="0"/>
          </a:p>
        </p:txBody>
      </p:sp>
      <p:sp>
        <p:nvSpPr>
          <p:cNvPr id="86" name="text-82"/>
          <p:cNvSpPr txBox="1"/>
          <p:nvPr/>
        </p:nvSpPr>
        <p:spPr>
          <a:xfrm>
            <a:off x="548640" y="6126480"/>
            <a:ext cx="11064240" cy="164592"/>
          </a:xfrm>
          <a:prstGeom prst="rect">
            <a:avLst/>
          </a:prstGeom>
          <a:noFill/>
          <a:ln/>
        </p:spPr>
        <p:txBody>
          <a:bodyPr wrap="square" lIns="0" tIns="0" rIns="0" bIns="0" rtlCol="0" anchor="ctr"/>
          <a:lstStyle/>
          <a:p>
            <a:pPr algn="l" indent="0" marL="0">
              <a:lnSpc>
                <a:spcPct val="100000"/>
              </a:lnSpc>
              <a:buNone/>
            </a:pPr>
            <a:r>
              <a:rPr lang="en-US" sz="950" i="1" dirty="0">
                <a:solidFill>
                  <a:srgbClr val="5A6B75"/>
                </a:solidFill>
                <a:latin typeface="Calibri" pitchFamily="34" charset="0"/>
                <a:ea typeface="Calibri" pitchFamily="34" charset="-122"/>
                <a:cs typeface="Calibri" pitchFamily="34" charset="-120"/>
              </a:rPr>
              <a:t>Responsibilities, not an approved hiring plan.</a:t>
            </a:r>
            <a:endParaRPr lang="en-US" sz="95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7  ·  GOVERNANCE, ASSURANCE GATES AND THE NEXT SIX MONTHS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One operating rhythm, gates sized to the tier, judged on outcomes rather than AI activity</a:t>
            </a:r>
            <a:endParaRPr lang="en-US" sz="2000" dirty="0"/>
          </a:p>
        </p:txBody>
      </p:sp>
      <p:sp>
        <p:nvSpPr>
          <p:cNvPr id="4" name="text-0"/>
          <p:cNvSpPr txBox="1"/>
          <p:nvPr/>
        </p:nvSpPr>
        <p:spPr>
          <a:xfrm>
            <a:off x="54864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OPERATING RHYTHM — WHO SEES WHAT</a:t>
            </a:r>
            <a:endParaRPr lang="en-US" sz="800" dirty="0"/>
          </a:p>
        </p:txBody>
      </p:sp>
      <p:sp>
        <p:nvSpPr>
          <p:cNvPr id="5" name="shape-1"/>
          <p:cNvSpPr/>
          <p:nvPr/>
        </p:nvSpPr>
        <p:spPr>
          <a:xfrm>
            <a:off x="548640" y="1664208"/>
            <a:ext cx="4023360" cy="585216"/>
          </a:xfrm>
          <a:prstGeom prst="roundRect">
            <a:avLst>
              <a:gd name="adj" fmla="val 12500"/>
            </a:avLst>
          </a:prstGeom>
          <a:solidFill>
            <a:srgbClr val="134E4A"/>
          </a:solidFill>
          <a:ln w="12700">
            <a:solidFill>
              <a:srgbClr val="134E4A"/>
            </a:solidFill>
            <a:prstDash val="solid"/>
          </a:ln>
        </p:spPr>
      </p:sp>
      <p:sp>
        <p:nvSpPr>
          <p:cNvPr id="6" name="text-2"/>
          <p:cNvSpPr txBox="1"/>
          <p:nvPr/>
        </p:nvSpPr>
        <p:spPr>
          <a:xfrm>
            <a:off x="694944" y="1737360"/>
            <a:ext cx="3749040" cy="219456"/>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Board / Risk Committee</a:t>
            </a:r>
            <a:endParaRPr lang="en-US" sz="1200" dirty="0"/>
          </a:p>
        </p:txBody>
      </p:sp>
      <p:sp>
        <p:nvSpPr>
          <p:cNvPr id="7" name="text-3"/>
          <p:cNvSpPr txBox="1"/>
          <p:nvPr/>
        </p:nvSpPr>
        <p:spPr>
          <a:xfrm>
            <a:off x="694944" y="1956816"/>
            <a:ext cx="3749040" cy="256032"/>
          </a:xfrm>
          <a:prstGeom prst="rect">
            <a:avLst/>
          </a:prstGeom>
          <a:noFill/>
          <a:ln/>
        </p:spPr>
        <p:txBody>
          <a:bodyPr wrap="square" lIns="0" tIns="0" rIns="0" bIns="0" rtlCol="0" anchor="t"/>
          <a:lstStyle/>
          <a:p>
            <a:pPr algn="l" indent="0" marL="0">
              <a:lnSpc>
                <a:spcPct val="100000"/>
              </a:lnSpc>
              <a:buNone/>
            </a:pPr>
            <a:r>
              <a:rPr lang="en-US" sz="900" dirty="0">
                <a:solidFill>
                  <a:srgbClr val="CFE8E5"/>
                </a:solidFill>
                <a:latin typeface="Calibri" pitchFamily="34" charset="0"/>
                <a:ea typeface="Calibri" pitchFamily="34" charset="-122"/>
                <a:cs typeface="Calibri" pitchFamily="34" charset="-120"/>
              </a:rPr>
              <a:t>monthly · date confidence, availability vs appetite, top risks, spend</a:t>
            </a:r>
            <a:endParaRPr lang="en-US" sz="900" dirty="0"/>
          </a:p>
        </p:txBody>
      </p:sp>
      <p:sp>
        <p:nvSpPr>
          <p:cNvPr id="8" name="shape-4"/>
          <p:cNvSpPr/>
          <p:nvPr/>
        </p:nvSpPr>
        <p:spPr>
          <a:xfrm>
            <a:off x="548640" y="2340864"/>
            <a:ext cx="3749040" cy="585216"/>
          </a:xfrm>
          <a:prstGeom prst="roundRect">
            <a:avLst>
              <a:gd name="adj" fmla="val 12500"/>
            </a:avLst>
          </a:prstGeom>
          <a:solidFill>
            <a:srgbClr val="0F766E"/>
          </a:solidFill>
          <a:ln w="12700">
            <a:solidFill>
              <a:srgbClr val="0F766E"/>
            </a:solidFill>
            <a:prstDash val="solid"/>
          </a:ln>
        </p:spPr>
      </p:sp>
      <p:sp>
        <p:nvSpPr>
          <p:cNvPr id="9" name="text-5"/>
          <p:cNvSpPr txBox="1"/>
          <p:nvPr/>
        </p:nvSpPr>
        <p:spPr>
          <a:xfrm>
            <a:off x="694944" y="2414016"/>
            <a:ext cx="3474720" cy="219456"/>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Programme Steering</a:t>
            </a:r>
            <a:endParaRPr lang="en-US" sz="1200" dirty="0"/>
          </a:p>
        </p:txBody>
      </p:sp>
      <p:sp>
        <p:nvSpPr>
          <p:cNvPr id="10" name="text-6"/>
          <p:cNvSpPr txBox="1"/>
          <p:nvPr/>
        </p:nvSpPr>
        <p:spPr>
          <a:xfrm>
            <a:off x="694944" y="2633472"/>
            <a:ext cx="3474720" cy="256032"/>
          </a:xfrm>
          <a:prstGeom prst="rect">
            <a:avLst/>
          </a:prstGeom>
          <a:noFill/>
          <a:ln/>
        </p:spPr>
        <p:txBody>
          <a:bodyPr wrap="square" lIns="0" tIns="0" rIns="0" bIns="0" rtlCol="0" anchor="t"/>
          <a:lstStyle/>
          <a:p>
            <a:pPr algn="l" indent="0" marL="0">
              <a:lnSpc>
                <a:spcPct val="100000"/>
              </a:lnSpc>
              <a:buNone/>
            </a:pPr>
            <a:r>
              <a:rPr lang="en-US" sz="900" dirty="0">
                <a:solidFill>
                  <a:srgbClr val="CFE8E5"/>
                </a:solidFill>
                <a:latin typeface="Calibri" pitchFamily="34" charset="0"/>
                <a:ea typeface="Calibri" pitchFamily="34" charset="-122"/>
                <a:cs typeface="Calibri" pitchFamily="34" charset="-120"/>
              </a:rPr>
              <a:t>fortnightly · priorities, gate sign-off, decisions pending</a:t>
            </a:r>
            <a:endParaRPr lang="en-US" sz="900" dirty="0"/>
          </a:p>
        </p:txBody>
      </p:sp>
      <p:sp>
        <p:nvSpPr>
          <p:cNvPr id="11" name="shape-7"/>
          <p:cNvSpPr/>
          <p:nvPr/>
        </p:nvSpPr>
        <p:spPr>
          <a:xfrm>
            <a:off x="548640" y="3017520"/>
            <a:ext cx="3474720" cy="585216"/>
          </a:xfrm>
          <a:prstGeom prst="roundRect">
            <a:avLst>
              <a:gd name="adj" fmla="val 12500"/>
            </a:avLst>
          </a:prstGeom>
          <a:solidFill>
            <a:srgbClr val="1F8F86"/>
          </a:solidFill>
          <a:ln w="12700">
            <a:solidFill>
              <a:srgbClr val="1F8F86"/>
            </a:solidFill>
            <a:prstDash val="solid"/>
          </a:ln>
        </p:spPr>
      </p:sp>
      <p:sp>
        <p:nvSpPr>
          <p:cNvPr id="12" name="text-8"/>
          <p:cNvSpPr txBox="1"/>
          <p:nvPr/>
        </p:nvSpPr>
        <p:spPr>
          <a:xfrm>
            <a:off x="694944" y="3090672"/>
            <a:ext cx="3200400" cy="219456"/>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Delivery and Partner Review</a:t>
            </a:r>
            <a:endParaRPr lang="en-US" sz="1200" dirty="0"/>
          </a:p>
        </p:txBody>
      </p:sp>
      <p:sp>
        <p:nvSpPr>
          <p:cNvPr id="13" name="text-9"/>
          <p:cNvSpPr txBox="1"/>
          <p:nvPr/>
        </p:nvSpPr>
        <p:spPr>
          <a:xfrm>
            <a:off x="694944" y="3310128"/>
            <a:ext cx="3200400" cy="256032"/>
          </a:xfrm>
          <a:prstGeom prst="rect">
            <a:avLst/>
          </a:prstGeom>
          <a:noFill/>
          <a:ln/>
        </p:spPr>
        <p:txBody>
          <a:bodyPr wrap="square" lIns="0" tIns="0" rIns="0" bIns="0" rtlCol="0" anchor="t"/>
          <a:lstStyle/>
          <a:p>
            <a:pPr algn="l" indent="0" marL="0">
              <a:lnSpc>
                <a:spcPct val="100000"/>
              </a:lnSpc>
              <a:buNone/>
            </a:pPr>
            <a:r>
              <a:rPr lang="en-US" sz="900" dirty="0">
                <a:solidFill>
                  <a:srgbClr val="CFE8E5"/>
                </a:solidFill>
                <a:latin typeface="Calibri" pitchFamily="34" charset="0"/>
                <a:ea typeface="Calibri" pitchFamily="34" charset="-122"/>
                <a:cs typeface="Calibri" pitchFamily="34" charset="-120"/>
              </a:rPr>
              <a:t>weekly · cycle time, change failure, blockers, evidence</a:t>
            </a:r>
            <a:endParaRPr lang="en-US" sz="900" dirty="0"/>
          </a:p>
        </p:txBody>
      </p:sp>
      <p:sp>
        <p:nvSpPr>
          <p:cNvPr id="14" name="shape-10"/>
          <p:cNvSpPr/>
          <p:nvPr/>
        </p:nvSpPr>
        <p:spPr>
          <a:xfrm>
            <a:off x="548640" y="3694176"/>
            <a:ext cx="3200400" cy="585216"/>
          </a:xfrm>
          <a:prstGeom prst="roundRect">
            <a:avLst>
              <a:gd name="adj" fmla="val 12500"/>
            </a:avLst>
          </a:prstGeom>
          <a:solidFill>
            <a:srgbClr val="D6ECE9"/>
          </a:solidFill>
          <a:ln w="12700">
            <a:solidFill>
              <a:srgbClr val="D6ECE9"/>
            </a:solidFill>
            <a:prstDash val="solid"/>
          </a:ln>
        </p:spPr>
      </p:sp>
      <p:sp>
        <p:nvSpPr>
          <p:cNvPr id="15" name="text-11"/>
          <p:cNvSpPr txBox="1"/>
          <p:nvPr/>
        </p:nvSpPr>
        <p:spPr>
          <a:xfrm>
            <a:off x="694944" y="3767328"/>
            <a:ext cx="2926080" cy="219456"/>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Architecture decisions</a:t>
            </a:r>
            <a:endParaRPr lang="en-US" sz="1200" dirty="0"/>
          </a:p>
        </p:txBody>
      </p:sp>
      <p:sp>
        <p:nvSpPr>
          <p:cNvPr id="16" name="text-12"/>
          <p:cNvSpPr txBox="1"/>
          <p:nvPr/>
        </p:nvSpPr>
        <p:spPr>
          <a:xfrm>
            <a:off x="694944" y="3986784"/>
            <a:ext cx="2926080" cy="256032"/>
          </a:xfrm>
          <a:prstGeom prst="rect">
            <a:avLst/>
          </a:prstGeom>
          <a:noFill/>
          <a:ln/>
        </p:spPr>
        <p:txBody>
          <a:bodyPr wrap="square" lIns="0" tIns="0" rIns="0" bIns="0" rtlCol="0" anchor="t"/>
          <a:lstStyle/>
          <a:p>
            <a:pPr algn="l" indent="0" marL="0">
              <a:lnSpc>
                <a:spcPct val="100000"/>
              </a:lnSpc>
              <a:buNone/>
            </a:pPr>
            <a:r>
              <a:rPr lang="en-US" sz="900" dirty="0">
                <a:solidFill>
                  <a:srgbClr val="5A6B75"/>
                </a:solidFill>
                <a:latin typeface="Calibri" pitchFamily="34" charset="0"/>
                <a:ea typeface="Calibri" pitchFamily="34" charset="-122"/>
                <a:cs typeface="Calibri" pitchFamily="34" charset="-120"/>
              </a:rPr>
              <a:t>written down, visible to all</a:t>
            </a:r>
            <a:endParaRPr lang="en-US" sz="900" dirty="0"/>
          </a:p>
        </p:txBody>
      </p:sp>
      <p:sp>
        <p:nvSpPr>
          <p:cNvPr id="17" name="text-13"/>
          <p:cNvSpPr txBox="1"/>
          <p:nvPr/>
        </p:nvSpPr>
        <p:spPr>
          <a:xfrm>
            <a:off x="493776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ASSURANCE GATES BY TIER — EVERY INCREMENT, EVIDENCE NOT MEETINGS</a:t>
            </a:r>
            <a:endParaRPr lang="en-US" sz="800" dirty="0"/>
          </a:p>
        </p:txBody>
      </p:sp>
      <p:sp>
        <p:nvSpPr>
          <p:cNvPr id="18" name="shape-14"/>
          <p:cNvSpPr/>
          <p:nvPr/>
        </p:nvSpPr>
        <p:spPr>
          <a:xfrm>
            <a:off x="8595360" y="1581912"/>
            <a:ext cx="201168" cy="146304"/>
          </a:xfrm>
          <a:prstGeom prst="roundRect">
            <a:avLst>
              <a:gd name="adj" fmla="val 50000"/>
            </a:avLst>
          </a:prstGeom>
          <a:solidFill>
            <a:srgbClr val="134E4A"/>
          </a:solidFill>
          <a:ln w="12700">
            <a:solidFill>
              <a:srgbClr val="134E4A"/>
            </a:solidFill>
            <a:prstDash val="solid"/>
          </a:ln>
        </p:spPr>
      </p:sp>
      <p:sp>
        <p:nvSpPr>
          <p:cNvPr id="19" name="text-15"/>
          <p:cNvSpPr txBox="1"/>
          <p:nvPr/>
        </p:nvSpPr>
        <p:spPr>
          <a:xfrm>
            <a:off x="859536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20" name="shape-16"/>
          <p:cNvSpPr/>
          <p:nvPr/>
        </p:nvSpPr>
        <p:spPr>
          <a:xfrm>
            <a:off x="9326880" y="1581912"/>
            <a:ext cx="201168" cy="146304"/>
          </a:xfrm>
          <a:prstGeom prst="roundRect">
            <a:avLst>
              <a:gd name="adj" fmla="val 50000"/>
            </a:avLst>
          </a:prstGeom>
          <a:solidFill>
            <a:srgbClr val="0F766E"/>
          </a:solidFill>
          <a:ln w="12700">
            <a:solidFill>
              <a:srgbClr val="0F766E"/>
            </a:solidFill>
            <a:prstDash val="solid"/>
          </a:ln>
        </p:spPr>
      </p:sp>
      <p:sp>
        <p:nvSpPr>
          <p:cNvPr id="21" name="text-17"/>
          <p:cNvSpPr txBox="1"/>
          <p:nvPr/>
        </p:nvSpPr>
        <p:spPr>
          <a:xfrm>
            <a:off x="932688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22" name="shape-18"/>
          <p:cNvSpPr/>
          <p:nvPr/>
        </p:nvSpPr>
        <p:spPr>
          <a:xfrm>
            <a:off x="10058400" y="1581912"/>
            <a:ext cx="201168" cy="146304"/>
          </a:xfrm>
          <a:prstGeom prst="roundRect">
            <a:avLst>
              <a:gd name="adj" fmla="val 50000"/>
            </a:avLst>
          </a:prstGeom>
          <a:solidFill>
            <a:srgbClr val="8A99A3"/>
          </a:solidFill>
          <a:ln w="12700">
            <a:solidFill>
              <a:srgbClr val="8A99A3"/>
            </a:solidFill>
            <a:prstDash val="solid"/>
          </a:ln>
        </p:spPr>
      </p:sp>
      <p:sp>
        <p:nvSpPr>
          <p:cNvPr id="23" name="text-19"/>
          <p:cNvSpPr txBox="1"/>
          <p:nvPr/>
        </p:nvSpPr>
        <p:spPr>
          <a:xfrm>
            <a:off x="1005840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24" name="shape-20"/>
          <p:cNvSpPr/>
          <p:nvPr/>
        </p:nvSpPr>
        <p:spPr>
          <a:xfrm>
            <a:off x="10789920" y="1581912"/>
            <a:ext cx="201168" cy="146304"/>
          </a:xfrm>
          <a:prstGeom prst="roundRect">
            <a:avLst>
              <a:gd name="adj" fmla="val 50000"/>
            </a:avLst>
          </a:prstGeom>
          <a:solidFill>
            <a:srgbClr val="B45309"/>
          </a:solidFill>
          <a:ln w="12700">
            <a:solidFill>
              <a:srgbClr val="B45309"/>
            </a:solidFill>
            <a:prstDash val="solid"/>
          </a:ln>
        </p:spPr>
      </p:sp>
      <p:sp>
        <p:nvSpPr>
          <p:cNvPr id="25" name="text-21"/>
          <p:cNvSpPr txBox="1"/>
          <p:nvPr/>
        </p:nvSpPr>
        <p:spPr>
          <a:xfrm>
            <a:off x="1078992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26" name="shape-22"/>
          <p:cNvSpPr/>
          <p:nvPr/>
        </p:nvSpPr>
        <p:spPr>
          <a:xfrm>
            <a:off x="4937760" y="1773936"/>
            <a:ext cx="6675120" cy="402336"/>
          </a:xfrm>
          <a:prstGeom prst="roundRect">
            <a:avLst>
              <a:gd name="adj" fmla="val 9091"/>
            </a:avLst>
          </a:prstGeom>
          <a:solidFill>
            <a:srgbClr val="EEF2F4"/>
          </a:solidFill>
          <a:ln w="12700">
            <a:solidFill>
              <a:srgbClr val="EEF2F4"/>
            </a:solidFill>
            <a:prstDash val="solid"/>
          </a:ln>
        </p:spPr>
      </p:sp>
      <p:sp>
        <p:nvSpPr>
          <p:cNvPr id="27" name="text-23"/>
          <p:cNvSpPr txBox="1"/>
          <p:nvPr/>
        </p:nvSpPr>
        <p:spPr>
          <a:xfrm>
            <a:off x="5029200" y="1847088"/>
            <a:ext cx="2926080" cy="256032"/>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Security and payments</a:t>
            </a:r>
            <a:endParaRPr lang="en-US" sz="1200" dirty="0"/>
          </a:p>
        </p:txBody>
      </p:sp>
      <p:sp>
        <p:nvSpPr>
          <p:cNvPr id="28" name="oval-24"/>
          <p:cNvSpPr/>
          <p:nvPr/>
        </p:nvSpPr>
        <p:spPr>
          <a:xfrm>
            <a:off x="8613648" y="1892808"/>
            <a:ext cx="164592" cy="164592"/>
          </a:xfrm>
          <a:prstGeom prst="ellipse">
            <a:avLst/>
          </a:prstGeom>
          <a:solidFill>
            <a:srgbClr val="134E4A"/>
          </a:solidFill>
          <a:ln w="12700">
            <a:solidFill>
              <a:srgbClr val="134E4A"/>
            </a:solidFill>
            <a:prstDash val="solid"/>
          </a:ln>
        </p:spPr>
      </p:sp>
      <p:sp>
        <p:nvSpPr>
          <p:cNvPr id="29" name="oval-25"/>
          <p:cNvSpPr/>
          <p:nvPr/>
        </p:nvSpPr>
        <p:spPr>
          <a:xfrm>
            <a:off x="10076688" y="1892808"/>
            <a:ext cx="164592" cy="164592"/>
          </a:xfrm>
          <a:prstGeom prst="ellipse">
            <a:avLst/>
          </a:prstGeom>
          <a:solidFill>
            <a:srgbClr val="8A99A3"/>
          </a:solidFill>
          <a:ln w="12700">
            <a:solidFill>
              <a:srgbClr val="8A99A3"/>
            </a:solidFill>
            <a:prstDash val="solid"/>
          </a:ln>
        </p:spPr>
      </p:sp>
      <p:sp>
        <p:nvSpPr>
          <p:cNvPr id="30" name="oval-26"/>
          <p:cNvSpPr/>
          <p:nvPr/>
        </p:nvSpPr>
        <p:spPr>
          <a:xfrm>
            <a:off x="10808208" y="1892808"/>
            <a:ext cx="164592" cy="164592"/>
          </a:xfrm>
          <a:prstGeom prst="ellipse">
            <a:avLst/>
          </a:prstGeom>
          <a:solidFill>
            <a:srgbClr val="B45309"/>
          </a:solidFill>
          <a:ln w="12700">
            <a:solidFill>
              <a:srgbClr val="B45309"/>
            </a:solidFill>
            <a:prstDash val="solid"/>
          </a:ln>
        </p:spPr>
      </p:sp>
      <p:sp>
        <p:nvSpPr>
          <p:cNvPr id="31" name="text-27"/>
          <p:cNvSpPr txBox="1"/>
          <p:nvPr/>
        </p:nvSpPr>
        <p:spPr>
          <a:xfrm>
            <a:off x="5029200" y="2304288"/>
            <a:ext cx="2926080" cy="256032"/>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Data and privacy</a:t>
            </a:r>
            <a:endParaRPr lang="en-US" sz="1200" dirty="0"/>
          </a:p>
        </p:txBody>
      </p:sp>
      <p:sp>
        <p:nvSpPr>
          <p:cNvPr id="32" name="oval-28"/>
          <p:cNvSpPr/>
          <p:nvPr/>
        </p:nvSpPr>
        <p:spPr>
          <a:xfrm>
            <a:off x="8613648" y="2350008"/>
            <a:ext cx="164592" cy="164592"/>
          </a:xfrm>
          <a:prstGeom prst="ellipse">
            <a:avLst/>
          </a:prstGeom>
          <a:solidFill>
            <a:srgbClr val="134E4A"/>
          </a:solidFill>
          <a:ln w="12700">
            <a:solidFill>
              <a:srgbClr val="134E4A"/>
            </a:solidFill>
            <a:prstDash val="solid"/>
          </a:ln>
        </p:spPr>
      </p:sp>
      <p:sp>
        <p:nvSpPr>
          <p:cNvPr id="33" name="oval-29"/>
          <p:cNvSpPr/>
          <p:nvPr/>
        </p:nvSpPr>
        <p:spPr>
          <a:xfrm>
            <a:off x="9345168" y="2350008"/>
            <a:ext cx="164592" cy="164592"/>
          </a:xfrm>
          <a:prstGeom prst="ellipse">
            <a:avLst/>
          </a:prstGeom>
          <a:solidFill>
            <a:srgbClr val="0F766E"/>
          </a:solidFill>
          <a:ln w="12700">
            <a:solidFill>
              <a:srgbClr val="0F766E"/>
            </a:solidFill>
            <a:prstDash val="solid"/>
          </a:ln>
        </p:spPr>
      </p:sp>
      <p:sp>
        <p:nvSpPr>
          <p:cNvPr id="34" name="oval-30"/>
          <p:cNvSpPr/>
          <p:nvPr/>
        </p:nvSpPr>
        <p:spPr>
          <a:xfrm>
            <a:off x="10076688" y="2350008"/>
            <a:ext cx="164592" cy="164592"/>
          </a:xfrm>
          <a:prstGeom prst="ellipse">
            <a:avLst/>
          </a:prstGeom>
          <a:solidFill>
            <a:srgbClr val="8A99A3"/>
          </a:solidFill>
          <a:ln w="12700">
            <a:solidFill>
              <a:srgbClr val="8A99A3"/>
            </a:solidFill>
            <a:prstDash val="solid"/>
          </a:ln>
        </p:spPr>
      </p:sp>
      <p:sp>
        <p:nvSpPr>
          <p:cNvPr id="35" name="shape-31"/>
          <p:cNvSpPr/>
          <p:nvPr/>
        </p:nvSpPr>
        <p:spPr>
          <a:xfrm>
            <a:off x="4937760" y="2688336"/>
            <a:ext cx="6675120" cy="402336"/>
          </a:xfrm>
          <a:prstGeom prst="roundRect">
            <a:avLst>
              <a:gd name="adj" fmla="val 9091"/>
            </a:avLst>
          </a:prstGeom>
          <a:solidFill>
            <a:srgbClr val="EEF2F4"/>
          </a:solidFill>
          <a:ln w="12700">
            <a:solidFill>
              <a:srgbClr val="EEF2F4"/>
            </a:solidFill>
            <a:prstDash val="solid"/>
          </a:ln>
        </p:spPr>
      </p:sp>
      <p:sp>
        <p:nvSpPr>
          <p:cNvPr id="36" name="text-32"/>
          <p:cNvSpPr txBox="1"/>
          <p:nvPr/>
        </p:nvSpPr>
        <p:spPr>
          <a:xfrm>
            <a:off x="5029200" y="2761488"/>
            <a:ext cx="2926080" cy="256032"/>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Content integrity</a:t>
            </a:r>
            <a:endParaRPr lang="en-US" sz="1200" dirty="0"/>
          </a:p>
        </p:txBody>
      </p:sp>
      <p:sp>
        <p:nvSpPr>
          <p:cNvPr id="37" name="oval-33"/>
          <p:cNvSpPr/>
          <p:nvPr/>
        </p:nvSpPr>
        <p:spPr>
          <a:xfrm>
            <a:off x="8613648" y="2807208"/>
            <a:ext cx="164592" cy="164592"/>
          </a:xfrm>
          <a:prstGeom prst="ellipse">
            <a:avLst/>
          </a:prstGeom>
          <a:solidFill>
            <a:srgbClr val="134E4A"/>
          </a:solidFill>
          <a:ln w="12700">
            <a:solidFill>
              <a:srgbClr val="134E4A"/>
            </a:solidFill>
            <a:prstDash val="solid"/>
          </a:ln>
        </p:spPr>
      </p:sp>
      <p:sp>
        <p:nvSpPr>
          <p:cNvPr id="38" name="oval-34"/>
          <p:cNvSpPr/>
          <p:nvPr/>
        </p:nvSpPr>
        <p:spPr>
          <a:xfrm>
            <a:off x="9345168" y="2807208"/>
            <a:ext cx="164592" cy="164592"/>
          </a:xfrm>
          <a:prstGeom prst="ellipse">
            <a:avLst/>
          </a:prstGeom>
          <a:solidFill>
            <a:srgbClr val="0F766E"/>
          </a:solidFill>
          <a:ln w="12700">
            <a:solidFill>
              <a:srgbClr val="0F766E"/>
            </a:solidFill>
            <a:prstDash val="solid"/>
          </a:ln>
        </p:spPr>
      </p:sp>
      <p:sp>
        <p:nvSpPr>
          <p:cNvPr id="39" name="text-35"/>
          <p:cNvSpPr txBox="1"/>
          <p:nvPr/>
        </p:nvSpPr>
        <p:spPr>
          <a:xfrm>
            <a:off x="5029200" y="3218688"/>
            <a:ext cx="2926080" cy="256032"/>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Integration and operability</a:t>
            </a:r>
            <a:endParaRPr lang="en-US" sz="1200" dirty="0"/>
          </a:p>
        </p:txBody>
      </p:sp>
      <p:sp>
        <p:nvSpPr>
          <p:cNvPr id="40" name="oval-36"/>
          <p:cNvSpPr/>
          <p:nvPr/>
        </p:nvSpPr>
        <p:spPr>
          <a:xfrm>
            <a:off x="8613648" y="3264408"/>
            <a:ext cx="164592" cy="164592"/>
          </a:xfrm>
          <a:prstGeom prst="ellipse">
            <a:avLst/>
          </a:prstGeom>
          <a:solidFill>
            <a:srgbClr val="134E4A"/>
          </a:solidFill>
          <a:ln w="12700">
            <a:solidFill>
              <a:srgbClr val="134E4A"/>
            </a:solidFill>
            <a:prstDash val="solid"/>
          </a:ln>
        </p:spPr>
      </p:sp>
      <p:sp>
        <p:nvSpPr>
          <p:cNvPr id="41" name="oval-37"/>
          <p:cNvSpPr/>
          <p:nvPr/>
        </p:nvSpPr>
        <p:spPr>
          <a:xfrm>
            <a:off x="10076688" y="3264408"/>
            <a:ext cx="164592" cy="164592"/>
          </a:xfrm>
          <a:prstGeom prst="ellipse">
            <a:avLst/>
          </a:prstGeom>
          <a:solidFill>
            <a:srgbClr val="8A99A3"/>
          </a:solidFill>
          <a:ln w="12700">
            <a:solidFill>
              <a:srgbClr val="8A99A3"/>
            </a:solidFill>
            <a:prstDash val="solid"/>
          </a:ln>
        </p:spPr>
      </p:sp>
      <p:sp>
        <p:nvSpPr>
          <p:cNvPr id="42" name="oval-38"/>
          <p:cNvSpPr/>
          <p:nvPr/>
        </p:nvSpPr>
        <p:spPr>
          <a:xfrm>
            <a:off x="10808208" y="3264408"/>
            <a:ext cx="164592" cy="164592"/>
          </a:xfrm>
          <a:prstGeom prst="ellipse">
            <a:avLst/>
          </a:prstGeom>
          <a:solidFill>
            <a:srgbClr val="B45309"/>
          </a:solidFill>
          <a:ln w="12700">
            <a:solidFill>
              <a:srgbClr val="B45309"/>
            </a:solidFill>
            <a:prstDash val="solid"/>
          </a:ln>
        </p:spPr>
      </p:sp>
      <p:sp>
        <p:nvSpPr>
          <p:cNvPr id="43" name="shape-39"/>
          <p:cNvSpPr/>
          <p:nvPr/>
        </p:nvSpPr>
        <p:spPr>
          <a:xfrm>
            <a:off x="4937760" y="3602736"/>
            <a:ext cx="6675120" cy="402336"/>
          </a:xfrm>
          <a:prstGeom prst="roundRect">
            <a:avLst>
              <a:gd name="adj" fmla="val 9091"/>
            </a:avLst>
          </a:prstGeom>
          <a:solidFill>
            <a:srgbClr val="EEF2F4"/>
          </a:solidFill>
          <a:ln w="12700">
            <a:solidFill>
              <a:srgbClr val="EEF2F4"/>
            </a:solidFill>
            <a:prstDash val="solid"/>
          </a:ln>
        </p:spPr>
      </p:sp>
      <p:sp>
        <p:nvSpPr>
          <p:cNvPr id="44" name="text-40"/>
          <p:cNvSpPr txBox="1"/>
          <p:nvPr/>
        </p:nvSpPr>
        <p:spPr>
          <a:xfrm>
            <a:off x="5029200" y="3675888"/>
            <a:ext cx="2926080" cy="256032"/>
          </a:xfrm>
          <a:prstGeom prst="rect">
            <a:avLst/>
          </a:prstGeom>
          <a:noFill/>
          <a:ln/>
        </p:spPr>
        <p:txBody>
          <a:bodyPr wrap="square" lIns="0" tIns="0" rIns="0" bIns="0" rtlCol="0" anchor="ctr"/>
          <a:lstStyle/>
          <a:p>
            <a:pPr algn="l" indent="0" marL="0">
              <a:lnSpc>
                <a:spcPct val="100000"/>
              </a:lnSpc>
              <a:buNone/>
            </a:pPr>
            <a:r>
              <a:rPr lang="en-US" sz="1200" b="1" dirty="0">
                <a:solidFill>
                  <a:srgbClr val="1C2B33"/>
                </a:solidFill>
                <a:latin typeface="Calibri" pitchFamily="34" charset="0"/>
                <a:ea typeface="Calibri" pitchFamily="34" charset="-122"/>
                <a:cs typeface="Calibri" pitchFamily="34" charset="-120"/>
              </a:rPr>
              <a:t>Release readiness</a:t>
            </a:r>
            <a:endParaRPr lang="en-US" sz="1200" dirty="0"/>
          </a:p>
        </p:txBody>
      </p:sp>
      <p:sp>
        <p:nvSpPr>
          <p:cNvPr id="45" name="oval-41"/>
          <p:cNvSpPr/>
          <p:nvPr/>
        </p:nvSpPr>
        <p:spPr>
          <a:xfrm>
            <a:off x="8613648" y="3721608"/>
            <a:ext cx="164592" cy="164592"/>
          </a:xfrm>
          <a:prstGeom prst="ellipse">
            <a:avLst/>
          </a:prstGeom>
          <a:solidFill>
            <a:srgbClr val="134E4A"/>
          </a:solidFill>
          <a:ln w="12700">
            <a:solidFill>
              <a:srgbClr val="134E4A"/>
            </a:solidFill>
            <a:prstDash val="solid"/>
          </a:ln>
        </p:spPr>
      </p:sp>
      <p:sp>
        <p:nvSpPr>
          <p:cNvPr id="46" name="oval-42"/>
          <p:cNvSpPr/>
          <p:nvPr/>
        </p:nvSpPr>
        <p:spPr>
          <a:xfrm>
            <a:off x="9345168" y="3721608"/>
            <a:ext cx="164592" cy="164592"/>
          </a:xfrm>
          <a:prstGeom prst="ellipse">
            <a:avLst/>
          </a:prstGeom>
          <a:solidFill>
            <a:srgbClr val="0F766E"/>
          </a:solidFill>
          <a:ln w="12700">
            <a:solidFill>
              <a:srgbClr val="0F766E"/>
            </a:solidFill>
            <a:prstDash val="solid"/>
          </a:ln>
        </p:spPr>
      </p:sp>
      <p:sp>
        <p:nvSpPr>
          <p:cNvPr id="47" name="oval-43"/>
          <p:cNvSpPr/>
          <p:nvPr/>
        </p:nvSpPr>
        <p:spPr>
          <a:xfrm>
            <a:off x="10808208" y="3721608"/>
            <a:ext cx="164592" cy="164592"/>
          </a:xfrm>
          <a:prstGeom prst="ellipse">
            <a:avLst/>
          </a:prstGeom>
          <a:solidFill>
            <a:srgbClr val="B45309"/>
          </a:solidFill>
          <a:ln w="12700">
            <a:solidFill>
              <a:srgbClr val="B45309"/>
            </a:solidFill>
            <a:prstDash val="solid"/>
          </a:ln>
        </p:spPr>
      </p:sp>
      <p:sp>
        <p:nvSpPr>
          <p:cNvPr id="48" name="text-44"/>
          <p:cNvSpPr txBox="1"/>
          <p:nvPr/>
        </p:nvSpPr>
        <p:spPr>
          <a:xfrm>
            <a:off x="4937760" y="4297680"/>
            <a:ext cx="6675120" cy="164592"/>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A product · B content tooling · C commodity · X cross-cutting</a:t>
            </a:r>
            <a:endParaRPr lang="en-US" sz="800" dirty="0"/>
          </a:p>
        </p:txBody>
      </p:sp>
      <p:sp>
        <p:nvSpPr>
          <p:cNvPr id="49" name="text-45"/>
          <p:cNvSpPr txBox="1"/>
          <p:nvPr/>
        </p:nvSpPr>
        <p:spPr>
          <a:xfrm>
            <a:off x="548640" y="462686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THE NEXT SIX MONTHS</a:t>
            </a:r>
            <a:endParaRPr lang="en-US" sz="800" dirty="0"/>
          </a:p>
        </p:txBody>
      </p:sp>
      <p:sp>
        <p:nvSpPr>
          <p:cNvPr id="50" name="shape-46"/>
          <p:cNvSpPr/>
          <p:nvPr/>
        </p:nvSpPr>
        <p:spPr>
          <a:xfrm>
            <a:off x="548640" y="4901184"/>
            <a:ext cx="3590544" cy="768096"/>
          </a:xfrm>
          <a:prstGeom prst="roundRect">
            <a:avLst>
              <a:gd name="adj" fmla="val 9524"/>
            </a:avLst>
          </a:prstGeom>
          <a:solidFill>
            <a:srgbClr val="D6ECE9"/>
          </a:solidFill>
          <a:ln w="12700">
            <a:solidFill>
              <a:srgbClr val="D6ECE9"/>
            </a:solidFill>
            <a:prstDash val="solid"/>
          </a:ln>
        </p:spPr>
      </p:sp>
      <p:sp>
        <p:nvSpPr>
          <p:cNvPr id="51" name="text-47"/>
          <p:cNvSpPr txBox="1"/>
          <p:nvPr/>
        </p:nvSpPr>
        <p:spPr>
          <a:xfrm>
            <a:off x="713232" y="4992624"/>
            <a:ext cx="3261360" cy="256032"/>
          </a:xfrm>
          <a:prstGeom prst="rect">
            <a:avLst/>
          </a:prstGeom>
          <a:noFill/>
          <a:ln/>
        </p:spPr>
        <p:txBody>
          <a:bodyPr wrap="square" lIns="0" tIns="0" rIns="0" bIns="0" rtlCol="0" anchor="ctr"/>
          <a:lstStyle/>
          <a:p>
            <a:pPr algn="l" indent="0" marL="0">
              <a:lnSpc>
                <a:spcPct val="100000"/>
              </a:lnSpc>
              <a:buNone/>
            </a:pPr>
            <a:r>
              <a:rPr lang="en-US" sz="1450" b="1" dirty="0">
                <a:solidFill>
                  <a:srgbClr val="1C2B33"/>
                </a:solidFill>
                <a:latin typeface="Calibri" pitchFamily="34" charset="0"/>
                <a:ea typeface="Calibri" pitchFamily="34" charset="-122"/>
                <a:cs typeface="Calibri" pitchFamily="34" charset="-120"/>
              </a:rPr>
              <a:t>Months 1–2</a:t>
            </a:r>
            <a:endParaRPr lang="en-US" sz="1450" dirty="0"/>
          </a:p>
        </p:txBody>
      </p:sp>
      <p:sp>
        <p:nvSpPr>
          <p:cNvPr id="52" name="text-48"/>
          <p:cNvSpPr txBox="1"/>
          <p:nvPr/>
        </p:nvSpPr>
        <p:spPr>
          <a:xfrm>
            <a:off x="713232" y="5285232"/>
            <a:ext cx="3261360" cy="329184"/>
          </a:xfrm>
          <a:prstGeom prst="rect">
            <a:avLst/>
          </a:prstGeom>
          <a:noFill/>
          <a:ln/>
        </p:spPr>
        <p:txBody>
          <a:bodyPr wrap="square" lIns="0" tIns="0" rIns="0" bIns="0" rtlCol="0" anchor="t"/>
          <a:lstStyle/>
          <a:p>
            <a:pPr algn="l" indent="0" marL="0">
              <a:lnSpc>
                <a:spcPct val="100000"/>
              </a:lnSpc>
              <a:buNone/>
            </a:pPr>
            <a:r>
              <a:rPr lang="en-US" sz="1000" dirty="0">
                <a:solidFill>
                  <a:srgbClr val="5A6B75"/>
                </a:solidFill>
                <a:latin typeface="Calibri" pitchFamily="34" charset="0"/>
                <a:ea typeface="Calibri" pitchFamily="34" charset="-122"/>
                <a:cs typeface="Calibri" pitchFamily="34" charset="-120"/>
              </a:rPr>
              <a:t>two baselines, fit test, scope decisions to the board</a:t>
            </a:r>
            <a:endParaRPr lang="en-US" sz="1000" dirty="0"/>
          </a:p>
        </p:txBody>
      </p:sp>
      <p:sp>
        <p:nvSpPr>
          <p:cNvPr id="53" name="shape-49"/>
          <p:cNvSpPr/>
          <p:nvPr/>
        </p:nvSpPr>
        <p:spPr>
          <a:xfrm>
            <a:off x="4285488" y="4901184"/>
            <a:ext cx="3590544" cy="768096"/>
          </a:xfrm>
          <a:prstGeom prst="roundRect">
            <a:avLst>
              <a:gd name="adj" fmla="val 9524"/>
            </a:avLst>
          </a:prstGeom>
          <a:solidFill>
            <a:srgbClr val="0F766E"/>
          </a:solidFill>
          <a:ln w="12700">
            <a:solidFill>
              <a:srgbClr val="0F766E"/>
            </a:solidFill>
            <a:prstDash val="solid"/>
          </a:ln>
        </p:spPr>
      </p:sp>
      <p:sp>
        <p:nvSpPr>
          <p:cNvPr id="54" name="text-50"/>
          <p:cNvSpPr txBox="1"/>
          <p:nvPr/>
        </p:nvSpPr>
        <p:spPr>
          <a:xfrm>
            <a:off x="4450080" y="4992624"/>
            <a:ext cx="3261360" cy="256032"/>
          </a:xfrm>
          <a:prstGeom prst="rect">
            <a:avLst/>
          </a:prstGeom>
          <a:noFill/>
          <a:ln/>
        </p:spPr>
        <p:txBody>
          <a:bodyPr wrap="square" lIns="0" tIns="0" rIns="0" bIns="0" rtlCol="0" anchor="ctr"/>
          <a:lstStyle/>
          <a:p>
            <a:pPr algn="l" indent="0" marL="0">
              <a:lnSpc>
                <a:spcPct val="100000"/>
              </a:lnSpc>
              <a:buNone/>
            </a:pPr>
            <a:r>
              <a:rPr lang="en-US" sz="1450" b="1" dirty="0">
                <a:solidFill>
                  <a:srgbClr val="FFFFFF"/>
                </a:solidFill>
                <a:latin typeface="Calibri" pitchFamily="34" charset="0"/>
                <a:ea typeface="Calibri" pitchFamily="34" charset="-122"/>
                <a:cs typeface="Calibri" pitchFamily="34" charset="-120"/>
              </a:rPr>
              <a:t>Months 3–4</a:t>
            </a:r>
            <a:endParaRPr lang="en-US" sz="1450" dirty="0"/>
          </a:p>
        </p:txBody>
      </p:sp>
      <p:sp>
        <p:nvSpPr>
          <p:cNvPr id="55" name="text-51"/>
          <p:cNvSpPr txBox="1"/>
          <p:nvPr/>
        </p:nvSpPr>
        <p:spPr>
          <a:xfrm>
            <a:off x="4450080" y="5285232"/>
            <a:ext cx="3261360" cy="329184"/>
          </a:xfrm>
          <a:prstGeom prst="rect">
            <a:avLst/>
          </a:prstGeom>
          <a:noFill/>
          <a:ln/>
        </p:spPr>
        <p:txBody>
          <a:bodyPr wrap="square" lIns="0" tIns="0" rIns="0" bIns="0" rtlCol="0" anchor="t"/>
          <a:lstStyle/>
          <a:p>
            <a:pPr algn="l" indent="0" marL="0">
              <a:lnSpc>
                <a:spcPct val="100000"/>
              </a:lnSpc>
              <a:buNone/>
            </a:pPr>
            <a:r>
              <a:rPr lang="en-US" sz="1000" dirty="0">
                <a:solidFill>
                  <a:srgbClr val="CFE8E5"/>
                </a:solidFill>
                <a:latin typeface="Calibri" pitchFamily="34" charset="0"/>
                <a:ea typeface="Calibri" pitchFamily="34" charset="-122"/>
                <a:cs typeface="Calibri" pitchFamily="34" charset="-120"/>
              </a:rPr>
              <a:t>first assured delivery on the core; partners delivering</a:t>
            </a:r>
            <a:endParaRPr lang="en-US" sz="1000" dirty="0"/>
          </a:p>
        </p:txBody>
      </p:sp>
      <p:sp>
        <p:nvSpPr>
          <p:cNvPr id="56" name="shape-52"/>
          <p:cNvSpPr/>
          <p:nvPr/>
        </p:nvSpPr>
        <p:spPr>
          <a:xfrm>
            <a:off x="8022336" y="4901184"/>
            <a:ext cx="3590544" cy="768096"/>
          </a:xfrm>
          <a:prstGeom prst="roundRect">
            <a:avLst>
              <a:gd name="adj" fmla="val 9524"/>
            </a:avLst>
          </a:prstGeom>
          <a:solidFill>
            <a:srgbClr val="134E4A"/>
          </a:solidFill>
          <a:ln w="12700">
            <a:solidFill>
              <a:srgbClr val="134E4A"/>
            </a:solidFill>
            <a:prstDash val="solid"/>
          </a:ln>
        </p:spPr>
      </p:sp>
      <p:sp>
        <p:nvSpPr>
          <p:cNvPr id="57" name="text-53"/>
          <p:cNvSpPr txBox="1"/>
          <p:nvPr/>
        </p:nvSpPr>
        <p:spPr>
          <a:xfrm>
            <a:off x="8186928" y="4992624"/>
            <a:ext cx="3261360" cy="256032"/>
          </a:xfrm>
          <a:prstGeom prst="rect">
            <a:avLst/>
          </a:prstGeom>
          <a:noFill/>
          <a:ln/>
        </p:spPr>
        <p:txBody>
          <a:bodyPr wrap="square" lIns="0" tIns="0" rIns="0" bIns="0" rtlCol="0" anchor="ctr"/>
          <a:lstStyle/>
          <a:p>
            <a:pPr algn="l" indent="0" marL="0">
              <a:lnSpc>
                <a:spcPct val="100000"/>
              </a:lnSpc>
              <a:buNone/>
            </a:pPr>
            <a:r>
              <a:rPr lang="en-US" sz="1450" b="1" dirty="0">
                <a:solidFill>
                  <a:srgbClr val="FFFFFF"/>
                </a:solidFill>
                <a:latin typeface="Calibri" pitchFamily="34" charset="0"/>
                <a:ea typeface="Calibri" pitchFamily="34" charset="-122"/>
                <a:cs typeface="Calibri" pitchFamily="34" charset="-120"/>
              </a:rPr>
              <a:t>Months 5–6</a:t>
            </a:r>
            <a:endParaRPr lang="en-US" sz="1450" dirty="0"/>
          </a:p>
        </p:txBody>
      </p:sp>
      <p:sp>
        <p:nvSpPr>
          <p:cNvPr id="58" name="text-54"/>
          <p:cNvSpPr txBox="1"/>
          <p:nvPr/>
        </p:nvSpPr>
        <p:spPr>
          <a:xfrm>
            <a:off x="8186928" y="5285232"/>
            <a:ext cx="3261360" cy="329184"/>
          </a:xfrm>
          <a:prstGeom prst="rect">
            <a:avLst/>
          </a:prstGeom>
          <a:noFill/>
          <a:ln/>
        </p:spPr>
        <p:txBody>
          <a:bodyPr wrap="square" lIns="0" tIns="0" rIns="0" bIns="0" rtlCol="0" anchor="t"/>
          <a:lstStyle/>
          <a:p>
            <a:pPr algn="l" indent="0" marL="0">
              <a:lnSpc>
                <a:spcPct val="100000"/>
              </a:lnSpc>
              <a:buNone/>
            </a:pPr>
            <a:r>
              <a:rPr lang="en-US" sz="1000" dirty="0">
                <a:solidFill>
                  <a:srgbClr val="CFE8E5"/>
                </a:solidFill>
                <a:latin typeface="Calibri" pitchFamily="34" charset="0"/>
                <a:ea typeface="Calibri" pitchFamily="34" charset="-122"/>
                <a:cs typeface="Calibri" pitchFamily="34" charset="-120"/>
              </a:rPr>
              <a:t>build waves, cutover rehearsal, go-live against the date</a:t>
            </a:r>
            <a:endParaRPr lang="en-US" sz="1000" dirty="0"/>
          </a:p>
        </p:txBody>
      </p:sp>
      <p:sp>
        <p:nvSpPr>
          <p:cNvPr id="59" name="text-55"/>
          <p:cNvSpPr txBox="1"/>
          <p:nvPr/>
        </p:nvSpPr>
        <p:spPr>
          <a:xfrm>
            <a:off x="548640" y="6035040"/>
            <a:ext cx="1005840" cy="182880"/>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B45309"/>
                </a:solidFill>
                <a:latin typeface="Calibri" pitchFamily="34" charset="0"/>
                <a:ea typeface="Calibri" pitchFamily="34" charset="-122"/>
                <a:cs typeface="Calibri" pitchFamily="34" charset="-120"/>
              </a:rPr>
              <a:t>CONSTRAINTS</a:t>
            </a:r>
            <a:endParaRPr lang="en-US" sz="850" dirty="0"/>
          </a:p>
        </p:txBody>
      </p:sp>
      <p:sp>
        <p:nvSpPr>
          <p:cNvPr id="60" name="text-56"/>
          <p:cNvSpPr txBox="1"/>
          <p:nvPr/>
        </p:nvSpPr>
        <p:spPr>
          <a:xfrm>
            <a:off x="1645920" y="6035040"/>
            <a:ext cx="9966960" cy="182880"/>
          </a:xfrm>
          <a:prstGeom prst="rect">
            <a:avLst/>
          </a:prstGeom>
          <a:noFill/>
          <a:ln/>
        </p:spPr>
        <p:txBody>
          <a:bodyPr wrap="square" lIns="0" tIns="0" rIns="0" bIns="0" rtlCol="0" anchor="ctr"/>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fixed date  ·  team of six  ·  budget  ·  vendor dependency  ·  content operations capacity  ·  availability and payments scope</a:t>
            </a:r>
            <a:endParaRPr lang="en-US" sz="105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8  ·  IDEAS BEYOND DAY 1</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Not commitments and not walked through today — parked for when their time comes</a:t>
            </a:r>
            <a:endParaRPr lang="en-US" sz="2000" dirty="0"/>
          </a:p>
        </p:txBody>
      </p:sp>
      <p:sp>
        <p:nvSpPr>
          <p:cNvPr id="4" name="shape-0"/>
          <p:cNvSpPr/>
          <p:nvPr/>
        </p:nvSpPr>
        <p:spPr>
          <a:xfrm>
            <a:off x="548640" y="1371600"/>
            <a:ext cx="7680960" cy="4937760"/>
          </a:xfrm>
          <a:prstGeom prst="roundRect">
            <a:avLst>
              <a:gd name="adj" fmla="val 1481"/>
            </a:avLst>
          </a:prstGeom>
          <a:solidFill>
            <a:srgbClr val="F4F1EA"/>
          </a:solidFill>
          <a:ln w="12700">
            <a:solidFill>
              <a:srgbClr val="F4F1EA"/>
            </a:solidFill>
            <a:prstDash val="solid"/>
          </a:ln>
        </p:spPr>
      </p:sp>
      <p:sp>
        <p:nvSpPr>
          <p:cNvPr id="5" name="text-1"/>
          <p:cNvSpPr txBox="1"/>
          <p:nvPr/>
        </p:nvSpPr>
        <p:spPr>
          <a:xfrm>
            <a:off x="731520" y="1499616"/>
            <a:ext cx="73152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5A6B75"/>
                </a:solidFill>
                <a:latin typeface="Calibri" pitchFamily="34" charset="0"/>
                <a:ea typeface="Calibri" pitchFamily="34" charset="-122"/>
                <a:cs typeface="Calibri" pitchFamily="34" charset="-120"/>
              </a:rPr>
              <a:t>DAY 1.5 — IDEAS WALL: PARKED, UNSORTED, JUDGED BY TIER WHEN THEIR TIME COMES</a:t>
            </a:r>
            <a:endParaRPr lang="en-US" sz="800" dirty="0"/>
          </a:p>
        </p:txBody>
      </p:sp>
      <p:sp>
        <p:nvSpPr>
          <p:cNvPr id="6" name="shape-2"/>
          <p:cNvSpPr/>
          <p:nvPr/>
        </p:nvSpPr>
        <p:spPr>
          <a:xfrm rot="-240000">
            <a:off x="804672" y="1920240"/>
            <a:ext cx="1572768" cy="1188720"/>
          </a:xfrm>
          <a:prstGeom prst="rect">
            <a:avLst/>
          </a:prstGeom>
          <a:solidFill>
            <a:srgbClr val="000000">
              <a:alpha val="10000"/>
            </a:srgbClr>
          </a:solidFill>
          <a:ln w="12700">
            <a:solidFill>
              <a:srgbClr val="000000"/>
            </a:solidFill>
            <a:prstDash val="solid"/>
          </a:ln>
        </p:spPr>
      </p:sp>
      <p:sp>
        <p:nvSpPr>
          <p:cNvPr id="7" name="shape-3"/>
          <p:cNvSpPr/>
          <p:nvPr/>
        </p:nvSpPr>
        <p:spPr>
          <a:xfrm rot="-240000">
            <a:off x="768096" y="1865376"/>
            <a:ext cx="1572768" cy="1188720"/>
          </a:xfrm>
          <a:prstGeom prst="rect">
            <a:avLst/>
          </a:prstGeom>
          <a:solidFill>
            <a:srgbClr val="FFF3B0"/>
          </a:solidFill>
          <a:ln w="12700">
            <a:solidFill>
              <a:srgbClr val="FFF3B0"/>
            </a:solidFill>
            <a:prstDash val="solid"/>
          </a:ln>
        </p:spPr>
      </p:sp>
      <p:sp>
        <p:nvSpPr>
          <p:cNvPr id="8" name="shape-4"/>
          <p:cNvSpPr/>
          <p:nvPr/>
        </p:nvSpPr>
        <p:spPr>
          <a:xfrm rot="-240000">
            <a:off x="1316736" y="1810512"/>
            <a:ext cx="475488" cy="128016"/>
          </a:xfrm>
          <a:prstGeom prst="rect">
            <a:avLst/>
          </a:prstGeom>
          <a:solidFill>
            <a:srgbClr val="9A9A9A">
              <a:alpha val="30000"/>
            </a:srgbClr>
          </a:solidFill>
          <a:ln w="12700">
            <a:solidFill>
              <a:srgbClr val="9A9A9A"/>
            </a:solidFill>
            <a:prstDash val="solid"/>
          </a:ln>
        </p:spPr>
      </p:sp>
      <p:sp>
        <p:nvSpPr>
          <p:cNvPr id="9" name="text-5"/>
          <p:cNvSpPr txBox="1"/>
          <p:nvPr/>
        </p:nvSpPr>
        <p:spPr>
          <a:xfrm rot="-240000">
            <a:off x="841248" y="1956816"/>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Unified communications</a:t>
            </a:r>
            <a:endParaRPr lang="en-US" sz="1150" dirty="0"/>
          </a:p>
        </p:txBody>
      </p:sp>
      <p:sp>
        <p:nvSpPr>
          <p:cNvPr id="10" name="shape-6"/>
          <p:cNvSpPr/>
          <p:nvPr/>
        </p:nvSpPr>
        <p:spPr>
          <a:xfrm rot="180000">
            <a:off x="2807208" y="1828800"/>
            <a:ext cx="1572768" cy="1188720"/>
          </a:xfrm>
          <a:prstGeom prst="rect">
            <a:avLst/>
          </a:prstGeom>
          <a:solidFill>
            <a:srgbClr val="000000">
              <a:alpha val="10000"/>
            </a:srgbClr>
          </a:solidFill>
          <a:ln w="12700">
            <a:solidFill>
              <a:srgbClr val="000000"/>
            </a:solidFill>
            <a:prstDash val="solid"/>
          </a:ln>
        </p:spPr>
      </p:sp>
      <p:sp>
        <p:nvSpPr>
          <p:cNvPr id="11" name="shape-7"/>
          <p:cNvSpPr/>
          <p:nvPr/>
        </p:nvSpPr>
        <p:spPr>
          <a:xfrm rot="180000">
            <a:off x="2770632" y="1773936"/>
            <a:ext cx="1572768" cy="1188720"/>
          </a:xfrm>
          <a:prstGeom prst="rect">
            <a:avLst/>
          </a:prstGeom>
          <a:solidFill>
            <a:srgbClr val="FFF3B0"/>
          </a:solidFill>
          <a:ln w="12700">
            <a:solidFill>
              <a:srgbClr val="FFF3B0"/>
            </a:solidFill>
            <a:prstDash val="solid"/>
          </a:ln>
        </p:spPr>
      </p:sp>
      <p:sp>
        <p:nvSpPr>
          <p:cNvPr id="12" name="shape-8"/>
          <p:cNvSpPr/>
          <p:nvPr/>
        </p:nvSpPr>
        <p:spPr>
          <a:xfrm rot="180000">
            <a:off x="3319272" y="1719072"/>
            <a:ext cx="475488" cy="128016"/>
          </a:xfrm>
          <a:prstGeom prst="rect">
            <a:avLst/>
          </a:prstGeom>
          <a:solidFill>
            <a:srgbClr val="9A9A9A">
              <a:alpha val="30000"/>
            </a:srgbClr>
          </a:solidFill>
          <a:ln w="12700">
            <a:solidFill>
              <a:srgbClr val="9A9A9A"/>
            </a:solidFill>
            <a:prstDash val="solid"/>
          </a:ln>
        </p:spPr>
      </p:sp>
      <p:sp>
        <p:nvSpPr>
          <p:cNvPr id="13" name="text-9"/>
          <p:cNvSpPr txBox="1"/>
          <p:nvPr/>
        </p:nvSpPr>
        <p:spPr>
          <a:xfrm rot="180000">
            <a:off x="2843784" y="1865376"/>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Product analytics and behaviour</a:t>
            </a:r>
            <a:endParaRPr lang="en-US" sz="1150" dirty="0"/>
          </a:p>
        </p:txBody>
      </p:sp>
      <p:sp>
        <p:nvSpPr>
          <p:cNvPr id="14" name="shape-10"/>
          <p:cNvSpPr/>
          <p:nvPr/>
        </p:nvSpPr>
        <p:spPr>
          <a:xfrm rot="-120000">
            <a:off x="4581144" y="1947672"/>
            <a:ext cx="1572768" cy="1188720"/>
          </a:xfrm>
          <a:prstGeom prst="rect">
            <a:avLst/>
          </a:prstGeom>
          <a:solidFill>
            <a:srgbClr val="000000">
              <a:alpha val="10000"/>
            </a:srgbClr>
          </a:solidFill>
          <a:ln w="12700">
            <a:solidFill>
              <a:srgbClr val="000000"/>
            </a:solidFill>
            <a:prstDash val="solid"/>
          </a:ln>
        </p:spPr>
      </p:sp>
      <p:sp>
        <p:nvSpPr>
          <p:cNvPr id="15" name="shape-11"/>
          <p:cNvSpPr/>
          <p:nvPr/>
        </p:nvSpPr>
        <p:spPr>
          <a:xfrm rot="-120000">
            <a:off x="4544568" y="1892808"/>
            <a:ext cx="1572768" cy="1188720"/>
          </a:xfrm>
          <a:prstGeom prst="rect">
            <a:avLst/>
          </a:prstGeom>
          <a:solidFill>
            <a:srgbClr val="FFF3B0"/>
          </a:solidFill>
          <a:ln w="12700">
            <a:solidFill>
              <a:srgbClr val="FFF3B0"/>
            </a:solidFill>
            <a:prstDash val="solid"/>
          </a:ln>
        </p:spPr>
      </p:sp>
      <p:sp>
        <p:nvSpPr>
          <p:cNvPr id="16" name="shape-12"/>
          <p:cNvSpPr/>
          <p:nvPr/>
        </p:nvSpPr>
        <p:spPr>
          <a:xfrm rot="-120000">
            <a:off x="5093208" y="1837944"/>
            <a:ext cx="475488" cy="128016"/>
          </a:xfrm>
          <a:prstGeom prst="rect">
            <a:avLst/>
          </a:prstGeom>
          <a:solidFill>
            <a:srgbClr val="9A9A9A">
              <a:alpha val="30000"/>
            </a:srgbClr>
          </a:solidFill>
          <a:ln w="12700">
            <a:solidFill>
              <a:srgbClr val="9A9A9A"/>
            </a:solidFill>
            <a:prstDash val="solid"/>
          </a:ln>
        </p:spPr>
      </p:sp>
      <p:sp>
        <p:nvSpPr>
          <p:cNvPr id="17" name="text-13"/>
          <p:cNvSpPr txBox="1"/>
          <p:nvPr/>
        </p:nvSpPr>
        <p:spPr>
          <a:xfrm rot="-120000">
            <a:off x="4617720" y="1984248"/>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In-app guidance and onboarding</a:t>
            </a:r>
            <a:endParaRPr lang="en-US" sz="1150" dirty="0"/>
          </a:p>
        </p:txBody>
      </p:sp>
      <p:sp>
        <p:nvSpPr>
          <p:cNvPr id="18" name="shape-14"/>
          <p:cNvSpPr/>
          <p:nvPr/>
        </p:nvSpPr>
        <p:spPr>
          <a:xfrm rot="240000">
            <a:off x="6528816" y="1847088"/>
            <a:ext cx="1572768" cy="1188720"/>
          </a:xfrm>
          <a:prstGeom prst="rect">
            <a:avLst/>
          </a:prstGeom>
          <a:solidFill>
            <a:srgbClr val="000000">
              <a:alpha val="10000"/>
            </a:srgbClr>
          </a:solidFill>
          <a:ln w="12700">
            <a:solidFill>
              <a:srgbClr val="000000"/>
            </a:solidFill>
            <a:prstDash val="solid"/>
          </a:ln>
        </p:spPr>
      </p:sp>
      <p:sp>
        <p:nvSpPr>
          <p:cNvPr id="19" name="shape-15"/>
          <p:cNvSpPr/>
          <p:nvPr/>
        </p:nvSpPr>
        <p:spPr>
          <a:xfrm rot="240000">
            <a:off x="6492240" y="1792224"/>
            <a:ext cx="1572768" cy="1188720"/>
          </a:xfrm>
          <a:prstGeom prst="rect">
            <a:avLst/>
          </a:prstGeom>
          <a:solidFill>
            <a:srgbClr val="FFF3B0"/>
          </a:solidFill>
          <a:ln w="12700">
            <a:solidFill>
              <a:srgbClr val="FFF3B0"/>
            </a:solidFill>
            <a:prstDash val="solid"/>
          </a:ln>
        </p:spPr>
      </p:sp>
      <p:sp>
        <p:nvSpPr>
          <p:cNvPr id="20" name="shape-16"/>
          <p:cNvSpPr/>
          <p:nvPr/>
        </p:nvSpPr>
        <p:spPr>
          <a:xfrm rot="240000">
            <a:off x="7040880" y="1737360"/>
            <a:ext cx="475488" cy="128016"/>
          </a:xfrm>
          <a:prstGeom prst="rect">
            <a:avLst/>
          </a:prstGeom>
          <a:solidFill>
            <a:srgbClr val="9A9A9A">
              <a:alpha val="30000"/>
            </a:srgbClr>
          </a:solidFill>
          <a:ln w="12700">
            <a:solidFill>
              <a:srgbClr val="9A9A9A"/>
            </a:solidFill>
            <a:prstDash val="solid"/>
          </a:ln>
        </p:spPr>
      </p:sp>
      <p:sp>
        <p:nvSpPr>
          <p:cNvPr id="21" name="text-17"/>
          <p:cNvSpPr txBox="1"/>
          <p:nvPr/>
        </p:nvSpPr>
        <p:spPr>
          <a:xfrm rot="240000">
            <a:off x="6565392" y="1883664"/>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Inline surveys and sentiment</a:t>
            </a:r>
            <a:endParaRPr lang="en-US" sz="1150" dirty="0"/>
          </a:p>
        </p:txBody>
      </p:sp>
      <p:sp>
        <p:nvSpPr>
          <p:cNvPr id="22" name="shape-18"/>
          <p:cNvSpPr/>
          <p:nvPr/>
        </p:nvSpPr>
        <p:spPr>
          <a:xfrm rot="120000">
            <a:off x="786384" y="3364992"/>
            <a:ext cx="1572768" cy="1188720"/>
          </a:xfrm>
          <a:prstGeom prst="rect">
            <a:avLst/>
          </a:prstGeom>
          <a:solidFill>
            <a:srgbClr val="000000">
              <a:alpha val="10000"/>
            </a:srgbClr>
          </a:solidFill>
          <a:ln w="12700">
            <a:solidFill>
              <a:srgbClr val="000000"/>
            </a:solidFill>
            <a:prstDash val="solid"/>
          </a:ln>
        </p:spPr>
      </p:sp>
      <p:sp>
        <p:nvSpPr>
          <p:cNvPr id="23" name="shape-19"/>
          <p:cNvSpPr/>
          <p:nvPr/>
        </p:nvSpPr>
        <p:spPr>
          <a:xfrm rot="120000">
            <a:off x="749808" y="3310128"/>
            <a:ext cx="1572768" cy="1188720"/>
          </a:xfrm>
          <a:prstGeom prst="rect">
            <a:avLst/>
          </a:prstGeom>
          <a:solidFill>
            <a:srgbClr val="FFF3B0"/>
          </a:solidFill>
          <a:ln w="12700">
            <a:solidFill>
              <a:srgbClr val="FFF3B0"/>
            </a:solidFill>
            <a:prstDash val="solid"/>
          </a:ln>
        </p:spPr>
      </p:sp>
      <p:sp>
        <p:nvSpPr>
          <p:cNvPr id="24" name="shape-20"/>
          <p:cNvSpPr/>
          <p:nvPr/>
        </p:nvSpPr>
        <p:spPr>
          <a:xfrm rot="120000">
            <a:off x="1298448" y="3255264"/>
            <a:ext cx="475488" cy="128016"/>
          </a:xfrm>
          <a:prstGeom prst="rect">
            <a:avLst/>
          </a:prstGeom>
          <a:solidFill>
            <a:srgbClr val="9A9A9A">
              <a:alpha val="30000"/>
            </a:srgbClr>
          </a:solidFill>
          <a:ln w="12700">
            <a:solidFill>
              <a:srgbClr val="9A9A9A"/>
            </a:solidFill>
            <a:prstDash val="solid"/>
          </a:ln>
        </p:spPr>
      </p:sp>
      <p:sp>
        <p:nvSpPr>
          <p:cNvPr id="25" name="text-21"/>
          <p:cNvSpPr txBox="1"/>
          <p:nvPr/>
        </p:nvSpPr>
        <p:spPr>
          <a:xfrm rot="120000">
            <a:off x="822960" y="3401568"/>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Feature switches, progressive delivery</a:t>
            </a:r>
            <a:endParaRPr lang="en-US" sz="1150" dirty="0"/>
          </a:p>
        </p:txBody>
      </p:sp>
      <p:sp>
        <p:nvSpPr>
          <p:cNvPr id="26" name="shape-22"/>
          <p:cNvSpPr/>
          <p:nvPr/>
        </p:nvSpPr>
        <p:spPr>
          <a:xfrm rot="-300000">
            <a:off x="2770632" y="3401568"/>
            <a:ext cx="1572768" cy="1188720"/>
          </a:xfrm>
          <a:prstGeom prst="rect">
            <a:avLst/>
          </a:prstGeom>
          <a:solidFill>
            <a:srgbClr val="000000">
              <a:alpha val="10000"/>
            </a:srgbClr>
          </a:solidFill>
          <a:ln w="12700">
            <a:solidFill>
              <a:srgbClr val="000000"/>
            </a:solidFill>
            <a:prstDash val="solid"/>
          </a:ln>
        </p:spPr>
      </p:sp>
      <p:sp>
        <p:nvSpPr>
          <p:cNvPr id="27" name="shape-23"/>
          <p:cNvSpPr/>
          <p:nvPr/>
        </p:nvSpPr>
        <p:spPr>
          <a:xfrm rot="-300000">
            <a:off x="2734056" y="3346704"/>
            <a:ext cx="1572768" cy="1188720"/>
          </a:xfrm>
          <a:prstGeom prst="rect">
            <a:avLst/>
          </a:prstGeom>
          <a:solidFill>
            <a:srgbClr val="FFF3B0"/>
          </a:solidFill>
          <a:ln w="12700">
            <a:solidFill>
              <a:srgbClr val="FFF3B0"/>
            </a:solidFill>
            <a:prstDash val="solid"/>
          </a:ln>
        </p:spPr>
      </p:sp>
      <p:sp>
        <p:nvSpPr>
          <p:cNvPr id="28" name="shape-24"/>
          <p:cNvSpPr/>
          <p:nvPr/>
        </p:nvSpPr>
        <p:spPr>
          <a:xfrm rot="-300000">
            <a:off x="3282696" y="3291840"/>
            <a:ext cx="475488" cy="128016"/>
          </a:xfrm>
          <a:prstGeom prst="rect">
            <a:avLst/>
          </a:prstGeom>
          <a:solidFill>
            <a:srgbClr val="9A9A9A">
              <a:alpha val="30000"/>
            </a:srgbClr>
          </a:solidFill>
          <a:ln w="12700">
            <a:solidFill>
              <a:srgbClr val="9A9A9A"/>
            </a:solidFill>
            <a:prstDash val="solid"/>
          </a:ln>
        </p:spPr>
      </p:sp>
      <p:sp>
        <p:nvSpPr>
          <p:cNvPr id="29" name="text-25"/>
          <p:cNvSpPr txBox="1"/>
          <p:nvPr/>
        </p:nvSpPr>
        <p:spPr>
          <a:xfrm rot="-300000">
            <a:off x="2807208" y="3438144"/>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Search as a product capability</a:t>
            </a:r>
            <a:endParaRPr lang="en-US" sz="1150" dirty="0"/>
          </a:p>
        </p:txBody>
      </p:sp>
      <p:sp>
        <p:nvSpPr>
          <p:cNvPr id="30" name="shape-26"/>
          <p:cNvSpPr/>
          <p:nvPr/>
        </p:nvSpPr>
        <p:spPr>
          <a:xfrm rot="180000">
            <a:off x="4562856" y="3319272"/>
            <a:ext cx="1572768" cy="1188720"/>
          </a:xfrm>
          <a:prstGeom prst="rect">
            <a:avLst/>
          </a:prstGeom>
          <a:solidFill>
            <a:srgbClr val="000000">
              <a:alpha val="10000"/>
            </a:srgbClr>
          </a:solidFill>
          <a:ln w="12700">
            <a:solidFill>
              <a:srgbClr val="000000"/>
            </a:solidFill>
            <a:prstDash val="solid"/>
          </a:ln>
        </p:spPr>
      </p:sp>
      <p:sp>
        <p:nvSpPr>
          <p:cNvPr id="31" name="shape-27"/>
          <p:cNvSpPr/>
          <p:nvPr/>
        </p:nvSpPr>
        <p:spPr>
          <a:xfrm rot="180000">
            <a:off x="4526280" y="3264408"/>
            <a:ext cx="1572768" cy="1188720"/>
          </a:xfrm>
          <a:prstGeom prst="rect">
            <a:avLst/>
          </a:prstGeom>
          <a:solidFill>
            <a:srgbClr val="FFF3B0"/>
          </a:solidFill>
          <a:ln w="12700">
            <a:solidFill>
              <a:srgbClr val="FFF3B0"/>
            </a:solidFill>
            <a:prstDash val="solid"/>
          </a:ln>
        </p:spPr>
      </p:sp>
      <p:sp>
        <p:nvSpPr>
          <p:cNvPr id="32" name="shape-28"/>
          <p:cNvSpPr/>
          <p:nvPr/>
        </p:nvSpPr>
        <p:spPr>
          <a:xfrm rot="180000">
            <a:off x="5074920" y="3209544"/>
            <a:ext cx="475488" cy="128016"/>
          </a:xfrm>
          <a:prstGeom prst="rect">
            <a:avLst/>
          </a:prstGeom>
          <a:solidFill>
            <a:srgbClr val="9A9A9A">
              <a:alpha val="30000"/>
            </a:srgbClr>
          </a:solidFill>
          <a:ln w="12700">
            <a:solidFill>
              <a:srgbClr val="9A9A9A"/>
            </a:solidFill>
            <a:prstDash val="solid"/>
          </a:ln>
        </p:spPr>
      </p:sp>
      <p:sp>
        <p:nvSpPr>
          <p:cNvPr id="33" name="text-29"/>
          <p:cNvSpPr txBox="1"/>
          <p:nvPr/>
        </p:nvSpPr>
        <p:spPr>
          <a:xfrm rot="180000">
            <a:off x="4599432" y="3355848"/>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Developer and API portal</a:t>
            </a:r>
            <a:endParaRPr lang="en-US" sz="1150" dirty="0"/>
          </a:p>
        </p:txBody>
      </p:sp>
      <p:sp>
        <p:nvSpPr>
          <p:cNvPr id="34" name="shape-30"/>
          <p:cNvSpPr/>
          <p:nvPr/>
        </p:nvSpPr>
        <p:spPr>
          <a:xfrm rot="-180000">
            <a:off x="6547104" y="3374136"/>
            <a:ext cx="1572768" cy="1188720"/>
          </a:xfrm>
          <a:prstGeom prst="rect">
            <a:avLst/>
          </a:prstGeom>
          <a:solidFill>
            <a:srgbClr val="000000">
              <a:alpha val="10000"/>
            </a:srgbClr>
          </a:solidFill>
          <a:ln w="12700">
            <a:solidFill>
              <a:srgbClr val="000000"/>
            </a:solidFill>
            <a:prstDash val="solid"/>
          </a:ln>
        </p:spPr>
      </p:sp>
      <p:sp>
        <p:nvSpPr>
          <p:cNvPr id="35" name="shape-31"/>
          <p:cNvSpPr/>
          <p:nvPr/>
        </p:nvSpPr>
        <p:spPr>
          <a:xfrm rot="-180000">
            <a:off x="6510528" y="3319272"/>
            <a:ext cx="1572768" cy="1188720"/>
          </a:xfrm>
          <a:prstGeom prst="rect">
            <a:avLst/>
          </a:prstGeom>
          <a:solidFill>
            <a:srgbClr val="FFD8A8"/>
          </a:solidFill>
          <a:ln w="12700">
            <a:solidFill>
              <a:srgbClr val="FFD8A8"/>
            </a:solidFill>
            <a:prstDash val="solid"/>
          </a:ln>
        </p:spPr>
      </p:sp>
      <p:sp>
        <p:nvSpPr>
          <p:cNvPr id="36" name="shape-32"/>
          <p:cNvSpPr/>
          <p:nvPr/>
        </p:nvSpPr>
        <p:spPr>
          <a:xfrm rot="-180000">
            <a:off x="7059168" y="3264408"/>
            <a:ext cx="475488" cy="128016"/>
          </a:xfrm>
          <a:prstGeom prst="rect">
            <a:avLst/>
          </a:prstGeom>
          <a:solidFill>
            <a:srgbClr val="9A9A9A">
              <a:alpha val="30000"/>
            </a:srgbClr>
          </a:solidFill>
          <a:ln w="12700">
            <a:solidFill>
              <a:srgbClr val="9A9A9A"/>
            </a:solidFill>
            <a:prstDash val="solid"/>
          </a:ln>
        </p:spPr>
      </p:sp>
      <p:sp>
        <p:nvSpPr>
          <p:cNvPr id="37" name="text-33"/>
          <p:cNvSpPr txBox="1"/>
          <p:nvPr/>
        </p:nvSpPr>
        <p:spPr>
          <a:xfrm rot="-180000">
            <a:off x="6583680" y="3410712"/>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Consent and preferences</a:t>
            </a:r>
            <a:endParaRPr lang="en-US" sz="1150" dirty="0"/>
          </a:p>
        </p:txBody>
      </p:sp>
      <p:sp>
        <p:nvSpPr>
          <p:cNvPr id="38" name="shape-34"/>
          <p:cNvSpPr/>
          <p:nvPr/>
        </p:nvSpPr>
        <p:spPr>
          <a:xfrm rot="300000">
            <a:off x="877824" y="4745736"/>
            <a:ext cx="1572768" cy="1188720"/>
          </a:xfrm>
          <a:prstGeom prst="rect">
            <a:avLst/>
          </a:prstGeom>
          <a:solidFill>
            <a:srgbClr val="000000">
              <a:alpha val="10000"/>
            </a:srgbClr>
          </a:solidFill>
          <a:ln w="12700">
            <a:solidFill>
              <a:srgbClr val="000000"/>
            </a:solidFill>
            <a:prstDash val="solid"/>
          </a:ln>
        </p:spPr>
      </p:sp>
      <p:sp>
        <p:nvSpPr>
          <p:cNvPr id="39" name="shape-35"/>
          <p:cNvSpPr/>
          <p:nvPr/>
        </p:nvSpPr>
        <p:spPr>
          <a:xfrm rot="300000">
            <a:off x="841248" y="4690872"/>
            <a:ext cx="1572768" cy="1188720"/>
          </a:xfrm>
          <a:prstGeom prst="rect">
            <a:avLst/>
          </a:prstGeom>
          <a:solidFill>
            <a:srgbClr val="FFD8A8"/>
          </a:solidFill>
          <a:ln w="12700">
            <a:solidFill>
              <a:srgbClr val="FFD8A8"/>
            </a:solidFill>
            <a:prstDash val="solid"/>
          </a:ln>
        </p:spPr>
      </p:sp>
      <p:sp>
        <p:nvSpPr>
          <p:cNvPr id="40" name="shape-36"/>
          <p:cNvSpPr/>
          <p:nvPr/>
        </p:nvSpPr>
        <p:spPr>
          <a:xfrm rot="300000">
            <a:off x="1389888" y="4636008"/>
            <a:ext cx="475488" cy="128016"/>
          </a:xfrm>
          <a:prstGeom prst="rect">
            <a:avLst/>
          </a:prstGeom>
          <a:solidFill>
            <a:srgbClr val="9A9A9A">
              <a:alpha val="30000"/>
            </a:srgbClr>
          </a:solidFill>
          <a:ln w="12700">
            <a:solidFill>
              <a:srgbClr val="9A9A9A"/>
            </a:solidFill>
            <a:prstDash val="solid"/>
          </a:ln>
        </p:spPr>
      </p:sp>
      <p:sp>
        <p:nvSpPr>
          <p:cNvPr id="41" name="text-37"/>
          <p:cNvSpPr txBox="1"/>
          <p:nvPr/>
        </p:nvSpPr>
        <p:spPr>
          <a:xfrm rot="300000">
            <a:off x="914400" y="4782312"/>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Status page and incident comms</a:t>
            </a:r>
            <a:endParaRPr lang="en-US" sz="1150" dirty="0"/>
          </a:p>
        </p:txBody>
      </p:sp>
      <p:sp>
        <p:nvSpPr>
          <p:cNvPr id="42" name="shape-38"/>
          <p:cNvSpPr/>
          <p:nvPr/>
        </p:nvSpPr>
        <p:spPr>
          <a:xfrm rot="-240000">
            <a:off x="2670048" y="4855464"/>
            <a:ext cx="1572768" cy="1188720"/>
          </a:xfrm>
          <a:prstGeom prst="rect">
            <a:avLst/>
          </a:prstGeom>
          <a:solidFill>
            <a:srgbClr val="000000">
              <a:alpha val="10000"/>
            </a:srgbClr>
          </a:solidFill>
          <a:ln w="12700">
            <a:solidFill>
              <a:srgbClr val="000000"/>
            </a:solidFill>
            <a:prstDash val="solid"/>
          </a:ln>
        </p:spPr>
      </p:sp>
      <p:sp>
        <p:nvSpPr>
          <p:cNvPr id="43" name="shape-39"/>
          <p:cNvSpPr/>
          <p:nvPr/>
        </p:nvSpPr>
        <p:spPr>
          <a:xfrm rot="-240000">
            <a:off x="2633472" y="4800600"/>
            <a:ext cx="1572768" cy="1188720"/>
          </a:xfrm>
          <a:prstGeom prst="rect">
            <a:avLst/>
          </a:prstGeom>
          <a:solidFill>
            <a:srgbClr val="FFD8A8"/>
          </a:solidFill>
          <a:ln w="12700">
            <a:solidFill>
              <a:srgbClr val="FFD8A8"/>
            </a:solidFill>
            <a:prstDash val="solid"/>
          </a:ln>
        </p:spPr>
      </p:sp>
      <p:sp>
        <p:nvSpPr>
          <p:cNvPr id="44" name="shape-40"/>
          <p:cNvSpPr/>
          <p:nvPr/>
        </p:nvSpPr>
        <p:spPr>
          <a:xfrm rot="-240000">
            <a:off x="3182112" y="4745736"/>
            <a:ext cx="475488" cy="128016"/>
          </a:xfrm>
          <a:prstGeom prst="rect">
            <a:avLst/>
          </a:prstGeom>
          <a:solidFill>
            <a:srgbClr val="9A9A9A">
              <a:alpha val="30000"/>
            </a:srgbClr>
          </a:solidFill>
          <a:ln w="12700">
            <a:solidFill>
              <a:srgbClr val="9A9A9A"/>
            </a:solidFill>
            <a:prstDash val="solid"/>
          </a:ln>
        </p:spPr>
      </p:sp>
      <p:sp>
        <p:nvSpPr>
          <p:cNvPr id="45" name="text-41"/>
          <p:cNvSpPr txBox="1"/>
          <p:nvPr/>
        </p:nvSpPr>
        <p:spPr>
          <a:xfrm rot="-240000">
            <a:off x="2706624" y="4892040"/>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Integration standards: SSO, LTI/LIS, clinical</a:t>
            </a:r>
            <a:endParaRPr lang="en-US" sz="1150" dirty="0"/>
          </a:p>
        </p:txBody>
      </p:sp>
      <p:sp>
        <p:nvSpPr>
          <p:cNvPr id="46" name="shape-42"/>
          <p:cNvSpPr/>
          <p:nvPr/>
        </p:nvSpPr>
        <p:spPr>
          <a:xfrm rot="120000">
            <a:off x="4663440" y="4791456"/>
            <a:ext cx="1572768" cy="1188720"/>
          </a:xfrm>
          <a:prstGeom prst="rect">
            <a:avLst/>
          </a:prstGeom>
          <a:solidFill>
            <a:srgbClr val="000000">
              <a:alpha val="10000"/>
            </a:srgbClr>
          </a:solidFill>
          <a:ln w="12700">
            <a:solidFill>
              <a:srgbClr val="000000"/>
            </a:solidFill>
            <a:prstDash val="solid"/>
          </a:ln>
        </p:spPr>
      </p:sp>
      <p:sp>
        <p:nvSpPr>
          <p:cNvPr id="47" name="shape-43"/>
          <p:cNvSpPr/>
          <p:nvPr/>
        </p:nvSpPr>
        <p:spPr>
          <a:xfrm rot="120000">
            <a:off x="4626864" y="4736592"/>
            <a:ext cx="1572768" cy="1188720"/>
          </a:xfrm>
          <a:prstGeom prst="rect">
            <a:avLst/>
          </a:prstGeom>
          <a:solidFill>
            <a:srgbClr val="CDEBE3"/>
          </a:solidFill>
          <a:ln w="12700">
            <a:solidFill>
              <a:srgbClr val="CDEBE3"/>
            </a:solidFill>
            <a:prstDash val="solid"/>
          </a:ln>
        </p:spPr>
      </p:sp>
      <p:sp>
        <p:nvSpPr>
          <p:cNvPr id="48" name="shape-44"/>
          <p:cNvSpPr/>
          <p:nvPr/>
        </p:nvSpPr>
        <p:spPr>
          <a:xfrm rot="120000">
            <a:off x="5175504" y="4681728"/>
            <a:ext cx="475488" cy="128016"/>
          </a:xfrm>
          <a:prstGeom prst="rect">
            <a:avLst/>
          </a:prstGeom>
          <a:solidFill>
            <a:srgbClr val="9A9A9A">
              <a:alpha val="30000"/>
            </a:srgbClr>
          </a:solidFill>
          <a:ln w="12700">
            <a:solidFill>
              <a:srgbClr val="9A9A9A"/>
            </a:solidFill>
            <a:prstDash val="solid"/>
          </a:ln>
        </p:spPr>
      </p:sp>
      <p:sp>
        <p:nvSpPr>
          <p:cNvPr id="49" name="text-45"/>
          <p:cNvSpPr txBox="1"/>
          <p:nvPr/>
        </p:nvSpPr>
        <p:spPr>
          <a:xfrm rot="120000">
            <a:off x="4700016" y="4828032"/>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Content versioning visible to customers</a:t>
            </a:r>
            <a:endParaRPr lang="en-US" sz="1150" dirty="0"/>
          </a:p>
        </p:txBody>
      </p:sp>
      <p:sp>
        <p:nvSpPr>
          <p:cNvPr id="50" name="shape-46"/>
          <p:cNvSpPr/>
          <p:nvPr/>
        </p:nvSpPr>
        <p:spPr>
          <a:xfrm rot="-180000">
            <a:off x="6446520" y="4864608"/>
            <a:ext cx="1572768" cy="1188720"/>
          </a:xfrm>
          <a:prstGeom prst="rect">
            <a:avLst/>
          </a:prstGeom>
          <a:solidFill>
            <a:srgbClr val="000000">
              <a:alpha val="10000"/>
            </a:srgbClr>
          </a:solidFill>
          <a:ln w="12700">
            <a:solidFill>
              <a:srgbClr val="000000"/>
            </a:solidFill>
            <a:prstDash val="solid"/>
          </a:ln>
        </p:spPr>
      </p:sp>
      <p:sp>
        <p:nvSpPr>
          <p:cNvPr id="51" name="shape-47"/>
          <p:cNvSpPr/>
          <p:nvPr/>
        </p:nvSpPr>
        <p:spPr>
          <a:xfrm rot="-180000">
            <a:off x="6409944" y="4809744"/>
            <a:ext cx="1572768" cy="1188720"/>
          </a:xfrm>
          <a:prstGeom prst="rect">
            <a:avLst/>
          </a:prstGeom>
          <a:solidFill>
            <a:srgbClr val="FFF3B0"/>
          </a:solidFill>
          <a:ln w="12700">
            <a:solidFill>
              <a:srgbClr val="FFF3B0"/>
            </a:solidFill>
            <a:prstDash val="solid"/>
          </a:ln>
        </p:spPr>
      </p:sp>
      <p:sp>
        <p:nvSpPr>
          <p:cNvPr id="52" name="shape-48"/>
          <p:cNvSpPr/>
          <p:nvPr/>
        </p:nvSpPr>
        <p:spPr>
          <a:xfrm rot="-180000">
            <a:off x="6958584" y="4754880"/>
            <a:ext cx="475488" cy="128016"/>
          </a:xfrm>
          <a:prstGeom prst="rect">
            <a:avLst/>
          </a:prstGeom>
          <a:solidFill>
            <a:srgbClr val="9A9A9A">
              <a:alpha val="30000"/>
            </a:srgbClr>
          </a:solidFill>
          <a:ln w="12700">
            <a:solidFill>
              <a:srgbClr val="9A9A9A"/>
            </a:solidFill>
            <a:prstDash val="solid"/>
          </a:ln>
        </p:spPr>
      </p:sp>
      <p:sp>
        <p:nvSpPr>
          <p:cNvPr id="53" name="text-49"/>
          <p:cNvSpPr txBox="1"/>
          <p:nvPr/>
        </p:nvSpPr>
        <p:spPr>
          <a:xfrm rot="-180000">
            <a:off x="6483096" y="4901184"/>
            <a:ext cx="1426464" cy="1005840"/>
          </a:xfrm>
          <a:prstGeom prst="rect">
            <a:avLst/>
          </a:prstGeom>
          <a:noFill/>
          <a:ln/>
        </p:spPr>
        <p:txBody>
          <a:bodyPr wrap="square" lIns="0" tIns="0" rIns="0" bIns="0" rtlCol="0" anchor="ctr"/>
          <a:lstStyle/>
          <a:p>
            <a:pPr algn="ctr" indent="0" marL="0">
              <a:lnSpc>
                <a:spcPct val="100000"/>
              </a:lnSpc>
              <a:buNone/>
            </a:pPr>
            <a:r>
              <a:rPr lang="en-US" sz="1150" dirty="0">
                <a:solidFill>
                  <a:srgbClr val="1C2B33"/>
                </a:solidFill>
                <a:latin typeface="Segoe Print" pitchFamily="34" charset="0"/>
                <a:ea typeface="Segoe Print" pitchFamily="34" charset="-122"/>
                <a:cs typeface="Segoe Print" pitchFamily="34" charset="-120"/>
              </a:rPr>
              <a:t>Accessibility and offline mobile</a:t>
            </a:r>
            <a:endParaRPr lang="en-US" sz="1150" dirty="0"/>
          </a:p>
        </p:txBody>
      </p:sp>
      <p:sp>
        <p:nvSpPr>
          <p:cNvPr id="54" name="shape-50"/>
          <p:cNvSpPr/>
          <p:nvPr/>
        </p:nvSpPr>
        <p:spPr>
          <a:xfrm>
            <a:off x="8412480" y="1371600"/>
            <a:ext cx="3200400" cy="4937760"/>
          </a:xfrm>
          <a:prstGeom prst="roundRect">
            <a:avLst>
              <a:gd name="adj" fmla="val 2286"/>
            </a:avLst>
          </a:prstGeom>
          <a:solidFill>
            <a:srgbClr val="EEF2F4"/>
          </a:solidFill>
          <a:ln w="12700">
            <a:solidFill>
              <a:srgbClr val="EEF2F4"/>
            </a:solidFill>
            <a:prstDash val="solid"/>
          </a:ln>
        </p:spPr>
      </p:sp>
      <p:sp>
        <p:nvSpPr>
          <p:cNvPr id="55" name="text-51"/>
          <p:cNvSpPr txBox="1"/>
          <p:nvPr/>
        </p:nvSpPr>
        <p:spPr>
          <a:xfrm>
            <a:off x="8595360" y="1499616"/>
            <a:ext cx="292608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134E4A"/>
                </a:solidFill>
                <a:latin typeface="Calibri" pitchFamily="34" charset="0"/>
                <a:ea typeface="Calibri" pitchFamily="34" charset="-122"/>
                <a:cs typeface="Calibri" pitchFamily="34" charset="-120"/>
              </a:rPr>
              <a:t>DAY 2 — ALREADY ON THE PATHWAY</a:t>
            </a:r>
            <a:endParaRPr lang="en-US" sz="800" dirty="0"/>
          </a:p>
        </p:txBody>
      </p:sp>
      <p:sp>
        <p:nvSpPr>
          <p:cNvPr id="56" name="shape-52"/>
          <p:cNvSpPr/>
          <p:nvPr/>
        </p:nvSpPr>
        <p:spPr>
          <a:xfrm rot="-120000">
            <a:off x="8677656" y="1883664"/>
            <a:ext cx="2743200" cy="1078992"/>
          </a:xfrm>
          <a:prstGeom prst="rect">
            <a:avLst/>
          </a:prstGeom>
          <a:solidFill>
            <a:srgbClr val="000000">
              <a:alpha val="10000"/>
            </a:srgbClr>
          </a:solidFill>
          <a:ln w="12700">
            <a:solidFill>
              <a:srgbClr val="000000"/>
            </a:solidFill>
            <a:prstDash val="solid"/>
          </a:ln>
        </p:spPr>
      </p:sp>
      <p:sp>
        <p:nvSpPr>
          <p:cNvPr id="57" name="shape-53"/>
          <p:cNvSpPr/>
          <p:nvPr/>
        </p:nvSpPr>
        <p:spPr>
          <a:xfrm rot="-120000">
            <a:off x="8641080" y="1828800"/>
            <a:ext cx="2743200" cy="1078992"/>
          </a:xfrm>
          <a:prstGeom prst="rect">
            <a:avLst/>
          </a:prstGeom>
          <a:solidFill>
            <a:srgbClr val="134E4A"/>
          </a:solidFill>
          <a:ln w="12700">
            <a:solidFill>
              <a:srgbClr val="134E4A"/>
            </a:solidFill>
            <a:prstDash val="solid"/>
          </a:ln>
        </p:spPr>
      </p:sp>
      <p:sp>
        <p:nvSpPr>
          <p:cNvPr id="58" name="text-54"/>
          <p:cNvSpPr txBox="1"/>
          <p:nvPr/>
        </p:nvSpPr>
        <p:spPr>
          <a:xfrm rot="-120000">
            <a:off x="8732520" y="19202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Assistant over authoritative content — citations, no generated clinical text</a:t>
            </a:r>
            <a:endParaRPr lang="en-US" sz="1100" dirty="0"/>
          </a:p>
        </p:txBody>
      </p:sp>
      <p:sp>
        <p:nvSpPr>
          <p:cNvPr id="59" name="shape-55"/>
          <p:cNvSpPr/>
          <p:nvPr/>
        </p:nvSpPr>
        <p:spPr>
          <a:xfrm>
            <a:off x="8677656" y="3255264"/>
            <a:ext cx="2743200" cy="1078992"/>
          </a:xfrm>
          <a:prstGeom prst="rect">
            <a:avLst/>
          </a:prstGeom>
          <a:solidFill>
            <a:srgbClr val="000000">
              <a:alpha val="10000"/>
            </a:srgbClr>
          </a:solidFill>
          <a:ln w="12700">
            <a:solidFill>
              <a:srgbClr val="000000"/>
            </a:solidFill>
            <a:prstDash val="solid"/>
          </a:ln>
        </p:spPr>
      </p:sp>
      <p:sp>
        <p:nvSpPr>
          <p:cNvPr id="60" name="shape-56"/>
          <p:cNvSpPr/>
          <p:nvPr/>
        </p:nvSpPr>
        <p:spPr>
          <a:xfrm>
            <a:off x="8641080" y="3200400"/>
            <a:ext cx="2743200" cy="1078992"/>
          </a:xfrm>
          <a:prstGeom prst="rect">
            <a:avLst/>
          </a:prstGeom>
          <a:solidFill>
            <a:srgbClr val="134E4A"/>
          </a:solidFill>
          <a:ln w="12700">
            <a:solidFill>
              <a:srgbClr val="134E4A"/>
            </a:solidFill>
            <a:prstDash val="solid"/>
          </a:ln>
        </p:spPr>
      </p:sp>
      <p:sp>
        <p:nvSpPr>
          <p:cNvPr id="61" name="text-57"/>
          <p:cNvSpPr txBox="1"/>
          <p:nvPr/>
        </p:nvSpPr>
        <p:spPr>
          <a:xfrm>
            <a:off x="8732520" y="32918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Internal operational AI on the same platform</a:t>
            </a:r>
            <a:endParaRPr lang="en-US" sz="1100" dirty="0"/>
          </a:p>
        </p:txBody>
      </p:sp>
      <p:sp>
        <p:nvSpPr>
          <p:cNvPr id="62" name="shape-58"/>
          <p:cNvSpPr/>
          <p:nvPr/>
        </p:nvSpPr>
        <p:spPr>
          <a:xfrm rot="120000">
            <a:off x="8677656" y="4626864"/>
            <a:ext cx="2743200" cy="1078992"/>
          </a:xfrm>
          <a:prstGeom prst="rect">
            <a:avLst/>
          </a:prstGeom>
          <a:solidFill>
            <a:srgbClr val="000000">
              <a:alpha val="10000"/>
            </a:srgbClr>
          </a:solidFill>
          <a:ln w="12700">
            <a:solidFill>
              <a:srgbClr val="000000"/>
            </a:solidFill>
            <a:prstDash val="solid"/>
          </a:ln>
        </p:spPr>
      </p:sp>
      <p:sp>
        <p:nvSpPr>
          <p:cNvPr id="63" name="shape-59"/>
          <p:cNvSpPr/>
          <p:nvPr/>
        </p:nvSpPr>
        <p:spPr>
          <a:xfrm rot="120000">
            <a:off x="8641080" y="4572000"/>
            <a:ext cx="2743200" cy="1078992"/>
          </a:xfrm>
          <a:prstGeom prst="rect">
            <a:avLst/>
          </a:prstGeom>
          <a:solidFill>
            <a:srgbClr val="134E4A"/>
          </a:solidFill>
          <a:ln w="12700">
            <a:solidFill>
              <a:srgbClr val="134E4A"/>
            </a:solidFill>
            <a:prstDash val="solid"/>
          </a:ln>
        </p:spPr>
      </p:sp>
      <p:sp>
        <p:nvSpPr>
          <p:cNvPr id="64" name="text-60"/>
          <p:cNvSpPr txBox="1"/>
          <p:nvPr/>
        </p:nvSpPr>
        <p:spPr>
          <a:xfrm rot="120000">
            <a:off x="8732520" y="46634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Subscription and user-update integration</a:t>
            </a:r>
            <a:endParaRPr lang="en-US" sz="1100" dirty="0"/>
          </a:p>
        </p:txBody>
      </p:sp>
      <p:sp>
        <p:nvSpPr>
          <p:cNvPr id="65" name="text-61"/>
          <p:cNvSpPr txBox="1"/>
          <p:nvPr/>
        </p:nvSpPr>
        <p:spPr>
          <a:xfrm>
            <a:off x="548640" y="6400800"/>
            <a:ext cx="1106424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Yellow product · orange cross-cutting · green content tooling. Day 1.5 = after the agreed path is live, before Day 2.</a:t>
            </a:r>
            <a:endParaRPr lang="en-US" sz="85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Modernisation">
  <a:themeElements>
    <a:clrScheme name="Modernisation">
      <a:dk1>
        <a:srgbClr val="1C2B33"/>
      </a:dk1>
      <a:lt1>
        <a:srgbClr val="FFFFFF"/>
      </a:lt1>
      <a:dk2>
        <a:srgbClr val="5A6B75"/>
      </a:dk2>
      <a:lt2>
        <a:srgbClr val="EEF2F4"/>
      </a:lt2>
      <a:accent1>
        <a:srgbClr val="0F766E"/>
      </a:accent1>
      <a:accent2>
        <a:srgbClr val="B45309"/>
      </a:accent2>
      <a:accent3>
        <a:srgbClr val="D6ECE9"/>
      </a:accent3>
      <a:accent4>
        <a:srgbClr val="D4DBE0"/>
      </a:accent4>
      <a:accent5>
        <a:srgbClr val="134E4A"/>
      </a:accent5>
      <a:accent6>
        <a:srgbClr val="FDF1E3"/>
      </a:accent6>
      <a:hlink>
        <a:srgbClr val="0F766E"/>
      </a:hlink>
      <a:folHlink>
        <a:srgbClr val="0F766E"/>
      </a:folHlink>
    </a:clrScheme>
    <a:fontScheme name="Modernisat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the digital modernisation programme</dc:title>
  <dc:subject>PptxGenJS Presentation</dc:subject>
  <dc:creator>PptxGenJS</dc:creator>
  <cp:lastModifiedBy>PptxGenJS</cp:lastModifiedBy>
  <cp:revision>1</cp:revision>
  <dcterms:created xsi:type="dcterms:W3CDTF">2026-10-15T06:42:42Z</dcterms:created>
  <dcterms:modified xsi:type="dcterms:W3CDTF">2026-10-15T06:42:42Z</dcterms:modified>
</cp:coreProperties>
</file>
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INTEGRATION HUB AND SPOKE (group 1, Isolate) — how to talk to it
- The product is the hub; authoring, identity and third-party APIs are synchronous spokes built to the product's standard; CRM, shop, ordering, finance and reporting sit behind the service bus on asynchronous events, so an outage there never stops the product.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MEASURES (demoted from the slide; the rhythm now says who sees what)
- Inward, the team sees and improves: cycle time from decision to assured release; change failure, rework, time to recover; product availability and latency by region; AI judged on cycle time and quality, never on tokens.
- Upward, what passes the gates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OPERATING RHYTHM (assumes a board and risk committee exist; the programme reports into them)
- Board / Risk Committee — quarterly meeting with a monthly review pack, or by exception: target date, funding envelope, risk appetite (including the availability stance), policy exceptions.
- Programme Steering — monthly: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wall.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1  ·  TAKING OWNERSHIP OF THE AGREED PATHWAY</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Own the agreed pathway without stalling it: understand, stabilise, accelerate</a:t>
            </a:r>
            <a:endParaRPr lang="en-US" sz="2250" dirty="0"/>
          </a:p>
        </p:txBody>
      </p:sp>
      <p:sp>
        <p:nvSpPr>
          <p:cNvPr id="4" name="line-0"/>
          <p:cNvSpPr/>
          <p:nvPr/>
        </p:nvSpPr>
        <p:spPr>
          <a:xfrm>
            <a:off x="1005840" y="1737360"/>
            <a:ext cx="0" cy="3474720"/>
          </a:xfrm>
          <a:prstGeom prst="line">
            <a:avLst/>
          </a:prstGeom>
          <a:noFill/>
          <a:ln w="19050">
            <a:solidFill>
              <a:srgbClr val="D4DBE0"/>
            </a:solidFill>
            <a:prstDash val="solid"/>
          </a:ln>
        </p:spPr>
      </p:sp>
      <p:sp>
        <p:nvSpPr>
          <p:cNvPr id="5" name="line-1"/>
          <p:cNvSpPr/>
          <p:nvPr/>
        </p:nvSpPr>
        <p:spPr>
          <a:xfrm>
            <a:off x="1005840" y="5212080"/>
            <a:ext cx="5669280" cy="0"/>
          </a:xfrm>
          <a:prstGeom prst="line">
            <a:avLst/>
          </a:prstGeom>
          <a:noFill/>
          <a:ln w="19050">
            <a:solidFill>
              <a:srgbClr val="D4DBE0"/>
            </a:solidFill>
            <a:prstDash val="solid"/>
          </a:ln>
        </p:spPr>
      </p:sp>
      <p:sp>
        <p:nvSpPr>
          <p:cNvPr id="6" name="text-2"/>
          <p:cNvSpPr txBox="1"/>
          <p:nvPr/>
        </p:nvSpPr>
        <p:spPr>
          <a:xfrm rot="16200000">
            <a:off x="585216" y="3383280"/>
            <a:ext cx="548640" cy="182880"/>
          </a:xfrm>
          <a:prstGeom prst="rect">
            <a:avLst/>
          </a:prstGeom>
          <a:noFill/>
          <a:ln/>
        </p:spPr>
        <p:txBody>
          <a:bodyPr wrap="square" lIns="0" tIns="0" rIns="0" bIns="0" rtlCol="0" anchor="ctr"/>
          <a:lstStyle/>
          <a:p>
            <a:pPr algn="ctr" indent="0" marL="0">
              <a:lnSpc>
                <a:spcPct val="100000"/>
              </a:lnSpc>
              <a:buNone/>
            </a:pPr>
            <a:r>
              <a:rPr lang="en-US" sz="1100" spc="200" kern="0" dirty="0">
                <a:solidFill>
                  <a:srgbClr val="5A6B75"/>
                </a:solidFill>
                <a:latin typeface="Calibri" pitchFamily="34" charset="0"/>
                <a:ea typeface="Calibri" pitchFamily="34" charset="-122"/>
                <a:cs typeface="Calibri" pitchFamily="34" charset="-120"/>
              </a:rPr>
              <a:t>VALUE</a:t>
            </a:r>
            <a:endParaRPr lang="en-US" sz="1100" dirty="0"/>
          </a:p>
        </p:txBody>
      </p:sp>
      <p:sp>
        <p:nvSpPr>
          <p:cNvPr id="7" name="text-3"/>
          <p:cNvSpPr txBox="1"/>
          <p:nvPr/>
        </p:nvSpPr>
        <p:spPr>
          <a:xfrm>
            <a:off x="6126480" y="5303520"/>
            <a:ext cx="548640" cy="164592"/>
          </a:xfrm>
          <a:prstGeom prst="rect">
            <a:avLst/>
          </a:prstGeom>
          <a:noFill/>
          <a:ln/>
        </p:spPr>
        <p:txBody>
          <a:bodyPr wrap="square" lIns="0" tIns="0" rIns="0" bIns="0" rtlCol="0" anchor="ctr"/>
          <a:lstStyle/>
          <a:p>
            <a:pPr algn="r" indent="0" marL="0">
              <a:lnSpc>
                <a:spcPct val="100000"/>
              </a:lnSpc>
              <a:buNone/>
            </a:pPr>
            <a:r>
              <a:rPr lang="en-US" sz="1100" spc="200" kern="0" dirty="0">
                <a:solidFill>
                  <a:srgbClr val="5A6B75"/>
                </a:solidFill>
                <a:latin typeface="Calibri" pitchFamily="34" charset="0"/>
                <a:ea typeface="Calibri" pitchFamily="34" charset="-122"/>
                <a:cs typeface="Calibri" pitchFamily="34" charset="-120"/>
              </a:rPr>
              <a:t>TIME</a:t>
            </a:r>
            <a:endParaRPr lang="en-US" sz="1100" dirty="0"/>
          </a:p>
        </p:txBody>
      </p:sp>
      <p:sp>
        <p:nvSpPr>
          <p:cNvPr id="8" name="line-4"/>
          <p:cNvSpPr/>
          <p:nvPr/>
        </p:nvSpPr>
        <p:spPr>
          <a:xfrm flipV="1">
            <a:off x="1005840" y="5102546"/>
            <a:ext cx="104215" cy="18094"/>
          </a:xfrm>
          <a:prstGeom prst="line">
            <a:avLst/>
          </a:prstGeom>
          <a:noFill/>
          <a:ln w="50800">
            <a:solidFill>
              <a:srgbClr val="5A6B75"/>
            </a:solidFill>
            <a:prstDash val="solid"/>
          </a:ln>
        </p:spPr>
      </p:sp>
      <p:sp>
        <p:nvSpPr>
          <p:cNvPr id="9" name="line-5"/>
          <p:cNvSpPr/>
          <p:nvPr/>
        </p:nvSpPr>
        <p:spPr>
          <a:xfrm flipV="1">
            <a:off x="1110055" y="5076013"/>
            <a:ext cx="100212" cy="26533"/>
          </a:xfrm>
          <a:prstGeom prst="line">
            <a:avLst/>
          </a:prstGeom>
          <a:noFill/>
          <a:ln w="50800">
            <a:solidFill>
              <a:srgbClr val="5A6B75"/>
            </a:solidFill>
            <a:prstDash val="solid"/>
          </a:ln>
        </p:spPr>
      </p:sp>
      <p:sp>
        <p:nvSpPr>
          <p:cNvPr id="10" name="line-6"/>
          <p:cNvSpPr/>
          <p:nvPr/>
        </p:nvSpPr>
        <p:spPr>
          <a:xfrm flipV="1">
            <a:off x="1210267" y="5041518"/>
            <a:ext cx="96460" cy="34495"/>
          </a:xfrm>
          <a:prstGeom prst="line">
            <a:avLst/>
          </a:prstGeom>
          <a:noFill/>
          <a:ln w="50800">
            <a:solidFill>
              <a:srgbClr val="5A6B75"/>
            </a:solidFill>
            <a:prstDash val="solid"/>
          </a:ln>
        </p:spPr>
      </p:sp>
      <p:sp>
        <p:nvSpPr>
          <p:cNvPr id="11" name="line-7"/>
          <p:cNvSpPr/>
          <p:nvPr/>
        </p:nvSpPr>
        <p:spPr>
          <a:xfrm flipV="1">
            <a:off x="1306727" y="4999537"/>
            <a:ext cx="92958" cy="41981"/>
          </a:xfrm>
          <a:prstGeom prst="line">
            <a:avLst/>
          </a:prstGeom>
          <a:noFill/>
          <a:ln w="50800">
            <a:solidFill>
              <a:srgbClr val="5A6B75"/>
            </a:solidFill>
            <a:prstDash val="solid"/>
          </a:ln>
        </p:spPr>
      </p:sp>
      <p:sp>
        <p:nvSpPr>
          <p:cNvPr id="12" name="line-8"/>
          <p:cNvSpPr/>
          <p:nvPr/>
        </p:nvSpPr>
        <p:spPr>
          <a:xfrm flipV="1">
            <a:off x="1399685" y="4950547"/>
            <a:ext cx="89705" cy="48990"/>
          </a:xfrm>
          <a:prstGeom prst="line">
            <a:avLst/>
          </a:prstGeom>
          <a:noFill/>
          <a:ln w="50800">
            <a:solidFill>
              <a:srgbClr val="5A6B75"/>
            </a:solidFill>
            <a:prstDash val="solid"/>
          </a:ln>
        </p:spPr>
      </p:sp>
      <p:sp>
        <p:nvSpPr>
          <p:cNvPr id="13" name="line-9"/>
          <p:cNvSpPr/>
          <p:nvPr/>
        </p:nvSpPr>
        <p:spPr>
          <a:xfrm flipV="1">
            <a:off x="1489390" y="4895026"/>
            <a:ext cx="86702" cy="55522"/>
          </a:xfrm>
          <a:prstGeom prst="line">
            <a:avLst/>
          </a:prstGeom>
          <a:noFill/>
          <a:ln w="50800">
            <a:solidFill>
              <a:srgbClr val="5A6B75"/>
            </a:solidFill>
            <a:prstDash val="solid"/>
          </a:ln>
        </p:spPr>
      </p:sp>
      <p:sp>
        <p:nvSpPr>
          <p:cNvPr id="14" name="line-10"/>
          <p:cNvSpPr/>
          <p:nvPr/>
        </p:nvSpPr>
        <p:spPr>
          <a:xfrm flipV="1">
            <a:off x="1576092" y="4833448"/>
            <a:ext cx="83949" cy="61577"/>
          </a:xfrm>
          <a:prstGeom prst="line">
            <a:avLst/>
          </a:prstGeom>
          <a:noFill/>
          <a:ln w="50800">
            <a:solidFill>
              <a:srgbClr val="5A6B75"/>
            </a:solidFill>
            <a:prstDash val="solid"/>
          </a:ln>
        </p:spPr>
      </p:sp>
      <p:sp>
        <p:nvSpPr>
          <p:cNvPr id="15" name="line-11"/>
          <p:cNvSpPr/>
          <p:nvPr/>
        </p:nvSpPr>
        <p:spPr>
          <a:xfrm flipV="1">
            <a:off x="1660040" y="4766292"/>
            <a:ext cx="81445" cy="67156"/>
          </a:xfrm>
          <a:prstGeom prst="line">
            <a:avLst/>
          </a:prstGeom>
          <a:noFill/>
          <a:ln w="50800">
            <a:solidFill>
              <a:srgbClr val="5A6B75"/>
            </a:solidFill>
            <a:prstDash val="solid"/>
          </a:ln>
        </p:spPr>
      </p:sp>
      <p:sp>
        <p:nvSpPr>
          <p:cNvPr id="16" name="line-12"/>
          <p:cNvSpPr/>
          <p:nvPr/>
        </p:nvSpPr>
        <p:spPr>
          <a:xfrm flipV="1">
            <a:off x="1741486" y="4694033"/>
            <a:ext cx="79192" cy="72259"/>
          </a:xfrm>
          <a:prstGeom prst="line">
            <a:avLst/>
          </a:prstGeom>
          <a:noFill/>
          <a:ln w="50800">
            <a:solidFill>
              <a:srgbClr val="5A6B75"/>
            </a:solidFill>
            <a:prstDash val="solid"/>
          </a:ln>
        </p:spPr>
      </p:sp>
      <p:sp>
        <p:nvSpPr>
          <p:cNvPr id="17" name="line-13"/>
          <p:cNvSpPr/>
          <p:nvPr/>
        </p:nvSpPr>
        <p:spPr>
          <a:xfrm flipV="1">
            <a:off x="1820678" y="4617149"/>
            <a:ext cx="77188" cy="76884"/>
          </a:xfrm>
          <a:prstGeom prst="line">
            <a:avLst/>
          </a:prstGeom>
          <a:noFill/>
          <a:ln w="50800">
            <a:solidFill>
              <a:srgbClr val="5A6B75"/>
            </a:solidFill>
            <a:prstDash val="solid"/>
          </a:ln>
        </p:spPr>
      </p:sp>
      <p:sp>
        <p:nvSpPr>
          <p:cNvPr id="18" name="line-14"/>
          <p:cNvSpPr/>
          <p:nvPr/>
        </p:nvSpPr>
        <p:spPr>
          <a:xfrm flipV="1">
            <a:off x="1897866" y="4536115"/>
            <a:ext cx="75434" cy="81034"/>
          </a:xfrm>
          <a:prstGeom prst="line">
            <a:avLst/>
          </a:prstGeom>
          <a:noFill/>
          <a:ln w="50800">
            <a:solidFill>
              <a:srgbClr val="5A6B75"/>
            </a:solidFill>
            <a:prstDash val="solid"/>
          </a:ln>
        </p:spPr>
      </p:sp>
      <p:sp>
        <p:nvSpPr>
          <p:cNvPr id="19" name="line-15"/>
          <p:cNvSpPr/>
          <p:nvPr/>
        </p:nvSpPr>
        <p:spPr>
          <a:xfrm flipV="1">
            <a:off x="1973300" y="4451409"/>
            <a:ext cx="73930" cy="84706"/>
          </a:xfrm>
          <a:prstGeom prst="line">
            <a:avLst/>
          </a:prstGeom>
          <a:noFill/>
          <a:ln w="50800">
            <a:solidFill>
              <a:srgbClr val="5A6B75"/>
            </a:solidFill>
            <a:prstDash val="solid"/>
          </a:ln>
        </p:spPr>
      </p:sp>
      <p:sp>
        <p:nvSpPr>
          <p:cNvPr id="20" name="line-16"/>
          <p:cNvSpPr/>
          <p:nvPr/>
        </p:nvSpPr>
        <p:spPr>
          <a:xfrm flipV="1">
            <a:off x="2047230" y="4363507"/>
            <a:ext cx="72676" cy="87902"/>
          </a:xfrm>
          <a:prstGeom prst="line">
            <a:avLst/>
          </a:prstGeom>
          <a:noFill/>
          <a:ln w="50800">
            <a:solidFill>
              <a:srgbClr val="5A6B75"/>
            </a:solidFill>
            <a:prstDash val="solid"/>
          </a:ln>
        </p:spPr>
      </p:sp>
      <p:sp>
        <p:nvSpPr>
          <p:cNvPr id="21" name="line-17"/>
          <p:cNvSpPr/>
          <p:nvPr/>
        </p:nvSpPr>
        <p:spPr>
          <a:xfrm flipV="1">
            <a:off x="2119906" y="4272886"/>
            <a:ext cx="71671" cy="90621"/>
          </a:xfrm>
          <a:prstGeom prst="line">
            <a:avLst/>
          </a:prstGeom>
          <a:noFill/>
          <a:ln w="50800">
            <a:solidFill>
              <a:srgbClr val="5A6B75"/>
            </a:solidFill>
            <a:prstDash val="solid"/>
          </a:ln>
        </p:spPr>
      </p:sp>
      <p:sp>
        <p:nvSpPr>
          <p:cNvPr id="22" name="line-18"/>
          <p:cNvSpPr/>
          <p:nvPr/>
        </p:nvSpPr>
        <p:spPr>
          <a:xfrm flipV="1">
            <a:off x="2191577" y="4180022"/>
            <a:ext cx="70916" cy="92864"/>
          </a:xfrm>
          <a:prstGeom prst="line">
            <a:avLst/>
          </a:prstGeom>
          <a:noFill/>
          <a:ln w="50800">
            <a:solidFill>
              <a:srgbClr val="5A6B75"/>
            </a:solidFill>
            <a:prstDash val="solid"/>
          </a:ln>
        </p:spPr>
      </p:sp>
      <p:sp>
        <p:nvSpPr>
          <p:cNvPr id="23" name="line-19"/>
          <p:cNvSpPr/>
          <p:nvPr/>
        </p:nvSpPr>
        <p:spPr>
          <a:xfrm flipV="1">
            <a:off x="2262493" y="4085393"/>
            <a:ext cx="70412" cy="94630"/>
          </a:xfrm>
          <a:prstGeom prst="line">
            <a:avLst/>
          </a:prstGeom>
          <a:noFill/>
          <a:ln w="50800">
            <a:solidFill>
              <a:srgbClr val="5A6B75"/>
            </a:solidFill>
            <a:prstDash val="solid"/>
          </a:ln>
        </p:spPr>
      </p:sp>
      <p:sp>
        <p:nvSpPr>
          <p:cNvPr id="24" name="line-20"/>
          <p:cNvSpPr/>
          <p:nvPr/>
        </p:nvSpPr>
        <p:spPr>
          <a:xfrm flipV="1">
            <a:off x="2332905" y="3989474"/>
            <a:ext cx="70156" cy="95919"/>
          </a:xfrm>
          <a:prstGeom prst="line">
            <a:avLst/>
          </a:prstGeom>
          <a:noFill/>
          <a:ln w="50800">
            <a:solidFill>
              <a:srgbClr val="5A6B75"/>
            </a:solidFill>
            <a:prstDash val="solid"/>
          </a:ln>
        </p:spPr>
      </p:sp>
      <p:sp>
        <p:nvSpPr>
          <p:cNvPr id="25" name="line-21"/>
          <p:cNvSpPr/>
          <p:nvPr/>
        </p:nvSpPr>
        <p:spPr>
          <a:xfrm flipV="1">
            <a:off x="2403062" y="3892743"/>
            <a:ext cx="70151" cy="96732"/>
          </a:xfrm>
          <a:prstGeom prst="line">
            <a:avLst/>
          </a:prstGeom>
          <a:noFill/>
          <a:ln w="50800">
            <a:solidFill>
              <a:srgbClr val="5A6B75"/>
            </a:solidFill>
            <a:prstDash val="solid"/>
          </a:ln>
        </p:spPr>
      </p:sp>
      <p:sp>
        <p:nvSpPr>
          <p:cNvPr id="26" name="line-22"/>
          <p:cNvSpPr/>
          <p:nvPr/>
        </p:nvSpPr>
        <p:spPr>
          <a:xfrm flipV="1">
            <a:off x="2473213" y="3795675"/>
            <a:ext cx="70396" cy="97068"/>
          </a:xfrm>
          <a:prstGeom prst="line">
            <a:avLst/>
          </a:prstGeom>
          <a:noFill/>
          <a:ln w="50800">
            <a:solidFill>
              <a:srgbClr val="5A6B75"/>
            </a:solidFill>
            <a:prstDash val="solid"/>
          </a:ln>
        </p:spPr>
      </p:sp>
      <p:sp>
        <p:nvSpPr>
          <p:cNvPr id="27" name="line-23"/>
          <p:cNvSpPr/>
          <p:nvPr/>
        </p:nvSpPr>
        <p:spPr>
          <a:xfrm flipV="1">
            <a:off x="2543608" y="3698748"/>
            <a:ext cx="70890" cy="96927"/>
          </a:xfrm>
          <a:prstGeom prst="line">
            <a:avLst/>
          </a:prstGeom>
          <a:noFill/>
          <a:ln w="50800">
            <a:solidFill>
              <a:srgbClr val="5A6B75"/>
            </a:solidFill>
            <a:prstDash val="solid"/>
          </a:ln>
        </p:spPr>
      </p:sp>
      <p:sp>
        <p:nvSpPr>
          <p:cNvPr id="28" name="line-24"/>
          <p:cNvSpPr/>
          <p:nvPr/>
        </p:nvSpPr>
        <p:spPr>
          <a:xfrm flipV="1">
            <a:off x="2614498" y="3602438"/>
            <a:ext cx="71634" cy="96310"/>
          </a:xfrm>
          <a:prstGeom prst="line">
            <a:avLst/>
          </a:prstGeom>
          <a:noFill/>
          <a:ln w="50800">
            <a:solidFill>
              <a:srgbClr val="5A6B75"/>
            </a:solidFill>
            <a:prstDash val="solid"/>
          </a:ln>
        </p:spPr>
      </p:sp>
      <p:sp>
        <p:nvSpPr>
          <p:cNvPr id="29" name="line-25"/>
          <p:cNvSpPr/>
          <p:nvPr/>
        </p:nvSpPr>
        <p:spPr>
          <a:xfrm flipV="1">
            <a:off x="2686132" y="3507222"/>
            <a:ext cx="72628" cy="95216"/>
          </a:xfrm>
          <a:prstGeom prst="line">
            <a:avLst/>
          </a:prstGeom>
          <a:noFill/>
          <a:ln w="50800">
            <a:solidFill>
              <a:srgbClr val="5A6B75"/>
            </a:solidFill>
            <a:prstDash val="solid"/>
          </a:ln>
        </p:spPr>
      </p:sp>
      <p:sp>
        <p:nvSpPr>
          <p:cNvPr id="30" name="line-26"/>
          <p:cNvSpPr/>
          <p:nvPr/>
        </p:nvSpPr>
        <p:spPr>
          <a:xfrm flipV="1">
            <a:off x="2758760" y="3413577"/>
            <a:ext cx="73872" cy="93645"/>
          </a:xfrm>
          <a:prstGeom prst="line">
            <a:avLst/>
          </a:prstGeom>
          <a:noFill/>
          <a:ln w="50800">
            <a:solidFill>
              <a:srgbClr val="5A6B75"/>
            </a:solidFill>
            <a:prstDash val="solid"/>
          </a:ln>
        </p:spPr>
      </p:sp>
      <p:sp>
        <p:nvSpPr>
          <p:cNvPr id="31" name="line-27"/>
          <p:cNvSpPr/>
          <p:nvPr/>
        </p:nvSpPr>
        <p:spPr>
          <a:xfrm flipV="1">
            <a:off x="2832632" y="3321979"/>
            <a:ext cx="75365" cy="91598"/>
          </a:xfrm>
          <a:prstGeom prst="line">
            <a:avLst/>
          </a:prstGeom>
          <a:noFill/>
          <a:ln w="50800">
            <a:solidFill>
              <a:srgbClr val="5A6B75"/>
            </a:solidFill>
            <a:prstDash val="solid"/>
          </a:ln>
        </p:spPr>
      </p:sp>
      <p:sp>
        <p:nvSpPr>
          <p:cNvPr id="32" name="line-28"/>
          <p:cNvSpPr/>
          <p:nvPr/>
        </p:nvSpPr>
        <p:spPr>
          <a:xfrm flipV="1">
            <a:off x="2907997" y="3232904"/>
            <a:ext cx="77108" cy="89075"/>
          </a:xfrm>
          <a:prstGeom prst="line">
            <a:avLst/>
          </a:prstGeom>
          <a:noFill/>
          <a:ln w="50800">
            <a:solidFill>
              <a:srgbClr val="5A6B75"/>
            </a:solidFill>
            <a:prstDash val="solid"/>
          </a:ln>
        </p:spPr>
      </p:sp>
      <p:sp>
        <p:nvSpPr>
          <p:cNvPr id="33" name="line-29"/>
          <p:cNvSpPr/>
          <p:nvPr/>
        </p:nvSpPr>
        <p:spPr>
          <a:xfrm flipV="1">
            <a:off x="2985105" y="3146830"/>
            <a:ext cx="79102" cy="86074"/>
          </a:xfrm>
          <a:prstGeom prst="line">
            <a:avLst/>
          </a:prstGeom>
          <a:noFill/>
          <a:ln w="50800">
            <a:solidFill>
              <a:srgbClr val="5A6B75"/>
            </a:solidFill>
            <a:prstDash val="solid"/>
          </a:ln>
        </p:spPr>
      </p:sp>
      <p:sp>
        <p:nvSpPr>
          <p:cNvPr id="34" name="line-30"/>
          <p:cNvSpPr/>
          <p:nvPr/>
        </p:nvSpPr>
        <p:spPr>
          <a:xfrm flipV="1">
            <a:off x="3064207" y="3064233"/>
            <a:ext cx="81344" cy="82597"/>
          </a:xfrm>
          <a:prstGeom prst="line">
            <a:avLst/>
          </a:prstGeom>
          <a:noFill/>
          <a:ln w="50800">
            <a:solidFill>
              <a:srgbClr val="5A6B75"/>
            </a:solidFill>
            <a:prstDash val="solid"/>
          </a:ln>
        </p:spPr>
      </p:sp>
      <p:sp>
        <p:nvSpPr>
          <p:cNvPr id="35" name="line-31"/>
          <p:cNvSpPr/>
          <p:nvPr/>
        </p:nvSpPr>
        <p:spPr>
          <a:xfrm flipV="1">
            <a:off x="3145551" y="2985589"/>
            <a:ext cx="83837" cy="78644"/>
          </a:xfrm>
          <a:prstGeom prst="line">
            <a:avLst/>
          </a:prstGeom>
          <a:noFill/>
          <a:ln w="50800">
            <a:solidFill>
              <a:srgbClr val="5A6B75"/>
            </a:solidFill>
            <a:prstDash val="solid"/>
          </a:ln>
        </p:spPr>
      </p:sp>
      <p:sp>
        <p:nvSpPr>
          <p:cNvPr id="36" name="line-32"/>
          <p:cNvSpPr/>
          <p:nvPr/>
        </p:nvSpPr>
        <p:spPr>
          <a:xfrm flipV="1">
            <a:off x="3229388" y="2911376"/>
            <a:ext cx="86580" cy="74213"/>
          </a:xfrm>
          <a:prstGeom prst="line">
            <a:avLst/>
          </a:prstGeom>
          <a:noFill/>
          <a:ln w="50800">
            <a:solidFill>
              <a:srgbClr val="5A6B75"/>
            </a:solidFill>
            <a:prstDash val="solid"/>
          </a:ln>
        </p:spPr>
      </p:sp>
      <p:sp>
        <p:nvSpPr>
          <p:cNvPr id="37" name="line-33"/>
          <p:cNvSpPr/>
          <p:nvPr/>
        </p:nvSpPr>
        <p:spPr>
          <a:xfrm flipV="1">
            <a:off x="3315968" y="2842070"/>
            <a:ext cx="89572" cy="69306"/>
          </a:xfrm>
          <a:prstGeom prst="line">
            <a:avLst/>
          </a:prstGeom>
          <a:noFill/>
          <a:ln w="50800">
            <a:solidFill>
              <a:srgbClr val="5A6B75"/>
            </a:solidFill>
            <a:prstDash val="solid"/>
          </a:ln>
        </p:spPr>
      </p:sp>
      <p:sp>
        <p:nvSpPr>
          <p:cNvPr id="38" name="line-34"/>
          <p:cNvSpPr/>
          <p:nvPr/>
        </p:nvSpPr>
        <p:spPr>
          <a:xfrm flipV="1">
            <a:off x="3405540" y="2778147"/>
            <a:ext cx="92814" cy="63923"/>
          </a:xfrm>
          <a:prstGeom prst="line">
            <a:avLst/>
          </a:prstGeom>
          <a:noFill/>
          <a:ln w="50800">
            <a:solidFill>
              <a:srgbClr val="5A6B75"/>
            </a:solidFill>
            <a:prstDash val="solid"/>
          </a:ln>
        </p:spPr>
      </p:sp>
      <p:sp>
        <p:nvSpPr>
          <p:cNvPr id="39" name="line-35"/>
          <p:cNvSpPr/>
          <p:nvPr/>
        </p:nvSpPr>
        <p:spPr>
          <a:xfrm flipV="1">
            <a:off x="3498354" y="2720084"/>
            <a:ext cx="96306" cy="58063"/>
          </a:xfrm>
          <a:prstGeom prst="line">
            <a:avLst/>
          </a:prstGeom>
          <a:noFill/>
          <a:ln w="50800">
            <a:solidFill>
              <a:srgbClr val="5A6B75"/>
            </a:solidFill>
            <a:prstDash val="solid"/>
          </a:ln>
        </p:spPr>
      </p:sp>
      <p:sp>
        <p:nvSpPr>
          <p:cNvPr id="40" name="line-36"/>
          <p:cNvSpPr/>
          <p:nvPr/>
        </p:nvSpPr>
        <p:spPr>
          <a:xfrm flipV="1">
            <a:off x="3594660" y="2668358"/>
            <a:ext cx="100048" cy="51726"/>
          </a:xfrm>
          <a:prstGeom prst="line">
            <a:avLst/>
          </a:prstGeom>
          <a:noFill/>
          <a:ln w="50800">
            <a:solidFill>
              <a:srgbClr val="5A6B75"/>
            </a:solidFill>
            <a:prstDash val="solid"/>
          </a:ln>
        </p:spPr>
      </p:sp>
      <p:sp>
        <p:nvSpPr>
          <p:cNvPr id="41" name="line-37"/>
          <p:cNvSpPr/>
          <p:nvPr/>
        </p:nvSpPr>
        <p:spPr>
          <a:xfrm flipV="1">
            <a:off x="3694708" y="2623446"/>
            <a:ext cx="104039" cy="44912"/>
          </a:xfrm>
          <a:prstGeom prst="line">
            <a:avLst/>
          </a:prstGeom>
          <a:noFill/>
          <a:ln w="50800">
            <a:solidFill>
              <a:srgbClr val="5A6B75"/>
            </a:solidFill>
            <a:prstDash val="solid"/>
          </a:ln>
        </p:spPr>
      </p:sp>
      <p:sp>
        <p:nvSpPr>
          <p:cNvPr id="42" name="line-38"/>
          <p:cNvSpPr/>
          <p:nvPr/>
        </p:nvSpPr>
        <p:spPr>
          <a:xfrm flipV="1">
            <a:off x="3798747" y="2585823"/>
            <a:ext cx="108281" cy="37622"/>
          </a:xfrm>
          <a:prstGeom prst="line">
            <a:avLst/>
          </a:prstGeom>
          <a:noFill/>
          <a:ln w="50800">
            <a:solidFill>
              <a:srgbClr val="5A6B75"/>
            </a:solidFill>
            <a:prstDash val="solid"/>
          </a:ln>
        </p:spPr>
      </p:sp>
      <p:sp>
        <p:nvSpPr>
          <p:cNvPr id="43" name="line-39"/>
          <p:cNvSpPr/>
          <p:nvPr/>
        </p:nvSpPr>
        <p:spPr>
          <a:xfrm flipV="1">
            <a:off x="3907028" y="2555967"/>
            <a:ext cx="112772" cy="29856"/>
          </a:xfrm>
          <a:prstGeom prst="line">
            <a:avLst/>
          </a:prstGeom>
          <a:noFill/>
          <a:ln w="50800">
            <a:solidFill>
              <a:srgbClr val="5A6B75"/>
            </a:solidFill>
            <a:prstDash val="solid"/>
          </a:ln>
        </p:spPr>
      </p:sp>
      <p:sp>
        <p:nvSpPr>
          <p:cNvPr id="44" name="line-40"/>
          <p:cNvSpPr/>
          <p:nvPr/>
        </p:nvSpPr>
        <p:spPr>
          <a:xfrm flipV="1">
            <a:off x="4019799" y="2534355"/>
            <a:ext cx="117513" cy="21612"/>
          </a:xfrm>
          <a:prstGeom prst="line">
            <a:avLst/>
          </a:prstGeom>
          <a:noFill/>
          <a:ln w="50800">
            <a:solidFill>
              <a:srgbClr val="5A6B75"/>
            </a:solidFill>
            <a:prstDash val="solid"/>
          </a:ln>
        </p:spPr>
      </p:sp>
      <p:sp>
        <p:nvSpPr>
          <p:cNvPr id="45" name="line-41"/>
          <p:cNvSpPr/>
          <p:nvPr/>
        </p:nvSpPr>
        <p:spPr>
          <a:xfrm flipV="1">
            <a:off x="4137312" y="2521463"/>
            <a:ext cx="122503" cy="12892"/>
          </a:xfrm>
          <a:prstGeom prst="line">
            <a:avLst/>
          </a:prstGeom>
          <a:noFill/>
          <a:ln w="50800">
            <a:solidFill>
              <a:srgbClr val="5A6B75"/>
            </a:solidFill>
            <a:prstDash val="solid"/>
          </a:ln>
        </p:spPr>
      </p:sp>
      <p:sp>
        <p:nvSpPr>
          <p:cNvPr id="46" name="line-42"/>
          <p:cNvSpPr/>
          <p:nvPr/>
        </p:nvSpPr>
        <p:spPr>
          <a:xfrm flipV="1">
            <a:off x="4259815" y="2517767"/>
            <a:ext cx="127744" cy="3696"/>
          </a:xfrm>
          <a:prstGeom prst="line">
            <a:avLst/>
          </a:prstGeom>
          <a:noFill/>
          <a:ln w="50800">
            <a:solidFill>
              <a:srgbClr val="5A6B75"/>
            </a:solidFill>
            <a:prstDash val="solid"/>
          </a:ln>
        </p:spPr>
      </p:sp>
      <p:sp>
        <p:nvSpPr>
          <p:cNvPr id="47" name="line-43"/>
          <p:cNvSpPr/>
          <p:nvPr/>
        </p:nvSpPr>
        <p:spPr>
          <a:xfrm>
            <a:off x="4387559" y="2517767"/>
            <a:ext cx="133234" cy="5977"/>
          </a:xfrm>
          <a:prstGeom prst="line">
            <a:avLst/>
          </a:prstGeom>
          <a:noFill/>
          <a:ln w="50800">
            <a:solidFill>
              <a:srgbClr val="5A6B75"/>
            </a:solidFill>
            <a:prstDash val="solid"/>
          </a:ln>
        </p:spPr>
      </p:sp>
      <p:sp>
        <p:nvSpPr>
          <p:cNvPr id="48" name="line-44"/>
          <p:cNvSpPr/>
          <p:nvPr/>
        </p:nvSpPr>
        <p:spPr>
          <a:xfrm flipV="1">
            <a:off x="3386938" y="5145060"/>
            <a:ext cx="83794" cy="12156"/>
          </a:xfrm>
          <a:prstGeom prst="line">
            <a:avLst/>
          </a:prstGeom>
          <a:noFill/>
          <a:ln w="63500">
            <a:solidFill>
              <a:srgbClr val="0F766E"/>
            </a:solidFill>
            <a:prstDash val="solid"/>
          </a:ln>
        </p:spPr>
      </p:sp>
      <p:sp>
        <p:nvSpPr>
          <p:cNvPr id="49" name="line-45"/>
          <p:cNvSpPr/>
          <p:nvPr/>
        </p:nvSpPr>
        <p:spPr>
          <a:xfrm flipV="1">
            <a:off x="3470731" y="5122654"/>
            <a:ext cx="81423" cy="22407"/>
          </a:xfrm>
          <a:prstGeom prst="line">
            <a:avLst/>
          </a:prstGeom>
          <a:noFill/>
          <a:ln w="63500">
            <a:solidFill>
              <a:srgbClr val="0F766E"/>
            </a:solidFill>
            <a:prstDash val="solid"/>
          </a:ln>
        </p:spPr>
      </p:sp>
      <p:sp>
        <p:nvSpPr>
          <p:cNvPr id="50" name="line-46"/>
          <p:cNvSpPr/>
          <p:nvPr/>
        </p:nvSpPr>
        <p:spPr>
          <a:xfrm flipV="1">
            <a:off x="3552155" y="5090513"/>
            <a:ext cx="79234" cy="32141"/>
          </a:xfrm>
          <a:prstGeom prst="line">
            <a:avLst/>
          </a:prstGeom>
          <a:noFill/>
          <a:ln w="63500">
            <a:solidFill>
              <a:srgbClr val="0F766E"/>
            </a:solidFill>
            <a:prstDash val="solid"/>
          </a:ln>
        </p:spPr>
      </p:sp>
      <p:sp>
        <p:nvSpPr>
          <p:cNvPr id="51" name="line-47"/>
          <p:cNvSpPr/>
          <p:nvPr/>
        </p:nvSpPr>
        <p:spPr>
          <a:xfrm flipV="1">
            <a:off x="3631388" y="5049152"/>
            <a:ext cx="77224" cy="41360"/>
          </a:xfrm>
          <a:prstGeom prst="line">
            <a:avLst/>
          </a:prstGeom>
          <a:noFill/>
          <a:ln w="63500">
            <a:solidFill>
              <a:srgbClr val="0F766E"/>
            </a:solidFill>
            <a:prstDash val="solid"/>
          </a:ln>
        </p:spPr>
      </p:sp>
      <p:sp>
        <p:nvSpPr>
          <p:cNvPr id="52" name="line-48"/>
          <p:cNvSpPr/>
          <p:nvPr/>
        </p:nvSpPr>
        <p:spPr>
          <a:xfrm flipV="1">
            <a:off x="3708613" y="4999089"/>
            <a:ext cx="75396" cy="50063"/>
          </a:xfrm>
          <a:prstGeom prst="line">
            <a:avLst/>
          </a:prstGeom>
          <a:noFill/>
          <a:ln w="63500">
            <a:solidFill>
              <a:srgbClr val="0F766E"/>
            </a:solidFill>
            <a:prstDash val="solid"/>
          </a:ln>
        </p:spPr>
      </p:sp>
      <p:sp>
        <p:nvSpPr>
          <p:cNvPr id="53" name="line-49"/>
          <p:cNvSpPr/>
          <p:nvPr/>
        </p:nvSpPr>
        <p:spPr>
          <a:xfrm flipV="1">
            <a:off x="3784009" y="4940839"/>
            <a:ext cx="73748" cy="58250"/>
          </a:xfrm>
          <a:prstGeom prst="line">
            <a:avLst/>
          </a:prstGeom>
          <a:noFill/>
          <a:ln w="63500">
            <a:solidFill>
              <a:srgbClr val="0F766E"/>
            </a:solidFill>
            <a:prstDash val="solid"/>
          </a:ln>
        </p:spPr>
      </p:sp>
      <p:sp>
        <p:nvSpPr>
          <p:cNvPr id="54" name="line-50"/>
          <p:cNvSpPr/>
          <p:nvPr/>
        </p:nvSpPr>
        <p:spPr>
          <a:xfrm flipV="1">
            <a:off x="3857757" y="4874919"/>
            <a:ext cx="72282" cy="65921"/>
          </a:xfrm>
          <a:prstGeom prst="line">
            <a:avLst/>
          </a:prstGeom>
          <a:noFill/>
          <a:ln w="63500">
            <a:solidFill>
              <a:srgbClr val="0F766E"/>
            </a:solidFill>
            <a:prstDash val="solid"/>
          </a:ln>
        </p:spPr>
      </p:sp>
      <p:sp>
        <p:nvSpPr>
          <p:cNvPr id="55" name="line-51"/>
          <p:cNvSpPr/>
          <p:nvPr/>
        </p:nvSpPr>
        <p:spPr>
          <a:xfrm flipV="1">
            <a:off x="3930039" y="4801844"/>
            <a:ext cx="70995" cy="73075"/>
          </a:xfrm>
          <a:prstGeom prst="line">
            <a:avLst/>
          </a:prstGeom>
          <a:noFill/>
          <a:ln w="63500">
            <a:solidFill>
              <a:srgbClr val="0F766E"/>
            </a:solidFill>
            <a:prstDash val="solid"/>
          </a:ln>
        </p:spPr>
      </p:sp>
      <p:sp>
        <p:nvSpPr>
          <p:cNvPr id="56" name="line-52"/>
          <p:cNvSpPr/>
          <p:nvPr/>
        </p:nvSpPr>
        <p:spPr>
          <a:xfrm flipV="1">
            <a:off x="4001034" y="4722130"/>
            <a:ext cx="69890" cy="79714"/>
          </a:xfrm>
          <a:prstGeom prst="line">
            <a:avLst/>
          </a:prstGeom>
          <a:noFill/>
          <a:ln w="63500">
            <a:solidFill>
              <a:srgbClr val="0F766E"/>
            </a:solidFill>
            <a:prstDash val="solid"/>
          </a:ln>
        </p:spPr>
      </p:sp>
      <p:sp>
        <p:nvSpPr>
          <p:cNvPr id="57" name="line-53"/>
          <p:cNvSpPr/>
          <p:nvPr/>
        </p:nvSpPr>
        <p:spPr>
          <a:xfrm flipV="1">
            <a:off x="4070924" y="4636294"/>
            <a:ext cx="68965" cy="85836"/>
          </a:xfrm>
          <a:prstGeom prst="line">
            <a:avLst/>
          </a:prstGeom>
          <a:noFill/>
          <a:ln w="63500">
            <a:solidFill>
              <a:srgbClr val="0F766E"/>
            </a:solidFill>
            <a:prstDash val="solid"/>
          </a:ln>
        </p:spPr>
      </p:sp>
      <p:sp>
        <p:nvSpPr>
          <p:cNvPr id="58" name="line-54"/>
          <p:cNvSpPr/>
          <p:nvPr/>
        </p:nvSpPr>
        <p:spPr>
          <a:xfrm flipV="1">
            <a:off x="4139889" y="4544851"/>
            <a:ext cx="68221" cy="91443"/>
          </a:xfrm>
          <a:prstGeom prst="line">
            <a:avLst/>
          </a:prstGeom>
          <a:noFill/>
          <a:ln w="63500">
            <a:solidFill>
              <a:srgbClr val="0F766E"/>
            </a:solidFill>
            <a:prstDash val="solid"/>
          </a:ln>
        </p:spPr>
      </p:sp>
      <p:sp>
        <p:nvSpPr>
          <p:cNvPr id="59" name="line-55"/>
          <p:cNvSpPr/>
          <p:nvPr/>
        </p:nvSpPr>
        <p:spPr>
          <a:xfrm flipV="1">
            <a:off x="4208110" y="4448318"/>
            <a:ext cx="67658" cy="96533"/>
          </a:xfrm>
          <a:prstGeom prst="line">
            <a:avLst/>
          </a:prstGeom>
          <a:noFill/>
          <a:ln w="63500">
            <a:solidFill>
              <a:srgbClr val="0F766E"/>
            </a:solidFill>
            <a:prstDash val="solid"/>
          </a:ln>
        </p:spPr>
      </p:sp>
      <p:sp>
        <p:nvSpPr>
          <p:cNvPr id="60" name="line-56"/>
          <p:cNvSpPr/>
          <p:nvPr/>
        </p:nvSpPr>
        <p:spPr>
          <a:xfrm flipV="1">
            <a:off x="4275767" y="4347211"/>
            <a:ext cx="67275" cy="101107"/>
          </a:xfrm>
          <a:prstGeom prst="line">
            <a:avLst/>
          </a:prstGeom>
          <a:noFill/>
          <a:ln w="63500">
            <a:solidFill>
              <a:srgbClr val="0F766E"/>
            </a:solidFill>
            <a:prstDash val="solid"/>
          </a:ln>
        </p:spPr>
      </p:sp>
      <p:sp>
        <p:nvSpPr>
          <p:cNvPr id="61" name="line-57"/>
          <p:cNvSpPr/>
          <p:nvPr/>
        </p:nvSpPr>
        <p:spPr>
          <a:xfrm flipV="1">
            <a:off x="4343042" y="4242046"/>
            <a:ext cx="67073" cy="105165"/>
          </a:xfrm>
          <a:prstGeom prst="line">
            <a:avLst/>
          </a:prstGeom>
          <a:noFill/>
          <a:ln w="63500">
            <a:solidFill>
              <a:srgbClr val="0F766E"/>
            </a:solidFill>
            <a:prstDash val="solid"/>
          </a:ln>
        </p:spPr>
      </p:sp>
      <p:sp>
        <p:nvSpPr>
          <p:cNvPr id="62" name="line-58"/>
          <p:cNvSpPr/>
          <p:nvPr/>
        </p:nvSpPr>
        <p:spPr>
          <a:xfrm flipV="1">
            <a:off x="4410115" y="4133338"/>
            <a:ext cx="67052" cy="108708"/>
          </a:xfrm>
          <a:prstGeom prst="line">
            <a:avLst/>
          </a:prstGeom>
          <a:noFill/>
          <a:ln w="63500">
            <a:solidFill>
              <a:srgbClr val="0F766E"/>
            </a:solidFill>
            <a:prstDash val="solid"/>
          </a:ln>
        </p:spPr>
      </p:sp>
      <p:sp>
        <p:nvSpPr>
          <p:cNvPr id="63" name="line-59"/>
          <p:cNvSpPr/>
          <p:nvPr/>
        </p:nvSpPr>
        <p:spPr>
          <a:xfrm flipV="1">
            <a:off x="4477167" y="4021604"/>
            <a:ext cx="67211" cy="111734"/>
          </a:xfrm>
          <a:prstGeom prst="line">
            <a:avLst/>
          </a:prstGeom>
          <a:noFill/>
          <a:ln w="63500">
            <a:solidFill>
              <a:srgbClr val="0F766E"/>
            </a:solidFill>
            <a:prstDash val="solid"/>
          </a:ln>
        </p:spPr>
      </p:sp>
      <p:sp>
        <p:nvSpPr>
          <p:cNvPr id="64" name="line-60"/>
          <p:cNvSpPr/>
          <p:nvPr/>
        </p:nvSpPr>
        <p:spPr>
          <a:xfrm flipV="1">
            <a:off x="4544378" y="3907361"/>
            <a:ext cx="67551" cy="114244"/>
          </a:xfrm>
          <a:prstGeom prst="line">
            <a:avLst/>
          </a:prstGeom>
          <a:noFill/>
          <a:ln w="63500">
            <a:solidFill>
              <a:srgbClr val="0F766E"/>
            </a:solidFill>
            <a:prstDash val="solid"/>
          </a:ln>
        </p:spPr>
      </p:sp>
      <p:sp>
        <p:nvSpPr>
          <p:cNvPr id="65" name="line-61"/>
          <p:cNvSpPr/>
          <p:nvPr/>
        </p:nvSpPr>
        <p:spPr>
          <a:xfrm flipV="1">
            <a:off x="4611929" y="3791123"/>
            <a:ext cx="68072" cy="116238"/>
          </a:xfrm>
          <a:prstGeom prst="line">
            <a:avLst/>
          </a:prstGeom>
          <a:noFill/>
          <a:ln w="63500">
            <a:solidFill>
              <a:srgbClr val="0F766E"/>
            </a:solidFill>
            <a:prstDash val="solid"/>
          </a:ln>
        </p:spPr>
      </p:sp>
      <p:sp>
        <p:nvSpPr>
          <p:cNvPr id="66" name="line-62"/>
          <p:cNvSpPr/>
          <p:nvPr/>
        </p:nvSpPr>
        <p:spPr>
          <a:xfrm flipV="1">
            <a:off x="4680001" y="3673407"/>
            <a:ext cx="68774" cy="117716"/>
          </a:xfrm>
          <a:prstGeom prst="line">
            <a:avLst/>
          </a:prstGeom>
          <a:noFill/>
          <a:ln w="63500">
            <a:solidFill>
              <a:srgbClr val="0F766E"/>
            </a:solidFill>
            <a:prstDash val="solid"/>
          </a:ln>
        </p:spPr>
      </p:sp>
      <p:sp>
        <p:nvSpPr>
          <p:cNvPr id="67" name="line-63"/>
          <p:cNvSpPr/>
          <p:nvPr/>
        </p:nvSpPr>
        <p:spPr>
          <a:xfrm flipV="1">
            <a:off x="4748775" y="3554730"/>
            <a:ext cx="69656" cy="118677"/>
          </a:xfrm>
          <a:prstGeom prst="line">
            <a:avLst/>
          </a:prstGeom>
          <a:noFill/>
          <a:ln w="63500">
            <a:solidFill>
              <a:srgbClr val="0F766E"/>
            </a:solidFill>
            <a:prstDash val="solid"/>
          </a:ln>
        </p:spPr>
      </p:sp>
      <p:sp>
        <p:nvSpPr>
          <p:cNvPr id="68" name="line-64"/>
          <p:cNvSpPr/>
          <p:nvPr/>
        </p:nvSpPr>
        <p:spPr>
          <a:xfrm flipV="1">
            <a:off x="4818431" y="3435607"/>
            <a:ext cx="70719" cy="119123"/>
          </a:xfrm>
          <a:prstGeom prst="line">
            <a:avLst/>
          </a:prstGeom>
          <a:noFill/>
          <a:ln w="63500">
            <a:solidFill>
              <a:srgbClr val="0F766E"/>
            </a:solidFill>
            <a:prstDash val="solid"/>
          </a:ln>
        </p:spPr>
      </p:sp>
      <p:sp>
        <p:nvSpPr>
          <p:cNvPr id="69" name="line-65"/>
          <p:cNvSpPr/>
          <p:nvPr/>
        </p:nvSpPr>
        <p:spPr>
          <a:xfrm flipV="1">
            <a:off x="4889150" y="3316554"/>
            <a:ext cx="71963" cy="119053"/>
          </a:xfrm>
          <a:prstGeom prst="line">
            <a:avLst/>
          </a:prstGeom>
          <a:noFill/>
          <a:ln w="63500">
            <a:solidFill>
              <a:srgbClr val="0F766E"/>
            </a:solidFill>
            <a:prstDash val="solid"/>
          </a:ln>
        </p:spPr>
      </p:sp>
      <p:sp>
        <p:nvSpPr>
          <p:cNvPr id="70" name="line-66"/>
          <p:cNvSpPr/>
          <p:nvPr/>
        </p:nvSpPr>
        <p:spPr>
          <a:xfrm flipV="1">
            <a:off x="4961112" y="3198087"/>
            <a:ext cx="73387" cy="118467"/>
          </a:xfrm>
          <a:prstGeom prst="line">
            <a:avLst/>
          </a:prstGeom>
          <a:noFill/>
          <a:ln w="63500">
            <a:solidFill>
              <a:srgbClr val="0F766E"/>
            </a:solidFill>
            <a:prstDash val="solid"/>
          </a:ln>
        </p:spPr>
      </p:sp>
      <p:sp>
        <p:nvSpPr>
          <p:cNvPr id="71" name="line-67"/>
          <p:cNvSpPr/>
          <p:nvPr/>
        </p:nvSpPr>
        <p:spPr>
          <a:xfrm flipV="1">
            <a:off x="5034499" y="3080723"/>
            <a:ext cx="74992" cy="117364"/>
          </a:xfrm>
          <a:prstGeom prst="line">
            <a:avLst/>
          </a:prstGeom>
          <a:noFill/>
          <a:ln w="63500">
            <a:solidFill>
              <a:srgbClr val="0F766E"/>
            </a:solidFill>
            <a:prstDash val="solid"/>
          </a:ln>
        </p:spPr>
      </p:sp>
      <p:sp>
        <p:nvSpPr>
          <p:cNvPr id="72" name="line-68"/>
          <p:cNvSpPr/>
          <p:nvPr/>
        </p:nvSpPr>
        <p:spPr>
          <a:xfrm flipV="1">
            <a:off x="5109492" y="2964978"/>
            <a:ext cx="76778" cy="115746"/>
          </a:xfrm>
          <a:prstGeom prst="line">
            <a:avLst/>
          </a:prstGeom>
          <a:noFill/>
          <a:ln w="63500">
            <a:solidFill>
              <a:srgbClr val="0F766E"/>
            </a:solidFill>
            <a:prstDash val="solid"/>
          </a:ln>
        </p:spPr>
      </p:sp>
      <p:sp>
        <p:nvSpPr>
          <p:cNvPr id="73" name="line-69"/>
          <p:cNvSpPr/>
          <p:nvPr/>
        </p:nvSpPr>
        <p:spPr>
          <a:xfrm flipV="1">
            <a:off x="5186270" y="2851367"/>
            <a:ext cx="78745" cy="113611"/>
          </a:xfrm>
          <a:prstGeom prst="line">
            <a:avLst/>
          </a:prstGeom>
          <a:noFill/>
          <a:ln w="63500">
            <a:solidFill>
              <a:srgbClr val="0F766E"/>
            </a:solidFill>
            <a:prstDash val="solid"/>
          </a:ln>
        </p:spPr>
      </p:sp>
      <p:sp>
        <p:nvSpPr>
          <p:cNvPr id="74" name="line-70"/>
          <p:cNvSpPr/>
          <p:nvPr/>
        </p:nvSpPr>
        <p:spPr>
          <a:xfrm flipV="1">
            <a:off x="5265014" y="2740406"/>
            <a:ext cx="80892" cy="110960"/>
          </a:xfrm>
          <a:prstGeom prst="line">
            <a:avLst/>
          </a:prstGeom>
          <a:noFill/>
          <a:ln w="63500">
            <a:solidFill>
              <a:srgbClr val="0F766E"/>
            </a:solidFill>
            <a:prstDash val="solid"/>
          </a:ln>
        </p:spPr>
      </p:sp>
      <p:sp>
        <p:nvSpPr>
          <p:cNvPr id="75" name="line-71"/>
          <p:cNvSpPr/>
          <p:nvPr/>
        </p:nvSpPr>
        <p:spPr>
          <a:xfrm flipV="1">
            <a:off x="5345906" y="2632612"/>
            <a:ext cx="83220" cy="107794"/>
          </a:xfrm>
          <a:prstGeom prst="line">
            <a:avLst/>
          </a:prstGeom>
          <a:noFill/>
          <a:ln w="63500">
            <a:solidFill>
              <a:srgbClr val="0F766E"/>
            </a:solidFill>
            <a:prstDash val="solid"/>
          </a:ln>
        </p:spPr>
      </p:sp>
      <p:sp>
        <p:nvSpPr>
          <p:cNvPr id="76" name="line-72"/>
          <p:cNvSpPr/>
          <p:nvPr/>
        </p:nvSpPr>
        <p:spPr>
          <a:xfrm flipV="1">
            <a:off x="5429126" y="2528501"/>
            <a:ext cx="85728" cy="104111"/>
          </a:xfrm>
          <a:prstGeom prst="line">
            <a:avLst/>
          </a:prstGeom>
          <a:noFill/>
          <a:ln w="63500">
            <a:solidFill>
              <a:srgbClr val="0F766E"/>
            </a:solidFill>
            <a:prstDash val="solid"/>
          </a:ln>
        </p:spPr>
      </p:sp>
      <p:sp>
        <p:nvSpPr>
          <p:cNvPr id="77" name="line-73"/>
          <p:cNvSpPr/>
          <p:nvPr/>
        </p:nvSpPr>
        <p:spPr>
          <a:xfrm flipV="1">
            <a:off x="5514854" y="2428589"/>
            <a:ext cx="88418" cy="99912"/>
          </a:xfrm>
          <a:prstGeom prst="line">
            <a:avLst/>
          </a:prstGeom>
          <a:noFill/>
          <a:ln w="63500">
            <a:solidFill>
              <a:srgbClr val="0F766E"/>
            </a:solidFill>
            <a:prstDash val="solid"/>
          </a:ln>
        </p:spPr>
      </p:sp>
      <p:sp>
        <p:nvSpPr>
          <p:cNvPr id="78" name="line-74"/>
          <p:cNvSpPr/>
          <p:nvPr/>
        </p:nvSpPr>
        <p:spPr>
          <a:xfrm flipV="1">
            <a:off x="5603272" y="2333392"/>
            <a:ext cx="91288" cy="95197"/>
          </a:xfrm>
          <a:prstGeom prst="line">
            <a:avLst/>
          </a:prstGeom>
          <a:noFill/>
          <a:ln w="63500">
            <a:solidFill>
              <a:srgbClr val="0F766E"/>
            </a:solidFill>
            <a:prstDash val="solid"/>
          </a:ln>
        </p:spPr>
      </p:sp>
      <p:sp>
        <p:nvSpPr>
          <p:cNvPr id="79" name="line-75"/>
          <p:cNvSpPr/>
          <p:nvPr/>
        </p:nvSpPr>
        <p:spPr>
          <a:xfrm flipV="1">
            <a:off x="5694560" y="2243426"/>
            <a:ext cx="94339" cy="89966"/>
          </a:xfrm>
          <a:prstGeom prst="line">
            <a:avLst/>
          </a:prstGeom>
          <a:noFill/>
          <a:ln w="63500">
            <a:solidFill>
              <a:srgbClr val="0F766E"/>
            </a:solidFill>
            <a:prstDash val="solid"/>
          </a:ln>
        </p:spPr>
      </p:sp>
      <p:sp>
        <p:nvSpPr>
          <p:cNvPr id="80" name="line-76"/>
          <p:cNvSpPr/>
          <p:nvPr/>
        </p:nvSpPr>
        <p:spPr>
          <a:xfrm flipV="1">
            <a:off x="5788898" y="2159206"/>
            <a:ext cx="97570" cy="84219"/>
          </a:xfrm>
          <a:prstGeom prst="line">
            <a:avLst/>
          </a:prstGeom>
          <a:noFill/>
          <a:ln w="63500">
            <a:solidFill>
              <a:srgbClr val="0F766E"/>
            </a:solidFill>
            <a:prstDash val="solid"/>
          </a:ln>
        </p:spPr>
      </p:sp>
      <p:sp>
        <p:nvSpPr>
          <p:cNvPr id="81" name="line-77"/>
          <p:cNvSpPr/>
          <p:nvPr/>
        </p:nvSpPr>
        <p:spPr>
          <a:xfrm flipV="1">
            <a:off x="5886468" y="2081250"/>
            <a:ext cx="100982" cy="77956"/>
          </a:xfrm>
          <a:prstGeom prst="line">
            <a:avLst/>
          </a:prstGeom>
          <a:noFill/>
          <a:ln w="63500">
            <a:solidFill>
              <a:srgbClr val="0F766E"/>
            </a:solidFill>
            <a:prstDash val="solid"/>
          </a:ln>
        </p:spPr>
      </p:sp>
      <p:sp>
        <p:nvSpPr>
          <p:cNvPr id="82" name="line-78"/>
          <p:cNvSpPr/>
          <p:nvPr/>
        </p:nvSpPr>
        <p:spPr>
          <a:xfrm flipV="1">
            <a:off x="5987451" y="2010073"/>
            <a:ext cx="104575" cy="71177"/>
          </a:xfrm>
          <a:prstGeom prst="line">
            <a:avLst/>
          </a:prstGeom>
          <a:noFill/>
          <a:ln w="63500">
            <a:solidFill>
              <a:srgbClr val="0F766E"/>
            </a:solidFill>
            <a:prstDash val="solid"/>
          </a:ln>
        </p:spPr>
      </p:sp>
      <p:sp>
        <p:nvSpPr>
          <p:cNvPr id="83" name="line-79"/>
          <p:cNvSpPr/>
          <p:nvPr/>
        </p:nvSpPr>
        <p:spPr>
          <a:xfrm flipV="1">
            <a:off x="6092026" y="1946191"/>
            <a:ext cx="108349" cy="63882"/>
          </a:xfrm>
          <a:prstGeom prst="line">
            <a:avLst/>
          </a:prstGeom>
          <a:noFill/>
          <a:ln w="63500">
            <a:solidFill>
              <a:srgbClr val="0F766E"/>
            </a:solidFill>
            <a:prstDash val="solid"/>
          </a:ln>
        </p:spPr>
      </p:sp>
      <p:sp>
        <p:nvSpPr>
          <p:cNvPr id="84" name="line-80"/>
          <p:cNvSpPr/>
          <p:nvPr/>
        </p:nvSpPr>
        <p:spPr>
          <a:xfrm flipV="1">
            <a:off x="6200374" y="1890120"/>
            <a:ext cx="112303" cy="56071"/>
          </a:xfrm>
          <a:prstGeom prst="line">
            <a:avLst/>
          </a:prstGeom>
          <a:noFill/>
          <a:ln w="63500">
            <a:solidFill>
              <a:srgbClr val="0F766E"/>
            </a:solidFill>
            <a:prstDash val="solid"/>
          </a:ln>
        </p:spPr>
      </p:sp>
      <p:sp>
        <p:nvSpPr>
          <p:cNvPr id="85" name="line-81"/>
          <p:cNvSpPr/>
          <p:nvPr/>
        </p:nvSpPr>
        <p:spPr>
          <a:xfrm flipV="1">
            <a:off x="6312678" y="1842377"/>
            <a:ext cx="116438" cy="47743"/>
          </a:xfrm>
          <a:prstGeom prst="line">
            <a:avLst/>
          </a:prstGeom>
          <a:noFill/>
          <a:ln w="63500">
            <a:solidFill>
              <a:srgbClr val="0F766E"/>
            </a:solidFill>
            <a:prstDash val="solid"/>
          </a:ln>
        </p:spPr>
      </p:sp>
      <p:sp>
        <p:nvSpPr>
          <p:cNvPr id="86" name="line-82"/>
          <p:cNvSpPr/>
          <p:nvPr/>
        </p:nvSpPr>
        <p:spPr>
          <a:xfrm flipV="1">
            <a:off x="6429116" y="1803477"/>
            <a:ext cx="120754" cy="38900"/>
          </a:xfrm>
          <a:prstGeom prst="line">
            <a:avLst/>
          </a:prstGeom>
          <a:noFill/>
          <a:ln w="63500">
            <a:solidFill>
              <a:srgbClr val="0F766E"/>
            </a:solidFill>
            <a:prstDash val="solid"/>
          </a:ln>
        </p:spPr>
      </p:sp>
      <p:sp>
        <p:nvSpPr>
          <p:cNvPr id="87" name="line-83"/>
          <p:cNvSpPr/>
          <p:nvPr/>
        </p:nvSpPr>
        <p:spPr>
          <a:xfrm flipV="1">
            <a:off x="6549870" y="1773936"/>
            <a:ext cx="125250" cy="29541"/>
          </a:xfrm>
          <a:prstGeom prst="line">
            <a:avLst/>
          </a:prstGeom>
          <a:noFill/>
          <a:ln w="63500">
            <a:solidFill>
              <a:srgbClr val="0F766E"/>
            </a:solidFill>
            <a:prstDash val="solid"/>
          </a:ln>
        </p:spPr>
      </p:sp>
      <p:sp>
        <p:nvSpPr>
          <p:cNvPr id="88" name="text-84"/>
          <p:cNvSpPr txBox="1"/>
          <p:nvPr/>
        </p:nvSpPr>
        <p:spPr>
          <a:xfrm>
            <a:off x="1152144" y="4517136"/>
            <a:ext cx="2011680" cy="201168"/>
          </a:xfrm>
          <a:prstGeom prst="rect">
            <a:avLst/>
          </a:prstGeom>
          <a:noFill/>
          <a:ln/>
        </p:spPr>
        <p:txBody>
          <a:bodyPr wrap="square" lIns="0" tIns="0" rIns="0" bIns="0" rtlCol="0" anchor="ctr"/>
          <a:lstStyle/>
          <a:p>
            <a:pPr algn="l" indent="0" marL="0">
              <a:lnSpc>
                <a:spcPct val="100000"/>
              </a:lnSpc>
              <a:buNone/>
            </a:pPr>
            <a:r>
              <a:rPr lang="en-US" sz="1350" b="1" dirty="0">
                <a:solidFill>
                  <a:srgbClr val="5A6B75"/>
                </a:solidFill>
                <a:latin typeface="Calibri" pitchFamily="34" charset="0"/>
                <a:ea typeface="Calibri" pitchFamily="34" charset="-122"/>
                <a:cs typeface="Calibri" pitchFamily="34" charset="-120"/>
              </a:rPr>
              <a:t>Publishing model</a:t>
            </a:r>
            <a:endParaRPr lang="en-US" sz="1350" dirty="0"/>
          </a:p>
        </p:txBody>
      </p:sp>
      <p:sp>
        <p:nvSpPr>
          <p:cNvPr id="89" name="text-85"/>
          <p:cNvSpPr txBox="1"/>
          <p:nvPr/>
        </p:nvSpPr>
        <p:spPr>
          <a:xfrm>
            <a:off x="1152144" y="4736592"/>
            <a:ext cx="914400" cy="164592"/>
          </a:xfrm>
          <a:prstGeom prst="rect">
            <a:avLst/>
          </a:prstGeom>
          <a:noFill/>
          <a:ln/>
        </p:spPr>
        <p:txBody>
          <a:bodyPr wrap="square" lIns="0" tIns="0" rIns="0" bIns="0" rtlCol="0" anchor="ctr"/>
          <a:lstStyle/>
          <a:p>
            <a:pPr algn="l" indent="0" marL="0">
              <a:lnSpc>
                <a:spcPct val="100000"/>
              </a:lnSpc>
              <a:buNone/>
            </a:pPr>
            <a:r>
              <a:rPr lang="en-US" sz="1100" dirty="0">
                <a:solidFill>
                  <a:srgbClr val="5A6B75"/>
                </a:solidFill>
                <a:latin typeface="Calibri" pitchFamily="34" charset="0"/>
                <a:ea typeface="Calibri" pitchFamily="34" charset="-122"/>
                <a:cs typeface="Calibri" pitchFamily="34" charset="-120"/>
              </a:rPr>
              <a:t>today</a:t>
            </a:r>
            <a:endParaRPr lang="en-US" sz="1100" dirty="0"/>
          </a:p>
        </p:txBody>
      </p:sp>
      <p:sp>
        <p:nvSpPr>
          <p:cNvPr id="90" name="text-86"/>
          <p:cNvSpPr txBox="1"/>
          <p:nvPr/>
        </p:nvSpPr>
        <p:spPr>
          <a:xfrm>
            <a:off x="4297680" y="2596896"/>
            <a:ext cx="2286000" cy="201168"/>
          </a:xfrm>
          <a:prstGeom prst="rect">
            <a:avLst/>
          </a:prstGeom>
          <a:noFill/>
          <a:ln/>
        </p:spPr>
        <p:txBody>
          <a:bodyPr wrap="square" lIns="0" tIns="0" rIns="0" bIns="0" rtlCol="0" anchor="ctr"/>
          <a:lstStyle/>
          <a:p>
            <a:pPr algn="r" indent="0" marL="0">
              <a:lnSpc>
                <a:spcPct val="100000"/>
              </a:lnSpc>
              <a:buNone/>
            </a:pPr>
            <a:r>
              <a:rPr lang="en-US" sz="1350" b="1" dirty="0">
                <a:solidFill>
                  <a:srgbClr val="0F766E"/>
                </a:solidFill>
                <a:latin typeface="Calibri" pitchFamily="34" charset="0"/>
                <a:ea typeface="Calibri" pitchFamily="34" charset="-122"/>
                <a:cs typeface="Calibri" pitchFamily="34" charset="-120"/>
              </a:rPr>
              <a:t>Digital product platform</a:t>
            </a:r>
            <a:endParaRPr lang="en-US" sz="1350" dirty="0"/>
          </a:p>
        </p:txBody>
      </p:sp>
      <p:sp>
        <p:nvSpPr>
          <p:cNvPr id="91" name="text-87"/>
          <p:cNvSpPr txBox="1"/>
          <p:nvPr/>
        </p:nvSpPr>
        <p:spPr>
          <a:xfrm>
            <a:off x="4297680" y="2816352"/>
            <a:ext cx="2286000" cy="164592"/>
          </a:xfrm>
          <a:prstGeom prst="rect">
            <a:avLst/>
          </a:prstGeom>
          <a:noFill/>
          <a:ln/>
        </p:spPr>
        <p:txBody>
          <a:bodyPr wrap="square" lIns="0" tIns="0" rIns="0" bIns="0" rtlCol="0" anchor="ctr"/>
          <a:lstStyle/>
          <a:p>
            <a:pPr algn="r" indent="0" marL="0">
              <a:lnSpc>
                <a:spcPct val="100000"/>
              </a:lnSpc>
              <a:buNone/>
            </a:pPr>
            <a:r>
              <a:rPr lang="en-US" sz="1100" dirty="0">
                <a:solidFill>
                  <a:srgbClr val="0F766E"/>
                </a:solidFill>
                <a:latin typeface="Calibri" pitchFamily="34" charset="0"/>
                <a:ea typeface="Calibri" pitchFamily="34" charset="-122"/>
                <a:cs typeface="Calibri" pitchFamily="34" charset="-120"/>
              </a:rPr>
              <a:t>the agreed direction</a:t>
            </a:r>
            <a:endParaRPr lang="en-US" sz="1100" dirty="0"/>
          </a:p>
        </p:txBody>
      </p:sp>
      <p:sp>
        <p:nvSpPr>
          <p:cNvPr id="92" name="oval-88"/>
          <p:cNvSpPr/>
          <p:nvPr/>
        </p:nvSpPr>
        <p:spPr>
          <a:xfrm>
            <a:off x="2268897" y="4021385"/>
            <a:ext cx="128016" cy="128016"/>
          </a:xfrm>
          <a:prstGeom prst="ellipse">
            <a:avLst/>
          </a:prstGeom>
          <a:solidFill>
            <a:srgbClr val="1C2B33"/>
          </a:solidFill>
          <a:ln w="12700">
            <a:solidFill>
              <a:srgbClr val="1C2B33"/>
            </a:solidFill>
            <a:prstDash val="solid"/>
          </a:ln>
        </p:spPr>
      </p:sp>
      <p:sp>
        <p:nvSpPr>
          <p:cNvPr id="93" name="text-89"/>
          <p:cNvSpPr txBox="1"/>
          <p:nvPr/>
        </p:nvSpPr>
        <p:spPr>
          <a:xfrm>
            <a:off x="2442633" y="3865937"/>
            <a:ext cx="1463040" cy="16459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Inflection point</a:t>
            </a:r>
            <a:endParaRPr lang="en-US" sz="1100" dirty="0"/>
          </a:p>
        </p:txBody>
      </p:sp>
      <p:sp>
        <p:nvSpPr>
          <p:cNvPr id="94" name="line-90"/>
          <p:cNvSpPr/>
          <p:nvPr/>
        </p:nvSpPr>
        <p:spPr>
          <a:xfrm flipV="1">
            <a:off x="3694708" y="2635987"/>
            <a:ext cx="92637" cy="32372"/>
          </a:xfrm>
          <a:prstGeom prst="line">
            <a:avLst/>
          </a:prstGeom>
          <a:noFill/>
          <a:ln w="31750">
            <a:solidFill>
              <a:srgbClr val="B45309"/>
            </a:solidFill>
            <a:prstDash val="sysDash"/>
          </a:ln>
        </p:spPr>
      </p:sp>
      <p:sp>
        <p:nvSpPr>
          <p:cNvPr id="95" name="line-91"/>
          <p:cNvSpPr/>
          <p:nvPr/>
        </p:nvSpPr>
        <p:spPr>
          <a:xfrm flipV="1">
            <a:off x="3787345" y="2630312"/>
            <a:ext cx="86541" cy="5675"/>
          </a:xfrm>
          <a:prstGeom prst="line">
            <a:avLst/>
          </a:prstGeom>
          <a:noFill/>
          <a:ln w="31750">
            <a:solidFill>
              <a:srgbClr val="B45309"/>
            </a:solidFill>
            <a:prstDash val="sysDash"/>
          </a:ln>
        </p:spPr>
      </p:sp>
      <p:sp>
        <p:nvSpPr>
          <p:cNvPr id="96" name="line-92"/>
          <p:cNvSpPr/>
          <p:nvPr/>
        </p:nvSpPr>
        <p:spPr>
          <a:xfrm>
            <a:off x="3873886" y="2630312"/>
            <a:ext cx="80445" cy="21022"/>
          </a:xfrm>
          <a:prstGeom prst="line">
            <a:avLst/>
          </a:prstGeom>
          <a:noFill/>
          <a:ln w="31750">
            <a:solidFill>
              <a:srgbClr val="B45309"/>
            </a:solidFill>
            <a:prstDash val="sysDash"/>
          </a:ln>
        </p:spPr>
      </p:sp>
      <p:sp>
        <p:nvSpPr>
          <p:cNvPr id="97" name="line-93"/>
          <p:cNvSpPr/>
          <p:nvPr/>
        </p:nvSpPr>
        <p:spPr>
          <a:xfrm>
            <a:off x="3954330" y="2651334"/>
            <a:ext cx="74349" cy="47719"/>
          </a:xfrm>
          <a:prstGeom prst="line">
            <a:avLst/>
          </a:prstGeom>
          <a:noFill/>
          <a:ln w="31750">
            <a:solidFill>
              <a:srgbClr val="B45309"/>
            </a:solidFill>
            <a:prstDash val="sysDash"/>
          </a:ln>
        </p:spPr>
      </p:sp>
      <p:sp>
        <p:nvSpPr>
          <p:cNvPr id="98" name="line-94"/>
          <p:cNvSpPr/>
          <p:nvPr/>
        </p:nvSpPr>
        <p:spPr>
          <a:xfrm>
            <a:off x="4028679" y="2699054"/>
            <a:ext cx="68253" cy="74416"/>
          </a:xfrm>
          <a:prstGeom prst="line">
            <a:avLst/>
          </a:prstGeom>
          <a:noFill/>
          <a:ln w="31750">
            <a:solidFill>
              <a:srgbClr val="B45309"/>
            </a:solidFill>
            <a:prstDash val="sysDash"/>
          </a:ln>
        </p:spPr>
      </p:sp>
      <p:sp>
        <p:nvSpPr>
          <p:cNvPr id="99" name="line-95"/>
          <p:cNvSpPr/>
          <p:nvPr/>
        </p:nvSpPr>
        <p:spPr>
          <a:xfrm>
            <a:off x="4096932" y="2773470"/>
            <a:ext cx="62157" cy="101113"/>
          </a:xfrm>
          <a:prstGeom prst="line">
            <a:avLst/>
          </a:prstGeom>
          <a:noFill/>
          <a:ln w="31750">
            <a:solidFill>
              <a:srgbClr val="B45309"/>
            </a:solidFill>
            <a:prstDash val="sysDash"/>
          </a:ln>
        </p:spPr>
      </p:sp>
      <p:sp>
        <p:nvSpPr>
          <p:cNvPr id="100" name="line-96"/>
          <p:cNvSpPr/>
          <p:nvPr/>
        </p:nvSpPr>
        <p:spPr>
          <a:xfrm>
            <a:off x="4159089" y="2874583"/>
            <a:ext cx="56061" cy="127810"/>
          </a:xfrm>
          <a:prstGeom prst="line">
            <a:avLst/>
          </a:prstGeom>
          <a:noFill/>
          <a:ln w="31750">
            <a:solidFill>
              <a:srgbClr val="B45309"/>
            </a:solidFill>
            <a:prstDash val="sysDash"/>
          </a:ln>
        </p:spPr>
      </p:sp>
      <p:sp>
        <p:nvSpPr>
          <p:cNvPr id="101" name="line-97"/>
          <p:cNvSpPr/>
          <p:nvPr/>
        </p:nvSpPr>
        <p:spPr>
          <a:xfrm>
            <a:off x="4215150" y="3002393"/>
            <a:ext cx="49965" cy="154507"/>
          </a:xfrm>
          <a:prstGeom prst="line">
            <a:avLst/>
          </a:prstGeom>
          <a:noFill/>
          <a:ln w="31750">
            <a:solidFill>
              <a:srgbClr val="B45309"/>
            </a:solidFill>
            <a:prstDash val="sysDash"/>
          </a:ln>
        </p:spPr>
      </p:sp>
      <p:sp>
        <p:nvSpPr>
          <p:cNvPr id="102" name="line-98"/>
          <p:cNvSpPr/>
          <p:nvPr/>
        </p:nvSpPr>
        <p:spPr>
          <a:xfrm>
            <a:off x="4265115" y="3156900"/>
            <a:ext cx="43869" cy="181204"/>
          </a:xfrm>
          <a:prstGeom prst="line">
            <a:avLst/>
          </a:prstGeom>
          <a:noFill/>
          <a:ln w="31750">
            <a:solidFill>
              <a:srgbClr val="B45309"/>
            </a:solidFill>
            <a:prstDash val="sysDash"/>
          </a:ln>
        </p:spPr>
      </p:sp>
      <p:sp>
        <p:nvSpPr>
          <p:cNvPr id="103" name="line-99"/>
          <p:cNvSpPr/>
          <p:nvPr/>
        </p:nvSpPr>
        <p:spPr>
          <a:xfrm>
            <a:off x="4308984" y="3338104"/>
            <a:ext cx="37773" cy="207901"/>
          </a:xfrm>
          <a:prstGeom prst="line">
            <a:avLst/>
          </a:prstGeom>
          <a:noFill/>
          <a:ln w="31750">
            <a:solidFill>
              <a:srgbClr val="B45309"/>
            </a:solidFill>
            <a:prstDash val="sysDash"/>
          </a:ln>
        </p:spPr>
      </p:sp>
      <p:sp>
        <p:nvSpPr>
          <p:cNvPr id="104" name="line-100"/>
          <p:cNvSpPr/>
          <p:nvPr/>
        </p:nvSpPr>
        <p:spPr>
          <a:xfrm>
            <a:off x="4346757" y="3546005"/>
            <a:ext cx="31677" cy="234598"/>
          </a:xfrm>
          <a:prstGeom prst="line">
            <a:avLst/>
          </a:prstGeom>
          <a:noFill/>
          <a:ln w="31750">
            <a:solidFill>
              <a:srgbClr val="B45309"/>
            </a:solidFill>
            <a:prstDash val="sysDash"/>
          </a:ln>
        </p:spPr>
      </p:sp>
      <p:sp>
        <p:nvSpPr>
          <p:cNvPr id="105" name="line-101"/>
          <p:cNvSpPr/>
          <p:nvPr/>
        </p:nvSpPr>
        <p:spPr>
          <a:xfrm>
            <a:off x="4378434" y="3780603"/>
            <a:ext cx="25581" cy="261295"/>
          </a:xfrm>
          <a:prstGeom prst="line">
            <a:avLst/>
          </a:prstGeom>
          <a:noFill/>
          <a:ln w="31750">
            <a:solidFill>
              <a:srgbClr val="B45309"/>
            </a:solidFill>
            <a:prstDash val="sysDash"/>
          </a:ln>
        </p:spPr>
      </p:sp>
      <p:sp>
        <p:nvSpPr>
          <p:cNvPr id="106" name="tri-102"/>
          <p:cNvSpPr/>
          <p:nvPr/>
        </p:nvSpPr>
        <p:spPr>
          <a:xfrm rot="8100000">
            <a:off x="4312575" y="3968746"/>
            <a:ext cx="146304" cy="146304"/>
          </a:xfrm>
          <a:prstGeom prst="triangle">
            <a:avLst/>
          </a:prstGeom>
          <a:solidFill>
            <a:srgbClr val="B45309"/>
          </a:solidFill>
          <a:ln w="12700">
            <a:solidFill>
              <a:srgbClr val="B45309"/>
            </a:solidFill>
            <a:prstDash val="solid"/>
          </a:ln>
        </p:spPr>
      </p:sp>
      <p:sp>
        <p:nvSpPr>
          <p:cNvPr id="107" name="text-103"/>
          <p:cNvSpPr txBox="1"/>
          <p:nvPr/>
        </p:nvSpPr>
        <p:spPr>
          <a:xfrm>
            <a:off x="1774468" y="2266022"/>
            <a:ext cx="1828800" cy="182880"/>
          </a:xfrm>
          <a:prstGeom prst="rect">
            <a:avLst/>
          </a:prstGeom>
          <a:noFill/>
          <a:ln/>
        </p:spPr>
        <p:txBody>
          <a:bodyPr wrap="square" lIns="0" tIns="0" rIns="0" bIns="0" rtlCol="0" anchor="ctr"/>
          <a:lstStyle/>
          <a:p>
            <a:pPr algn="r" indent="0" marL="0">
              <a:lnSpc>
                <a:spcPct val="100000"/>
              </a:lnSpc>
              <a:buNone/>
            </a:pPr>
            <a:r>
              <a:rPr lang="en-US" sz="1200" b="1" dirty="0">
                <a:solidFill>
                  <a:srgbClr val="B45309"/>
                </a:solidFill>
                <a:latin typeface="Calibri" pitchFamily="34" charset="0"/>
                <a:ea typeface="Calibri" pitchFamily="34" charset="-122"/>
                <a:cs typeface="Calibri" pitchFamily="34" charset="-120"/>
              </a:rPr>
              <a:t>The pivot — agreed</a:t>
            </a:r>
            <a:endParaRPr lang="en-US" sz="1200" dirty="0"/>
          </a:p>
        </p:txBody>
      </p:sp>
      <p:sp>
        <p:nvSpPr>
          <p:cNvPr id="108" name="line-104"/>
          <p:cNvSpPr/>
          <p:nvPr/>
        </p:nvSpPr>
        <p:spPr>
          <a:xfrm>
            <a:off x="6400800" y="3108960"/>
            <a:ext cx="0" cy="2103120"/>
          </a:xfrm>
          <a:prstGeom prst="line">
            <a:avLst/>
          </a:prstGeom>
          <a:noFill/>
          <a:ln w="19050">
            <a:solidFill>
              <a:srgbClr val="B45309"/>
            </a:solidFill>
            <a:prstDash val="sysDash"/>
          </a:ln>
        </p:spPr>
      </p:sp>
      <p:sp>
        <p:nvSpPr>
          <p:cNvPr id="109" name="text-105"/>
          <p:cNvSpPr txBox="1"/>
          <p:nvPr/>
        </p:nvSpPr>
        <p:spPr>
          <a:xfrm>
            <a:off x="5669280" y="5486400"/>
            <a:ext cx="1463040" cy="164592"/>
          </a:xfrm>
          <a:prstGeom prst="rect">
            <a:avLst/>
          </a:prstGeom>
          <a:noFill/>
          <a:ln/>
        </p:spPr>
        <p:txBody>
          <a:bodyPr wrap="square" lIns="0" tIns="0" rIns="0" bIns="0" rtlCol="0" anchor="ctr"/>
          <a:lstStyle/>
          <a:p>
            <a:pPr algn="ctr" indent="0" marL="0">
              <a:lnSpc>
                <a:spcPct val="100000"/>
              </a:lnSpc>
              <a:buNone/>
            </a:pPr>
            <a:r>
              <a:rPr lang="en-US" sz="1100" b="1" dirty="0">
                <a:solidFill>
                  <a:srgbClr val="B45309"/>
                </a:solidFill>
                <a:latin typeface="Calibri" pitchFamily="34" charset="0"/>
                <a:ea typeface="Calibri" pitchFamily="34" charset="-122"/>
                <a:cs typeface="Calibri" pitchFamily="34" charset="-120"/>
              </a:rPr>
              <a:t>fixed target date</a:t>
            </a:r>
            <a:endParaRPr lang="en-US" sz="1100" dirty="0"/>
          </a:p>
        </p:txBody>
      </p:sp>
      <p:sp>
        <p:nvSpPr>
          <p:cNvPr id="110" name="shape-106"/>
          <p:cNvSpPr/>
          <p:nvPr/>
        </p:nvSpPr>
        <p:spPr>
          <a:xfrm>
            <a:off x="7315200" y="1463040"/>
            <a:ext cx="4297680" cy="1078992"/>
          </a:xfrm>
          <a:prstGeom prst="roundRect">
            <a:avLst>
              <a:gd name="adj" fmla="val 6780"/>
            </a:avLst>
          </a:prstGeom>
          <a:solidFill>
            <a:srgbClr val="D6ECE9"/>
          </a:solidFill>
          <a:ln w="12700">
            <a:solidFill>
              <a:srgbClr val="D6ECE9"/>
            </a:solidFill>
            <a:prstDash val="solid"/>
          </a:ln>
        </p:spPr>
      </p:sp>
      <p:pic>
        <p:nvPicPr>
          <p:cNvPr id="111" name="icon-107" descr="preencoded.png">    </p:cNvPr>
          <p:cNvPicPr>
            <a:picLocks noChangeAspect="1"/>
          </p:cNvPicPr>
          <p:nvPr/>
        </p:nvPicPr>
        <p:blipFill>
          <a:blip r:embed="rId1"/>
          <a:stretch>
            <a:fillRect/>
          </a:stretch>
        </p:blipFill>
        <p:spPr>
          <a:xfrm>
            <a:off x="7534656" y="1682496"/>
            <a:ext cx="274320" cy="274320"/>
          </a:xfrm>
          <a:prstGeom prst="rect">
            <a:avLst/>
          </a:prstGeom>
        </p:spPr>
      </p:pic>
      <p:sp>
        <p:nvSpPr>
          <p:cNvPr id="112" name="text-108"/>
          <p:cNvSpPr txBox="1"/>
          <p:nvPr/>
        </p:nvSpPr>
        <p:spPr>
          <a:xfrm>
            <a:off x="7955280" y="1627632"/>
            <a:ext cx="2743200" cy="274320"/>
          </a:xfrm>
          <a:prstGeom prst="rect">
            <a:avLst/>
          </a:prstGeom>
          <a:noFill/>
          <a:ln/>
        </p:spPr>
        <p:txBody>
          <a:bodyPr wrap="square" lIns="0" tIns="0" rIns="0" bIns="0" rtlCol="0" anchor="ctr"/>
          <a:lstStyle/>
          <a:p>
            <a:pPr algn="l" indent="0" marL="0">
              <a:lnSpc>
                <a:spcPct val="100000"/>
              </a:lnSpc>
              <a:buNone/>
            </a:pPr>
            <a:r>
              <a:rPr lang="en-US" sz="1900" b="1" dirty="0">
                <a:solidFill>
                  <a:srgbClr val="1C2B33"/>
                </a:solidFill>
                <a:latin typeface="Calibri" pitchFamily="34" charset="0"/>
                <a:ea typeface="Calibri" pitchFamily="34" charset="-122"/>
                <a:cs typeface="Calibri" pitchFamily="34" charset="-120"/>
              </a:rPr>
              <a:t>Understand</a:t>
            </a:r>
            <a:endParaRPr lang="en-US" sz="1900" dirty="0"/>
          </a:p>
        </p:txBody>
      </p:sp>
      <p:sp>
        <p:nvSpPr>
          <p:cNvPr id="113" name="text-109"/>
          <p:cNvSpPr txBox="1"/>
          <p:nvPr/>
        </p:nvSpPr>
        <p:spPr>
          <a:xfrm>
            <a:off x="7955280" y="1920240"/>
            <a:ext cx="2743200" cy="146304"/>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DAYS 1–30</a:t>
            </a:r>
            <a:endParaRPr lang="en-US" sz="1100" dirty="0"/>
          </a:p>
        </p:txBody>
      </p:sp>
      <p:sp>
        <p:nvSpPr>
          <p:cNvPr id="114" name="text-110"/>
          <p:cNvSpPr txBox="1"/>
          <p:nvPr/>
        </p:nvSpPr>
        <p:spPr>
          <a:xfrm>
            <a:off x="7955280" y="2121408"/>
            <a:ext cx="3474720" cy="365760"/>
          </a:xfrm>
          <a:prstGeom prst="rect">
            <a:avLst/>
          </a:prstGeom>
          <a:noFill/>
          <a:ln/>
        </p:spPr>
        <p:txBody>
          <a:bodyPr wrap="square" lIns="0" tIns="0" rIns="0" bIns="0" rtlCol="0" anchor="t"/>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two baselines: the technology and the ways of working</a:t>
            </a:r>
            <a:endParaRPr lang="en-US" sz="1300" dirty="0"/>
          </a:p>
        </p:txBody>
      </p:sp>
      <p:sp>
        <p:nvSpPr>
          <p:cNvPr id="115" name="shape-111"/>
          <p:cNvSpPr/>
          <p:nvPr/>
        </p:nvSpPr>
        <p:spPr>
          <a:xfrm>
            <a:off x="7315200" y="2743200"/>
            <a:ext cx="4297680" cy="1078992"/>
          </a:xfrm>
          <a:prstGeom prst="roundRect">
            <a:avLst>
              <a:gd name="adj" fmla="val 6780"/>
            </a:avLst>
          </a:prstGeom>
          <a:solidFill>
            <a:srgbClr val="0F766E"/>
          </a:solidFill>
          <a:ln w="12700">
            <a:solidFill>
              <a:srgbClr val="0F766E"/>
            </a:solidFill>
            <a:prstDash val="solid"/>
          </a:ln>
        </p:spPr>
      </p:sp>
      <p:pic>
        <p:nvPicPr>
          <p:cNvPr id="116" name="icon-112" descr="preencoded.png">    </p:cNvPr>
          <p:cNvPicPr>
            <a:picLocks noChangeAspect="1"/>
          </p:cNvPicPr>
          <p:nvPr/>
        </p:nvPicPr>
        <p:blipFill>
          <a:blip r:embed="rId2"/>
          <a:stretch>
            <a:fillRect/>
          </a:stretch>
        </p:blipFill>
        <p:spPr>
          <a:xfrm>
            <a:off x="7534656" y="2962656"/>
            <a:ext cx="274320" cy="274320"/>
          </a:xfrm>
          <a:prstGeom prst="rect">
            <a:avLst/>
          </a:prstGeom>
        </p:spPr>
      </p:pic>
      <p:sp>
        <p:nvSpPr>
          <p:cNvPr id="117" name="text-113"/>
          <p:cNvSpPr txBox="1"/>
          <p:nvPr/>
        </p:nvSpPr>
        <p:spPr>
          <a:xfrm>
            <a:off x="7955280" y="2907792"/>
            <a:ext cx="2743200" cy="274320"/>
          </a:xfrm>
          <a:prstGeom prst="rect">
            <a:avLst/>
          </a:prstGeom>
          <a:noFill/>
          <a:ln/>
        </p:spPr>
        <p:txBody>
          <a:bodyPr wrap="square" lIns="0" tIns="0" rIns="0" bIns="0" rtlCol="0" anchor="ctr"/>
          <a:lstStyle/>
          <a:p>
            <a:pPr algn="l" indent="0" marL="0">
              <a:lnSpc>
                <a:spcPct val="100000"/>
              </a:lnSpc>
              <a:buNone/>
            </a:pPr>
            <a:r>
              <a:rPr lang="en-US" sz="1900" b="1" dirty="0">
                <a:solidFill>
                  <a:srgbClr val="FFFFFF"/>
                </a:solidFill>
                <a:latin typeface="Calibri" pitchFamily="34" charset="0"/>
                <a:ea typeface="Calibri" pitchFamily="34" charset="-122"/>
                <a:cs typeface="Calibri" pitchFamily="34" charset="-120"/>
              </a:rPr>
              <a:t>Stabilise</a:t>
            </a:r>
            <a:endParaRPr lang="en-US" sz="1900" dirty="0"/>
          </a:p>
        </p:txBody>
      </p:sp>
      <p:sp>
        <p:nvSpPr>
          <p:cNvPr id="118" name="text-114"/>
          <p:cNvSpPr txBox="1"/>
          <p:nvPr/>
        </p:nvSpPr>
        <p:spPr>
          <a:xfrm>
            <a:off x="7955280" y="3200400"/>
            <a:ext cx="2743200" cy="146304"/>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CFE8E5"/>
                </a:solidFill>
                <a:latin typeface="Calibri" pitchFamily="34" charset="0"/>
                <a:ea typeface="Calibri" pitchFamily="34" charset="-122"/>
                <a:cs typeface="Calibri" pitchFamily="34" charset="-120"/>
              </a:rPr>
              <a:t>DAYS 31–60</a:t>
            </a:r>
            <a:endParaRPr lang="en-US" sz="1100" dirty="0"/>
          </a:p>
        </p:txBody>
      </p:sp>
      <p:sp>
        <p:nvSpPr>
          <p:cNvPr id="119" name="text-115"/>
          <p:cNvSpPr txBox="1"/>
          <p:nvPr/>
        </p:nvSpPr>
        <p:spPr>
          <a:xfrm>
            <a:off x="7955280" y="3401568"/>
            <a:ext cx="3474720" cy="365760"/>
          </a:xfrm>
          <a:prstGeom prst="rect">
            <a:avLst/>
          </a:prstGeom>
          <a:noFill/>
          <a:ln/>
        </p:spPr>
        <p:txBody>
          <a:bodyPr wrap="square" lIns="0" tIns="0" rIns="0" bIns="0" rtlCol="0" anchor="t"/>
          <a:lstStyle/>
          <a:p>
            <a:pPr algn="l" indent="0" marL="0">
              <a:lnSpc>
                <a:spcPct val="100000"/>
              </a:lnSpc>
              <a:buNone/>
            </a:pPr>
            <a:r>
              <a:rPr lang="en-US" sz="1300" dirty="0">
                <a:solidFill>
                  <a:srgbClr val="FFFFFF"/>
                </a:solidFill>
                <a:latin typeface="Calibri" pitchFamily="34" charset="0"/>
                <a:ea typeface="Calibri" pitchFamily="34" charset="-122"/>
                <a:cs typeface="Calibri" pitchFamily="34" charset="-120"/>
              </a:rPr>
              <a:t>keep today running; assess the proposal; confirm, re-scope or stop</a:t>
            </a:r>
            <a:endParaRPr lang="en-US" sz="1300" dirty="0"/>
          </a:p>
        </p:txBody>
      </p:sp>
      <p:sp>
        <p:nvSpPr>
          <p:cNvPr id="120" name="shape-116"/>
          <p:cNvSpPr/>
          <p:nvPr/>
        </p:nvSpPr>
        <p:spPr>
          <a:xfrm>
            <a:off x="7315200" y="4023360"/>
            <a:ext cx="4297680" cy="1078992"/>
          </a:xfrm>
          <a:prstGeom prst="roundRect">
            <a:avLst>
              <a:gd name="adj" fmla="val 6780"/>
            </a:avLst>
          </a:prstGeom>
          <a:solidFill>
            <a:srgbClr val="134E4A"/>
          </a:solidFill>
          <a:ln w="12700">
            <a:solidFill>
              <a:srgbClr val="134E4A"/>
            </a:solidFill>
            <a:prstDash val="solid"/>
          </a:ln>
        </p:spPr>
      </p:sp>
      <p:pic>
        <p:nvPicPr>
          <p:cNvPr id="121" name="icon-117" descr="preencoded.png">    </p:cNvPr>
          <p:cNvPicPr>
            <a:picLocks noChangeAspect="1"/>
          </p:cNvPicPr>
          <p:nvPr/>
        </p:nvPicPr>
        <p:blipFill>
          <a:blip r:embed="rId3"/>
          <a:stretch>
            <a:fillRect/>
          </a:stretch>
        </p:blipFill>
        <p:spPr>
          <a:xfrm>
            <a:off x="7534656" y="4242816"/>
            <a:ext cx="274320" cy="274320"/>
          </a:xfrm>
          <a:prstGeom prst="rect">
            <a:avLst/>
          </a:prstGeom>
        </p:spPr>
      </p:pic>
      <p:sp>
        <p:nvSpPr>
          <p:cNvPr id="122" name="text-118"/>
          <p:cNvSpPr txBox="1"/>
          <p:nvPr/>
        </p:nvSpPr>
        <p:spPr>
          <a:xfrm>
            <a:off x="7955280" y="4187952"/>
            <a:ext cx="2743200" cy="274320"/>
          </a:xfrm>
          <a:prstGeom prst="rect">
            <a:avLst/>
          </a:prstGeom>
          <a:noFill/>
          <a:ln/>
        </p:spPr>
        <p:txBody>
          <a:bodyPr wrap="square" lIns="0" tIns="0" rIns="0" bIns="0" rtlCol="0" anchor="ctr"/>
          <a:lstStyle/>
          <a:p>
            <a:pPr algn="l" indent="0" marL="0">
              <a:lnSpc>
                <a:spcPct val="100000"/>
              </a:lnSpc>
              <a:buNone/>
            </a:pPr>
            <a:r>
              <a:rPr lang="en-US" sz="1900" b="1" dirty="0">
                <a:solidFill>
                  <a:srgbClr val="FFFFFF"/>
                </a:solidFill>
                <a:latin typeface="Calibri" pitchFamily="34" charset="0"/>
                <a:ea typeface="Calibri" pitchFamily="34" charset="-122"/>
                <a:cs typeface="Calibri" pitchFamily="34" charset="-120"/>
              </a:rPr>
              <a:t>Accelerate</a:t>
            </a:r>
            <a:endParaRPr lang="en-US" sz="1900" dirty="0"/>
          </a:p>
        </p:txBody>
      </p:sp>
      <p:sp>
        <p:nvSpPr>
          <p:cNvPr id="123" name="text-119"/>
          <p:cNvSpPr txBox="1"/>
          <p:nvPr/>
        </p:nvSpPr>
        <p:spPr>
          <a:xfrm>
            <a:off x="7955280" y="4480560"/>
            <a:ext cx="2743200" cy="146304"/>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CFE8E5"/>
                </a:solidFill>
                <a:latin typeface="Calibri" pitchFamily="34" charset="0"/>
                <a:ea typeface="Calibri" pitchFamily="34" charset="-122"/>
                <a:cs typeface="Calibri" pitchFamily="34" charset="-120"/>
              </a:rPr>
              <a:t>DAYS 61–90 →</a:t>
            </a:r>
            <a:endParaRPr lang="en-US" sz="1100" dirty="0"/>
          </a:p>
        </p:txBody>
      </p:sp>
      <p:sp>
        <p:nvSpPr>
          <p:cNvPr id="124" name="text-120"/>
          <p:cNvSpPr txBox="1"/>
          <p:nvPr/>
        </p:nvSpPr>
        <p:spPr>
          <a:xfrm>
            <a:off x="7955280" y="4681728"/>
            <a:ext cx="3474720" cy="365760"/>
          </a:xfrm>
          <a:prstGeom prst="rect">
            <a:avLst/>
          </a:prstGeom>
          <a:noFill/>
          <a:ln/>
        </p:spPr>
        <p:txBody>
          <a:bodyPr wrap="square" lIns="0" tIns="0" rIns="0" bIns="0" rtlCol="0" anchor="t"/>
          <a:lstStyle/>
          <a:p>
            <a:pPr algn="l" indent="0" marL="0">
              <a:lnSpc>
                <a:spcPct val="100000"/>
              </a:lnSpc>
              <a:buNone/>
            </a:pPr>
            <a:r>
              <a:rPr lang="en-US" sz="1300" dirty="0">
                <a:solidFill>
                  <a:srgbClr val="FFFFFF"/>
                </a:solidFill>
                <a:latin typeface="Calibri" pitchFamily="34" charset="0"/>
                <a:ea typeface="Calibri" pitchFamily="34" charset="-122"/>
                <a:cs typeface="Calibri" pitchFamily="34" charset="-120"/>
              </a:rPr>
              <a:t>first assured delivery; the plan to the date</a:t>
            </a:r>
            <a:endParaRPr lang="en-US" sz="1300" dirty="0"/>
          </a:p>
        </p:txBody>
      </p:sp>
      <p:sp>
        <p:nvSpPr>
          <p:cNvPr id="125" name="shape-121"/>
          <p:cNvSpPr/>
          <p:nvPr/>
        </p:nvSpPr>
        <p:spPr>
          <a:xfrm>
            <a:off x="7315200" y="5248656"/>
            <a:ext cx="4297680" cy="768096"/>
          </a:xfrm>
          <a:prstGeom prst="roundRect">
            <a:avLst>
              <a:gd name="adj" fmla="val 9524"/>
            </a:avLst>
          </a:prstGeom>
          <a:solidFill>
            <a:srgbClr val="FDF1E3"/>
          </a:solidFill>
          <a:ln w="12700">
            <a:solidFill>
              <a:srgbClr val="FDF1E3"/>
            </a:solidFill>
            <a:prstDash val="solid"/>
          </a:ln>
        </p:spPr>
      </p:sp>
      <p:sp>
        <p:nvSpPr>
          <p:cNvPr id="126" name="text-122"/>
          <p:cNvSpPr txBox="1"/>
          <p:nvPr/>
        </p:nvSpPr>
        <p:spPr>
          <a:xfrm>
            <a:off x="7498080" y="5303520"/>
            <a:ext cx="3931920" cy="658368"/>
          </a:xfrm>
          <a:prstGeom prst="rect">
            <a:avLst/>
          </a:prstGeom>
          <a:noFill/>
          <a:ln/>
        </p:spPr>
        <p:txBody>
          <a:bodyPr wrap="square" lIns="0" tIns="0" rIns="0" bIns="0" rtlCol="0" anchor="ctr"/>
          <a:lstStyle/>
          <a:p>
            <a:pPr algn="l" indent="0" marL="0">
              <a:lnSpc>
                <a:spcPct val="100000"/>
              </a:lnSpc>
              <a:buNone/>
            </a:pPr>
            <a:r>
              <a:rPr lang="en-US" sz="1200" b="1" dirty="0">
                <a:solidFill>
                  <a:srgbClr val="B45309"/>
                </a:solidFill>
                <a:latin typeface="Calibri" pitchFamily="34" charset="0"/>
                <a:ea typeface="Calibri" pitchFamily="34" charset="-122"/>
                <a:cs typeface="Calibri" pitchFamily="34" charset="-120"/>
              </a:rPr>
              <a:t>Every design and staffing statement that follows is a hypothesis. Gates 1 and 2 test it before anything is built.</a:t>
            </a:r>
            <a:endParaRPr lang="en-US" sz="1200" dirty="0"/>
          </a:p>
        </p:txBody>
      </p:sp>
      <p:sp>
        <p:nvSpPr>
          <p:cNvPr id="127" name="text-123"/>
          <p:cNvSpPr txBox="1"/>
          <p:nvPr/>
        </p:nvSpPr>
        <p:spPr>
          <a:xfrm>
            <a:off x="7315200" y="6108192"/>
            <a:ext cx="4297680" cy="182880"/>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Nothing that works today stops until its replacement is proven.</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2  ·  THE FIRST 90 DAYS AGAINST THE 27 APRIL DATE</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A December start leaves little room: three gates by early March, then eight weeks to go live</a:t>
            </a:r>
            <a:endParaRPr lang="en-US" sz="2250" dirty="0"/>
          </a:p>
        </p:txBody>
      </p:sp>
      <p:sp>
        <p:nvSpPr>
          <p:cNvPr id="4" name="shape-0"/>
          <p:cNvSpPr/>
          <p:nvPr/>
        </p:nvSpPr>
        <p:spPr>
          <a:xfrm>
            <a:off x="1931437" y="1280160"/>
            <a:ext cx="1601133" cy="1335024"/>
          </a:xfrm>
          <a:prstGeom prst="roundRect">
            <a:avLst>
              <a:gd name="adj" fmla="val 4110"/>
            </a:avLst>
          </a:prstGeom>
          <a:solidFill>
            <a:srgbClr val="FDF1E3"/>
          </a:solidFill>
          <a:ln w="12700">
            <a:solidFill>
              <a:srgbClr val="FDF1E3"/>
            </a:solidFill>
            <a:prstDash val="solid"/>
          </a:ln>
        </p:spPr>
      </p:sp>
      <p:sp>
        <p:nvSpPr>
          <p:cNvPr id="5" name="text-1"/>
          <p:cNvSpPr txBox="1"/>
          <p:nvPr/>
        </p:nvSpPr>
        <p:spPr>
          <a:xfrm>
            <a:off x="1657117" y="2432304"/>
            <a:ext cx="2149773"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B45309"/>
                </a:solidFill>
                <a:latin typeface="Calibri" pitchFamily="34" charset="0"/>
                <a:ea typeface="Calibri" pitchFamily="34" charset="-122"/>
                <a:cs typeface="Calibri" pitchFamily="34" charset="-120"/>
              </a:rPr>
              <a:t>December break</a:t>
            </a:r>
            <a:endParaRPr lang="en-US" sz="1100" dirty="0"/>
          </a:p>
        </p:txBody>
      </p:sp>
      <p:sp>
        <p:nvSpPr>
          <p:cNvPr id="6" name="line-2"/>
          <p:cNvSpPr/>
          <p:nvPr/>
        </p:nvSpPr>
        <p:spPr>
          <a:xfrm>
            <a:off x="548640" y="1828800"/>
            <a:ext cx="10698480" cy="0"/>
          </a:xfrm>
          <a:prstGeom prst="line">
            <a:avLst/>
          </a:prstGeom>
          <a:noFill/>
          <a:ln w="50800">
            <a:solidFill>
              <a:srgbClr val="D4DBE0"/>
            </a:solidFill>
            <a:prstDash val="solid"/>
          </a:ln>
        </p:spPr>
      </p:sp>
      <p:sp>
        <p:nvSpPr>
          <p:cNvPr id="7" name="tri-3"/>
          <p:cNvSpPr/>
          <p:nvPr/>
        </p:nvSpPr>
        <p:spPr>
          <a:xfrm rot="5400000">
            <a:off x="11228832" y="1719072"/>
            <a:ext cx="219456" cy="219456"/>
          </a:xfrm>
          <a:prstGeom prst="triangle">
            <a:avLst/>
          </a:prstGeom>
          <a:solidFill>
            <a:srgbClr val="D4DBE0"/>
          </a:solidFill>
          <a:ln w="12700">
            <a:solidFill>
              <a:srgbClr val="D4DBE0"/>
            </a:solidFill>
            <a:prstDash val="solid"/>
          </a:ln>
        </p:spPr>
      </p:sp>
      <p:sp>
        <p:nvSpPr>
          <p:cNvPr id="8" name="shape-4"/>
          <p:cNvSpPr/>
          <p:nvPr/>
        </p:nvSpPr>
        <p:spPr>
          <a:xfrm>
            <a:off x="548640" y="1805940"/>
            <a:ext cx="6550090" cy="45720"/>
          </a:xfrm>
          <a:prstGeom prst="rect">
            <a:avLst/>
          </a:prstGeom>
          <a:solidFill>
            <a:srgbClr val="0F766E"/>
          </a:solidFill>
          <a:ln w="12700">
            <a:solidFill>
              <a:srgbClr val="0F766E"/>
            </a:solidFill>
            <a:prstDash val="solid"/>
          </a:ln>
        </p:spPr>
      </p:sp>
      <p:sp>
        <p:nvSpPr>
          <p:cNvPr id="9" name="line-5"/>
          <p:cNvSpPr/>
          <p:nvPr/>
        </p:nvSpPr>
        <p:spPr>
          <a:xfrm>
            <a:off x="548640" y="1956816"/>
            <a:ext cx="0" cy="73152"/>
          </a:xfrm>
          <a:prstGeom prst="line">
            <a:avLst/>
          </a:prstGeom>
          <a:noFill/>
          <a:ln w="12700">
            <a:solidFill>
              <a:srgbClr val="5A6B75"/>
            </a:solidFill>
            <a:prstDash val="solid"/>
          </a:ln>
        </p:spPr>
      </p:sp>
      <p:sp>
        <p:nvSpPr>
          <p:cNvPr id="10" name="text-6"/>
          <p:cNvSpPr txBox="1"/>
          <p:nvPr/>
        </p:nvSpPr>
        <p:spPr>
          <a:xfrm>
            <a:off x="365760" y="2048256"/>
            <a:ext cx="365760" cy="146304"/>
          </a:xfrm>
          <a:prstGeom prst="rect">
            <a:avLst/>
          </a:prstGeom>
          <a:noFill/>
          <a:ln/>
        </p:spPr>
        <p:txBody>
          <a:bodyPr wrap="square" lIns="0" tIns="0" rIns="0" bIns="0" rtlCol="0" anchor="ctr"/>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Dec</a:t>
            </a:r>
            <a:endParaRPr lang="en-US" sz="1100" dirty="0"/>
          </a:p>
        </p:txBody>
      </p:sp>
      <p:sp>
        <p:nvSpPr>
          <p:cNvPr id="11" name="line-7"/>
          <p:cNvSpPr/>
          <p:nvPr/>
        </p:nvSpPr>
        <p:spPr>
          <a:xfrm>
            <a:off x="2804782" y="1956816"/>
            <a:ext cx="0" cy="73152"/>
          </a:xfrm>
          <a:prstGeom prst="line">
            <a:avLst/>
          </a:prstGeom>
          <a:noFill/>
          <a:ln w="12700">
            <a:solidFill>
              <a:srgbClr val="5A6B75"/>
            </a:solidFill>
            <a:prstDash val="solid"/>
          </a:ln>
        </p:spPr>
      </p:sp>
      <p:sp>
        <p:nvSpPr>
          <p:cNvPr id="12" name="text-8"/>
          <p:cNvSpPr txBox="1"/>
          <p:nvPr/>
        </p:nvSpPr>
        <p:spPr>
          <a:xfrm>
            <a:off x="2621902" y="2048256"/>
            <a:ext cx="365760" cy="146304"/>
          </a:xfrm>
          <a:prstGeom prst="rect">
            <a:avLst/>
          </a:prstGeom>
          <a:noFill/>
          <a:ln/>
        </p:spPr>
        <p:txBody>
          <a:bodyPr wrap="square" lIns="0" tIns="0" rIns="0" bIns="0" rtlCol="0" anchor="ctr"/>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Jan</a:t>
            </a:r>
            <a:endParaRPr lang="en-US" sz="1100" dirty="0"/>
          </a:p>
        </p:txBody>
      </p:sp>
      <p:sp>
        <p:nvSpPr>
          <p:cNvPr id="13" name="line-9"/>
          <p:cNvSpPr/>
          <p:nvPr/>
        </p:nvSpPr>
        <p:spPr>
          <a:xfrm>
            <a:off x="5060924" y="1956816"/>
            <a:ext cx="0" cy="73152"/>
          </a:xfrm>
          <a:prstGeom prst="line">
            <a:avLst/>
          </a:prstGeom>
          <a:noFill/>
          <a:ln w="12700">
            <a:solidFill>
              <a:srgbClr val="5A6B75"/>
            </a:solidFill>
            <a:prstDash val="solid"/>
          </a:ln>
        </p:spPr>
      </p:sp>
      <p:sp>
        <p:nvSpPr>
          <p:cNvPr id="14" name="text-10"/>
          <p:cNvSpPr txBox="1"/>
          <p:nvPr/>
        </p:nvSpPr>
        <p:spPr>
          <a:xfrm>
            <a:off x="4878044" y="2048256"/>
            <a:ext cx="365760" cy="146304"/>
          </a:xfrm>
          <a:prstGeom prst="rect">
            <a:avLst/>
          </a:prstGeom>
          <a:noFill/>
          <a:ln/>
        </p:spPr>
        <p:txBody>
          <a:bodyPr wrap="square" lIns="0" tIns="0" rIns="0" bIns="0" rtlCol="0" anchor="ctr"/>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Feb</a:t>
            </a:r>
            <a:endParaRPr lang="en-US" sz="1100" dirty="0"/>
          </a:p>
        </p:txBody>
      </p:sp>
      <p:sp>
        <p:nvSpPr>
          <p:cNvPr id="15" name="line-11"/>
          <p:cNvSpPr/>
          <p:nvPr/>
        </p:nvSpPr>
        <p:spPr>
          <a:xfrm>
            <a:off x="7098730" y="1956816"/>
            <a:ext cx="0" cy="73152"/>
          </a:xfrm>
          <a:prstGeom prst="line">
            <a:avLst/>
          </a:prstGeom>
          <a:noFill/>
          <a:ln w="12700">
            <a:solidFill>
              <a:srgbClr val="5A6B75"/>
            </a:solidFill>
            <a:prstDash val="solid"/>
          </a:ln>
        </p:spPr>
      </p:sp>
      <p:sp>
        <p:nvSpPr>
          <p:cNvPr id="16" name="text-12"/>
          <p:cNvSpPr txBox="1"/>
          <p:nvPr/>
        </p:nvSpPr>
        <p:spPr>
          <a:xfrm>
            <a:off x="6915850" y="2048256"/>
            <a:ext cx="365760" cy="146304"/>
          </a:xfrm>
          <a:prstGeom prst="rect">
            <a:avLst/>
          </a:prstGeom>
          <a:noFill/>
          <a:ln/>
        </p:spPr>
        <p:txBody>
          <a:bodyPr wrap="square" lIns="0" tIns="0" rIns="0" bIns="0" rtlCol="0" anchor="ctr"/>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Mar</a:t>
            </a:r>
            <a:endParaRPr lang="en-US" sz="1100" dirty="0"/>
          </a:p>
        </p:txBody>
      </p:sp>
      <p:sp>
        <p:nvSpPr>
          <p:cNvPr id="17" name="line-13"/>
          <p:cNvSpPr/>
          <p:nvPr/>
        </p:nvSpPr>
        <p:spPr>
          <a:xfrm>
            <a:off x="9354872" y="1956816"/>
            <a:ext cx="0" cy="73152"/>
          </a:xfrm>
          <a:prstGeom prst="line">
            <a:avLst/>
          </a:prstGeom>
          <a:noFill/>
          <a:ln w="12700">
            <a:solidFill>
              <a:srgbClr val="5A6B75"/>
            </a:solidFill>
            <a:prstDash val="solid"/>
          </a:ln>
        </p:spPr>
      </p:sp>
      <p:sp>
        <p:nvSpPr>
          <p:cNvPr id="18" name="text-14"/>
          <p:cNvSpPr txBox="1"/>
          <p:nvPr/>
        </p:nvSpPr>
        <p:spPr>
          <a:xfrm>
            <a:off x="9171992" y="2048256"/>
            <a:ext cx="365760" cy="146304"/>
          </a:xfrm>
          <a:prstGeom prst="rect">
            <a:avLst/>
          </a:prstGeom>
          <a:noFill/>
          <a:ln/>
        </p:spPr>
        <p:txBody>
          <a:bodyPr wrap="square" lIns="0" tIns="0" rIns="0" bIns="0" rtlCol="0" anchor="ctr"/>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Apr</a:t>
            </a:r>
            <a:endParaRPr lang="en-US" sz="1100" dirty="0"/>
          </a:p>
        </p:txBody>
      </p:sp>
      <p:sp>
        <p:nvSpPr>
          <p:cNvPr id="19" name="oval-15"/>
          <p:cNvSpPr/>
          <p:nvPr/>
        </p:nvSpPr>
        <p:spPr>
          <a:xfrm>
            <a:off x="466344" y="1746504"/>
            <a:ext cx="164592" cy="164592"/>
          </a:xfrm>
          <a:prstGeom prst="ellipse">
            <a:avLst/>
          </a:prstGeom>
          <a:solidFill>
            <a:srgbClr val="5A6B75"/>
          </a:solidFill>
          <a:ln w="12700">
            <a:solidFill>
              <a:srgbClr val="5A6B75"/>
            </a:solidFill>
            <a:prstDash val="solid"/>
          </a:ln>
        </p:spPr>
      </p:sp>
      <p:sp>
        <p:nvSpPr>
          <p:cNvPr id="20" name="text-16"/>
          <p:cNvSpPr txBox="1"/>
          <p:nvPr/>
        </p:nvSpPr>
        <p:spPr>
          <a:xfrm>
            <a:off x="0" y="1389888"/>
            <a:ext cx="10972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5A6B75"/>
                </a:solidFill>
                <a:latin typeface="Calibri" pitchFamily="34" charset="0"/>
                <a:ea typeface="Calibri" pitchFamily="34" charset="-122"/>
                <a:cs typeface="Calibri" pitchFamily="34" charset="-120"/>
              </a:rPr>
              <a:t>Start</a:t>
            </a:r>
            <a:endParaRPr lang="en-US" sz="1100" dirty="0"/>
          </a:p>
        </p:txBody>
      </p:sp>
      <p:sp>
        <p:nvSpPr>
          <p:cNvPr id="21" name="oval-17"/>
          <p:cNvSpPr/>
          <p:nvPr/>
        </p:nvSpPr>
        <p:spPr>
          <a:xfrm>
            <a:off x="2549123" y="1645920"/>
            <a:ext cx="365760" cy="365760"/>
          </a:xfrm>
          <a:prstGeom prst="ellipse">
            <a:avLst/>
          </a:prstGeom>
          <a:solidFill>
            <a:srgbClr val="0F766E"/>
          </a:solidFill>
          <a:ln w="12700">
            <a:solidFill>
              <a:srgbClr val="0F766E"/>
            </a:solidFill>
            <a:prstDash val="solid"/>
          </a:ln>
        </p:spPr>
      </p:sp>
      <p:sp>
        <p:nvSpPr>
          <p:cNvPr id="22" name="text-18"/>
          <p:cNvSpPr txBox="1"/>
          <p:nvPr/>
        </p:nvSpPr>
        <p:spPr>
          <a:xfrm>
            <a:off x="2549123" y="1719072"/>
            <a:ext cx="365760" cy="219456"/>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G1</a:t>
            </a:r>
            <a:endParaRPr lang="en-US" sz="1300" dirty="0"/>
          </a:p>
        </p:txBody>
      </p:sp>
      <p:sp>
        <p:nvSpPr>
          <p:cNvPr id="23" name="text-19"/>
          <p:cNvSpPr txBox="1"/>
          <p:nvPr/>
        </p:nvSpPr>
        <p:spPr>
          <a:xfrm>
            <a:off x="2183363" y="1389888"/>
            <a:ext cx="10972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0F766E"/>
                </a:solidFill>
                <a:latin typeface="Calibri" pitchFamily="34" charset="0"/>
                <a:ea typeface="Calibri" pitchFamily="34" charset="-122"/>
                <a:cs typeface="Calibri" pitchFamily="34" charset="-120"/>
              </a:rPr>
              <a:t>Day 30</a:t>
            </a:r>
            <a:endParaRPr lang="en-US" sz="1100" dirty="0"/>
          </a:p>
        </p:txBody>
      </p:sp>
      <p:sp>
        <p:nvSpPr>
          <p:cNvPr id="24" name="text-20"/>
          <p:cNvSpPr txBox="1"/>
          <p:nvPr/>
        </p:nvSpPr>
        <p:spPr>
          <a:xfrm>
            <a:off x="1909043" y="2231136"/>
            <a:ext cx="164592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Two baselines</a:t>
            </a:r>
            <a:endParaRPr lang="en-US" sz="1100" dirty="0"/>
          </a:p>
        </p:txBody>
      </p:sp>
      <p:sp>
        <p:nvSpPr>
          <p:cNvPr id="25" name="oval-21"/>
          <p:cNvSpPr/>
          <p:nvPr/>
        </p:nvSpPr>
        <p:spPr>
          <a:xfrm>
            <a:off x="4732487" y="1645920"/>
            <a:ext cx="365760" cy="365760"/>
          </a:xfrm>
          <a:prstGeom prst="ellipse">
            <a:avLst/>
          </a:prstGeom>
          <a:solidFill>
            <a:srgbClr val="0F766E"/>
          </a:solidFill>
          <a:ln w="12700">
            <a:solidFill>
              <a:srgbClr val="0F766E"/>
            </a:solidFill>
            <a:prstDash val="solid"/>
          </a:ln>
        </p:spPr>
      </p:sp>
      <p:sp>
        <p:nvSpPr>
          <p:cNvPr id="26" name="text-22"/>
          <p:cNvSpPr txBox="1"/>
          <p:nvPr/>
        </p:nvSpPr>
        <p:spPr>
          <a:xfrm>
            <a:off x="4732487" y="1719072"/>
            <a:ext cx="365760" cy="219456"/>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G2</a:t>
            </a:r>
            <a:endParaRPr lang="en-US" sz="1300" dirty="0"/>
          </a:p>
        </p:txBody>
      </p:sp>
      <p:sp>
        <p:nvSpPr>
          <p:cNvPr id="27" name="text-23"/>
          <p:cNvSpPr txBox="1"/>
          <p:nvPr/>
        </p:nvSpPr>
        <p:spPr>
          <a:xfrm>
            <a:off x="4366727" y="1389888"/>
            <a:ext cx="10972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0F766E"/>
                </a:solidFill>
                <a:latin typeface="Calibri" pitchFamily="34" charset="0"/>
                <a:ea typeface="Calibri" pitchFamily="34" charset="-122"/>
                <a:cs typeface="Calibri" pitchFamily="34" charset="-120"/>
              </a:rPr>
              <a:t>Day 60</a:t>
            </a:r>
            <a:endParaRPr lang="en-US" sz="1100" dirty="0"/>
          </a:p>
        </p:txBody>
      </p:sp>
      <p:sp>
        <p:nvSpPr>
          <p:cNvPr id="28" name="text-24"/>
          <p:cNvSpPr txBox="1"/>
          <p:nvPr/>
        </p:nvSpPr>
        <p:spPr>
          <a:xfrm>
            <a:off x="4092407" y="2231136"/>
            <a:ext cx="164592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Fit test, decisions</a:t>
            </a:r>
            <a:endParaRPr lang="en-US" sz="1100" dirty="0"/>
          </a:p>
        </p:txBody>
      </p:sp>
      <p:sp>
        <p:nvSpPr>
          <p:cNvPr id="29" name="oval-25"/>
          <p:cNvSpPr/>
          <p:nvPr/>
        </p:nvSpPr>
        <p:spPr>
          <a:xfrm>
            <a:off x="6915850" y="1645920"/>
            <a:ext cx="365760" cy="365760"/>
          </a:xfrm>
          <a:prstGeom prst="ellipse">
            <a:avLst/>
          </a:prstGeom>
          <a:solidFill>
            <a:srgbClr val="134E4A"/>
          </a:solidFill>
          <a:ln w="12700">
            <a:solidFill>
              <a:srgbClr val="134E4A"/>
            </a:solidFill>
            <a:prstDash val="solid"/>
          </a:ln>
        </p:spPr>
      </p:sp>
      <p:sp>
        <p:nvSpPr>
          <p:cNvPr id="30" name="text-26"/>
          <p:cNvSpPr txBox="1"/>
          <p:nvPr/>
        </p:nvSpPr>
        <p:spPr>
          <a:xfrm>
            <a:off x="6915850" y="1719072"/>
            <a:ext cx="365760" cy="219456"/>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Calibri" pitchFamily="34" charset="0"/>
                <a:ea typeface="Calibri" pitchFamily="34" charset="-122"/>
                <a:cs typeface="Calibri" pitchFamily="34" charset="-120"/>
              </a:rPr>
              <a:t>G3</a:t>
            </a:r>
            <a:endParaRPr lang="en-US" sz="1300" dirty="0"/>
          </a:p>
        </p:txBody>
      </p:sp>
      <p:sp>
        <p:nvSpPr>
          <p:cNvPr id="31" name="text-27"/>
          <p:cNvSpPr txBox="1"/>
          <p:nvPr/>
        </p:nvSpPr>
        <p:spPr>
          <a:xfrm>
            <a:off x="6550090" y="1389888"/>
            <a:ext cx="10972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34E4A"/>
                </a:solidFill>
                <a:latin typeface="Calibri" pitchFamily="34" charset="0"/>
                <a:ea typeface="Calibri" pitchFamily="34" charset="-122"/>
                <a:cs typeface="Calibri" pitchFamily="34" charset="-120"/>
              </a:rPr>
              <a:t>Day 90</a:t>
            </a:r>
            <a:endParaRPr lang="en-US" sz="1100" dirty="0"/>
          </a:p>
        </p:txBody>
      </p:sp>
      <p:sp>
        <p:nvSpPr>
          <p:cNvPr id="32" name="text-28"/>
          <p:cNvSpPr txBox="1"/>
          <p:nvPr/>
        </p:nvSpPr>
        <p:spPr>
          <a:xfrm>
            <a:off x="6275770" y="2231136"/>
            <a:ext cx="164592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First assured delivery</a:t>
            </a:r>
            <a:endParaRPr lang="en-US" sz="1100" dirty="0"/>
          </a:p>
        </p:txBody>
      </p:sp>
      <p:sp>
        <p:nvSpPr>
          <p:cNvPr id="33" name="oval-29"/>
          <p:cNvSpPr/>
          <p:nvPr/>
        </p:nvSpPr>
        <p:spPr>
          <a:xfrm>
            <a:off x="11137392" y="1719072"/>
            <a:ext cx="219456" cy="219456"/>
          </a:xfrm>
          <a:prstGeom prst="ellipse">
            <a:avLst/>
          </a:prstGeom>
          <a:solidFill>
            <a:srgbClr val="B45309"/>
          </a:solidFill>
          <a:ln w="12700">
            <a:solidFill>
              <a:srgbClr val="B45309"/>
            </a:solidFill>
            <a:prstDash val="solid"/>
          </a:ln>
        </p:spPr>
      </p:sp>
      <p:sp>
        <p:nvSpPr>
          <p:cNvPr id="34" name="text-30"/>
          <p:cNvSpPr txBox="1"/>
          <p:nvPr/>
        </p:nvSpPr>
        <p:spPr>
          <a:xfrm>
            <a:off x="10698480" y="1389888"/>
            <a:ext cx="10972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B45309"/>
                </a:solidFill>
                <a:latin typeface="Calibri" pitchFamily="34" charset="0"/>
                <a:ea typeface="Calibri" pitchFamily="34" charset="-122"/>
                <a:cs typeface="Calibri" pitchFamily="34" charset="-120"/>
              </a:rPr>
              <a:t>27 April</a:t>
            </a:r>
            <a:endParaRPr lang="en-US" sz="1100" dirty="0"/>
          </a:p>
        </p:txBody>
      </p:sp>
      <p:sp>
        <p:nvSpPr>
          <p:cNvPr id="35" name="text-31"/>
          <p:cNvSpPr txBox="1"/>
          <p:nvPr/>
        </p:nvSpPr>
        <p:spPr>
          <a:xfrm>
            <a:off x="10424160" y="2231136"/>
            <a:ext cx="164592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B45309"/>
                </a:solidFill>
                <a:latin typeface="Calibri" pitchFamily="34" charset="0"/>
                <a:ea typeface="Calibri" pitchFamily="34" charset="-122"/>
                <a:cs typeface="Calibri" pitchFamily="34" charset="-120"/>
              </a:rPr>
              <a:t>fixed</a:t>
            </a:r>
            <a:endParaRPr lang="en-US" sz="1100" dirty="0"/>
          </a:p>
        </p:txBody>
      </p:sp>
      <p:sp>
        <p:nvSpPr>
          <p:cNvPr id="36" name="text-32"/>
          <p:cNvSpPr txBox="1"/>
          <p:nvPr/>
        </p:nvSpPr>
        <p:spPr>
          <a:xfrm>
            <a:off x="7373050" y="1389888"/>
            <a:ext cx="3599750" cy="182880"/>
          </a:xfrm>
          <a:prstGeom prst="rect">
            <a:avLst/>
          </a:prstGeom>
          <a:noFill/>
          <a:ln/>
        </p:spPr>
        <p:txBody>
          <a:bodyPr wrap="none" lIns="0" tIns="0" rIns="0" bIns="0" rtlCol="0" anchor="ctr"/>
          <a:lstStyle/>
          <a:p>
            <a:pPr algn="ctr" indent="0" marL="0">
              <a:lnSpc>
                <a:spcPct val="100000"/>
              </a:lnSpc>
              <a:buNone/>
            </a:pPr>
            <a:r>
              <a:rPr lang="en-US" sz="1100" i="1" dirty="0">
                <a:solidFill>
                  <a:srgbClr val="5A6B75"/>
                </a:solidFill>
                <a:latin typeface="Calibri" pitchFamily="34" charset="0"/>
                <a:ea typeface="Calibri" pitchFamily="34" charset="-122"/>
                <a:cs typeface="Calibri" pitchFamily="34" charset="-120"/>
              </a:rPr>
              <a:t>≈ 8 working weeks after day 90: build waves, rehearsal, go-live</a:t>
            </a:r>
            <a:endParaRPr lang="en-US" sz="1100" dirty="0"/>
          </a:p>
        </p:txBody>
      </p:sp>
      <p:sp>
        <p:nvSpPr>
          <p:cNvPr id="37" name="shape-33"/>
          <p:cNvSpPr/>
          <p:nvPr/>
        </p:nvSpPr>
        <p:spPr>
          <a:xfrm>
            <a:off x="548640" y="2651760"/>
            <a:ext cx="3383280" cy="1280160"/>
          </a:xfrm>
          <a:prstGeom prst="roundRect">
            <a:avLst>
              <a:gd name="adj" fmla="val 5714"/>
            </a:avLst>
          </a:prstGeom>
          <a:solidFill>
            <a:srgbClr val="EEF2F4"/>
          </a:solidFill>
          <a:ln w="12700">
            <a:solidFill>
              <a:srgbClr val="EEF2F4"/>
            </a:solidFill>
            <a:prstDash val="solid"/>
          </a:ln>
        </p:spPr>
      </p:sp>
      <p:pic>
        <p:nvPicPr>
          <p:cNvPr id="38" name="icon-34" descr="preencoded.png">    </p:cNvPr>
          <p:cNvPicPr>
            <a:picLocks noChangeAspect="1"/>
          </p:cNvPicPr>
          <p:nvPr/>
        </p:nvPicPr>
        <p:blipFill>
          <a:blip r:embed="rId1"/>
          <a:stretch>
            <a:fillRect/>
          </a:stretch>
        </p:blipFill>
        <p:spPr>
          <a:xfrm>
            <a:off x="713232" y="2816352"/>
            <a:ext cx="201168" cy="201168"/>
          </a:xfrm>
          <a:prstGeom prst="rect">
            <a:avLst/>
          </a:prstGeom>
        </p:spPr>
      </p:pic>
      <p:sp>
        <p:nvSpPr>
          <p:cNvPr id="39" name="text-35"/>
          <p:cNvSpPr txBox="1"/>
          <p:nvPr/>
        </p:nvSpPr>
        <p:spPr>
          <a:xfrm>
            <a:off x="1005840" y="2798064"/>
            <a:ext cx="2834640"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Technology and product baseline</a:t>
            </a:r>
            <a:endParaRPr lang="en-US" sz="1300" dirty="0"/>
          </a:p>
        </p:txBody>
      </p:sp>
      <p:sp>
        <p:nvSpPr>
          <p:cNvPr id="40" name="text-36"/>
          <p:cNvSpPr txBox="1"/>
          <p:nvPr/>
        </p:nvSpPr>
        <p:spPr>
          <a:xfrm>
            <a:off x="713232" y="3108960"/>
            <a:ext cx="3054096" cy="731520"/>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Systems, integrations, contracts, partners, run cost; licence model; what is in flight</a:t>
            </a:r>
            <a:endParaRPr lang="en-US" sz="1100" dirty="0"/>
          </a:p>
        </p:txBody>
      </p:sp>
      <p:sp>
        <p:nvSpPr>
          <p:cNvPr id="41" name="shape-37"/>
          <p:cNvSpPr/>
          <p:nvPr/>
        </p:nvSpPr>
        <p:spPr>
          <a:xfrm>
            <a:off x="4078224" y="2651760"/>
            <a:ext cx="3383280" cy="1280160"/>
          </a:xfrm>
          <a:prstGeom prst="roundRect">
            <a:avLst>
              <a:gd name="adj" fmla="val 5714"/>
            </a:avLst>
          </a:prstGeom>
          <a:solidFill>
            <a:srgbClr val="D6ECE9"/>
          </a:solidFill>
          <a:ln w="12700">
            <a:solidFill>
              <a:srgbClr val="D6ECE9"/>
            </a:solidFill>
            <a:prstDash val="solid"/>
          </a:ln>
        </p:spPr>
      </p:sp>
      <p:pic>
        <p:nvPicPr>
          <p:cNvPr id="42" name="icon-38" descr="preencoded.png">    </p:cNvPr>
          <p:cNvPicPr>
            <a:picLocks noChangeAspect="1"/>
          </p:cNvPicPr>
          <p:nvPr/>
        </p:nvPicPr>
        <p:blipFill>
          <a:blip r:embed="rId2"/>
          <a:stretch>
            <a:fillRect/>
          </a:stretch>
        </p:blipFill>
        <p:spPr>
          <a:xfrm>
            <a:off x="4242816" y="2816352"/>
            <a:ext cx="201168" cy="201168"/>
          </a:xfrm>
          <a:prstGeom prst="rect">
            <a:avLst/>
          </a:prstGeom>
        </p:spPr>
      </p:pic>
      <p:sp>
        <p:nvSpPr>
          <p:cNvPr id="43" name="text-39"/>
          <p:cNvSpPr txBox="1"/>
          <p:nvPr/>
        </p:nvSpPr>
        <p:spPr>
          <a:xfrm>
            <a:off x="4535424" y="2798064"/>
            <a:ext cx="2834640"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Ways-of-working baseline</a:t>
            </a:r>
            <a:endParaRPr lang="en-US" sz="1300" dirty="0"/>
          </a:p>
        </p:txBody>
      </p:sp>
      <p:sp>
        <p:nvSpPr>
          <p:cNvPr id="44" name="text-40"/>
          <p:cNvSpPr txBox="1"/>
          <p:nvPr/>
        </p:nvSpPr>
        <p:spPr>
          <a:xfrm>
            <a:off x="4242816" y="3108960"/>
            <a:ext cx="3054096" cy="731520"/>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Processes, SOPs, SLAs, mandated requirements; hand-offs; what each ceremony produces</a:t>
            </a:r>
            <a:endParaRPr lang="en-US" sz="1100" dirty="0"/>
          </a:p>
        </p:txBody>
      </p:sp>
      <p:sp>
        <p:nvSpPr>
          <p:cNvPr id="45" name="tri-41"/>
          <p:cNvSpPr/>
          <p:nvPr/>
        </p:nvSpPr>
        <p:spPr>
          <a:xfrm rot="5400000">
            <a:off x="7598664" y="3209544"/>
            <a:ext cx="164592" cy="164592"/>
          </a:xfrm>
          <a:prstGeom prst="triangle">
            <a:avLst/>
          </a:prstGeom>
          <a:solidFill>
            <a:srgbClr val="5A6B75"/>
          </a:solidFill>
          <a:ln w="12700">
            <a:solidFill>
              <a:srgbClr val="5A6B75"/>
            </a:solidFill>
            <a:prstDash val="solid"/>
          </a:ln>
        </p:spPr>
      </p:sp>
      <p:sp>
        <p:nvSpPr>
          <p:cNvPr id="46" name="shape-42"/>
          <p:cNvSpPr/>
          <p:nvPr/>
        </p:nvSpPr>
        <p:spPr>
          <a:xfrm>
            <a:off x="7790688" y="2651760"/>
            <a:ext cx="3822192" cy="1280160"/>
          </a:xfrm>
          <a:prstGeom prst="roundRect">
            <a:avLst>
              <a:gd name="adj" fmla="val 5714"/>
            </a:avLst>
          </a:prstGeom>
          <a:solidFill>
            <a:srgbClr val="134E4A"/>
          </a:solidFill>
          <a:ln w="12700">
            <a:solidFill>
              <a:srgbClr val="134E4A"/>
            </a:solidFill>
            <a:prstDash val="solid"/>
          </a:ln>
        </p:spPr>
      </p:sp>
      <p:sp>
        <p:nvSpPr>
          <p:cNvPr id="47" name="text-43"/>
          <p:cNvSpPr txBox="1"/>
          <p:nvPr/>
        </p:nvSpPr>
        <p:spPr>
          <a:xfrm>
            <a:off x="7973568" y="2798064"/>
            <a:ext cx="3456432" cy="237744"/>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The fit test — at Gate 2</a:t>
            </a:r>
            <a:endParaRPr lang="en-US" sz="1300" dirty="0"/>
          </a:p>
        </p:txBody>
      </p:sp>
      <p:sp>
        <p:nvSpPr>
          <p:cNvPr id="48" name="text-44"/>
          <p:cNvSpPr txBox="1"/>
          <p:nvPr/>
        </p:nvSpPr>
        <p:spPr>
          <a:xfrm>
            <a:off x="7973568" y="3090672"/>
            <a:ext cx="3456432" cy="23774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Does the proposal support the way we want to work?</a:t>
            </a:r>
            <a:endParaRPr lang="en-US" sz="1100" dirty="0"/>
          </a:p>
        </p:txBody>
      </p:sp>
      <p:sp>
        <p:nvSpPr>
          <p:cNvPr id="49" name="text-45"/>
          <p:cNvSpPr txBox="1"/>
          <p:nvPr/>
        </p:nvSpPr>
        <p:spPr>
          <a:xfrm>
            <a:off x="7973568" y="3346704"/>
            <a:ext cx="3456432" cy="23774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Is each component in the right tier, under the right rule?</a:t>
            </a:r>
            <a:endParaRPr lang="en-US" sz="1100" dirty="0"/>
          </a:p>
        </p:txBody>
      </p:sp>
      <p:sp>
        <p:nvSpPr>
          <p:cNvPr id="50" name="text-46"/>
          <p:cNvSpPr txBox="1"/>
          <p:nvPr/>
        </p:nvSpPr>
        <p:spPr>
          <a:xfrm>
            <a:off x="7973568" y="3602736"/>
            <a:ext cx="3456432" cy="237744"/>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What tooling and AI help or hinder?</a:t>
            </a:r>
            <a:endParaRPr lang="en-US" sz="1100" dirty="0"/>
          </a:p>
        </p:txBody>
      </p:sp>
      <p:sp>
        <p:nvSpPr>
          <p:cNvPr id="51" name="shape-47"/>
          <p:cNvSpPr/>
          <p:nvPr/>
        </p:nvSpPr>
        <p:spPr>
          <a:xfrm>
            <a:off x="548640" y="4023360"/>
            <a:ext cx="11064240" cy="2395728"/>
          </a:xfrm>
          <a:prstGeom prst="roundRect">
            <a:avLst>
              <a:gd name="adj" fmla="val 3053"/>
            </a:avLst>
          </a:prstGeom>
          <a:solidFill>
            <a:srgbClr val="FDF1E3"/>
          </a:solidFill>
          <a:ln w="12700">
            <a:solidFill>
              <a:srgbClr val="FDF1E3"/>
            </a:solidFill>
            <a:prstDash val="solid"/>
          </a:ln>
        </p:spPr>
      </p:sp>
      <p:pic>
        <p:nvPicPr>
          <p:cNvPr id="52" name="icon-48" descr="preencoded.png">    </p:cNvPr>
          <p:cNvPicPr>
            <a:picLocks noChangeAspect="1"/>
          </p:cNvPicPr>
          <p:nvPr/>
        </p:nvPicPr>
        <p:blipFill>
          <a:blip r:embed="rId3"/>
          <a:stretch>
            <a:fillRect/>
          </a:stretch>
        </p:blipFill>
        <p:spPr>
          <a:xfrm>
            <a:off x="768096" y="4206240"/>
            <a:ext cx="219456" cy="219456"/>
          </a:xfrm>
          <a:prstGeom prst="rect">
            <a:avLst/>
          </a:prstGeom>
        </p:spPr>
      </p:pic>
      <p:sp>
        <p:nvSpPr>
          <p:cNvPr id="53" name="text-49"/>
          <p:cNvSpPr txBox="1"/>
          <p:nvPr/>
        </p:nvSpPr>
        <p:spPr>
          <a:xfrm>
            <a:off x="1078992" y="4224528"/>
            <a:ext cx="7315200" cy="201168"/>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B45309"/>
                </a:solidFill>
                <a:latin typeface="Calibri" pitchFamily="34" charset="0"/>
                <a:ea typeface="Calibri" pitchFamily="34" charset="-122"/>
                <a:cs typeface="Calibri" pitchFamily="34" charset="-120"/>
              </a:rPr>
              <a:t>THE REALITY: PROTECT WHAT WORKS, AND HOLD THE SCOPE</a:t>
            </a:r>
            <a:endParaRPr lang="en-US" sz="1100" dirty="0"/>
          </a:p>
        </p:txBody>
      </p:sp>
      <p:sp>
        <p:nvSpPr>
          <p:cNvPr id="54" name="oval-50"/>
          <p:cNvSpPr/>
          <p:nvPr/>
        </p:nvSpPr>
        <p:spPr>
          <a:xfrm>
            <a:off x="768096" y="4572000"/>
            <a:ext cx="73152" cy="73152"/>
          </a:xfrm>
          <a:prstGeom prst="ellipse">
            <a:avLst/>
          </a:prstGeom>
          <a:solidFill>
            <a:srgbClr val="B45309"/>
          </a:solidFill>
          <a:ln w="12700">
            <a:solidFill>
              <a:srgbClr val="B45309"/>
            </a:solidFill>
            <a:prstDash val="solid"/>
          </a:ln>
        </p:spPr>
      </p:sp>
      <p:sp>
        <p:nvSpPr>
          <p:cNvPr id="55" name="text-51"/>
          <p:cNvSpPr txBox="1"/>
          <p:nvPr/>
        </p:nvSpPr>
        <p:spPr>
          <a:xfrm>
            <a:off x="932688" y="4498848"/>
            <a:ext cx="5120640" cy="219456"/>
          </a:xfrm>
          <a:prstGeom prst="rect">
            <a:avLst/>
          </a:prstGeom>
          <a:noFill/>
          <a:ln/>
        </p:spPr>
        <p:txBody>
          <a:bodyPr wrap="squar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Start in December</a:t>
            </a:r>
            <a:endParaRPr lang="en-US" sz="1250" dirty="0"/>
          </a:p>
        </p:txBody>
      </p:sp>
      <p:sp>
        <p:nvSpPr>
          <p:cNvPr id="56" name="text-52"/>
          <p:cNvSpPr txBox="1"/>
          <p:nvPr/>
        </p:nvSpPr>
        <p:spPr>
          <a:xfrm>
            <a:off x="932688" y="4718304"/>
            <a:ext cx="5120640" cy="402336"/>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The break takes three of the first four weeks; Gate 1 lands mid-January in practice, so the baselines are a fortnight of work, not a month</a:t>
            </a:r>
            <a:endParaRPr lang="en-US" sz="1100" dirty="0"/>
          </a:p>
        </p:txBody>
      </p:sp>
      <p:sp>
        <p:nvSpPr>
          <p:cNvPr id="57" name="oval-53"/>
          <p:cNvSpPr/>
          <p:nvPr/>
        </p:nvSpPr>
        <p:spPr>
          <a:xfrm>
            <a:off x="768096" y="5212080"/>
            <a:ext cx="73152" cy="73152"/>
          </a:xfrm>
          <a:prstGeom prst="ellipse">
            <a:avLst/>
          </a:prstGeom>
          <a:solidFill>
            <a:srgbClr val="B45309"/>
          </a:solidFill>
          <a:ln w="12700">
            <a:solidFill>
              <a:srgbClr val="B45309"/>
            </a:solidFill>
            <a:prstDash val="solid"/>
          </a:ln>
        </p:spPr>
      </p:sp>
      <p:sp>
        <p:nvSpPr>
          <p:cNvPr id="58" name="text-54"/>
          <p:cNvSpPr txBox="1"/>
          <p:nvPr/>
        </p:nvSpPr>
        <p:spPr>
          <a:xfrm>
            <a:off x="932688" y="5138928"/>
            <a:ext cx="5120640" cy="219456"/>
          </a:xfrm>
          <a:prstGeom prst="rect">
            <a:avLst/>
          </a:prstGeom>
          <a:noFill/>
          <a:ln/>
        </p:spPr>
        <p:txBody>
          <a:bodyPr wrap="squar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Day 90 is early March</a:t>
            </a:r>
            <a:endParaRPr lang="en-US" sz="1250" dirty="0"/>
          </a:p>
        </p:txBody>
      </p:sp>
      <p:sp>
        <p:nvSpPr>
          <p:cNvPr id="59" name="text-55"/>
          <p:cNvSpPr txBox="1"/>
          <p:nvPr/>
        </p:nvSpPr>
        <p:spPr>
          <a:xfrm>
            <a:off x="932688" y="5358384"/>
            <a:ext cx="5120640" cy="402336"/>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About eight working weeks remain for build waves, a cutover rehearsal and go-live before 27 April</a:t>
            </a:r>
            <a:endParaRPr lang="en-US" sz="1100" dirty="0"/>
          </a:p>
        </p:txBody>
      </p:sp>
      <p:sp>
        <p:nvSpPr>
          <p:cNvPr id="60" name="oval-56"/>
          <p:cNvSpPr/>
          <p:nvPr/>
        </p:nvSpPr>
        <p:spPr>
          <a:xfrm>
            <a:off x="768096" y="5852160"/>
            <a:ext cx="73152" cy="73152"/>
          </a:xfrm>
          <a:prstGeom prst="ellipse">
            <a:avLst/>
          </a:prstGeom>
          <a:solidFill>
            <a:srgbClr val="B45309"/>
          </a:solidFill>
          <a:ln w="12700">
            <a:solidFill>
              <a:srgbClr val="B45309"/>
            </a:solidFill>
            <a:prstDash val="solid"/>
          </a:ln>
        </p:spPr>
      </p:sp>
      <p:sp>
        <p:nvSpPr>
          <p:cNvPr id="61" name="text-57"/>
          <p:cNvSpPr txBox="1"/>
          <p:nvPr/>
        </p:nvSpPr>
        <p:spPr>
          <a:xfrm>
            <a:off x="932688" y="5779008"/>
            <a:ext cx="5120640" cy="219456"/>
          </a:xfrm>
          <a:prstGeom prst="rect">
            <a:avLst/>
          </a:prstGeom>
          <a:noFill/>
          <a:ln/>
        </p:spPr>
        <p:txBody>
          <a:bodyPr wrap="squar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Don’t break what is working</a:t>
            </a:r>
            <a:endParaRPr lang="en-US" sz="1250" dirty="0"/>
          </a:p>
        </p:txBody>
      </p:sp>
      <p:sp>
        <p:nvSpPr>
          <p:cNvPr id="62" name="text-58"/>
          <p:cNvSpPr txBox="1"/>
          <p:nvPr/>
        </p:nvSpPr>
        <p:spPr>
          <a:xfrm>
            <a:off x="932688" y="5998464"/>
            <a:ext cx="5120640" cy="402336"/>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Nothing that works today stops until its replacement is proven; in-flight work is confirmed or stopped by Gate 1</a:t>
            </a:r>
            <a:endParaRPr lang="en-US" sz="1100" dirty="0"/>
          </a:p>
        </p:txBody>
      </p:sp>
      <p:sp>
        <p:nvSpPr>
          <p:cNvPr id="63" name="oval-59"/>
          <p:cNvSpPr/>
          <p:nvPr/>
        </p:nvSpPr>
        <p:spPr>
          <a:xfrm>
            <a:off x="6254496" y="4572000"/>
            <a:ext cx="73152" cy="73152"/>
          </a:xfrm>
          <a:prstGeom prst="ellipse">
            <a:avLst/>
          </a:prstGeom>
          <a:solidFill>
            <a:srgbClr val="B45309"/>
          </a:solidFill>
          <a:ln w="12700">
            <a:solidFill>
              <a:srgbClr val="B45309"/>
            </a:solidFill>
            <a:prstDash val="solid"/>
          </a:ln>
        </p:spPr>
      </p:sp>
      <p:sp>
        <p:nvSpPr>
          <p:cNvPr id="64" name="text-60"/>
          <p:cNvSpPr txBox="1"/>
          <p:nvPr/>
        </p:nvSpPr>
        <p:spPr>
          <a:xfrm>
            <a:off x="6419088" y="4498848"/>
            <a:ext cx="5120640" cy="219456"/>
          </a:xfrm>
          <a:prstGeom prst="rect">
            <a:avLst/>
          </a:prstGeom>
          <a:noFill/>
          <a:ln/>
        </p:spPr>
        <p:txBody>
          <a:bodyPr wrap="squar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Scope is the only lever</a:t>
            </a:r>
            <a:endParaRPr lang="en-US" sz="1250" dirty="0"/>
          </a:p>
        </p:txBody>
      </p:sp>
      <p:sp>
        <p:nvSpPr>
          <p:cNvPr id="65" name="text-61"/>
          <p:cNvSpPr txBox="1"/>
          <p:nvPr/>
        </p:nvSpPr>
        <p:spPr>
          <a:xfrm>
            <a:off x="6419088" y="4718304"/>
            <a:ext cx="5120640" cy="402336"/>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No growth on hoped-for AI or efficiency gains, no slippage on quality or risk; what does not fit moves to Day 1.5</a:t>
            </a:r>
            <a:endParaRPr lang="en-US" sz="1100" dirty="0"/>
          </a:p>
        </p:txBody>
      </p:sp>
      <p:sp>
        <p:nvSpPr>
          <p:cNvPr id="66" name="oval-62"/>
          <p:cNvSpPr/>
          <p:nvPr/>
        </p:nvSpPr>
        <p:spPr>
          <a:xfrm>
            <a:off x="6254496" y="5212080"/>
            <a:ext cx="73152" cy="73152"/>
          </a:xfrm>
          <a:prstGeom prst="ellipse">
            <a:avLst/>
          </a:prstGeom>
          <a:solidFill>
            <a:srgbClr val="B45309"/>
          </a:solidFill>
          <a:ln w="12700">
            <a:solidFill>
              <a:srgbClr val="B45309"/>
            </a:solidFill>
            <a:prstDash val="solid"/>
          </a:ln>
        </p:spPr>
      </p:sp>
      <p:sp>
        <p:nvSpPr>
          <p:cNvPr id="67" name="text-63"/>
          <p:cNvSpPr txBox="1"/>
          <p:nvPr/>
        </p:nvSpPr>
        <p:spPr>
          <a:xfrm>
            <a:off x="6419088" y="5138928"/>
            <a:ext cx="5120640" cy="219456"/>
          </a:xfrm>
          <a:prstGeom prst="rect">
            <a:avLst/>
          </a:prstGeom>
          <a:noFill/>
          <a:ln/>
        </p:spPr>
        <p:txBody>
          <a:bodyPr wrap="square" lIns="0" tIns="0" rIns="0" bIns="0" rtlCol="0" anchor="ctr"/>
          <a:lstStyle/>
          <a:p>
            <a:pPr algn="l" indent="0" marL="0">
              <a:lnSpc>
                <a:spcPct val="100000"/>
              </a:lnSpc>
              <a:buNone/>
            </a:pPr>
            <a:r>
              <a:rPr lang="en-US" sz="1250" b="1" dirty="0">
                <a:solidFill>
                  <a:srgbClr val="1C2B33"/>
                </a:solidFill>
                <a:latin typeface="Calibri" pitchFamily="34" charset="0"/>
                <a:ea typeface="Calibri" pitchFamily="34" charset="-122"/>
                <a:cs typeface="Calibri" pitchFamily="34" charset="-120"/>
              </a:rPr>
              <a:t>Decide early, in writing</a:t>
            </a:r>
            <a:endParaRPr lang="en-US" sz="1250" dirty="0"/>
          </a:p>
        </p:txBody>
      </p:sp>
      <p:sp>
        <p:nvSpPr>
          <p:cNvPr id="68" name="text-64"/>
          <p:cNvSpPr txBox="1"/>
          <p:nvPr/>
        </p:nvSpPr>
        <p:spPr>
          <a:xfrm>
            <a:off x="6419088" y="5358384"/>
            <a:ext cx="5120640" cy="402336"/>
          </a:xfrm>
          <a:prstGeom prst="rect">
            <a:avLst/>
          </a:prstGeom>
          <a:noFill/>
          <a:ln/>
        </p:spPr>
        <p:txBody>
          <a:bodyPr wrap="square" lIns="0" tIns="0" rIns="0" bIns="0" rtlCol="0" anchor="t"/>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Any scope-versus-date trade-off goes to the board at Gate 2, in late January — not in April</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3  ·  HOW GATE 2 ASSESSES EACH COMPONENT</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Four questions per component: what it is decides where time, money and concern go</a:t>
            </a:r>
            <a:endParaRPr lang="en-US" sz="2250" dirty="0"/>
          </a:p>
        </p:txBody>
      </p:sp>
      <p:sp>
        <p:nvSpPr>
          <p:cNvPr id="4" name="shape-0"/>
          <p:cNvSpPr/>
          <p:nvPr/>
        </p:nvSpPr>
        <p:spPr>
          <a:xfrm>
            <a:off x="9418320" y="365760"/>
            <a:ext cx="2194560" cy="219456"/>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418320" y="365760"/>
            <a:ext cx="2194560" cy="219456"/>
          </a:xfrm>
          <a:prstGeom prst="rect">
            <a:avLst/>
          </a:prstGeom>
          <a:noFill/>
          <a:ln/>
        </p:spPr>
        <p:txBody>
          <a:bodyPr wrap="none" lIns="0" tIns="0" rIns="0" bIns="0" rtlCol="0" anchor="ctr"/>
          <a:lstStyle/>
          <a:p>
            <a:pPr algn="ctr" indent="0" marL="0">
              <a:lnSpc>
                <a:spcPct val="100000"/>
              </a:lnSpc>
              <a:buNone/>
            </a:pPr>
            <a:r>
              <a:rPr lang="en-US" sz="1100" b="1" spc="100" kern="0" dirty="0">
                <a:solidFill>
                  <a:srgbClr val="B45309"/>
                </a:solidFill>
                <a:latin typeface="Calibri" pitchFamily="34" charset="0"/>
                <a:ea typeface="Calibri" pitchFamily="34" charset="-122"/>
                <a:cs typeface="Calibri" pitchFamily="34" charset="-120"/>
              </a:rPr>
              <a:t>ILLUSTRATIVE — NOT A DECISION</a:t>
            </a:r>
            <a:endParaRPr lang="en-US" sz="1100" dirty="0"/>
          </a:p>
        </p:txBody>
      </p:sp>
      <p:sp>
        <p:nvSpPr>
          <p:cNvPr id="6" name="shape-2"/>
          <p:cNvSpPr/>
          <p:nvPr/>
        </p:nvSpPr>
        <p:spPr>
          <a:xfrm>
            <a:off x="548640" y="1554480"/>
            <a:ext cx="2743200" cy="603504"/>
          </a:xfrm>
          <a:prstGeom prst="roundRect">
            <a:avLst>
              <a:gd name="adj" fmla="val 50000"/>
            </a:avLst>
          </a:prstGeom>
          <a:solidFill>
            <a:srgbClr val="134E4A"/>
          </a:solidFill>
          <a:ln w="12700">
            <a:solidFill>
              <a:srgbClr val="134E4A"/>
            </a:solidFill>
            <a:prstDash val="solid"/>
          </a:ln>
        </p:spPr>
      </p:sp>
      <p:sp>
        <p:nvSpPr>
          <p:cNvPr id="7" name="text-3"/>
          <p:cNvSpPr txBox="1"/>
          <p:nvPr/>
        </p:nvSpPr>
        <p:spPr>
          <a:xfrm>
            <a:off x="768096" y="1554480"/>
            <a:ext cx="219456" cy="603504"/>
          </a:xfrm>
          <a:prstGeom prst="rect">
            <a:avLst/>
          </a:prstGeom>
          <a:noFill/>
          <a:ln/>
        </p:spPr>
        <p:txBody>
          <a:bodyPr wrap="square" lIns="0" tIns="0" rIns="0" bIns="0" rtlCol="0" anchor="ctr"/>
          <a:lstStyle/>
          <a:p>
            <a:pPr algn="l" indent="0" marL="0">
              <a:lnSpc>
                <a:spcPct val="100000"/>
              </a:lnSpc>
              <a:buNone/>
            </a:pPr>
            <a:r>
              <a:rPr lang="en-US" sz="1500" b="1" dirty="0">
                <a:solidFill>
                  <a:srgbClr val="CFE8E5"/>
                </a:solidFill>
                <a:latin typeface="Calibri" pitchFamily="34" charset="0"/>
                <a:ea typeface="Calibri" pitchFamily="34" charset="-122"/>
                <a:cs typeface="Calibri" pitchFamily="34" charset="-120"/>
              </a:rPr>
              <a:t>1</a:t>
            </a:r>
            <a:endParaRPr lang="en-US" sz="1500" dirty="0"/>
          </a:p>
        </p:txBody>
      </p:sp>
      <p:sp>
        <p:nvSpPr>
          <p:cNvPr id="8" name="text-4"/>
          <p:cNvSpPr txBox="1"/>
          <p:nvPr/>
        </p:nvSpPr>
        <p:spPr>
          <a:xfrm>
            <a:off x="1024128" y="1554480"/>
            <a:ext cx="2157984" cy="60350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What kind of thing is it?</a:t>
            </a:r>
            <a:endParaRPr lang="en-US" sz="1250" dirty="0"/>
          </a:p>
        </p:txBody>
      </p:sp>
      <p:sp>
        <p:nvSpPr>
          <p:cNvPr id="9" name="tri-5"/>
          <p:cNvSpPr/>
          <p:nvPr/>
        </p:nvSpPr>
        <p:spPr>
          <a:xfrm rot="5400000">
            <a:off x="3337560" y="1792224"/>
            <a:ext cx="128016" cy="128016"/>
          </a:xfrm>
          <a:prstGeom prst="triangle">
            <a:avLst/>
          </a:prstGeom>
          <a:solidFill>
            <a:srgbClr val="5A6B75"/>
          </a:solidFill>
          <a:ln w="12700">
            <a:solidFill>
              <a:srgbClr val="5A6B75"/>
            </a:solidFill>
            <a:prstDash val="solid"/>
          </a:ln>
        </p:spPr>
      </p:sp>
      <p:sp>
        <p:nvSpPr>
          <p:cNvPr id="10" name="shape-6"/>
          <p:cNvSpPr/>
          <p:nvPr/>
        </p:nvSpPr>
        <p:spPr>
          <a:xfrm>
            <a:off x="3493008" y="1554480"/>
            <a:ext cx="1874520" cy="603504"/>
          </a:xfrm>
          <a:prstGeom prst="roundRect">
            <a:avLst>
              <a:gd name="adj" fmla="val 50000"/>
            </a:avLst>
          </a:prstGeom>
          <a:solidFill>
            <a:srgbClr val="134E4A"/>
          </a:solidFill>
          <a:ln w="12700">
            <a:solidFill>
              <a:srgbClr val="134E4A"/>
            </a:solidFill>
            <a:prstDash val="solid"/>
          </a:ln>
        </p:spPr>
      </p:sp>
      <p:sp>
        <p:nvSpPr>
          <p:cNvPr id="11" name="text-7"/>
          <p:cNvSpPr txBox="1"/>
          <p:nvPr/>
        </p:nvSpPr>
        <p:spPr>
          <a:xfrm>
            <a:off x="3712464" y="1554480"/>
            <a:ext cx="219456" cy="603504"/>
          </a:xfrm>
          <a:prstGeom prst="rect">
            <a:avLst/>
          </a:prstGeom>
          <a:noFill/>
          <a:ln/>
        </p:spPr>
        <p:txBody>
          <a:bodyPr wrap="square" lIns="0" tIns="0" rIns="0" bIns="0" rtlCol="0" anchor="ctr"/>
          <a:lstStyle/>
          <a:p>
            <a:pPr algn="l" indent="0" marL="0">
              <a:lnSpc>
                <a:spcPct val="100000"/>
              </a:lnSpc>
              <a:buNone/>
            </a:pPr>
            <a:r>
              <a:rPr lang="en-US" sz="1500" b="1" dirty="0">
                <a:solidFill>
                  <a:srgbClr val="CFE8E5"/>
                </a:solidFill>
                <a:latin typeface="Calibri" pitchFamily="34" charset="0"/>
                <a:ea typeface="Calibri" pitchFamily="34" charset="-122"/>
                <a:cs typeface="Calibri" pitchFamily="34" charset="-120"/>
              </a:rPr>
              <a:t>2</a:t>
            </a:r>
            <a:endParaRPr lang="en-US" sz="1500" dirty="0"/>
          </a:p>
        </p:txBody>
      </p:sp>
      <p:sp>
        <p:nvSpPr>
          <p:cNvPr id="12" name="text-8"/>
          <p:cNvSpPr txBox="1"/>
          <p:nvPr/>
        </p:nvSpPr>
        <p:spPr>
          <a:xfrm>
            <a:off x="3968496" y="1554480"/>
            <a:ext cx="1289304" cy="60350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Spending judged on?</a:t>
            </a:r>
            <a:endParaRPr lang="en-US" sz="1250" dirty="0"/>
          </a:p>
        </p:txBody>
      </p:sp>
      <p:sp>
        <p:nvSpPr>
          <p:cNvPr id="13" name="tri-9"/>
          <p:cNvSpPr/>
          <p:nvPr/>
        </p:nvSpPr>
        <p:spPr>
          <a:xfrm rot="5400000">
            <a:off x="5413248" y="1792224"/>
            <a:ext cx="128016" cy="128016"/>
          </a:xfrm>
          <a:prstGeom prst="triangle">
            <a:avLst/>
          </a:prstGeom>
          <a:solidFill>
            <a:srgbClr val="5A6B75"/>
          </a:solidFill>
          <a:ln w="12700">
            <a:solidFill>
              <a:srgbClr val="5A6B75"/>
            </a:solidFill>
            <a:prstDash val="solid"/>
          </a:ln>
        </p:spPr>
      </p:sp>
      <p:sp>
        <p:nvSpPr>
          <p:cNvPr id="14" name="shape-10"/>
          <p:cNvSpPr/>
          <p:nvPr/>
        </p:nvSpPr>
        <p:spPr>
          <a:xfrm>
            <a:off x="5568696" y="1554480"/>
            <a:ext cx="1874520" cy="603504"/>
          </a:xfrm>
          <a:prstGeom prst="roundRect">
            <a:avLst>
              <a:gd name="adj" fmla="val 50000"/>
            </a:avLst>
          </a:prstGeom>
          <a:solidFill>
            <a:srgbClr val="134E4A"/>
          </a:solidFill>
          <a:ln w="12700">
            <a:solidFill>
              <a:srgbClr val="134E4A"/>
            </a:solidFill>
            <a:prstDash val="solid"/>
          </a:ln>
        </p:spPr>
      </p:sp>
      <p:sp>
        <p:nvSpPr>
          <p:cNvPr id="15" name="text-11"/>
          <p:cNvSpPr txBox="1"/>
          <p:nvPr/>
        </p:nvSpPr>
        <p:spPr>
          <a:xfrm>
            <a:off x="5788152" y="1554480"/>
            <a:ext cx="219456" cy="603504"/>
          </a:xfrm>
          <a:prstGeom prst="rect">
            <a:avLst/>
          </a:prstGeom>
          <a:noFill/>
          <a:ln/>
        </p:spPr>
        <p:txBody>
          <a:bodyPr wrap="square" lIns="0" tIns="0" rIns="0" bIns="0" rtlCol="0" anchor="ctr"/>
          <a:lstStyle/>
          <a:p>
            <a:pPr algn="l" indent="0" marL="0">
              <a:lnSpc>
                <a:spcPct val="100000"/>
              </a:lnSpc>
              <a:buNone/>
            </a:pPr>
            <a:r>
              <a:rPr lang="en-US" sz="1500" b="1" dirty="0">
                <a:solidFill>
                  <a:srgbClr val="CFE8E5"/>
                </a:solidFill>
                <a:latin typeface="Calibri" pitchFamily="34" charset="0"/>
                <a:ea typeface="Calibri" pitchFamily="34" charset="-122"/>
                <a:cs typeface="Calibri" pitchFamily="34" charset="-120"/>
              </a:rPr>
              <a:t>3</a:t>
            </a:r>
            <a:endParaRPr lang="en-US" sz="1500" dirty="0"/>
          </a:p>
        </p:txBody>
      </p:sp>
      <p:sp>
        <p:nvSpPr>
          <p:cNvPr id="16" name="text-12"/>
          <p:cNvSpPr txBox="1"/>
          <p:nvPr/>
        </p:nvSpPr>
        <p:spPr>
          <a:xfrm>
            <a:off x="6044184" y="1554480"/>
            <a:ext cx="1289304" cy="60350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How resilient?</a:t>
            </a:r>
            <a:endParaRPr lang="en-US" sz="1250" dirty="0"/>
          </a:p>
        </p:txBody>
      </p:sp>
      <p:sp>
        <p:nvSpPr>
          <p:cNvPr id="17" name="tri-13"/>
          <p:cNvSpPr/>
          <p:nvPr/>
        </p:nvSpPr>
        <p:spPr>
          <a:xfrm rot="5400000">
            <a:off x="7488936" y="1792224"/>
            <a:ext cx="128016" cy="128016"/>
          </a:xfrm>
          <a:prstGeom prst="triangle">
            <a:avLst/>
          </a:prstGeom>
          <a:solidFill>
            <a:srgbClr val="5A6B75"/>
          </a:solidFill>
          <a:ln w="12700">
            <a:solidFill>
              <a:srgbClr val="5A6B75"/>
            </a:solidFill>
            <a:prstDash val="solid"/>
          </a:ln>
        </p:spPr>
      </p:sp>
      <p:sp>
        <p:nvSpPr>
          <p:cNvPr id="18" name="shape-14"/>
          <p:cNvSpPr/>
          <p:nvPr/>
        </p:nvSpPr>
        <p:spPr>
          <a:xfrm>
            <a:off x="7644384" y="1554480"/>
            <a:ext cx="2194560" cy="6035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7863840" y="1554480"/>
            <a:ext cx="219456" cy="603504"/>
          </a:xfrm>
          <a:prstGeom prst="rect">
            <a:avLst/>
          </a:prstGeom>
          <a:noFill/>
          <a:ln/>
        </p:spPr>
        <p:txBody>
          <a:bodyPr wrap="square" lIns="0" tIns="0" rIns="0" bIns="0" rtlCol="0" anchor="ctr"/>
          <a:lstStyle/>
          <a:p>
            <a:pPr algn="l" indent="0" marL="0">
              <a:lnSpc>
                <a:spcPct val="100000"/>
              </a:lnSpc>
              <a:buNone/>
            </a:pPr>
            <a:r>
              <a:rPr lang="en-US" sz="1500" b="1" dirty="0">
                <a:solidFill>
                  <a:srgbClr val="CFE8E5"/>
                </a:solidFill>
                <a:latin typeface="Calibri" pitchFamily="34" charset="0"/>
                <a:ea typeface="Calibri" pitchFamily="34" charset="-122"/>
                <a:cs typeface="Calibri" pitchFamily="34" charset="-120"/>
              </a:rPr>
              <a:t>4</a:t>
            </a:r>
            <a:endParaRPr lang="en-US" sz="1500" dirty="0"/>
          </a:p>
        </p:txBody>
      </p:sp>
      <p:sp>
        <p:nvSpPr>
          <p:cNvPr id="20" name="text-16"/>
          <p:cNvSpPr txBox="1"/>
          <p:nvPr/>
        </p:nvSpPr>
        <p:spPr>
          <a:xfrm>
            <a:off x="8119872" y="1554480"/>
            <a:ext cx="1609344" cy="603504"/>
          </a:xfrm>
          <a:prstGeom prst="rect">
            <a:avLst/>
          </a:prstGeom>
          <a:noFill/>
          <a:ln/>
        </p:spPr>
        <p:txBody>
          <a:bodyPr wrap="square" lIns="0" tIns="0" rIns="0" bIns="0" rtlCol="0" anchor="ctr"/>
          <a:lstStyle/>
          <a:p>
            <a:pPr algn="l" indent="0" marL="0">
              <a:lnSpc>
                <a:spcPct val="100000"/>
              </a:lnSpc>
              <a:buNone/>
            </a:pPr>
            <a:r>
              <a:rPr lang="en-US" sz="1250" b="1" dirty="0">
                <a:solidFill>
                  <a:srgbClr val="FFFFFF"/>
                </a:solidFill>
                <a:latin typeface="Calibri" pitchFamily="34" charset="0"/>
                <a:ea typeface="Calibri" pitchFamily="34" charset="-122"/>
                <a:cs typeface="Calibri" pitchFamily="34" charset="-120"/>
              </a:rPr>
              <a:t>Build or buy?</a:t>
            </a:r>
            <a:endParaRPr lang="en-US" sz="1250" dirty="0"/>
          </a:p>
        </p:txBody>
      </p:sp>
      <p:sp>
        <p:nvSpPr>
          <p:cNvPr id="21" name="shape-17"/>
          <p:cNvSpPr/>
          <p:nvPr/>
        </p:nvSpPr>
        <p:spPr>
          <a:xfrm>
            <a:off x="10076688" y="1554480"/>
            <a:ext cx="1737360" cy="603504"/>
          </a:xfrm>
          <a:prstGeom prst="roundRect">
            <a:avLst>
              <a:gd name="adj" fmla="val 50000"/>
            </a:avLst>
          </a:prstGeom>
          <a:ln w="19050">
            <a:solidFill>
              <a:srgbClr val="0F766E"/>
            </a:solidFill>
            <a:prstDash val="sysDash"/>
          </a:ln>
        </p:spPr>
      </p:sp>
      <p:sp>
        <p:nvSpPr>
          <p:cNvPr id="22" name="text-18"/>
          <p:cNvSpPr txBox="1"/>
          <p:nvPr/>
        </p:nvSpPr>
        <p:spPr>
          <a:xfrm>
            <a:off x="10076688" y="1664208"/>
            <a:ext cx="1737360" cy="146304"/>
          </a:xfrm>
          <a:prstGeom prst="rect">
            <a:avLst/>
          </a:prstGeom>
          <a:noFill/>
          <a:ln/>
        </p:spPr>
        <p:txBody>
          <a:bodyPr wrap="square" lIns="0" tIns="0" rIns="0" bIns="0" rtlCol="0" anchor="ctr"/>
          <a:lstStyle/>
          <a:p>
            <a:pPr algn="ctr"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BONUS, NOT A RULE</a:t>
            </a:r>
            <a:endParaRPr lang="en-US" sz="1100" dirty="0"/>
          </a:p>
        </p:txBody>
      </p:sp>
      <p:sp>
        <p:nvSpPr>
          <p:cNvPr id="23" name="text-19"/>
          <p:cNvSpPr txBox="1"/>
          <p:nvPr/>
        </p:nvSpPr>
        <p:spPr>
          <a:xfrm>
            <a:off x="10076688" y="1847088"/>
            <a:ext cx="1737360" cy="219456"/>
          </a:xfrm>
          <a:prstGeom prst="rect">
            <a:avLst/>
          </a:prstGeom>
          <a:noFill/>
          <a:ln/>
        </p:spPr>
        <p:txBody>
          <a:bodyPr wrap="square" lIns="0" tIns="0" rIns="0" bIns="0" rtlCol="0" anchor="ctr"/>
          <a:lstStyle/>
          <a:p>
            <a:pPr algn="ctr" indent="0" marL="0">
              <a:lnSpc>
                <a:spcPct val="100000"/>
              </a:lnSpc>
              <a:buNone/>
            </a:pPr>
            <a:r>
              <a:rPr lang="en-US" sz="1200" b="1" dirty="0">
                <a:solidFill>
                  <a:srgbClr val="0F766E"/>
                </a:solidFill>
                <a:latin typeface="Calibri" pitchFamily="34" charset="0"/>
                <a:ea typeface="Calibri" pitchFamily="34" charset="-122"/>
                <a:cs typeface="Calibri" pitchFamily="34" charset="-120"/>
              </a:rPr>
              <a:t>Where AI helps</a:t>
            </a:r>
            <a:endParaRPr lang="en-US" sz="1200" dirty="0"/>
          </a:p>
        </p:txBody>
      </p:sp>
      <p:sp>
        <p:nvSpPr>
          <p:cNvPr id="24" name="shape-20"/>
          <p:cNvSpPr/>
          <p:nvPr/>
        </p:nvSpPr>
        <p:spPr>
          <a:xfrm>
            <a:off x="548640" y="2395728"/>
            <a:ext cx="2743200" cy="768096"/>
          </a:xfrm>
          <a:prstGeom prst="roundRect">
            <a:avLst>
              <a:gd name="adj" fmla="val 9524"/>
            </a:avLst>
          </a:prstGeom>
          <a:solidFill>
            <a:srgbClr val="EEF2F4"/>
          </a:solidFill>
          <a:ln w="12700">
            <a:solidFill>
              <a:srgbClr val="EEF2F4"/>
            </a:solidFill>
            <a:prstDash val="solid"/>
          </a:ln>
        </p:spPr>
      </p:sp>
      <p:sp>
        <p:nvSpPr>
          <p:cNvPr id="25" name="shape-21"/>
          <p:cNvSpPr/>
          <p:nvPr/>
        </p:nvSpPr>
        <p:spPr>
          <a:xfrm>
            <a:off x="548640" y="2395728"/>
            <a:ext cx="402336" cy="768096"/>
          </a:xfrm>
          <a:prstGeom prst="roundRect">
            <a:avLst>
              <a:gd name="adj" fmla="val 18182"/>
            </a:avLst>
          </a:prstGeom>
          <a:solidFill>
            <a:srgbClr val="134E4A"/>
          </a:solidFill>
          <a:ln w="12700">
            <a:solidFill>
              <a:srgbClr val="134E4A"/>
            </a:solidFill>
            <a:prstDash val="solid"/>
          </a:ln>
        </p:spPr>
      </p:sp>
      <p:sp>
        <p:nvSpPr>
          <p:cNvPr id="26" name="shape-22"/>
          <p:cNvSpPr/>
          <p:nvPr/>
        </p:nvSpPr>
        <p:spPr>
          <a:xfrm>
            <a:off x="877824" y="2395728"/>
            <a:ext cx="73152" cy="768096"/>
          </a:xfrm>
          <a:prstGeom prst="rect">
            <a:avLst/>
          </a:prstGeom>
          <a:solidFill>
            <a:srgbClr val="134E4A"/>
          </a:solidFill>
          <a:ln w="12700">
            <a:solidFill>
              <a:srgbClr val="134E4A"/>
            </a:solidFill>
            <a:prstDash val="solid"/>
          </a:ln>
        </p:spPr>
      </p:sp>
      <p:sp>
        <p:nvSpPr>
          <p:cNvPr id="27" name="text-23"/>
          <p:cNvSpPr txBox="1"/>
          <p:nvPr/>
        </p:nvSpPr>
        <p:spPr>
          <a:xfrm>
            <a:off x="548640" y="2395728"/>
            <a:ext cx="402336" cy="768096"/>
          </a:xfrm>
          <a:prstGeom prst="rect">
            <a:avLst/>
          </a:prstGeom>
          <a:noFill/>
          <a:ln/>
        </p:spPr>
        <p:txBody>
          <a:bodyPr wrap="square" lIns="0" tIns="0" rIns="0" bIns="0" rtlCol="0" anchor="ctr"/>
          <a:lstStyle/>
          <a:p>
            <a:pPr algn="ctr" indent="0" marL="0">
              <a:lnSpc>
                <a:spcPct val="100000"/>
              </a:lnSpc>
              <a:buNone/>
            </a:pPr>
            <a:r>
              <a:rPr lang="en-US" sz="1750" b="1" dirty="0">
                <a:solidFill>
                  <a:srgbClr val="FFFFFF"/>
                </a:solidFill>
                <a:latin typeface="Calibri" pitchFamily="34" charset="0"/>
                <a:ea typeface="Calibri" pitchFamily="34" charset="-122"/>
                <a:cs typeface="Calibri" pitchFamily="34" charset="-120"/>
              </a:rPr>
              <a:t>A</a:t>
            </a:r>
            <a:endParaRPr lang="en-US" sz="1750" dirty="0"/>
          </a:p>
        </p:txBody>
      </p:sp>
      <p:sp>
        <p:nvSpPr>
          <p:cNvPr id="28" name="text-24"/>
          <p:cNvSpPr txBox="1"/>
          <p:nvPr/>
        </p:nvSpPr>
        <p:spPr>
          <a:xfrm>
            <a:off x="1042416" y="2395728"/>
            <a:ext cx="2157984" cy="76809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AMH Online — web, desktop, mobile, and the APIs into third-party systems</a:t>
            </a:r>
            <a:endParaRPr lang="en-US" sz="1100" dirty="0"/>
          </a:p>
        </p:txBody>
      </p:sp>
      <p:sp>
        <p:nvSpPr>
          <p:cNvPr id="29" name="shape-25"/>
          <p:cNvSpPr/>
          <p:nvPr/>
        </p:nvSpPr>
        <p:spPr>
          <a:xfrm>
            <a:off x="3493008" y="2395728"/>
            <a:ext cx="1874520" cy="768096"/>
          </a:xfrm>
          <a:prstGeom prst="roundRect">
            <a:avLst>
              <a:gd name="adj" fmla="val 9524"/>
            </a:avLst>
          </a:prstGeom>
          <a:solidFill>
            <a:srgbClr val="FFFFFF"/>
          </a:solidFill>
          <a:ln w="15875">
            <a:solidFill>
              <a:srgbClr val="D4DBE0"/>
            </a:solidFill>
            <a:prstDash val="solid"/>
          </a:ln>
        </p:spPr>
      </p:sp>
      <p:sp>
        <p:nvSpPr>
          <p:cNvPr id="30" name="text-26"/>
          <p:cNvSpPr txBox="1"/>
          <p:nvPr/>
        </p:nvSpPr>
        <p:spPr>
          <a:xfrm>
            <a:off x="3566160" y="2395728"/>
            <a:ext cx="172821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Commercials, opportunity, strategy</a:t>
            </a:r>
            <a:endParaRPr lang="en-US" sz="1100" dirty="0"/>
          </a:p>
        </p:txBody>
      </p:sp>
      <p:sp>
        <p:nvSpPr>
          <p:cNvPr id="31" name="shape-27"/>
          <p:cNvSpPr/>
          <p:nvPr/>
        </p:nvSpPr>
        <p:spPr>
          <a:xfrm>
            <a:off x="5568696" y="2395728"/>
            <a:ext cx="1874520" cy="768096"/>
          </a:xfrm>
          <a:prstGeom prst="roundRect">
            <a:avLst>
              <a:gd name="adj" fmla="val 9524"/>
            </a:avLst>
          </a:prstGeom>
          <a:solidFill>
            <a:srgbClr val="FFFFFF"/>
          </a:solidFill>
          <a:ln w="15875">
            <a:solidFill>
              <a:srgbClr val="D4DBE0"/>
            </a:solidFill>
            <a:prstDash val="solid"/>
          </a:ln>
        </p:spPr>
      </p:sp>
      <p:sp>
        <p:nvSpPr>
          <p:cNvPr id="32" name="text-28"/>
          <p:cNvSpPr txBox="1"/>
          <p:nvPr/>
        </p:nvSpPr>
        <p:spPr>
          <a:xfrm>
            <a:off x="5641848" y="2395728"/>
            <a:ext cx="172821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34E4A"/>
                </a:solidFill>
                <a:latin typeface="Calibri" pitchFamily="34" charset="0"/>
                <a:ea typeface="Calibri" pitchFamily="34" charset="-122"/>
                <a:cs typeface="Calibri" pitchFamily="34" charset="-120"/>
              </a:rPr>
              <a:t>Bullet-proof: life-critical content</a:t>
            </a:r>
            <a:endParaRPr lang="en-US" sz="1100" dirty="0"/>
          </a:p>
        </p:txBody>
      </p:sp>
      <p:sp>
        <p:nvSpPr>
          <p:cNvPr id="33" name="shape-29"/>
          <p:cNvSpPr/>
          <p:nvPr/>
        </p:nvSpPr>
        <p:spPr>
          <a:xfrm>
            <a:off x="7644384" y="2395728"/>
            <a:ext cx="2194560" cy="768096"/>
          </a:xfrm>
          <a:prstGeom prst="roundRect">
            <a:avLst>
              <a:gd name="adj" fmla="val 9524"/>
            </a:avLst>
          </a:prstGeom>
          <a:solidFill>
            <a:srgbClr val="D6ECE9"/>
          </a:solidFill>
          <a:ln w="15875">
            <a:solidFill>
              <a:srgbClr val="D6ECE9"/>
            </a:solidFill>
            <a:prstDash val="solid"/>
          </a:ln>
        </p:spPr>
      </p:sp>
      <p:sp>
        <p:nvSpPr>
          <p:cNvPr id="34" name="text-30"/>
          <p:cNvSpPr txBox="1"/>
          <p:nvPr/>
        </p:nvSpPr>
        <p:spPr>
          <a:xfrm>
            <a:off x="7717536" y="2395728"/>
            <a:ext cx="204825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34E4A"/>
                </a:solidFill>
                <a:latin typeface="Calibri" pitchFamily="34" charset="0"/>
                <a:ea typeface="Calibri" pitchFamily="34" charset="-122"/>
                <a:cs typeface="Calibri" pitchFamily="34" charset="-120"/>
              </a:rPr>
              <a:t>Build: strong appetite to wrap our own technical solutions</a:t>
            </a:r>
            <a:endParaRPr lang="en-US" sz="1100" dirty="0"/>
          </a:p>
        </p:txBody>
      </p:sp>
      <p:sp>
        <p:nvSpPr>
          <p:cNvPr id="35" name="tri-31"/>
          <p:cNvSpPr/>
          <p:nvPr/>
        </p:nvSpPr>
        <p:spPr>
          <a:xfrm rot="5400000">
            <a:off x="3337560" y="2724912"/>
            <a:ext cx="109728" cy="109728"/>
          </a:xfrm>
          <a:prstGeom prst="triangle">
            <a:avLst/>
          </a:prstGeom>
          <a:solidFill>
            <a:srgbClr val="D4DBE0"/>
          </a:solidFill>
          <a:ln w="12700">
            <a:solidFill>
              <a:srgbClr val="D4DBE0"/>
            </a:solidFill>
            <a:prstDash val="solid"/>
          </a:ln>
        </p:spPr>
      </p:sp>
      <p:sp>
        <p:nvSpPr>
          <p:cNvPr id="36" name="tri-32"/>
          <p:cNvSpPr/>
          <p:nvPr/>
        </p:nvSpPr>
        <p:spPr>
          <a:xfrm rot="5400000">
            <a:off x="5413248" y="2724912"/>
            <a:ext cx="109728" cy="109728"/>
          </a:xfrm>
          <a:prstGeom prst="triangle">
            <a:avLst/>
          </a:prstGeom>
          <a:solidFill>
            <a:srgbClr val="D4DBE0"/>
          </a:solidFill>
          <a:ln w="12700">
            <a:solidFill>
              <a:srgbClr val="D4DBE0"/>
            </a:solidFill>
            <a:prstDash val="solid"/>
          </a:ln>
        </p:spPr>
      </p:sp>
      <p:sp>
        <p:nvSpPr>
          <p:cNvPr id="37" name="tri-33"/>
          <p:cNvSpPr/>
          <p:nvPr/>
        </p:nvSpPr>
        <p:spPr>
          <a:xfrm rot="5400000">
            <a:off x="7488936" y="2724912"/>
            <a:ext cx="109728" cy="109728"/>
          </a:xfrm>
          <a:prstGeom prst="triangle">
            <a:avLst/>
          </a:prstGeom>
          <a:solidFill>
            <a:srgbClr val="D4DBE0"/>
          </a:solidFill>
          <a:ln w="12700">
            <a:solidFill>
              <a:srgbClr val="D4DBE0"/>
            </a:solidFill>
            <a:prstDash val="solid"/>
          </a:ln>
        </p:spPr>
      </p:sp>
      <p:sp>
        <p:nvSpPr>
          <p:cNvPr id="38" name="shape-34"/>
          <p:cNvSpPr/>
          <p:nvPr/>
        </p:nvSpPr>
        <p:spPr>
          <a:xfrm>
            <a:off x="10076688" y="2395728"/>
            <a:ext cx="1737360" cy="768096"/>
          </a:xfrm>
          <a:prstGeom prst="roundRect">
            <a:avLst>
              <a:gd name="adj" fmla="val 9524"/>
            </a:avLst>
          </a:prstGeom>
          <a:solidFill>
            <a:srgbClr val="D6ECE9"/>
          </a:solidFill>
          <a:ln w="15875">
            <a:solidFill>
              <a:srgbClr val="0F766E"/>
            </a:solidFill>
            <a:prstDash val="sysDash"/>
          </a:ln>
        </p:spPr>
      </p:sp>
      <p:sp>
        <p:nvSpPr>
          <p:cNvPr id="39" name="oval-35"/>
          <p:cNvSpPr/>
          <p:nvPr/>
        </p:nvSpPr>
        <p:spPr>
          <a:xfrm>
            <a:off x="10149840" y="2688336"/>
            <a:ext cx="182880" cy="182880"/>
          </a:xfrm>
          <a:prstGeom prst="ellipse">
            <a:avLst/>
          </a:prstGeom>
          <a:solidFill>
            <a:srgbClr val="0F766E"/>
          </a:solidFill>
          <a:ln w="12700">
            <a:solidFill>
              <a:srgbClr val="0F766E"/>
            </a:solidFill>
            <a:prstDash val="solid"/>
          </a:ln>
        </p:spPr>
      </p:sp>
      <p:sp>
        <p:nvSpPr>
          <p:cNvPr id="40" name="text-36"/>
          <p:cNvSpPr txBox="1"/>
          <p:nvPr/>
        </p:nvSpPr>
        <p:spPr>
          <a:xfrm>
            <a:off x="10149840" y="2688336"/>
            <a:ext cx="1828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1" name="text-37"/>
          <p:cNvSpPr txBox="1"/>
          <p:nvPr/>
        </p:nvSpPr>
        <p:spPr>
          <a:xfrm>
            <a:off x="10405872" y="2395728"/>
            <a:ext cx="1335024" cy="768096"/>
          </a:xfrm>
          <a:prstGeom prst="rect">
            <a:avLst/>
          </a:prstGeom>
          <a:noFill/>
          <a:ln/>
        </p:spPr>
        <p:txBody>
          <a:bodyPr wrap="square" lIns="0" tIns="0" rIns="0" bIns="0" rtlCol="0" anchor="ctr"/>
          <a:lstStyle/>
          <a:p>
            <a:pPr algn="l" indent="0" marL="0">
              <a:lnSpc>
                <a:spcPct val="100000"/>
              </a:lnSpc>
              <a:buNone/>
            </a:pPr>
            <a:r>
              <a:rPr lang="en-US" sz="1100" dirty="0">
                <a:solidFill>
                  <a:srgbClr val="134E4A"/>
                </a:solidFill>
                <a:latin typeface="Calibri" pitchFamily="34" charset="0"/>
                <a:ea typeface="Calibri" pitchFamily="34" charset="-122"/>
                <a:cs typeface="Calibri" pitchFamily="34" charset="-120"/>
              </a:rPr>
              <a:t>Accelerate and de-risk product work</a:t>
            </a:r>
            <a:endParaRPr lang="en-US" sz="1100" dirty="0"/>
          </a:p>
        </p:txBody>
      </p:sp>
      <p:sp>
        <p:nvSpPr>
          <p:cNvPr id="42" name="shape-38"/>
          <p:cNvSpPr/>
          <p:nvPr/>
        </p:nvSpPr>
        <p:spPr>
          <a:xfrm>
            <a:off x="548640" y="3255264"/>
            <a:ext cx="2743200" cy="768096"/>
          </a:xfrm>
          <a:prstGeom prst="roundRect">
            <a:avLst>
              <a:gd name="adj" fmla="val 9524"/>
            </a:avLst>
          </a:prstGeom>
          <a:solidFill>
            <a:srgbClr val="EEF2F4"/>
          </a:solidFill>
          <a:ln w="12700">
            <a:solidFill>
              <a:srgbClr val="EEF2F4"/>
            </a:solidFill>
            <a:prstDash val="solid"/>
          </a:ln>
        </p:spPr>
      </p:sp>
      <p:sp>
        <p:nvSpPr>
          <p:cNvPr id="43" name="shape-39"/>
          <p:cNvSpPr/>
          <p:nvPr/>
        </p:nvSpPr>
        <p:spPr>
          <a:xfrm>
            <a:off x="548640" y="3255264"/>
            <a:ext cx="402336" cy="768096"/>
          </a:xfrm>
          <a:prstGeom prst="roundRect">
            <a:avLst>
              <a:gd name="adj" fmla="val 18182"/>
            </a:avLst>
          </a:prstGeom>
          <a:solidFill>
            <a:srgbClr val="0F766E"/>
          </a:solidFill>
          <a:ln w="12700">
            <a:solidFill>
              <a:srgbClr val="0F766E"/>
            </a:solidFill>
            <a:prstDash val="solid"/>
          </a:ln>
        </p:spPr>
      </p:sp>
      <p:sp>
        <p:nvSpPr>
          <p:cNvPr id="44" name="shape-40"/>
          <p:cNvSpPr/>
          <p:nvPr/>
        </p:nvSpPr>
        <p:spPr>
          <a:xfrm>
            <a:off x="877824" y="3255264"/>
            <a:ext cx="73152" cy="768096"/>
          </a:xfrm>
          <a:prstGeom prst="rect">
            <a:avLst/>
          </a:prstGeom>
          <a:solidFill>
            <a:srgbClr val="0F766E"/>
          </a:solidFill>
          <a:ln w="12700">
            <a:solidFill>
              <a:srgbClr val="0F766E"/>
            </a:solidFill>
            <a:prstDash val="solid"/>
          </a:ln>
        </p:spPr>
      </p:sp>
      <p:sp>
        <p:nvSpPr>
          <p:cNvPr id="45" name="text-41"/>
          <p:cNvSpPr txBox="1"/>
          <p:nvPr/>
        </p:nvSpPr>
        <p:spPr>
          <a:xfrm>
            <a:off x="548640" y="3255264"/>
            <a:ext cx="402336" cy="768096"/>
          </a:xfrm>
          <a:prstGeom prst="rect">
            <a:avLst/>
          </a:prstGeom>
          <a:noFill/>
          <a:ln/>
        </p:spPr>
        <p:txBody>
          <a:bodyPr wrap="square" lIns="0" tIns="0" rIns="0" bIns="0" rtlCol="0" anchor="ctr"/>
          <a:lstStyle/>
          <a:p>
            <a:pPr algn="ctr" indent="0" marL="0">
              <a:lnSpc>
                <a:spcPct val="100000"/>
              </a:lnSpc>
              <a:buNone/>
            </a:pPr>
            <a:r>
              <a:rPr lang="en-US" sz="1750" b="1" dirty="0">
                <a:solidFill>
                  <a:srgbClr val="FFFFFF"/>
                </a:solidFill>
                <a:latin typeface="Calibri" pitchFamily="34" charset="0"/>
                <a:ea typeface="Calibri" pitchFamily="34" charset="-122"/>
                <a:cs typeface="Calibri" pitchFamily="34" charset="-120"/>
              </a:rPr>
              <a:t>B</a:t>
            </a:r>
            <a:endParaRPr lang="en-US" sz="1750" dirty="0"/>
          </a:p>
        </p:txBody>
      </p:sp>
      <p:sp>
        <p:nvSpPr>
          <p:cNvPr id="46" name="text-42"/>
          <p:cNvSpPr txBox="1"/>
          <p:nvPr/>
        </p:nvSpPr>
        <p:spPr>
          <a:xfrm>
            <a:off x="1042416" y="3255264"/>
            <a:ext cx="2157984" cy="76809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Quark Content and PriXM — authoring and publishing</a:t>
            </a:r>
            <a:endParaRPr lang="en-US" sz="1100" dirty="0"/>
          </a:p>
        </p:txBody>
      </p:sp>
      <p:sp>
        <p:nvSpPr>
          <p:cNvPr id="47" name="shape-43"/>
          <p:cNvSpPr/>
          <p:nvPr/>
        </p:nvSpPr>
        <p:spPr>
          <a:xfrm>
            <a:off x="3493008" y="3255264"/>
            <a:ext cx="1874520" cy="768096"/>
          </a:xfrm>
          <a:prstGeom prst="roundRect">
            <a:avLst>
              <a:gd name="adj" fmla="val 9524"/>
            </a:avLst>
          </a:prstGeom>
          <a:solidFill>
            <a:srgbClr val="FFFFFF"/>
          </a:solidFill>
          <a:ln w="15875">
            <a:solidFill>
              <a:srgbClr val="D4DBE0"/>
            </a:solidFill>
            <a:prstDash val="solid"/>
          </a:ln>
        </p:spPr>
      </p:sp>
      <p:sp>
        <p:nvSpPr>
          <p:cNvPr id="48" name="text-44"/>
          <p:cNvSpPr txBox="1"/>
          <p:nvPr/>
        </p:nvSpPr>
        <p:spPr>
          <a:xfrm>
            <a:off x="3566160" y="3255264"/>
            <a:ext cx="172821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Fit for authors, portability, cost</a:t>
            </a:r>
            <a:endParaRPr lang="en-US" sz="1100" dirty="0"/>
          </a:p>
        </p:txBody>
      </p:sp>
      <p:sp>
        <p:nvSpPr>
          <p:cNvPr id="49" name="shape-45"/>
          <p:cNvSpPr/>
          <p:nvPr/>
        </p:nvSpPr>
        <p:spPr>
          <a:xfrm>
            <a:off x="5568696" y="3255264"/>
            <a:ext cx="1874520" cy="768096"/>
          </a:xfrm>
          <a:prstGeom prst="roundRect">
            <a:avLst>
              <a:gd name="adj" fmla="val 9524"/>
            </a:avLst>
          </a:prstGeom>
          <a:solidFill>
            <a:srgbClr val="FFFFFF"/>
          </a:solidFill>
          <a:ln w="15875">
            <a:solidFill>
              <a:srgbClr val="D4DBE0"/>
            </a:solidFill>
            <a:prstDash val="solid"/>
          </a:ln>
        </p:spPr>
      </p:sp>
      <p:sp>
        <p:nvSpPr>
          <p:cNvPr id="50" name="text-46"/>
          <p:cNvSpPr txBox="1"/>
          <p:nvPr/>
        </p:nvSpPr>
        <p:spPr>
          <a:xfrm>
            <a:off x="5641848" y="3255264"/>
            <a:ext cx="172821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Business hours; never the only copy</a:t>
            </a:r>
            <a:endParaRPr lang="en-US" sz="1100" dirty="0"/>
          </a:p>
        </p:txBody>
      </p:sp>
      <p:sp>
        <p:nvSpPr>
          <p:cNvPr id="51" name="shape-47"/>
          <p:cNvSpPr/>
          <p:nvPr/>
        </p:nvSpPr>
        <p:spPr>
          <a:xfrm>
            <a:off x="7644384" y="3255264"/>
            <a:ext cx="2194560" cy="768096"/>
          </a:xfrm>
          <a:prstGeom prst="roundRect">
            <a:avLst>
              <a:gd name="adj" fmla="val 9524"/>
            </a:avLst>
          </a:prstGeom>
          <a:solidFill>
            <a:srgbClr val="FFFFFF"/>
          </a:solidFill>
          <a:ln w="15875">
            <a:solidFill>
              <a:srgbClr val="D4DBE0"/>
            </a:solidFill>
            <a:prstDash val="solid"/>
          </a:ln>
        </p:spPr>
      </p:sp>
      <p:sp>
        <p:nvSpPr>
          <p:cNvPr id="52" name="text-48"/>
          <p:cNvSpPr txBox="1"/>
          <p:nvPr/>
        </p:nvSpPr>
        <p:spPr>
          <a:xfrm>
            <a:off x="7717536" y="3255264"/>
            <a:ext cx="204825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Buy and configure: plugins, paid features, small code where it pays</a:t>
            </a:r>
            <a:endParaRPr lang="en-US" sz="1100" dirty="0"/>
          </a:p>
        </p:txBody>
      </p:sp>
      <p:sp>
        <p:nvSpPr>
          <p:cNvPr id="53" name="tri-49"/>
          <p:cNvSpPr/>
          <p:nvPr/>
        </p:nvSpPr>
        <p:spPr>
          <a:xfrm rot="5400000">
            <a:off x="3337560" y="3584448"/>
            <a:ext cx="109728" cy="109728"/>
          </a:xfrm>
          <a:prstGeom prst="triangle">
            <a:avLst/>
          </a:prstGeom>
          <a:solidFill>
            <a:srgbClr val="D4DBE0"/>
          </a:solidFill>
          <a:ln w="12700">
            <a:solidFill>
              <a:srgbClr val="D4DBE0"/>
            </a:solidFill>
            <a:prstDash val="solid"/>
          </a:ln>
        </p:spPr>
      </p:sp>
      <p:sp>
        <p:nvSpPr>
          <p:cNvPr id="54" name="tri-50"/>
          <p:cNvSpPr/>
          <p:nvPr/>
        </p:nvSpPr>
        <p:spPr>
          <a:xfrm rot="5400000">
            <a:off x="5413248" y="3584448"/>
            <a:ext cx="109728" cy="109728"/>
          </a:xfrm>
          <a:prstGeom prst="triangle">
            <a:avLst/>
          </a:prstGeom>
          <a:solidFill>
            <a:srgbClr val="D4DBE0"/>
          </a:solidFill>
          <a:ln w="12700">
            <a:solidFill>
              <a:srgbClr val="D4DBE0"/>
            </a:solidFill>
            <a:prstDash val="solid"/>
          </a:ln>
        </p:spPr>
      </p:sp>
      <p:sp>
        <p:nvSpPr>
          <p:cNvPr id="55" name="tri-51"/>
          <p:cNvSpPr/>
          <p:nvPr/>
        </p:nvSpPr>
        <p:spPr>
          <a:xfrm rot="5400000">
            <a:off x="7488936" y="3584448"/>
            <a:ext cx="109728" cy="109728"/>
          </a:xfrm>
          <a:prstGeom prst="triangle">
            <a:avLst/>
          </a:prstGeom>
          <a:solidFill>
            <a:srgbClr val="D4DBE0"/>
          </a:solidFill>
          <a:ln w="12700">
            <a:solidFill>
              <a:srgbClr val="D4DBE0"/>
            </a:solidFill>
            <a:prstDash val="solid"/>
          </a:ln>
        </p:spPr>
      </p:sp>
      <p:sp>
        <p:nvSpPr>
          <p:cNvPr id="56" name="shape-52"/>
          <p:cNvSpPr/>
          <p:nvPr/>
        </p:nvSpPr>
        <p:spPr>
          <a:xfrm>
            <a:off x="10076688" y="3255264"/>
            <a:ext cx="1737360" cy="768096"/>
          </a:xfrm>
          <a:prstGeom prst="roundRect">
            <a:avLst>
              <a:gd name="adj" fmla="val 9524"/>
            </a:avLst>
          </a:prstGeom>
          <a:solidFill>
            <a:srgbClr val="D6ECE9"/>
          </a:solidFill>
          <a:ln w="15875">
            <a:solidFill>
              <a:srgbClr val="0F766E"/>
            </a:solidFill>
            <a:prstDash val="sysDash"/>
          </a:ln>
        </p:spPr>
      </p:sp>
      <p:sp>
        <p:nvSpPr>
          <p:cNvPr id="57" name="oval-53"/>
          <p:cNvSpPr/>
          <p:nvPr/>
        </p:nvSpPr>
        <p:spPr>
          <a:xfrm>
            <a:off x="10149840" y="3547872"/>
            <a:ext cx="182880" cy="182880"/>
          </a:xfrm>
          <a:prstGeom prst="ellipse">
            <a:avLst/>
          </a:prstGeom>
          <a:solidFill>
            <a:srgbClr val="0F766E"/>
          </a:solidFill>
          <a:ln w="12700">
            <a:solidFill>
              <a:srgbClr val="0F766E"/>
            </a:solidFill>
            <a:prstDash val="solid"/>
          </a:ln>
        </p:spPr>
      </p:sp>
      <p:sp>
        <p:nvSpPr>
          <p:cNvPr id="58" name="text-54"/>
          <p:cNvSpPr txBox="1"/>
          <p:nvPr/>
        </p:nvSpPr>
        <p:spPr>
          <a:xfrm>
            <a:off x="10149840" y="3547872"/>
            <a:ext cx="1828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9" name="text-55"/>
          <p:cNvSpPr txBox="1"/>
          <p:nvPr/>
        </p:nvSpPr>
        <p:spPr>
          <a:xfrm>
            <a:off x="10405872" y="3255264"/>
            <a:ext cx="1335024" cy="768096"/>
          </a:xfrm>
          <a:prstGeom prst="rect">
            <a:avLst/>
          </a:prstGeom>
          <a:noFill/>
          <a:ln/>
        </p:spPr>
        <p:txBody>
          <a:bodyPr wrap="square" lIns="0" tIns="0" rIns="0" bIns="0" rtlCol="0" anchor="ctr"/>
          <a:lstStyle/>
          <a:p>
            <a:pPr algn="l" indent="0" marL="0">
              <a:lnSpc>
                <a:spcPct val="100000"/>
              </a:lnSpc>
              <a:buNone/>
            </a:pPr>
            <a:r>
              <a:rPr lang="en-US" sz="1100" dirty="0">
                <a:solidFill>
                  <a:srgbClr val="134E4A"/>
                </a:solidFill>
                <a:latin typeface="Calibri" pitchFamily="34" charset="0"/>
                <a:ea typeface="Calibri" pitchFamily="34" charset="-122"/>
                <a:cs typeface="Calibri" pitchFamily="34" charset="-120"/>
              </a:rPr>
              <a:t>Author assistance; human sign-off</a:t>
            </a:r>
            <a:endParaRPr lang="en-US" sz="1100" dirty="0"/>
          </a:p>
        </p:txBody>
      </p:sp>
      <p:sp>
        <p:nvSpPr>
          <p:cNvPr id="60" name="shape-56"/>
          <p:cNvSpPr/>
          <p:nvPr/>
        </p:nvSpPr>
        <p:spPr>
          <a:xfrm>
            <a:off x="548640" y="4114800"/>
            <a:ext cx="2743200" cy="768096"/>
          </a:xfrm>
          <a:prstGeom prst="roundRect">
            <a:avLst>
              <a:gd name="adj" fmla="val 9524"/>
            </a:avLst>
          </a:prstGeom>
          <a:solidFill>
            <a:srgbClr val="EEF2F4"/>
          </a:solidFill>
          <a:ln w="12700">
            <a:solidFill>
              <a:srgbClr val="EEF2F4"/>
            </a:solidFill>
            <a:prstDash val="solid"/>
          </a:ln>
        </p:spPr>
      </p:sp>
      <p:sp>
        <p:nvSpPr>
          <p:cNvPr id="61" name="shape-57"/>
          <p:cNvSpPr/>
          <p:nvPr/>
        </p:nvSpPr>
        <p:spPr>
          <a:xfrm>
            <a:off x="548640" y="4114800"/>
            <a:ext cx="402336" cy="768096"/>
          </a:xfrm>
          <a:prstGeom prst="roundRect">
            <a:avLst>
              <a:gd name="adj" fmla="val 18182"/>
            </a:avLst>
          </a:prstGeom>
          <a:solidFill>
            <a:srgbClr val="8A99A3"/>
          </a:solidFill>
          <a:ln w="12700">
            <a:solidFill>
              <a:srgbClr val="8A99A3"/>
            </a:solidFill>
            <a:prstDash val="solid"/>
          </a:ln>
        </p:spPr>
      </p:sp>
      <p:sp>
        <p:nvSpPr>
          <p:cNvPr id="62" name="shape-58"/>
          <p:cNvSpPr/>
          <p:nvPr/>
        </p:nvSpPr>
        <p:spPr>
          <a:xfrm>
            <a:off x="877824" y="4114800"/>
            <a:ext cx="73152" cy="768096"/>
          </a:xfrm>
          <a:prstGeom prst="rect">
            <a:avLst/>
          </a:prstGeom>
          <a:solidFill>
            <a:srgbClr val="8A99A3"/>
          </a:solidFill>
          <a:ln w="12700">
            <a:solidFill>
              <a:srgbClr val="8A99A3"/>
            </a:solidFill>
            <a:prstDash val="solid"/>
          </a:ln>
        </p:spPr>
      </p:sp>
      <p:sp>
        <p:nvSpPr>
          <p:cNvPr id="63" name="text-59"/>
          <p:cNvSpPr txBox="1"/>
          <p:nvPr/>
        </p:nvSpPr>
        <p:spPr>
          <a:xfrm>
            <a:off x="548640" y="4114800"/>
            <a:ext cx="402336" cy="768096"/>
          </a:xfrm>
          <a:prstGeom prst="rect">
            <a:avLst/>
          </a:prstGeom>
          <a:noFill/>
          <a:ln/>
        </p:spPr>
        <p:txBody>
          <a:bodyPr wrap="square" lIns="0" tIns="0" rIns="0" bIns="0" rtlCol="0" anchor="ctr"/>
          <a:lstStyle/>
          <a:p>
            <a:pPr algn="ctr" indent="0" marL="0">
              <a:lnSpc>
                <a:spcPct val="100000"/>
              </a:lnSpc>
              <a:buNone/>
            </a:pPr>
            <a:r>
              <a:rPr lang="en-US" sz="1750" b="1" dirty="0">
                <a:solidFill>
                  <a:srgbClr val="FFFFFF"/>
                </a:solidFill>
                <a:latin typeface="Calibri" pitchFamily="34" charset="0"/>
                <a:ea typeface="Calibri" pitchFamily="34" charset="-122"/>
                <a:cs typeface="Calibri" pitchFamily="34" charset="-120"/>
              </a:rPr>
              <a:t>C</a:t>
            </a:r>
            <a:endParaRPr lang="en-US" sz="1750" dirty="0"/>
          </a:p>
        </p:txBody>
      </p:sp>
      <p:sp>
        <p:nvSpPr>
          <p:cNvPr id="64" name="text-60"/>
          <p:cNvSpPr txBox="1"/>
          <p:nvPr/>
        </p:nvSpPr>
        <p:spPr>
          <a:xfrm>
            <a:off x="1042416" y="4114800"/>
            <a:ext cx="2157984" cy="76809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D365 / Dataverse, WooCommerce shop, D365 internal shop, Wiise, Power BI</a:t>
            </a:r>
            <a:endParaRPr lang="en-US" sz="1100" dirty="0"/>
          </a:p>
        </p:txBody>
      </p:sp>
      <p:sp>
        <p:nvSpPr>
          <p:cNvPr id="65" name="shape-61"/>
          <p:cNvSpPr/>
          <p:nvPr/>
        </p:nvSpPr>
        <p:spPr>
          <a:xfrm>
            <a:off x="3493008" y="4114800"/>
            <a:ext cx="1874520" cy="768096"/>
          </a:xfrm>
          <a:prstGeom prst="roundRect">
            <a:avLst>
              <a:gd name="adj" fmla="val 9524"/>
            </a:avLst>
          </a:prstGeom>
          <a:solidFill>
            <a:srgbClr val="FFFFFF"/>
          </a:solidFill>
          <a:ln w="15875">
            <a:solidFill>
              <a:srgbClr val="D4DBE0"/>
            </a:solidFill>
            <a:prstDash val="solid"/>
          </a:ln>
        </p:spPr>
      </p:sp>
      <p:sp>
        <p:nvSpPr>
          <p:cNvPr id="66" name="text-62"/>
          <p:cNvSpPr txBox="1"/>
          <p:nvPr/>
        </p:nvSpPr>
        <p:spPr>
          <a:xfrm>
            <a:off x="3566160" y="4114800"/>
            <a:ext cx="172821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Cost and effort vs efficiency gained</a:t>
            </a:r>
            <a:endParaRPr lang="en-US" sz="1100" dirty="0"/>
          </a:p>
        </p:txBody>
      </p:sp>
      <p:sp>
        <p:nvSpPr>
          <p:cNvPr id="67" name="shape-63"/>
          <p:cNvSpPr/>
          <p:nvPr/>
        </p:nvSpPr>
        <p:spPr>
          <a:xfrm>
            <a:off x="5568696" y="4114800"/>
            <a:ext cx="1874520" cy="768096"/>
          </a:xfrm>
          <a:prstGeom prst="roundRect">
            <a:avLst>
              <a:gd name="adj" fmla="val 9524"/>
            </a:avLst>
          </a:prstGeom>
          <a:solidFill>
            <a:srgbClr val="FFFFFF"/>
          </a:solidFill>
          <a:ln w="15875">
            <a:solidFill>
              <a:srgbClr val="D4DBE0"/>
            </a:solidFill>
            <a:prstDash val="solid"/>
          </a:ln>
        </p:spPr>
      </p:sp>
      <p:sp>
        <p:nvSpPr>
          <p:cNvPr id="68" name="text-64"/>
          <p:cNvSpPr txBox="1"/>
          <p:nvPr/>
        </p:nvSpPr>
        <p:spPr>
          <a:xfrm>
            <a:off x="5641848" y="4114800"/>
            <a:ext cx="172821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Standard; no shared fate with A</a:t>
            </a:r>
            <a:endParaRPr lang="en-US" sz="1100" dirty="0"/>
          </a:p>
        </p:txBody>
      </p:sp>
      <p:sp>
        <p:nvSpPr>
          <p:cNvPr id="69" name="shape-65"/>
          <p:cNvSpPr/>
          <p:nvPr/>
        </p:nvSpPr>
        <p:spPr>
          <a:xfrm>
            <a:off x="7644384" y="4114800"/>
            <a:ext cx="2194560" cy="768096"/>
          </a:xfrm>
          <a:prstGeom prst="roundRect">
            <a:avLst>
              <a:gd name="adj" fmla="val 9524"/>
            </a:avLst>
          </a:prstGeom>
          <a:solidFill>
            <a:srgbClr val="FFFFFF"/>
          </a:solidFill>
          <a:ln w="15875">
            <a:solidFill>
              <a:srgbClr val="D4DBE0"/>
            </a:solidFill>
            <a:prstDash val="solid"/>
          </a:ln>
        </p:spPr>
      </p:sp>
      <p:sp>
        <p:nvSpPr>
          <p:cNvPr id="70" name="text-66"/>
          <p:cNvSpPr txBox="1"/>
          <p:nvPr/>
        </p:nvSpPr>
        <p:spPr>
          <a:xfrm>
            <a:off x="7717536" y="4114800"/>
            <a:ext cx="204825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Buy: standard set-up; deviate by exception only</a:t>
            </a:r>
            <a:endParaRPr lang="en-US" sz="1100" dirty="0"/>
          </a:p>
        </p:txBody>
      </p:sp>
      <p:sp>
        <p:nvSpPr>
          <p:cNvPr id="71" name="tri-67"/>
          <p:cNvSpPr/>
          <p:nvPr/>
        </p:nvSpPr>
        <p:spPr>
          <a:xfrm rot="5400000">
            <a:off x="3337560" y="4443984"/>
            <a:ext cx="109728" cy="109728"/>
          </a:xfrm>
          <a:prstGeom prst="triangle">
            <a:avLst/>
          </a:prstGeom>
          <a:solidFill>
            <a:srgbClr val="D4DBE0"/>
          </a:solidFill>
          <a:ln w="12700">
            <a:solidFill>
              <a:srgbClr val="D4DBE0"/>
            </a:solidFill>
            <a:prstDash val="solid"/>
          </a:ln>
        </p:spPr>
      </p:sp>
      <p:sp>
        <p:nvSpPr>
          <p:cNvPr id="72" name="tri-68"/>
          <p:cNvSpPr/>
          <p:nvPr/>
        </p:nvSpPr>
        <p:spPr>
          <a:xfrm rot="5400000">
            <a:off x="5413248" y="4443984"/>
            <a:ext cx="109728" cy="109728"/>
          </a:xfrm>
          <a:prstGeom prst="triangle">
            <a:avLst/>
          </a:prstGeom>
          <a:solidFill>
            <a:srgbClr val="D4DBE0"/>
          </a:solidFill>
          <a:ln w="12700">
            <a:solidFill>
              <a:srgbClr val="D4DBE0"/>
            </a:solidFill>
            <a:prstDash val="solid"/>
          </a:ln>
        </p:spPr>
      </p:sp>
      <p:sp>
        <p:nvSpPr>
          <p:cNvPr id="73" name="tri-69"/>
          <p:cNvSpPr/>
          <p:nvPr/>
        </p:nvSpPr>
        <p:spPr>
          <a:xfrm rot="5400000">
            <a:off x="7488936" y="4443984"/>
            <a:ext cx="109728" cy="109728"/>
          </a:xfrm>
          <a:prstGeom prst="triangle">
            <a:avLst/>
          </a:prstGeom>
          <a:solidFill>
            <a:srgbClr val="D4DBE0"/>
          </a:solidFill>
          <a:ln w="12700">
            <a:solidFill>
              <a:srgbClr val="D4DBE0"/>
            </a:solidFill>
            <a:prstDash val="solid"/>
          </a:ln>
        </p:spPr>
      </p:sp>
      <p:sp>
        <p:nvSpPr>
          <p:cNvPr id="74" name="shape-70"/>
          <p:cNvSpPr/>
          <p:nvPr/>
        </p:nvSpPr>
        <p:spPr>
          <a:xfrm>
            <a:off x="10076688" y="4114800"/>
            <a:ext cx="1737360" cy="768096"/>
          </a:xfrm>
          <a:prstGeom prst="roundRect">
            <a:avLst>
              <a:gd name="adj" fmla="val 9524"/>
            </a:avLst>
          </a:prstGeom>
          <a:solidFill>
            <a:srgbClr val="D6ECE9"/>
          </a:solidFill>
          <a:ln w="15875">
            <a:solidFill>
              <a:srgbClr val="0F766E"/>
            </a:solidFill>
            <a:prstDash val="sysDash"/>
          </a:ln>
        </p:spPr>
      </p:sp>
      <p:sp>
        <p:nvSpPr>
          <p:cNvPr id="75" name="oval-71"/>
          <p:cNvSpPr/>
          <p:nvPr/>
        </p:nvSpPr>
        <p:spPr>
          <a:xfrm>
            <a:off x="10149840" y="4407408"/>
            <a:ext cx="182880" cy="182880"/>
          </a:xfrm>
          <a:prstGeom prst="ellipse">
            <a:avLst/>
          </a:prstGeom>
          <a:solidFill>
            <a:srgbClr val="0F766E"/>
          </a:solidFill>
          <a:ln w="12700">
            <a:solidFill>
              <a:srgbClr val="0F766E"/>
            </a:solidFill>
            <a:prstDash val="solid"/>
          </a:ln>
        </p:spPr>
      </p:sp>
      <p:sp>
        <p:nvSpPr>
          <p:cNvPr id="76" name="text-72"/>
          <p:cNvSpPr txBox="1"/>
          <p:nvPr/>
        </p:nvSpPr>
        <p:spPr>
          <a:xfrm>
            <a:off x="10149840" y="4407408"/>
            <a:ext cx="1828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7" name="text-73"/>
          <p:cNvSpPr txBox="1"/>
          <p:nvPr/>
        </p:nvSpPr>
        <p:spPr>
          <a:xfrm>
            <a:off x="10405872" y="4114800"/>
            <a:ext cx="1335024" cy="768096"/>
          </a:xfrm>
          <a:prstGeom prst="rect">
            <a:avLst/>
          </a:prstGeom>
          <a:noFill/>
          <a:ln/>
        </p:spPr>
        <p:txBody>
          <a:bodyPr wrap="square" lIns="0" tIns="0" rIns="0" bIns="0" rtlCol="0" anchor="ctr"/>
          <a:lstStyle/>
          <a:p>
            <a:pPr algn="l" indent="0" marL="0">
              <a:lnSpc>
                <a:spcPct val="100000"/>
              </a:lnSpc>
              <a:buNone/>
            </a:pPr>
            <a:r>
              <a:rPr lang="en-US" sz="1100" dirty="0">
                <a:solidFill>
                  <a:srgbClr val="134E4A"/>
                </a:solidFill>
                <a:latin typeface="Calibri" pitchFamily="34" charset="0"/>
                <a:ea typeface="Calibri" pitchFamily="34" charset="-122"/>
                <a:cs typeface="Calibri" pitchFamily="34" charset="-120"/>
              </a:rPr>
              <a:t>Woven into process; must-haves shrink</a:t>
            </a:r>
            <a:endParaRPr lang="en-US" sz="1100" dirty="0"/>
          </a:p>
        </p:txBody>
      </p:sp>
      <p:sp>
        <p:nvSpPr>
          <p:cNvPr id="78" name="shape-74"/>
          <p:cNvSpPr/>
          <p:nvPr/>
        </p:nvSpPr>
        <p:spPr>
          <a:xfrm>
            <a:off x="548640" y="4974336"/>
            <a:ext cx="2743200" cy="768096"/>
          </a:xfrm>
          <a:prstGeom prst="roundRect">
            <a:avLst>
              <a:gd name="adj" fmla="val 9524"/>
            </a:avLst>
          </a:prstGeom>
          <a:solidFill>
            <a:srgbClr val="FDF1E3"/>
          </a:solidFill>
          <a:ln w="12700">
            <a:solidFill>
              <a:srgbClr val="FDF1E3"/>
            </a:solidFill>
            <a:prstDash val="solid"/>
          </a:ln>
        </p:spPr>
      </p:sp>
      <p:sp>
        <p:nvSpPr>
          <p:cNvPr id="79" name="shape-75"/>
          <p:cNvSpPr/>
          <p:nvPr/>
        </p:nvSpPr>
        <p:spPr>
          <a:xfrm>
            <a:off x="548640" y="4974336"/>
            <a:ext cx="402336" cy="768096"/>
          </a:xfrm>
          <a:prstGeom prst="roundRect">
            <a:avLst>
              <a:gd name="adj" fmla="val 18182"/>
            </a:avLst>
          </a:prstGeom>
          <a:solidFill>
            <a:srgbClr val="B45309"/>
          </a:solidFill>
          <a:ln w="12700">
            <a:solidFill>
              <a:srgbClr val="B45309"/>
            </a:solidFill>
            <a:prstDash val="solid"/>
          </a:ln>
        </p:spPr>
      </p:sp>
      <p:sp>
        <p:nvSpPr>
          <p:cNvPr id="80" name="shape-76"/>
          <p:cNvSpPr/>
          <p:nvPr/>
        </p:nvSpPr>
        <p:spPr>
          <a:xfrm>
            <a:off x="877824" y="4974336"/>
            <a:ext cx="73152" cy="768096"/>
          </a:xfrm>
          <a:prstGeom prst="rect">
            <a:avLst/>
          </a:prstGeom>
          <a:solidFill>
            <a:srgbClr val="B45309"/>
          </a:solidFill>
          <a:ln w="12700">
            <a:solidFill>
              <a:srgbClr val="B45309"/>
            </a:solidFill>
            <a:prstDash val="solid"/>
          </a:ln>
        </p:spPr>
      </p:sp>
      <p:sp>
        <p:nvSpPr>
          <p:cNvPr id="81" name="text-77"/>
          <p:cNvSpPr txBox="1"/>
          <p:nvPr/>
        </p:nvSpPr>
        <p:spPr>
          <a:xfrm>
            <a:off x="548640" y="4974336"/>
            <a:ext cx="402336" cy="768096"/>
          </a:xfrm>
          <a:prstGeom prst="rect">
            <a:avLst/>
          </a:prstGeom>
          <a:noFill/>
          <a:ln/>
        </p:spPr>
        <p:txBody>
          <a:bodyPr wrap="square" lIns="0" tIns="0" rIns="0" bIns="0" rtlCol="0" anchor="ctr"/>
          <a:lstStyle/>
          <a:p>
            <a:pPr algn="ctr" indent="0" marL="0">
              <a:lnSpc>
                <a:spcPct val="100000"/>
              </a:lnSpc>
              <a:buNone/>
            </a:pPr>
            <a:r>
              <a:rPr lang="en-US" sz="1750" b="1" dirty="0">
                <a:solidFill>
                  <a:srgbClr val="FFFFFF"/>
                </a:solidFill>
                <a:latin typeface="Calibri" pitchFamily="34" charset="0"/>
                <a:ea typeface="Calibri" pitchFamily="34" charset="-122"/>
                <a:cs typeface="Calibri" pitchFamily="34" charset="-120"/>
              </a:rPr>
              <a:t>X</a:t>
            </a:r>
            <a:endParaRPr lang="en-US" sz="1750" dirty="0"/>
          </a:p>
        </p:txBody>
      </p:sp>
      <p:sp>
        <p:nvSpPr>
          <p:cNvPr id="82" name="text-78"/>
          <p:cNvSpPr txBox="1"/>
          <p:nvPr/>
        </p:nvSpPr>
        <p:spPr>
          <a:xfrm>
            <a:off x="1042416" y="4974336"/>
            <a:ext cx="2157984" cy="76809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Azure identity and access plane, API gateway / service bus, monitoring, standards</a:t>
            </a:r>
            <a:endParaRPr lang="en-US" sz="1100" dirty="0"/>
          </a:p>
        </p:txBody>
      </p:sp>
      <p:sp>
        <p:nvSpPr>
          <p:cNvPr id="83" name="shape-79"/>
          <p:cNvSpPr/>
          <p:nvPr/>
        </p:nvSpPr>
        <p:spPr>
          <a:xfrm>
            <a:off x="3493008" y="4974336"/>
            <a:ext cx="1874520" cy="768096"/>
          </a:xfrm>
          <a:prstGeom prst="roundRect">
            <a:avLst>
              <a:gd name="adj" fmla="val 9524"/>
            </a:avLst>
          </a:prstGeom>
          <a:solidFill>
            <a:srgbClr val="FFFFFF"/>
          </a:solidFill>
          <a:ln w="15875">
            <a:solidFill>
              <a:srgbClr val="D4DBE0"/>
            </a:solidFill>
            <a:prstDash val="solid"/>
          </a:ln>
        </p:spPr>
      </p:sp>
      <p:sp>
        <p:nvSpPr>
          <p:cNvPr id="84" name="text-80"/>
          <p:cNvSpPr txBox="1"/>
          <p:nvPr/>
        </p:nvSpPr>
        <p:spPr>
          <a:xfrm>
            <a:off x="3566160" y="4974336"/>
            <a:ext cx="172821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Inherits, plus risk and reputation</a:t>
            </a:r>
            <a:endParaRPr lang="en-US" sz="1100" dirty="0"/>
          </a:p>
        </p:txBody>
      </p:sp>
      <p:sp>
        <p:nvSpPr>
          <p:cNvPr id="85" name="shape-81"/>
          <p:cNvSpPr/>
          <p:nvPr/>
        </p:nvSpPr>
        <p:spPr>
          <a:xfrm>
            <a:off x="5568696" y="4974336"/>
            <a:ext cx="1874520" cy="768096"/>
          </a:xfrm>
          <a:prstGeom prst="roundRect">
            <a:avLst>
              <a:gd name="adj" fmla="val 9524"/>
            </a:avLst>
          </a:prstGeom>
          <a:solidFill>
            <a:srgbClr val="FFFFFF"/>
          </a:solidFill>
          <a:ln w="15875">
            <a:solidFill>
              <a:srgbClr val="D4DBE0"/>
            </a:solidFill>
            <a:prstDash val="solid"/>
          </a:ln>
        </p:spPr>
      </p:sp>
      <p:sp>
        <p:nvSpPr>
          <p:cNvPr id="86" name="text-82"/>
          <p:cNvSpPr txBox="1"/>
          <p:nvPr/>
        </p:nvSpPr>
        <p:spPr>
          <a:xfrm>
            <a:off x="5641848" y="4974336"/>
            <a:ext cx="172821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Inherits A wherever it sits in A’s path</a:t>
            </a:r>
            <a:endParaRPr lang="en-US" sz="1100" dirty="0"/>
          </a:p>
        </p:txBody>
      </p:sp>
      <p:sp>
        <p:nvSpPr>
          <p:cNvPr id="87" name="shape-83"/>
          <p:cNvSpPr/>
          <p:nvPr/>
        </p:nvSpPr>
        <p:spPr>
          <a:xfrm>
            <a:off x="7644384" y="4974336"/>
            <a:ext cx="2194560" cy="768096"/>
          </a:xfrm>
          <a:prstGeom prst="roundRect">
            <a:avLst>
              <a:gd name="adj" fmla="val 9524"/>
            </a:avLst>
          </a:prstGeom>
          <a:solidFill>
            <a:srgbClr val="FFFFFF"/>
          </a:solidFill>
          <a:ln w="15875">
            <a:solidFill>
              <a:srgbClr val="D4DBE0"/>
            </a:solidFill>
            <a:prstDash val="solid"/>
          </a:ln>
        </p:spPr>
      </p:sp>
      <p:sp>
        <p:nvSpPr>
          <p:cNvPr id="88" name="text-84"/>
          <p:cNvSpPr txBox="1"/>
          <p:nvPr/>
        </p:nvSpPr>
        <p:spPr>
          <a:xfrm>
            <a:off x="7717536" y="4974336"/>
            <a:ext cx="2048256" cy="768096"/>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Buy, but bend to accommodate A and third parties</a:t>
            </a:r>
            <a:endParaRPr lang="en-US" sz="1100" dirty="0"/>
          </a:p>
        </p:txBody>
      </p:sp>
      <p:sp>
        <p:nvSpPr>
          <p:cNvPr id="89" name="tri-85"/>
          <p:cNvSpPr/>
          <p:nvPr/>
        </p:nvSpPr>
        <p:spPr>
          <a:xfrm rot="5400000">
            <a:off x="3337560" y="5303520"/>
            <a:ext cx="109728" cy="109728"/>
          </a:xfrm>
          <a:prstGeom prst="triangle">
            <a:avLst/>
          </a:prstGeom>
          <a:solidFill>
            <a:srgbClr val="D4DBE0"/>
          </a:solidFill>
          <a:ln w="12700">
            <a:solidFill>
              <a:srgbClr val="D4DBE0"/>
            </a:solidFill>
            <a:prstDash val="solid"/>
          </a:ln>
        </p:spPr>
      </p:sp>
      <p:sp>
        <p:nvSpPr>
          <p:cNvPr id="90" name="tri-86"/>
          <p:cNvSpPr/>
          <p:nvPr/>
        </p:nvSpPr>
        <p:spPr>
          <a:xfrm rot="5400000">
            <a:off x="5413248" y="5303520"/>
            <a:ext cx="109728" cy="109728"/>
          </a:xfrm>
          <a:prstGeom prst="triangle">
            <a:avLst/>
          </a:prstGeom>
          <a:solidFill>
            <a:srgbClr val="D4DBE0"/>
          </a:solidFill>
          <a:ln w="12700">
            <a:solidFill>
              <a:srgbClr val="D4DBE0"/>
            </a:solidFill>
            <a:prstDash val="solid"/>
          </a:ln>
        </p:spPr>
      </p:sp>
      <p:sp>
        <p:nvSpPr>
          <p:cNvPr id="91" name="tri-87"/>
          <p:cNvSpPr/>
          <p:nvPr/>
        </p:nvSpPr>
        <p:spPr>
          <a:xfrm rot="5400000">
            <a:off x="7488936" y="5303520"/>
            <a:ext cx="109728" cy="109728"/>
          </a:xfrm>
          <a:prstGeom prst="triangle">
            <a:avLst/>
          </a:prstGeom>
          <a:solidFill>
            <a:srgbClr val="D4DBE0"/>
          </a:solidFill>
          <a:ln w="12700">
            <a:solidFill>
              <a:srgbClr val="D4DBE0"/>
            </a:solidFill>
            <a:prstDash val="solid"/>
          </a:ln>
        </p:spPr>
      </p:sp>
      <p:sp>
        <p:nvSpPr>
          <p:cNvPr id="92" name="shape-88"/>
          <p:cNvSpPr/>
          <p:nvPr/>
        </p:nvSpPr>
        <p:spPr>
          <a:xfrm>
            <a:off x="10076688" y="4974336"/>
            <a:ext cx="1737360" cy="768096"/>
          </a:xfrm>
          <a:prstGeom prst="roundRect">
            <a:avLst>
              <a:gd name="adj" fmla="val 9524"/>
            </a:avLst>
          </a:prstGeom>
          <a:solidFill>
            <a:srgbClr val="D6ECE9"/>
          </a:solidFill>
          <a:ln w="15875">
            <a:solidFill>
              <a:srgbClr val="0F766E"/>
            </a:solidFill>
            <a:prstDash val="sysDash"/>
          </a:ln>
        </p:spPr>
      </p:sp>
      <p:sp>
        <p:nvSpPr>
          <p:cNvPr id="93" name="oval-89"/>
          <p:cNvSpPr/>
          <p:nvPr/>
        </p:nvSpPr>
        <p:spPr>
          <a:xfrm>
            <a:off x="10149840" y="5266944"/>
            <a:ext cx="182880" cy="182880"/>
          </a:xfrm>
          <a:prstGeom prst="ellipse">
            <a:avLst/>
          </a:prstGeom>
          <a:solidFill>
            <a:srgbClr val="0F766E"/>
          </a:solidFill>
          <a:ln w="12700">
            <a:solidFill>
              <a:srgbClr val="0F766E"/>
            </a:solidFill>
            <a:prstDash val="solid"/>
          </a:ln>
        </p:spPr>
      </p:sp>
      <p:sp>
        <p:nvSpPr>
          <p:cNvPr id="94" name="text-90"/>
          <p:cNvSpPr txBox="1"/>
          <p:nvPr/>
        </p:nvSpPr>
        <p:spPr>
          <a:xfrm>
            <a:off x="10149840" y="5266944"/>
            <a:ext cx="1828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95" name="text-91"/>
          <p:cNvSpPr txBox="1"/>
          <p:nvPr/>
        </p:nvSpPr>
        <p:spPr>
          <a:xfrm>
            <a:off x="10405872" y="4974336"/>
            <a:ext cx="1335024" cy="768096"/>
          </a:xfrm>
          <a:prstGeom prst="rect">
            <a:avLst/>
          </a:prstGeom>
          <a:noFill/>
          <a:ln/>
        </p:spPr>
        <p:txBody>
          <a:bodyPr wrap="square" lIns="0" tIns="0" rIns="0" bIns="0" rtlCol="0" anchor="ctr"/>
          <a:lstStyle/>
          <a:p>
            <a:pPr algn="l" indent="0" marL="0">
              <a:lnSpc>
                <a:spcPct val="100000"/>
              </a:lnSpc>
              <a:buNone/>
            </a:pPr>
            <a:r>
              <a:rPr lang="en-US" sz="1100" dirty="0">
                <a:solidFill>
                  <a:srgbClr val="134E4A"/>
                </a:solidFill>
                <a:latin typeface="Calibri" pitchFamily="34" charset="0"/>
                <a:ea typeface="Calibri" pitchFamily="34" charset="-122"/>
                <a:cs typeface="Calibri" pitchFamily="34" charset="-120"/>
              </a:rPr>
              <a:t>Review, triage, runbooks</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4  ·  THE RESILIENCE TOOLKIT FOR THE PRODUCT</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Five kinds of protection for a five-nines product on the way to an intelligent digital platform</a:t>
            </a:r>
            <a:endParaRPr lang="en-US" sz="2250" dirty="0"/>
          </a:p>
        </p:txBody>
      </p:sp>
      <p:sp>
        <p:nvSpPr>
          <p:cNvPr id="4" name="shape-0"/>
          <p:cNvSpPr/>
          <p:nvPr/>
        </p:nvSpPr>
        <p:spPr>
          <a:xfrm>
            <a:off x="9418320" y="365760"/>
            <a:ext cx="2194560" cy="219456"/>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418320" y="365760"/>
            <a:ext cx="2194560" cy="219456"/>
          </a:xfrm>
          <a:prstGeom prst="rect">
            <a:avLst/>
          </a:prstGeom>
          <a:noFill/>
          <a:ln/>
        </p:spPr>
        <p:txBody>
          <a:bodyPr wrap="none" lIns="0" tIns="0" rIns="0" bIns="0" rtlCol="0" anchor="ctr"/>
          <a:lstStyle/>
          <a:p>
            <a:pPr algn="ctr" indent="0" marL="0">
              <a:lnSpc>
                <a:spcPct val="100000"/>
              </a:lnSpc>
              <a:buNone/>
            </a:pPr>
            <a:r>
              <a:rPr lang="en-US" sz="1100" b="1" spc="100" kern="0" dirty="0">
                <a:solidFill>
                  <a:srgbClr val="B45309"/>
                </a:solidFill>
                <a:latin typeface="Calibri" pitchFamily="34" charset="0"/>
                <a:ea typeface="Calibri" pitchFamily="34" charset="-122"/>
                <a:cs typeface="Calibri" pitchFamily="34" charset="-120"/>
              </a:rPr>
              <a:t>ILLUSTRATIVE — NOT A DECISION</a:t>
            </a:r>
            <a:endParaRPr lang="en-US" sz="1100" dirty="0"/>
          </a:p>
        </p:txBody>
      </p:sp>
      <p:sp>
        <p:nvSpPr>
          <p:cNvPr id="6" name="shape-2"/>
          <p:cNvSpPr/>
          <p:nvPr/>
        </p:nvSpPr>
        <p:spPr>
          <a:xfrm>
            <a:off x="548640" y="1463040"/>
            <a:ext cx="2125066" cy="3657600"/>
          </a:xfrm>
          <a:prstGeom prst="roundRect">
            <a:avLst>
              <a:gd name="adj" fmla="val 344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1627632"/>
            <a:ext cx="219456" cy="219456"/>
          </a:xfrm>
          <a:prstGeom prst="rect">
            <a:avLst/>
          </a:prstGeom>
        </p:spPr>
      </p:pic>
      <p:sp>
        <p:nvSpPr>
          <p:cNvPr id="8" name="text-4"/>
          <p:cNvSpPr txBox="1"/>
          <p:nvPr/>
        </p:nvSpPr>
        <p:spPr>
          <a:xfrm>
            <a:off x="1005840" y="1627632"/>
            <a:ext cx="1576426" cy="237744"/>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1 · Isolate</a:t>
            </a:r>
            <a:endParaRPr lang="en-US" sz="1300" dirty="0"/>
          </a:p>
        </p:txBody>
      </p:sp>
      <p:sp>
        <p:nvSpPr>
          <p:cNvPr id="9" name="text-5"/>
          <p:cNvSpPr txBox="1"/>
          <p:nvPr/>
        </p:nvSpPr>
        <p:spPr>
          <a:xfrm>
            <a:off x="694944" y="1901952"/>
            <a:ext cx="1850746" cy="164592"/>
          </a:xfrm>
          <a:prstGeom prst="rect">
            <a:avLst/>
          </a:prstGeom>
          <a:noFill/>
          <a:ln/>
        </p:spPr>
        <p:txBody>
          <a:bodyPr wrap="square" lIns="0" tIns="0" rIns="0" bIns="0" rtlCol="0" anchor="ctr"/>
          <a:lstStyle/>
          <a:p>
            <a:pPr algn="l" indent="0" marL="0">
              <a:lnSpc>
                <a:spcPct val="100000"/>
              </a:lnSpc>
              <a:buNone/>
            </a:pPr>
            <a:r>
              <a:rPr lang="en-US" sz="1100" i="1" dirty="0">
                <a:solidFill>
                  <a:srgbClr val="CFE8E5"/>
                </a:solidFill>
                <a:latin typeface="Calibri" pitchFamily="34" charset="0"/>
                <a:ea typeface="Calibri" pitchFamily="34" charset="-122"/>
                <a:cs typeface="Calibri" pitchFamily="34" charset="-120"/>
              </a:rPr>
              <a:t>no shared fate</a:t>
            </a:r>
            <a:endParaRPr lang="en-US" sz="1100" dirty="0"/>
          </a:p>
        </p:txBody>
      </p:sp>
      <p:sp>
        <p:nvSpPr>
          <p:cNvPr id="10" name="shape-6"/>
          <p:cNvSpPr/>
          <p:nvPr/>
        </p:nvSpPr>
        <p:spPr>
          <a:xfrm>
            <a:off x="658368" y="2286000"/>
            <a:ext cx="1905610" cy="457200"/>
          </a:xfrm>
          <a:prstGeom prst="roundRect">
            <a:avLst>
              <a:gd name="adj" fmla="val 10000"/>
            </a:avLst>
          </a:prstGeom>
          <a:solidFill>
            <a:srgbClr val="2A6660"/>
          </a:solidFill>
          <a:ln w="12700">
            <a:solidFill>
              <a:srgbClr val="2A6660"/>
            </a:solidFill>
            <a:prstDash val="solid"/>
          </a:ln>
        </p:spPr>
      </p:sp>
      <p:sp>
        <p:nvSpPr>
          <p:cNvPr id="11" name="text-7"/>
          <p:cNvSpPr txBox="1"/>
          <p:nvPr/>
        </p:nvSpPr>
        <p:spPr>
          <a:xfrm>
            <a:off x="731520" y="232257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Hub and spoke; commodity behind the bus</a:t>
            </a:r>
            <a:endParaRPr lang="en-US" sz="1100" dirty="0"/>
          </a:p>
        </p:txBody>
      </p:sp>
      <p:sp>
        <p:nvSpPr>
          <p:cNvPr id="12" name="shape-8"/>
          <p:cNvSpPr/>
          <p:nvPr/>
        </p:nvSpPr>
        <p:spPr>
          <a:xfrm>
            <a:off x="658368" y="2834640"/>
            <a:ext cx="1905610" cy="457200"/>
          </a:xfrm>
          <a:prstGeom prst="roundRect">
            <a:avLst>
              <a:gd name="adj" fmla="val 10000"/>
            </a:avLst>
          </a:prstGeom>
          <a:solidFill>
            <a:srgbClr val="2A6660"/>
          </a:solidFill>
          <a:ln w="12700">
            <a:solidFill>
              <a:srgbClr val="2A6660"/>
            </a:solidFill>
            <a:prstDash val="solid"/>
          </a:ln>
        </p:spPr>
      </p:sp>
      <p:sp>
        <p:nvSpPr>
          <p:cNvPr id="13" name="text-9"/>
          <p:cNvSpPr txBox="1"/>
          <p:nvPr/>
        </p:nvSpPr>
        <p:spPr>
          <a:xfrm>
            <a:off x="731520" y="287121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Published content at the edge (CDN)</a:t>
            </a:r>
            <a:endParaRPr lang="en-US" sz="1100" dirty="0"/>
          </a:p>
        </p:txBody>
      </p:sp>
      <p:sp>
        <p:nvSpPr>
          <p:cNvPr id="14" name="shape-10"/>
          <p:cNvSpPr/>
          <p:nvPr/>
        </p:nvSpPr>
        <p:spPr>
          <a:xfrm>
            <a:off x="658368" y="3383280"/>
            <a:ext cx="1905610" cy="457200"/>
          </a:xfrm>
          <a:prstGeom prst="roundRect">
            <a:avLst>
              <a:gd name="adj" fmla="val 10000"/>
            </a:avLst>
          </a:prstGeom>
          <a:solidFill>
            <a:srgbClr val="2A6660"/>
          </a:solidFill>
          <a:ln w="12700">
            <a:solidFill>
              <a:srgbClr val="2A6660"/>
            </a:solidFill>
            <a:prstDash val="solid"/>
          </a:ln>
        </p:spPr>
      </p:sp>
      <p:sp>
        <p:nvSpPr>
          <p:cNvPr id="15" name="text-11"/>
          <p:cNvSpPr txBox="1"/>
          <p:nvPr/>
        </p:nvSpPr>
        <p:spPr>
          <a:xfrm>
            <a:off x="731520" y="341985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Entitlements cached, with grace</a:t>
            </a:r>
            <a:endParaRPr lang="en-US" sz="1100" dirty="0"/>
          </a:p>
        </p:txBody>
      </p:sp>
      <p:sp>
        <p:nvSpPr>
          <p:cNvPr id="16" name="shape-12"/>
          <p:cNvSpPr/>
          <p:nvPr/>
        </p:nvSpPr>
        <p:spPr>
          <a:xfrm>
            <a:off x="658368" y="3931920"/>
            <a:ext cx="1905610" cy="457200"/>
          </a:xfrm>
          <a:prstGeom prst="roundRect">
            <a:avLst>
              <a:gd name="adj" fmla="val 10000"/>
            </a:avLst>
          </a:prstGeom>
          <a:solidFill>
            <a:srgbClr val="2A6660"/>
          </a:solidFill>
          <a:ln w="12700">
            <a:solidFill>
              <a:srgbClr val="2A6660"/>
            </a:solidFill>
            <a:prstDash val="solid"/>
          </a:ln>
        </p:spPr>
      </p:sp>
      <p:sp>
        <p:nvSpPr>
          <p:cNvPr id="17" name="text-13"/>
          <p:cNvSpPr txBox="1"/>
          <p:nvPr/>
        </p:nvSpPr>
        <p:spPr>
          <a:xfrm>
            <a:off x="731520" y="396849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Read-only degraded mode</a:t>
            </a:r>
            <a:endParaRPr lang="en-US" sz="1100" dirty="0"/>
          </a:p>
        </p:txBody>
      </p:sp>
      <p:sp>
        <p:nvSpPr>
          <p:cNvPr id="18" name="shape-14"/>
          <p:cNvSpPr/>
          <p:nvPr/>
        </p:nvSpPr>
        <p:spPr>
          <a:xfrm>
            <a:off x="658368" y="4480560"/>
            <a:ext cx="1905610" cy="457200"/>
          </a:xfrm>
          <a:prstGeom prst="roundRect">
            <a:avLst>
              <a:gd name="adj" fmla="val 10000"/>
            </a:avLst>
          </a:prstGeom>
          <a:solidFill>
            <a:srgbClr val="2A6660"/>
          </a:solidFill>
          <a:ln w="12700">
            <a:solidFill>
              <a:srgbClr val="2A6660"/>
            </a:solidFill>
            <a:prstDash val="solid"/>
          </a:ln>
        </p:spPr>
      </p:sp>
      <p:sp>
        <p:nvSpPr>
          <p:cNvPr id="19" name="text-15"/>
          <p:cNvSpPr txBox="1"/>
          <p:nvPr/>
        </p:nvSpPr>
        <p:spPr>
          <a:xfrm>
            <a:off x="731520" y="451713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Bulkheads, circuit breakers, back-pressure</a:t>
            </a:r>
            <a:endParaRPr lang="en-US" sz="1100" dirty="0"/>
          </a:p>
        </p:txBody>
      </p:sp>
      <p:sp>
        <p:nvSpPr>
          <p:cNvPr id="20" name="shape-16"/>
          <p:cNvSpPr/>
          <p:nvPr/>
        </p:nvSpPr>
        <p:spPr>
          <a:xfrm>
            <a:off x="2783434" y="1463040"/>
            <a:ext cx="2125066" cy="3657600"/>
          </a:xfrm>
          <a:prstGeom prst="roundRect">
            <a:avLst>
              <a:gd name="adj" fmla="val 3442"/>
            </a:avLst>
          </a:prstGeom>
          <a:solidFill>
            <a:srgbClr val="EEF2F4"/>
          </a:solidFill>
          <a:ln w="12700">
            <a:solidFill>
              <a:srgbClr val="EEF2F4"/>
            </a:solidFill>
            <a:prstDash val="solid"/>
          </a:ln>
        </p:spPr>
      </p:sp>
      <p:pic>
        <p:nvPicPr>
          <p:cNvPr id="21" name="icon-17" descr="preencoded.png">    </p:cNvPr>
          <p:cNvPicPr>
            <a:picLocks noChangeAspect="1"/>
          </p:cNvPicPr>
          <p:nvPr/>
        </p:nvPicPr>
        <p:blipFill>
          <a:blip r:embed="rId2"/>
          <a:stretch>
            <a:fillRect/>
          </a:stretch>
        </p:blipFill>
        <p:spPr>
          <a:xfrm>
            <a:off x="2929738" y="1627632"/>
            <a:ext cx="219456" cy="219456"/>
          </a:xfrm>
          <a:prstGeom prst="rect">
            <a:avLst/>
          </a:prstGeom>
        </p:spPr>
      </p:pic>
      <p:sp>
        <p:nvSpPr>
          <p:cNvPr id="22" name="text-18"/>
          <p:cNvSpPr txBox="1"/>
          <p:nvPr/>
        </p:nvSpPr>
        <p:spPr>
          <a:xfrm>
            <a:off x="3240634" y="1627632"/>
            <a:ext cx="1576426"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2 · Replicate</a:t>
            </a:r>
            <a:endParaRPr lang="en-US" sz="1300" dirty="0"/>
          </a:p>
        </p:txBody>
      </p:sp>
      <p:sp>
        <p:nvSpPr>
          <p:cNvPr id="23" name="text-19"/>
          <p:cNvSpPr txBox="1"/>
          <p:nvPr/>
        </p:nvSpPr>
        <p:spPr>
          <a:xfrm>
            <a:off x="2929738" y="1901952"/>
            <a:ext cx="1850746"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no single point</a:t>
            </a:r>
            <a:endParaRPr lang="en-US" sz="1100" dirty="0"/>
          </a:p>
        </p:txBody>
      </p:sp>
      <p:sp>
        <p:nvSpPr>
          <p:cNvPr id="24" name="shape-20"/>
          <p:cNvSpPr/>
          <p:nvPr/>
        </p:nvSpPr>
        <p:spPr>
          <a:xfrm>
            <a:off x="2893162" y="2286000"/>
            <a:ext cx="1905610" cy="457200"/>
          </a:xfrm>
          <a:prstGeom prst="roundRect">
            <a:avLst>
              <a:gd name="adj" fmla="val 10000"/>
            </a:avLst>
          </a:prstGeom>
          <a:solidFill>
            <a:srgbClr val="FFFFFF"/>
          </a:solidFill>
          <a:ln w="12700">
            <a:solidFill>
              <a:srgbClr val="FFFFFF"/>
            </a:solidFill>
            <a:prstDash val="solid"/>
          </a:ln>
        </p:spPr>
      </p:sp>
      <p:sp>
        <p:nvSpPr>
          <p:cNvPr id="25" name="text-21"/>
          <p:cNvSpPr txBox="1"/>
          <p:nvPr/>
        </p:nvSpPr>
        <p:spPr>
          <a:xfrm>
            <a:off x="2966314" y="232257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Active-active across regions</a:t>
            </a:r>
            <a:endParaRPr lang="en-US" sz="1100" dirty="0"/>
          </a:p>
        </p:txBody>
      </p:sp>
      <p:sp>
        <p:nvSpPr>
          <p:cNvPr id="26" name="shape-22"/>
          <p:cNvSpPr/>
          <p:nvPr/>
        </p:nvSpPr>
        <p:spPr>
          <a:xfrm>
            <a:off x="2893162" y="2834640"/>
            <a:ext cx="1905610" cy="457200"/>
          </a:xfrm>
          <a:prstGeom prst="roundRect">
            <a:avLst>
              <a:gd name="adj" fmla="val 10000"/>
            </a:avLst>
          </a:prstGeom>
          <a:solidFill>
            <a:srgbClr val="FFFFFF"/>
          </a:solidFill>
          <a:ln w="12700">
            <a:solidFill>
              <a:srgbClr val="FFFFFF"/>
            </a:solidFill>
            <a:prstDash val="solid"/>
          </a:ln>
        </p:spPr>
      </p:sp>
      <p:sp>
        <p:nvSpPr>
          <p:cNvPr id="27" name="text-23"/>
          <p:cNvSpPr txBox="1"/>
          <p:nvPr/>
        </p:nvSpPr>
        <p:spPr>
          <a:xfrm>
            <a:off x="2966314" y="287121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Stateless services, replicated data</a:t>
            </a:r>
            <a:endParaRPr lang="en-US" sz="1100" dirty="0"/>
          </a:p>
        </p:txBody>
      </p:sp>
      <p:sp>
        <p:nvSpPr>
          <p:cNvPr id="28" name="shape-24"/>
          <p:cNvSpPr/>
          <p:nvPr/>
        </p:nvSpPr>
        <p:spPr>
          <a:xfrm>
            <a:off x="2893162" y="3383280"/>
            <a:ext cx="1905610" cy="457200"/>
          </a:xfrm>
          <a:prstGeom prst="roundRect">
            <a:avLst>
              <a:gd name="adj" fmla="val 10000"/>
            </a:avLst>
          </a:prstGeom>
          <a:solidFill>
            <a:srgbClr val="FFFFFF"/>
          </a:solidFill>
          <a:ln w="12700">
            <a:solidFill>
              <a:srgbClr val="FFFFFF"/>
            </a:solidFill>
            <a:prstDash val="solid"/>
          </a:ln>
        </p:spPr>
      </p:sp>
      <p:sp>
        <p:nvSpPr>
          <p:cNvPr id="29" name="text-25"/>
          <p:cNvSpPr txBox="1"/>
          <p:nvPr/>
        </p:nvSpPr>
        <p:spPr>
          <a:xfrm>
            <a:off x="2966314" y="341985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Identity-provider outage plan</a:t>
            </a:r>
            <a:endParaRPr lang="en-US" sz="1100" dirty="0"/>
          </a:p>
        </p:txBody>
      </p:sp>
      <p:sp>
        <p:nvSpPr>
          <p:cNvPr id="30" name="shape-26"/>
          <p:cNvSpPr/>
          <p:nvPr/>
        </p:nvSpPr>
        <p:spPr>
          <a:xfrm>
            <a:off x="2893162" y="3931920"/>
            <a:ext cx="1905610" cy="457200"/>
          </a:xfrm>
          <a:prstGeom prst="roundRect">
            <a:avLst>
              <a:gd name="adj" fmla="val 10000"/>
            </a:avLst>
          </a:prstGeom>
          <a:solidFill>
            <a:srgbClr val="FFFFFF"/>
          </a:solidFill>
          <a:ln w="12700">
            <a:solidFill>
              <a:srgbClr val="FFFFFF"/>
            </a:solidFill>
            <a:prstDash val="solid"/>
          </a:ln>
        </p:spPr>
      </p:sp>
      <p:sp>
        <p:nvSpPr>
          <p:cNvPr id="31" name="text-27"/>
          <p:cNvSpPr txBox="1"/>
          <p:nvPr/>
        </p:nvSpPr>
        <p:spPr>
          <a:xfrm>
            <a:off x="2966314" y="396849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SaaS and vendor failover plans</a:t>
            </a:r>
            <a:endParaRPr lang="en-US" sz="1100" dirty="0"/>
          </a:p>
        </p:txBody>
      </p:sp>
      <p:sp>
        <p:nvSpPr>
          <p:cNvPr id="32" name="shape-28"/>
          <p:cNvSpPr/>
          <p:nvPr/>
        </p:nvSpPr>
        <p:spPr>
          <a:xfrm>
            <a:off x="2893162" y="4480560"/>
            <a:ext cx="1905610" cy="457200"/>
          </a:xfrm>
          <a:prstGeom prst="roundRect">
            <a:avLst>
              <a:gd name="adj" fmla="val 10000"/>
            </a:avLst>
          </a:prstGeom>
          <a:solidFill>
            <a:srgbClr val="FFFFFF"/>
          </a:solidFill>
          <a:ln w="12700">
            <a:solidFill>
              <a:srgbClr val="FFFFFF"/>
            </a:solidFill>
            <a:prstDash val="solid"/>
          </a:ln>
        </p:spPr>
      </p:sp>
      <p:sp>
        <p:nvSpPr>
          <p:cNvPr id="33" name="text-29"/>
          <p:cNvSpPr txBox="1"/>
          <p:nvPr/>
        </p:nvSpPr>
        <p:spPr>
          <a:xfrm>
            <a:off x="2966314" y="451713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Capacity headroom and load testing</a:t>
            </a:r>
            <a:endParaRPr lang="en-US" sz="1100" dirty="0"/>
          </a:p>
        </p:txBody>
      </p:sp>
      <p:sp>
        <p:nvSpPr>
          <p:cNvPr id="34" name="shape-30"/>
          <p:cNvSpPr/>
          <p:nvPr/>
        </p:nvSpPr>
        <p:spPr>
          <a:xfrm>
            <a:off x="5018227" y="1463040"/>
            <a:ext cx="2125066" cy="3657600"/>
          </a:xfrm>
          <a:prstGeom prst="roundRect">
            <a:avLst>
              <a:gd name="adj" fmla="val 3442"/>
            </a:avLst>
          </a:prstGeom>
          <a:solidFill>
            <a:srgbClr val="EEF2F4"/>
          </a:solidFill>
          <a:ln w="12700">
            <a:solidFill>
              <a:srgbClr val="EEF2F4"/>
            </a:solidFill>
            <a:prstDash val="solid"/>
          </a:ln>
        </p:spPr>
      </p:sp>
      <p:pic>
        <p:nvPicPr>
          <p:cNvPr id="35" name="icon-31" descr="preencoded.png">    </p:cNvPr>
          <p:cNvPicPr>
            <a:picLocks noChangeAspect="1"/>
          </p:cNvPicPr>
          <p:nvPr/>
        </p:nvPicPr>
        <p:blipFill>
          <a:blip r:embed="rId3"/>
          <a:stretch>
            <a:fillRect/>
          </a:stretch>
        </p:blipFill>
        <p:spPr>
          <a:xfrm>
            <a:off x="5164531" y="1627632"/>
            <a:ext cx="219456" cy="219456"/>
          </a:xfrm>
          <a:prstGeom prst="rect">
            <a:avLst/>
          </a:prstGeom>
        </p:spPr>
      </p:pic>
      <p:sp>
        <p:nvSpPr>
          <p:cNvPr id="36" name="text-32"/>
          <p:cNvSpPr txBox="1"/>
          <p:nvPr/>
        </p:nvSpPr>
        <p:spPr>
          <a:xfrm>
            <a:off x="5475427" y="1627632"/>
            <a:ext cx="1576426"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3 · Release safely</a:t>
            </a:r>
            <a:endParaRPr lang="en-US" sz="1300" dirty="0"/>
          </a:p>
        </p:txBody>
      </p:sp>
      <p:sp>
        <p:nvSpPr>
          <p:cNvPr id="37" name="text-33"/>
          <p:cNvSpPr txBox="1"/>
          <p:nvPr/>
        </p:nvSpPr>
        <p:spPr>
          <a:xfrm>
            <a:off x="5164531" y="1901952"/>
            <a:ext cx="1850746"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no big-bang change</a:t>
            </a:r>
            <a:endParaRPr lang="en-US" sz="1100" dirty="0"/>
          </a:p>
        </p:txBody>
      </p:sp>
      <p:sp>
        <p:nvSpPr>
          <p:cNvPr id="38" name="shape-34"/>
          <p:cNvSpPr/>
          <p:nvPr/>
        </p:nvSpPr>
        <p:spPr>
          <a:xfrm>
            <a:off x="5127955" y="2286000"/>
            <a:ext cx="1905610" cy="457200"/>
          </a:xfrm>
          <a:prstGeom prst="roundRect">
            <a:avLst>
              <a:gd name="adj" fmla="val 10000"/>
            </a:avLst>
          </a:prstGeom>
          <a:solidFill>
            <a:srgbClr val="FFFFFF"/>
          </a:solidFill>
          <a:ln w="12700">
            <a:solidFill>
              <a:srgbClr val="FFFFFF"/>
            </a:solidFill>
            <a:prstDash val="solid"/>
          </a:ln>
        </p:spPr>
      </p:sp>
      <p:sp>
        <p:nvSpPr>
          <p:cNvPr id="39" name="text-35"/>
          <p:cNvSpPr txBox="1"/>
          <p:nvPr/>
        </p:nvSpPr>
        <p:spPr>
          <a:xfrm>
            <a:off x="5201107" y="232257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Feature switches — ship dark, release deliberately</a:t>
            </a:r>
            <a:endParaRPr lang="en-US" sz="1100" dirty="0"/>
          </a:p>
        </p:txBody>
      </p:sp>
      <p:sp>
        <p:nvSpPr>
          <p:cNvPr id="40" name="shape-36"/>
          <p:cNvSpPr/>
          <p:nvPr/>
        </p:nvSpPr>
        <p:spPr>
          <a:xfrm>
            <a:off x="5127955" y="2834640"/>
            <a:ext cx="1905610" cy="457200"/>
          </a:xfrm>
          <a:prstGeom prst="roundRect">
            <a:avLst>
              <a:gd name="adj" fmla="val 10000"/>
            </a:avLst>
          </a:prstGeom>
          <a:solidFill>
            <a:srgbClr val="FFFFFF"/>
          </a:solidFill>
          <a:ln w="12700">
            <a:solidFill>
              <a:srgbClr val="FFFFFF"/>
            </a:solidFill>
            <a:prstDash val="solid"/>
          </a:ln>
        </p:spPr>
      </p:sp>
      <p:sp>
        <p:nvSpPr>
          <p:cNvPr id="41" name="text-37"/>
          <p:cNvSpPr txBox="1"/>
          <p:nvPr/>
        </p:nvSpPr>
        <p:spPr>
          <a:xfrm>
            <a:off x="5201107" y="287121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Blue/green deployment</a:t>
            </a:r>
            <a:endParaRPr lang="en-US" sz="1100" dirty="0"/>
          </a:p>
        </p:txBody>
      </p:sp>
      <p:sp>
        <p:nvSpPr>
          <p:cNvPr id="42" name="shape-38"/>
          <p:cNvSpPr/>
          <p:nvPr/>
        </p:nvSpPr>
        <p:spPr>
          <a:xfrm>
            <a:off x="5127955" y="3383280"/>
            <a:ext cx="1905610" cy="457200"/>
          </a:xfrm>
          <a:prstGeom prst="roundRect">
            <a:avLst>
              <a:gd name="adj" fmla="val 10000"/>
            </a:avLst>
          </a:prstGeom>
          <a:solidFill>
            <a:srgbClr val="FFFFFF"/>
          </a:solidFill>
          <a:ln w="12700">
            <a:solidFill>
              <a:srgbClr val="FFFFFF"/>
            </a:solidFill>
            <a:prstDash val="solid"/>
          </a:ln>
        </p:spPr>
      </p:sp>
      <p:sp>
        <p:nvSpPr>
          <p:cNvPr id="43" name="text-39"/>
          <p:cNvSpPr txBox="1"/>
          <p:nvPr/>
        </p:nvSpPr>
        <p:spPr>
          <a:xfrm>
            <a:off x="5201107" y="341985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Canary by cohort, automated rollback</a:t>
            </a:r>
            <a:endParaRPr lang="en-US" sz="1100" dirty="0"/>
          </a:p>
        </p:txBody>
      </p:sp>
      <p:sp>
        <p:nvSpPr>
          <p:cNvPr id="44" name="shape-40"/>
          <p:cNvSpPr/>
          <p:nvPr/>
        </p:nvSpPr>
        <p:spPr>
          <a:xfrm>
            <a:off x="5127955" y="3931920"/>
            <a:ext cx="1905610" cy="457200"/>
          </a:xfrm>
          <a:prstGeom prst="roundRect">
            <a:avLst>
              <a:gd name="adj" fmla="val 10000"/>
            </a:avLst>
          </a:prstGeom>
          <a:solidFill>
            <a:srgbClr val="FFFFFF"/>
          </a:solidFill>
          <a:ln w="12700">
            <a:solidFill>
              <a:srgbClr val="FFFFFF"/>
            </a:solidFill>
            <a:prstDash val="solid"/>
          </a:ln>
        </p:spPr>
      </p:sp>
      <p:sp>
        <p:nvSpPr>
          <p:cNvPr id="45" name="text-41"/>
          <p:cNvSpPr txBox="1"/>
          <p:nvPr/>
        </p:nvSpPr>
        <p:spPr>
          <a:xfrm>
            <a:off x="5201107" y="396849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Expand/contract schema changes</a:t>
            </a:r>
            <a:endParaRPr lang="en-US" sz="1100" dirty="0"/>
          </a:p>
        </p:txBody>
      </p:sp>
      <p:sp>
        <p:nvSpPr>
          <p:cNvPr id="46" name="shape-42"/>
          <p:cNvSpPr/>
          <p:nvPr/>
        </p:nvSpPr>
        <p:spPr>
          <a:xfrm>
            <a:off x="5127955" y="4480560"/>
            <a:ext cx="1905610" cy="457200"/>
          </a:xfrm>
          <a:prstGeom prst="roundRect">
            <a:avLst>
              <a:gd name="adj" fmla="val 10000"/>
            </a:avLst>
          </a:prstGeom>
          <a:solidFill>
            <a:srgbClr val="FFFFFF"/>
          </a:solidFill>
          <a:ln w="12700">
            <a:solidFill>
              <a:srgbClr val="FFFFFF"/>
            </a:solidFill>
            <a:prstDash val="solid"/>
          </a:ln>
        </p:spPr>
      </p:sp>
      <p:sp>
        <p:nvSpPr>
          <p:cNvPr id="47" name="text-43"/>
          <p:cNvSpPr txBox="1"/>
          <p:nvPr/>
        </p:nvSpPr>
        <p:spPr>
          <a:xfrm>
            <a:off x="5201107" y="451713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Immutable, versioned content releases</a:t>
            </a:r>
            <a:endParaRPr lang="en-US" sz="1100" dirty="0"/>
          </a:p>
        </p:txBody>
      </p:sp>
      <p:sp>
        <p:nvSpPr>
          <p:cNvPr id="48" name="shape-44"/>
          <p:cNvSpPr/>
          <p:nvPr/>
        </p:nvSpPr>
        <p:spPr>
          <a:xfrm>
            <a:off x="7253021" y="1463040"/>
            <a:ext cx="2125066" cy="3657600"/>
          </a:xfrm>
          <a:prstGeom prst="roundRect">
            <a:avLst>
              <a:gd name="adj" fmla="val 3442"/>
            </a:avLst>
          </a:prstGeom>
          <a:solidFill>
            <a:srgbClr val="EEF2F4"/>
          </a:solidFill>
          <a:ln w="12700">
            <a:solidFill>
              <a:srgbClr val="EEF2F4"/>
            </a:solidFill>
            <a:prstDash val="solid"/>
          </a:ln>
        </p:spPr>
      </p:sp>
      <p:pic>
        <p:nvPicPr>
          <p:cNvPr id="49" name="icon-45" descr="preencoded.png">    </p:cNvPr>
          <p:cNvPicPr>
            <a:picLocks noChangeAspect="1"/>
          </p:cNvPicPr>
          <p:nvPr/>
        </p:nvPicPr>
        <p:blipFill>
          <a:blip r:embed="rId4"/>
          <a:stretch>
            <a:fillRect/>
          </a:stretch>
        </p:blipFill>
        <p:spPr>
          <a:xfrm>
            <a:off x="7399325" y="1627632"/>
            <a:ext cx="219456" cy="219456"/>
          </a:xfrm>
          <a:prstGeom prst="rect">
            <a:avLst/>
          </a:prstGeom>
        </p:spPr>
      </p:pic>
      <p:sp>
        <p:nvSpPr>
          <p:cNvPr id="50" name="text-46"/>
          <p:cNvSpPr txBox="1"/>
          <p:nvPr/>
        </p:nvSpPr>
        <p:spPr>
          <a:xfrm>
            <a:off x="7710221" y="1627632"/>
            <a:ext cx="1576426"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4 · Detect and respond</a:t>
            </a:r>
            <a:endParaRPr lang="en-US" sz="1300" dirty="0"/>
          </a:p>
        </p:txBody>
      </p:sp>
      <p:sp>
        <p:nvSpPr>
          <p:cNvPr id="51" name="text-47"/>
          <p:cNvSpPr txBox="1"/>
          <p:nvPr/>
        </p:nvSpPr>
        <p:spPr>
          <a:xfrm>
            <a:off x="7399325" y="1901952"/>
            <a:ext cx="1850746"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minutes, not hours</a:t>
            </a:r>
            <a:endParaRPr lang="en-US" sz="1100" dirty="0"/>
          </a:p>
        </p:txBody>
      </p:sp>
      <p:sp>
        <p:nvSpPr>
          <p:cNvPr id="52" name="shape-48"/>
          <p:cNvSpPr/>
          <p:nvPr/>
        </p:nvSpPr>
        <p:spPr>
          <a:xfrm>
            <a:off x="7362749" y="2286000"/>
            <a:ext cx="1905610" cy="457200"/>
          </a:xfrm>
          <a:prstGeom prst="roundRect">
            <a:avLst>
              <a:gd name="adj" fmla="val 10000"/>
            </a:avLst>
          </a:prstGeom>
          <a:solidFill>
            <a:srgbClr val="FFFFFF"/>
          </a:solidFill>
          <a:ln w="12700">
            <a:solidFill>
              <a:srgbClr val="FFFFFF"/>
            </a:solidFill>
            <a:prstDash val="solid"/>
          </a:ln>
        </p:spPr>
      </p:sp>
      <p:sp>
        <p:nvSpPr>
          <p:cNvPr id="53" name="text-49"/>
          <p:cNvSpPr txBox="1"/>
          <p:nvPr/>
        </p:nvSpPr>
        <p:spPr>
          <a:xfrm>
            <a:off x="7435901" y="232257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SLOs and error budgets</a:t>
            </a:r>
            <a:endParaRPr lang="en-US" sz="1100" dirty="0"/>
          </a:p>
        </p:txBody>
      </p:sp>
      <p:sp>
        <p:nvSpPr>
          <p:cNvPr id="54" name="shape-50"/>
          <p:cNvSpPr/>
          <p:nvPr/>
        </p:nvSpPr>
        <p:spPr>
          <a:xfrm>
            <a:off x="7362749" y="2834640"/>
            <a:ext cx="1905610" cy="457200"/>
          </a:xfrm>
          <a:prstGeom prst="roundRect">
            <a:avLst>
              <a:gd name="adj" fmla="val 10000"/>
            </a:avLst>
          </a:prstGeom>
          <a:solidFill>
            <a:srgbClr val="FFFFFF"/>
          </a:solidFill>
          <a:ln w="12700">
            <a:solidFill>
              <a:srgbClr val="FFFFFF"/>
            </a:solidFill>
            <a:prstDash val="solid"/>
          </a:ln>
        </p:spPr>
      </p:sp>
      <p:sp>
        <p:nvSpPr>
          <p:cNvPr id="55" name="text-51"/>
          <p:cNvSpPr txBox="1"/>
          <p:nvPr/>
        </p:nvSpPr>
        <p:spPr>
          <a:xfrm>
            <a:off x="7435901" y="287121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Synthetic checks from customer locations</a:t>
            </a:r>
            <a:endParaRPr lang="en-US" sz="1100" dirty="0"/>
          </a:p>
        </p:txBody>
      </p:sp>
      <p:sp>
        <p:nvSpPr>
          <p:cNvPr id="56" name="shape-52"/>
          <p:cNvSpPr/>
          <p:nvPr/>
        </p:nvSpPr>
        <p:spPr>
          <a:xfrm>
            <a:off x="7362749" y="3383280"/>
            <a:ext cx="1905610" cy="457200"/>
          </a:xfrm>
          <a:prstGeom prst="roundRect">
            <a:avLst>
              <a:gd name="adj" fmla="val 10000"/>
            </a:avLst>
          </a:prstGeom>
          <a:solidFill>
            <a:srgbClr val="FFFFFF"/>
          </a:solidFill>
          <a:ln w="12700">
            <a:solidFill>
              <a:srgbClr val="FFFFFF"/>
            </a:solidFill>
            <a:prstDash val="solid"/>
          </a:ln>
        </p:spPr>
      </p:sp>
      <p:sp>
        <p:nvSpPr>
          <p:cNvPr id="57" name="text-53"/>
          <p:cNvSpPr txBox="1"/>
          <p:nvPr/>
        </p:nvSpPr>
        <p:spPr>
          <a:xfrm>
            <a:off x="7435901" y="341985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Runbooks; 24×7 on-call via MSP</a:t>
            </a:r>
            <a:endParaRPr lang="en-US" sz="1100" dirty="0"/>
          </a:p>
        </p:txBody>
      </p:sp>
      <p:sp>
        <p:nvSpPr>
          <p:cNvPr id="58" name="shape-54"/>
          <p:cNvSpPr/>
          <p:nvPr/>
        </p:nvSpPr>
        <p:spPr>
          <a:xfrm>
            <a:off x="7362749" y="3931920"/>
            <a:ext cx="1905610" cy="457200"/>
          </a:xfrm>
          <a:prstGeom prst="roundRect">
            <a:avLst>
              <a:gd name="adj" fmla="val 10000"/>
            </a:avLst>
          </a:prstGeom>
          <a:solidFill>
            <a:srgbClr val="FFFFFF"/>
          </a:solidFill>
          <a:ln w="12700">
            <a:solidFill>
              <a:srgbClr val="FFFFFF"/>
            </a:solidFill>
            <a:prstDash val="solid"/>
          </a:ln>
        </p:spPr>
      </p:sp>
      <p:sp>
        <p:nvSpPr>
          <p:cNvPr id="59" name="text-55"/>
          <p:cNvSpPr txBox="1"/>
          <p:nvPr/>
        </p:nvSpPr>
        <p:spPr>
          <a:xfrm>
            <a:off x="7435901" y="396849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Status page and incident comms</a:t>
            </a:r>
            <a:endParaRPr lang="en-US" sz="1100" dirty="0"/>
          </a:p>
        </p:txBody>
      </p:sp>
      <p:sp>
        <p:nvSpPr>
          <p:cNvPr id="60" name="shape-56"/>
          <p:cNvSpPr/>
          <p:nvPr/>
        </p:nvSpPr>
        <p:spPr>
          <a:xfrm>
            <a:off x="7362749" y="4480560"/>
            <a:ext cx="1905610" cy="457200"/>
          </a:xfrm>
          <a:prstGeom prst="roundRect">
            <a:avLst>
              <a:gd name="adj" fmla="val 10000"/>
            </a:avLst>
          </a:prstGeom>
          <a:solidFill>
            <a:srgbClr val="FFFFFF"/>
          </a:solidFill>
          <a:ln w="12700">
            <a:solidFill>
              <a:srgbClr val="FFFFFF"/>
            </a:solidFill>
            <a:prstDash val="solid"/>
          </a:ln>
        </p:spPr>
      </p:sp>
      <p:sp>
        <p:nvSpPr>
          <p:cNvPr id="61" name="text-57"/>
          <p:cNvSpPr txBox="1"/>
          <p:nvPr/>
        </p:nvSpPr>
        <p:spPr>
          <a:xfrm>
            <a:off x="7435901" y="451713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Game days and DR drills (RTO/RPO)</a:t>
            </a:r>
            <a:endParaRPr lang="en-US" sz="1100" dirty="0"/>
          </a:p>
        </p:txBody>
      </p:sp>
      <p:sp>
        <p:nvSpPr>
          <p:cNvPr id="62" name="shape-58"/>
          <p:cNvSpPr/>
          <p:nvPr/>
        </p:nvSpPr>
        <p:spPr>
          <a:xfrm>
            <a:off x="9487814" y="1463040"/>
            <a:ext cx="2125066" cy="3657600"/>
          </a:xfrm>
          <a:prstGeom prst="roundRect">
            <a:avLst>
              <a:gd name="adj" fmla="val 3442"/>
            </a:avLst>
          </a:prstGeom>
          <a:solidFill>
            <a:srgbClr val="EEF2F4"/>
          </a:solidFill>
          <a:ln w="12700">
            <a:solidFill>
              <a:srgbClr val="EEF2F4"/>
            </a:solidFill>
            <a:prstDash val="solid"/>
          </a:ln>
        </p:spPr>
      </p:sp>
      <p:pic>
        <p:nvPicPr>
          <p:cNvPr id="63" name="icon-59" descr="preencoded.png">    </p:cNvPr>
          <p:cNvPicPr>
            <a:picLocks noChangeAspect="1"/>
          </p:cNvPicPr>
          <p:nvPr/>
        </p:nvPicPr>
        <p:blipFill>
          <a:blip r:embed="rId5"/>
          <a:stretch>
            <a:fillRect/>
          </a:stretch>
        </p:blipFill>
        <p:spPr>
          <a:xfrm>
            <a:off x="9634118" y="1627632"/>
            <a:ext cx="219456" cy="219456"/>
          </a:xfrm>
          <a:prstGeom prst="rect">
            <a:avLst/>
          </a:prstGeom>
        </p:spPr>
      </p:pic>
      <p:sp>
        <p:nvSpPr>
          <p:cNvPr id="64" name="text-60"/>
          <p:cNvSpPr txBox="1"/>
          <p:nvPr/>
        </p:nvSpPr>
        <p:spPr>
          <a:xfrm>
            <a:off x="9945014" y="1627632"/>
            <a:ext cx="1576426"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5 · Protect the content</a:t>
            </a:r>
            <a:endParaRPr lang="en-US" sz="1300" dirty="0"/>
          </a:p>
        </p:txBody>
      </p:sp>
      <p:sp>
        <p:nvSpPr>
          <p:cNvPr id="65" name="text-61"/>
          <p:cNvSpPr txBox="1"/>
          <p:nvPr/>
        </p:nvSpPr>
        <p:spPr>
          <a:xfrm>
            <a:off x="9634118" y="1901952"/>
            <a:ext cx="1850746"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integrity above all</a:t>
            </a:r>
            <a:endParaRPr lang="en-US" sz="1100" dirty="0"/>
          </a:p>
        </p:txBody>
      </p:sp>
      <p:sp>
        <p:nvSpPr>
          <p:cNvPr id="66" name="shape-62"/>
          <p:cNvSpPr/>
          <p:nvPr/>
        </p:nvSpPr>
        <p:spPr>
          <a:xfrm>
            <a:off x="9597542" y="2286000"/>
            <a:ext cx="1905610" cy="457200"/>
          </a:xfrm>
          <a:prstGeom prst="roundRect">
            <a:avLst>
              <a:gd name="adj" fmla="val 10000"/>
            </a:avLst>
          </a:prstGeom>
          <a:solidFill>
            <a:srgbClr val="FFFFFF"/>
          </a:solidFill>
          <a:ln w="12700">
            <a:solidFill>
              <a:srgbClr val="FFFFFF"/>
            </a:solidFill>
            <a:prstDash val="solid"/>
          </a:ln>
        </p:spPr>
      </p:sp>
      <p:sp>
        <p:nvSpPr>
          <p:cNvPr id="67" name="text-63"/>
          <p:cNvSpPr txBox="1"/>
          <p:nvPr/>
        </p:nvSpPr>
        <p:spPr>
          <a:xfrm>
            <a:off x="9670694" y="232257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Content checksums and integrity checks</a:t>
            </a:r>
            <a:endParaRPr lang="en-US" sz="1100" dirty="0"/>
          </a:p>
        </p:txBody>
      </p:sp>
      <p:sp>
        <p:nvSpPr>
          <p:cNvPr id="68" name="shape-64"/>
          <p:cNvSpPr/>
          <p:nvPr/>
        </p:nvSpPr>
        <p:spPr>
          <a:xfrm>
            <a:off x="9597542" y="2834640"/>
            <a:ext cx="1905610" cy="457200"/>
          </a:xfrm>
          <a:prstGeom prst="roundRect">
            <a:avLst>
              <a:gd name="adj" fmla="val 10000"/>
            </a:avLst>
          </a:prstGeom>
          <a:solidFill>
            <a:srgbClr val="FFFFFF"/>
          </a:solidFill>
          <a:ln w="12700">
            <a:solidFill>
              <a:srgbClr val="FFFFFF"/>
            </a:solidFill>
            <a:prstDash val="solid"/>
          </a:ln>
        </p:spPr>
      </p:sp>
      <p:sp>
        <p:nvSpPr>
          <p:cNvPr id="69" name="text-65"/>
          <p:cNvSpPr txBox="1"/>
          <p:nvPr/>
        </p:nvSpPr>
        <p:spPr>
          <a:xfrm>
            <a:off x="9670694" y="287121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Copies held outside the authoring tool</a:t>
            </a:r>
            <a:endParaRPr lang="en-US" sz="1100" dirty="0"/>
          </a:p>
        </p:txBody>
      </p:sp>
      <p:sp>
        <p:nvSpPr>
          <p:cNvPr id="70" name="shape-66"/>
          <p:cNvSpPr/>
          <p:nvPr/>
        </p:nvSpPr>
        <p:spPr>
          <a:xfrm>
            <a:off x="9597542" y="3383280"/>
            <a:ext cx="1905610" cy="457200"/>
          </a:xfrm>
          <a:prstGeom prst="roundRect">
            <a:avLst>
              <a:gd name="adj" fmla="val 10000"/>
            </a:avLst>
          </a:prstGeom>
          <a:solidFill>
            <a:srgbClr val="FFFFFF"/>
          </a:solidFill>
          <a:ln w="12700">
            <a:solidFill>
              <a:srgbClr val="FFFFFF"/>
            </a:solidFill>
            <a:prstDash val="solid"/>
          </a:ln>
        </p:spPr>
      </p:sp>
      <p:sp>
        <p:nvSpPr>
          <p:cNvPr id="71" name="text-67"/>
          <p:cNvSpPr txBox="1"/>
          <p:nvPr/>
        </p:nvSpPr>
        <p:spPr>
          <a:xfrm>
            <a:off x="9670694" y="341985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Authoring tool configured for versioning and approval</a:t>
            </a:r>
            <a:endParaRPr lang="en-US" sz="1100" dirty="0"/>
          </a:p>
        </p:txBody>
      </p:sp>
      <p:sp>
        <p:nvSpPr>
          <p:cNvPr id="72" name="shape-68"/>
          <p:cNvSpPr/>
          <p:nvPr/>
        </p:nvSpPr>
        <p:spPr>
          <a:xfrm>
            <a:off x="9597542" y="3931920"/>
            <a:ext cx="1905610" cy="457200"/>
          </a:xfrm>
          <a:prstGeom prst="roundRect">
            <a:avLst>
              <a:gd name="adj" fmla="val 10000"/>
            </a:avLst>
          </a:prstGeom>
          <a:solidFill>
            <a:srgbClr val="FFFFFF"/>
          </a:solidFill>
          <a:ln w="12700">
            <a:solidFill>
              <a:srgbClr val="FFFFFF"/>
            </a:solidFill>
            <a:prstDash val="solid"/>
          </a:ln>
        </p:spPr>
      </p:sp>
      <p:sp>
        <p:nvSpPr>
          <p:cNvPr id="73" name="text-69"/>
          <p:cNvSpPr txBox="1"/>
          <p:nvPr/>
        </p:nvSpPr>
        <p:spPr>
          <a:xfrm>
            <a:off x="9670694" y="396849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Audit trail: what changed, when, who</a:t>
            </a:r>
            <a:endParaRPr lang="en-US" sz="1100" dirty="0"/>
          </a:p>
        </p:txBody>
      </p:sp>
      <p:sp>
        <p:nvSpPr>
          <p:cNvPr id="74" name="shape-70"/>
          <p:cNvSpPr/>
          <p:nvPr/>
        </p:nvSpPr>
        <p:spPr>
          <a:xfrm>
            <a:off x="9597542" y="4480560"/>
            <a:ext cx="1905610" cy="457200"/>
          </a:xfrm>
          <a:prstGeom prst="roundRect">
            <a:avLst>
              <a:gd name="adj" fmla="val 10000"/>
            </a:avLst>
          </a:prstGeom>
          <a:solidFill>
            <a:srgbClr val="FFFFFF"/>
          </a:solidFill>
          <a:ln w="12700">
            <a:solidFill>
              <a:srgbClr val="FFFFFF"/>
            </a:solidFill>
            <a:prstDash val="solid"/>
          </a:ln>
        </p:spPr>
      </p:sp>
      <p:sp>
        <p:nvSpPr>
          <p:cNvPr id="75" name="text-71"/>
          <p:cNvSpPr txBox="1"/>
          <p:nvPr/>
        </p:nvSpPr>
        <p:spPr>
          <a:xfrm>
            <a:off x="9670694" y="4517136"/>
            <a:ext cx="1759306" cy="384048"/>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AI-generated test evidence, human gate</a:t>
            </a:r>
            <a:endParaRPr lang="en-US" sz="1100" dirty="0"/>
          </a:p>
        </p:txBody>
      </p:sp>
      <p:sp>
        <p:nvSpPr>
          <p:cNvPr id="76" name="text-72"/>
          <p:cNvSpPr txBox="1"/>
          <p:nvPr/>
        </p:nvSpPr>
        <p:spPr>
          <a:xfrm>
            <a:off x="658368" y="5266944"/>
            <a:ext cx="1005840" cy="164592"/>
          </a:xfrm>
          <a:prstGeom prst="rect">
            <a:avLst/>
          </a:prstGeom>
          <a:noFill/>
          <a:ln/>
        </p:spPr>
        <p:txBody>
          <a:bodyPr wrap="none" lIns="0" tIns="0" rIns="0" bIns="0" rtlCol="0" anchor="ctr"/>
          <a:lstStyle/>
          <a:p>
            <a:pPr algn="l" indent="0" marL="0">
              <a:lnSpc>
                <a:spcPct val="100000"/>
              </a:lnSpc>
              <a:buNone/>
            </a:pPr>
            <a:r>
              <a:rPr lang="en-US" sz="1100" b="1" spc="150" kern="0" dirty="0">
                <a:solidFill>
                  <a:srgbClr val="5A6B75"/>
                </a:solidFill>
                <a:latin typeface="Calibri" pitchFamily="34" charset="0"/>
                <a:ea typeface="Calibri" pitchFamily="34" charset="-122"/>
                <a:cs typeface="Calibri" pitchFamily="34" charset="-120"/>
              </a:rPr>
              <a:t>APPLIES TO</a:t>
            </a:r>
            <a:endParaRPr lang="en-US" sz="1100" dirty="0"/>
          </a:p>
        </p:txBody>
      </p:sp>
      <p:sp>
        <p:nvSpPr>
          <p:cNvPr id="77" name="shape-73"/>
          <p:cNvSpPr/>
          <p:nvPr/>
        </p:nvSpPr>
        <p:spPr>
          <a:xfrm>
            <a:off x="1554480" y="5294376"/>
            <a:ext cx="201168" cy="146304"/>
          </a:xfrm>
          <a:prstGeom prst="roundRect">
            <a:avLst>
              <a:gd name="adj" fmla="val 50000"/>
            </a:avLst>
          </a:prstGeom>
          <a:solidFill>
            <a:srgbClr val="134E4A"/>
          </a:solidFill>
          <a:ln w="12700">
            <a:solidFill>
              <a:srgbClr val="134E4A"/>
            </a:solidFill>
            <a:prstDash val="solid"/>
          </a:ln>
        </p:spPr>
      </p:sp>
      <p:sp>
        <p:nvSpPr>
          <p:cNvPr id="78" name="text-74"/>
          <p:cNvSpPr txBox="1"/>
          <p:nvPr/>
        </p:nvSpPr>
        <p:spPr>
          <a:xfrm>
            <a:off x="1554480"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79" name="shape-75"/>
          <p:cNvSpPr/>
          <p:nvPr/>
        </p:nvSpPr>
        <p:spPr>
          <a:xfrm>
            <a:off x="1810512" y="5294376"/>
            <a:ext cx="201168" cy="146304"/>
          </a:xfrm>
          <a:prstGeom prst="roundRect">
            <a:avLst>
              <a:gd name="adj" fmla="val 50000"/>
            </a:avLst>
          </a:prstGeom>
          <a:solidFill>
            <a:srgbClr val="B45309"/>
          </a:solidFill>
          <a:ln w="12700">
            <a:solidFill>
              <a:srgbClr val="B45309"/>
            </a:solidFill>
            <a:prstDash val="solid"/>
          </a:ln>
        </p:spPr>
      </p:sp>
      <p:sp>
        <p:nvSpPr>
          <p:cNvPr id="80" name="text-76"/>
          <p:cNvSpPr txBox="1"/>
          <p:nvPr/>
        </p:nvSpPr>
        <p:spPr>
          <a:xfrm>
            <a:off x="1810512"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81" name="text-77"/>
          <p:cNvSpPr txBox="1"/>
          <p:nvPr/>
        </p:nvSpPr>
        <p:spPr>
          <a:xfrm>
            <a:off x="2893162" y="5266944"/>
            <a:ext cx="1005840" cy="164592"/>
          </a:xfrm>
          <a:prstGeom prst="rect">
            <a:avLst/>
          </a:prstGeom>
          <a:noFill/>
          <a:ln/>
        </p:spPr>
        <p:txBody>
          <a:bodyPr wrap="none" lIns="0" tIns="0" rIns="0" bIns="0" rtlCol="0" anchor="ctr"/>
          <a:lstStyle/>
          <a:p>
            <a:pPr algn="l" indent="0" marL="0">
              <a:lnSpc>
                <a:spcPct val="100000"/>
              </a:lnSpc>
              <a:buNone/>
            </a:pPr>
            <a:r>
              <a:rPr lang="en-US" sz="1100" b="1" spc="150" kern="0" dirty="0">
                <a:solidFill>
                  <a:srgbClr val="5A6B75"/>
                </a:solidFill>
                <a:latin typeface="Calibri" pitchFamily="34" charset="0"/>
                <a:ea typeface="Calibri" pitchFamily="34" charset="-122"/>
                <a:cs typeface="Calibri" pitchFamily="34" charset="-120"/>
              </a:rPr>
              <a:t>APPLIES TO</a:t>
            </a:r>
            <a:endParaRPr lang="en-US" sz="1100" dirty="0"/>
          </a:p>
        </p:txBody>
      </p:sp>
      <p:sp>
        <p:nvSpPr>
          <p:cNvPr id="82" name="shape-78"/>
          <p:cNvSpPr/>
          <p:nvPr/>
        </p:nvSpPr>
        <p:spPr>
          <a:xfrm>
            <a:off x="3789274" y="5294376"/>
            <a:ext cx="201168" cy="146304"/>
          </a:xfrm>
          <a:prstGeom prst="roundRect">
            <a:avLst>
              <a:gd name="adj" fmla="val 50000"/>
            </a:avLst>
          </a:prstGeom>
          <a:solidFill>
            <a:srgbClr val="134E4A"/>
          </a:solidFill>
          <a:ln w="12700">
            <a:solidFill>
              <a:srgbClr val="134E4A"/>
            </a:solidFill>
            <a:prstDash val="solid"/>
          </a:ln>
        </p:spPr>
      </p:sp>
      <p:sp>
        <p:nvSpPr>
          <p:cNvPr id="83" name="text-79"/>
          <p:cNvSpPr txBox="1"/>
          <p:nvPr/>
        </p:nvSpPr>
        <p:spPr>
          <a:xfrm>
            <a:off x="3789274"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84" name="shape-80"/>
          <p:cNvSpPr/>
          <p:nvPr/>
        </p:nvSpPr>
        <p:spPr>
          <a:xfrm>
            <a:off x="4045306" y="5294376"/>
            <a:ext cx="201168" cy="146304"/>
          </a:xfrm>
          <a:prstGeom prst="roundRect">
            <a:avLst>
              <a:gd name="adj" fmla="val 50000"/>
            </a:avLst>
          </a:prstGeom>
          <a:solidFill>
            <a:srgbClr val="B45309"/>
          </a:solidFill>
          <a:ln w="12700">
            <a:solidFill>
              <a:srgbClr val="B45309"/>
            </a:solidFill>
            <a:prstDash val="solid"/>
          </a:ln>
        </p:spPr>
      </p:sp>
      <p:sp>
        <p:nvSpPr>
          <p:cNvPr id="85" name="text-81"/>
          <p:cNvSpPr txBox="1"/>
          <p:nvPr/>
        </p:nvSpPr>
        <p:spPr>
          <a:xfrm>
            <a:off x="4045306"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86" name="text-82"/>
          <p:cNvSpPr txBox="1"/>
          <p:nvPr/>
        </p:nvSpPr>
        <p:spPr>
          <a:xfrm>
            <a:off x="5127955" y="5266944"/>
            <a:ext cx="1005840" cy="164592"/>
          </a:xfrm>
          <a:prstGeom prst="rect">
            <a:avLst/>
          </a:prstGeom>
          <a:noFill/>
          <a:ln/>
        </p:spPr>
        <p:txBody>
          <a:bodyPr wrap="none" lIns="0" tIns="0" rIns="0" bIns="0" rtlCol="0" anchor="ctr"/>
          <a:lstStyle/>
          <a:p>
            <a:pPr algn="l" indent="0" marL="0">
              <a:lnSpc>
                <a:spcPct val="100000"/>
              </a:lnSpc>
              <a:buNone/>
            </a:pPr>
            <a:r>
              <a:rPr lang="en-US" sz="1100" b="1" spc="150" kern="0" dirty="0">
                <a:solidFill>
                  <a:srgbClr val="5A6B75"/>
                </a:solidFill>
                <a:latin typeface="Calibri" pitchFamily="34" charset="0"/>
                <a:ea typeface="Calibri" pitchFamily="34" charset="-122"/>
                <a:cs typeface="Calibri" pitchFamily="34" charset="-120"/>
              </a:rPr>
              <a:t>APPLIES TO</a:t>
            </a:r>
            <a:endParaRPr lang="en-US" sz="1100" dirty="0"/>
          </a:p>
        </p:txBody>
      </p:sp>
      <p:sp>
        <p:nvSpPr>
          <p:cNvPr id="87" name="shape-83"/>
          <p:cNvSpPr/>
          <p:nvPr/>
        </p:nvSpPr>
        <p:spPr>
          <a:xfrm>
            <a:off x="6024067" y="5294376"/>
            <a:ext cx="201168" cy="146304"/>
          </a:xfrm>
          <a:prstGeom prst="roundRect">
            <a:avLst>
              <a:gd name="adj" fmla="val 50000"/>
            </a:avLst>
          </a:prstGeom>
          <a:solidFill>
            <a:srgbClr val="134E4A"/>
          </a:solidFill>
          <a:ln w="12700">
            <a:solidFill>
              <a:srgbClr val="134E4A"/>
            </a:solidFill>
            <a:prstDash val="solid"/>
          </a:ln>
        </p:spPr>
      </p:sp>
      <p:sp>
        <p:nvSpPr>
          <p:cNvPr id="88" name="text-84"/>
          <p:cNvSpPr txBox="1"/>
          <p:nvPr/>
        </p:nvSpPr>
        <p:spPr>
          <a:xfrm>
            <a:off x="6024067"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89" name="shape-85"/>
          <p:cNvSpPr/>
          <p:nvPr/>
        </p:nvSpPr>
        <p:spPr>
          <a:xfrm>
            <a:off x="6280099" y="5294376"/>
            <a:ext cx="201168" cy="146304"/>
          </a:xfrm>
          <a:prstGeom prst="roundRect">
            <a:avLst>
              <a:gd name="adj" fmla="val 50000"/>
            </a:avLst>
          </a:prstGeom>
          <a:solidFill>
            <a:srgbClr val="0F766E"/>
          </a:solidFill>
          <a:ln w="12700">
            <a:solidFill>
              <a:srgbClr val="0F766E"/>
            </a:solidFill>
            <a:prstDash val="solid"/>
          </a:ln>
        </p:spPr>
      </p:sp>
      <p:sp>
        <p:nvSpPr>
          <p:cNvPr id="90" name="text-86"/>
          <p:cNvSpPr txBox="1"/>
          <p:nvPr/>
        </p:nvSpPr>
        <p:spPr>
          <a:xfrm>
            <a:off x="6280099"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91" name="text-87"/>
          <p:cNvSpPr txBox="1"/>
          <p:nvPr/>
        </p:nvSpPr>
        <p:spPr>
          <a:xfrm>
            <a:off x="7362749" y="5266944"/>
            <a:ext cx="1005840" cy="164592"/>
          </a:xfrm>
          <a:prstGeom prst="rect">
            <a:avLst/>
          </a:prstGeom>
          <a:noFill/>
          <a:ln/>
        </p:spPr>
        <p:txBody>
          <a:bodyPr wrap="none" lIns="0" tIns="0" rIns="0" bIns="0" rtlCol="0" anchor="ctr"/>
          <a:lstStyle/>
          <a:p>
            <a:pPr algn="l" indent="0" marL="0">
              <a:lnSpc>
                <a:spcPct val="100000"/>
              </a:lnSpc>
              <a:buNone/>
            </a:pPr>
            <a:r>
              <a:rPr lang="en-US" sz="1100" b="1" spc="150" kern="0" dirty="0">
                <a:solidFill>
                  <a:srgbClr val="5A6B75"/>
                </a:solidFill>
                <a:latin typeface="Calibri" pitchFamily="34" charset="0"/>
                <a:ea typeface="Calibri" pitchFamily="34" charset="-122"/>
                <a:cs typeface="Calibri" pitchFamily="34" charset="-120"/>
              </a:rPr>
              <a:t>APPLIES TO</a:t>
            </a:r>
            <a:endParaRPr lang="en-US" sz="1100" dirty="0"/>
          </a:p>
        </p:txBody>
      </p:sp>
      <p:sp>
        <p:nvSpPr>
          <p:cNvPr id="92" name="shape-88"/>
          <p:cNvSpPr/>
          <p:nvPr/>
        </p:nvSpPr>
        <p:spPr>
          <a:xfrm>
            <a:off x="8258861" y="5294376"/>
            <a:ext cx="201168" cy="146304"/>
          </a:xfrm>
          <a:prstGeom prst="roundRect">
            <a:avLst>
              <a:gd name="adj" fmla="val 50000"/>
            </a:avLst>
          </a:prstGeom>
          <a:solidFill>
            <a:srgbClr val="134E4A"/>
          </a:solidFill>
          <a:ln w="12700">
            <a:solidFill>
              <a:srgbClr val="134E4A"/>
            </a:solidFill>
            <a:prstDash val="solid"/>
          </a:ln>
        </p:spPr>
      </p:sp>
      <p:sp>
        <p:nvSpPr>
          <p:cNvPr id="93" name="text-89"/>
          <p:cNvSpPr txBox="1"/>
          <p:nvPr/>
        </p:nvSpPr>
        <p:spPr>
          <a:xfrm>
            <a:off x="8258861"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94" name="shape-90"/>
          <p:cNvSpPr/>
          <p:nvPr/>
        </p:nvSpPr>
        <p:spPr>
          <a:xfrm>
            <a:off x="8514893" y="5294376"/>
            <a:ext cx="201168" cy="146304"/>
          </a:xfrm>
          <a:prstGeom prst="roundRect">
            <a:avLst>
              <a:gd name="adj" fmla="val 50000"/>
            </a:avLst>
          </a:prstGeom>
          <a:solidFill>
            <a:srgbClr val="B45309"/>
          </a:solidFill>
          <a:ln w="12700">
            <a:solidFill>
              <a:srgbClr val="B45309"/>
            </a:solidFill>
            <a:prstDash val="solid"/>
          </a:ln>
        </p:spPr>
      </p:sp>
      <p:sp>
        <p:nvSpPr>
          <p:cNvPr id="95" name="text-91"/>
          <p:cNvSpPr txBox="1"/>
          <p:nvPr/>
        </p:nvSpPr>
        <p:spPr>
          <a:xfrm>
            <a:off x="8514893"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96" name="shape-92"/>
          <p:cNvSpPr/>
          <p:nvPr/>
        </p:nvSpPr>
        <p:spPr>
          <a:xfrm>
            <a:off x="8770925" y="5294376"/>
            <a:ext cx="201168" cy="146304"/>
          </a:xfrm>
          <a:prstGeom prst="roundRect">
            <a:avLst>
              <a:gd name="adj" fmla="val 50000"/>
            </a:avLst>
          </a:prstGeom>
          <a:solidFill>
            <a:srgbClr val="0F766E"/>
          </a:solidFill>
          <a:ln w="12700">
            <a:solidFill>
              <a:srgbClr val="0F766E"/>
            </a:solidFill>
            <a:prstDash val="solid"/>
          </a:ln>
        </p:spPr>
      </p:sp>
      <p:sp>
        <p:nvSpPr>
          <p:cNvPr id="97" name="text-93"/>
          <p:cNvSpPr txBox="1"/>
          <p:nvPr/>
        </p:nvSpPr>
        <p:spPr>
          <a:xfrm>
            <a:off x="8770925"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98" name="text-94"/>
          <p:cNvSpPr txBox="1"/>
          <p:nvPr/>
        </p:nvSpPr>
        <p:spPr>
          <a:xfrm>
            <a:off x="9597542" y="5266944"/>
            <a:ext cx="1005840" cy="164592"/>
          </a:xfrm>
          <a:prstGeom prst="rect">
            <a:avLst/>
          </a:prstGeom>
          <a:noFill/>
          <a:ln/>
        </p:spPr>
        <p:txBody>
          <a:bodyPr wrap="none" lIns="0" tIns="0" rIns="0" bIns="0" rtlCol="0" anchor="ctr"/>
          <a:lstStyle/>
          <a:p>
            <a:pPr algn="l" indent="0" marL="0">
              <a:lnSpc>
                <a:spcPct val="100000"/>
              </a:lnSpc>
              <a:buNone/>
            </a:pPr>
            <a:r>
              <a:rPr lang="en-US" sz="1100" b="1" spc="150" kern="0" dirty="0">
                <a:solidFill>
                  <a:srgbClr val="5A6B75"/>
                </a:solidFill>
                <a:latin typeface="Calibri" pitchFamily="34" charset="0"/>
                <a:ea typeface="Calibri" pitchFamily="34" charset="-122"/>
                <a:cs typeface="Calibri" pitchFamily="34" charset="-120"/>
              </a:rPr>
              <a:t>APPLIES TO</a:t>
            </a:r>
            <a:endParaRPr lang="en-US" sz="1100" dirty="0"/>
          </a:p>
        </p:txBody>
      </p:sp>
      <p:sp>
        <p:nvSpPr>
          <p:cNvPr id="99" name="shape-95"/>
          <p:cNvSpPr/>
          <p:nvPr/>
        </p:nvSpPr>
        <p:spPr>
          <a:xfrm>
            <a:off x="10493654" y="5294376"/>
            <a:ext cx="201168" cy="146304"/>
          </a:xfrm>
          <a:prstGeom prst="roundRect">
            <a:avLst>
              <a:gd name="adj" fmla="val 50000"/>
            </a:avLst>
          </a:prstGeom>
          <a:solidFill>
            <a:srgbClr val="134E4A"/>
          </a:solidFill>
          <a:ln w="12700">
            <a:solidFill>
              <a:srgbClr val="134E4A"/>
            </a:solidFill>
            <a:prstDash val="solid"/>
          </a:ln>
        </p:spPr>
      </p:sp>
      <p:sp>
        <p:nvSpPr>
          <p:cNvPr id="100" name="text-96"/>
          <p:cNvSpPr txBox="1"/>
          <p:nvPr/>
        </p:nvSpPr>
        <p:spPr>
          <a:xfrm>
            <a:off x="10493654"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01" name="shape-97"/>
          <p:cNvSpPr/>
          <p:nvPr/>
        </p:nvSpPr>
        <p:spPr>
          <a:xfrm>
            <a:off x="10749686" y="5294376"/>
            <a:ext cx="201168" cy="146304"/>
          </a:xfrm>
          <a:prstGeom prst="roundRect">
            <a:avLst>
              <a:gd name="adj" fmla="val 50000"/>
            </a:avLst>
          </a:prstGeom>
          <a:solidFill>
            <a:srgbClr val="0F766E"/>
          </a:solidFill>
          <a:ln w="12700">
            <a:solidFill>
              <a:srgbClr val="0F766E"/>
            </a:solidFill>
            <a:prstDash val="solid"/>
          </a:ln>
        </p:spPr>
      </p:sp>
      <p:sp>
        <p:nvSpPr>
          <p:cNvPr id="102" name="text-98"/>
          <p:cNvSpPr txBox="1"/>
          <p:nvPr/>
        </p:nvSpPr>
        <p:spPr>
          <a:xfrm>
            <a:off x="10749686" y="529437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03" name="text-99"/>
          <p:cNvSpPr txBox="1"/>
          <p:nvPr/>
        </p:nvSpPr>
        <p:spPr>
          <a:xfrm>
            <a:off x="548640" y="5632704"/>
            <a:ext cx="11064240" cy="329184"/>
          </a:xfrm>
          <a:prstGeom prst="rect">
            <a:avLst/>
          </a:prstGeom>
          <a:noFill/>
          <a:ln/>
        </p:spPr>
        <p:txBody>
          <a:bodyPr wrap="square" lIns="0" tIns="0" rIns="0" bIns="0" rtlCol="0" anchor="ctr"/>
          <a:lstStyle/>
          <a:p>
            <a:pPr algn="l" indent="0" marL="0">
              <a:lnSpc>
                <a:spcPct val="100000"/>
              </a:lnSpc>
              <a:buNone/>
            </a:pPr>
            <a:r>
              <a:rPr lang="en-US" sz="1100" dirty="0">
                <a:solidFill>
                  <a:srgbClr val="5A6B75"/>
                </a:solidFill>
                <a:latin typeface="Calibri" pitchFamily="34" charset="0"/>
                <a:ea typeface="Calibri" pitchFamily="34" charset="-122"/>
                <a:cs typeface="Calibri" pitchFamily="34" charset="-120"/>
              </a:rPr>
              <a:t>A product: all five, built or wrapped by us · B content tooling: groups 3–5 through configuration, vendor SLAs and copies held outside the tool · X cross-cutting: inherits A in A’s path · C commodity: standard posture, no shared fate with A</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5  ·  PUBLISHING AND ROLLBACK INSIDE THE PRODUCT</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One publishing hub, regional nodes that serve alone, rollback by re-pointing</a:t>
            </a:r>
            <a:endParaRPr lang="en-US" sz="2250" dirty="0"/>
          </a:p>
        </p:txBody>
      </p:sp>
      <p:sp>
        <p:nvSpPr>
          <p:cNvPr id="4" name="shape-0"/>
          <p:cNvSpPr/>
          <p:nvPr/>
        </p:nvSpPr>
        <p:spPr>
          <a:xfrm>
            <a:off x="9418320" y="365760"/>
            <a:ext cx="2194560" cy="219456"/>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418320" y="365760"/>
            <a:ext cx="2194560" cy="219456"/>
          </a:xfrm>
          <a:prstGeom prst="rect">
            <a:avLst/>
          </a:prstGeom>
          <a:noFill/>
          <a:ln/>
        </p:spPr>
        <p:txBody>
          <a:bodyPr wrap="none" lIns="0" tIns="0" rIns="0" bIns="0" rtlCol="0" anchor="ctr"/>
          <a:lstStyle/>
          <a:p>
            <a:pPr algn="ctr" indent="0" marL="0">
              <a:lnSpc>
                <a:spcPct val="100000"/>
              </a:lnSpc>
              <a:buNone/>
            </a:pPr>
            <a:r>
              <a:rPr lang="en-US" sz="1100" b="1" spc="100" kern="0" dirty="0">
                <a:solidFill>
                  <a:srgbClr val="B45309"/>
                </a:solidFill>
                <a:latin typeface="Calibri" pitchFamily="34" charset="0"/>
                <a:ea typeface="Calibri" pitchFamily="34" charset="-122"/>
                <a:cs typeface="Calibri" pitchFamily="34" charset="-120"/>
              </a:rPr>
              <a:t>ILLUSTRATIVE — NOT A DECISION</a:t>
            </a:r>
            <a:endParaRPr lang="en-US" sz="1100" dirty="0"/>
          </a:p>
        </p:txBody>
      </p:sp>
      <p:sp>
        <p:nvSpPr>
          <p:cNvPr id="6" name="shape-2"/>
          <p:cNvSpPr/>
          <p:nvPr/>
        </p:nvSpPr>
        <p:spPr>
          <a:xfrm>
            <a:off x="548640" y="2286000"/>
            <a:ext cx="2011680" cy="1371600"/>
          </a:xfrm>
          <a:prstGeom prst="roundRect">
            <a:avLst>
              <a:gd name="adj" fmla="val 6667"/>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713232" y="2432304"/>
            <a:ext cx="256032" cy="256032"/>
          </a:xfrm>
          <a:prstGeom prst="rect">
            <a:avLst/>
          </a:prstGeom>
        </p:spPr>
      </p:pic>
      <p:sp>
        <p:nvSpPr>
          <p:cNvPr id="8" name="text-4"/>
          <p:cNvSpPr txBox="1"/>
          <p:nvPr/>
        </p:nvSpPr>
        <p:spPr>
          <a:xfrm>
            <a:off x="1060704" y="2414016"/>
            <a:ext cx="1463040" cy="27432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Publishing hub</a:t>
            </a:r>
            <a:endParaRPr lang="en-US" sz="1500" dirty="0"/>
          </a:p>
        </p:txBody>
      </p:sp>
      <p:sp>
        <p:nvSpPr>
          <p:cNvPr id="9" name="text-5"/>
          <p:cNvSpPr txBox="1"/>
          <p:nvPr/>
        </p:nvSpPr>
        <p:spPr>
          <a:xfrm>
            <a:off x="713232" y="2798064"/>
            <a:ext cx="1828800" cy="182880"/>
          </a:xfrm>
          <a:prstGeom prst="rect">
            <a:avLst/>
          </a:prstGeom>
          <a:noFill/>
          <a:ln/>
        </p:spPr>
        <p:txBody>
          <a:bodyPr wrap="square" lIns="0" tIns="0" rIns="0" bIns="0" rtlCol="0" anchor="ctr"/>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authoring → review → approve</a:t>
            </a:r>
            <a:endParaRPr lang="en-US" sz="1100" dirty="0"/>
          </a:p>
        </p:txBody>
      </p:sp>
      <p:sp>
        <p:nvSpPr>
          <p:cNvPr id="10" name="text-6"/>
          <p:cNvSpPr txBox="1"/>
          <p:nvPr/>
        </p:nvSpPr>
        <p:spPr>
          <a:xfrm>
            <a:off x="713232" y="2980944"/>
            <a:ext cx="1828800" cy="182880"/>
          </a:xfrm>
          <a:prstGeom prst="rect">
            <a:avLst/>
          </a:prstGeom>
          <a:noFill/>
          <a:ln/>
        </p:spPr>
        <p:txBody>
          <a:bodyPr wrap="square" lIns="0" tIns="0" rIns="0" bIns="0" rtlCol="0" anchor="ctr"/>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build → test evidence → sign</a:t>
            </a:r>
            <a:endParaRPr lang="en-US" sz="1100" dirty="0"/>
          </a:p>
        </p:txBody>
      </p:sp>
      <p:sp>
        <p:nvSpPr>
          <p:cNvPr id="11" name="shape-7"/>
          <p:cNvSpPr/>
          <p:nvPr/>
        </p:nvSpPr>
        <p:spPr>
          <a:xfrm>
            <a:off x="713232" y="3255264"/>
            <a:ext cx="1682496" cy="237744"/>
          </a:xfrm>
          <a:prstGeom prst="roundRect">
            <a:avLst>
              <a:gd name="adj" fmla="val 15385"/>
            </a:avLst>
          </a:prstGeom>
          <a:solidFill>
            <a:srgbClr val="0F766E"/>
          </a:solidFill>
          <a:ln w="12700">
            <a:solidFill>
              <a:srgbClr val="0F766E"/>
            </a:solidFill>
            <a:prstDash val="solid"/>
          </a:ln>
        </p:spPr>
      </p:sp>
      <p:sp>
        <p:nvSpPr>
          <p:cNvPr id="12" name="text-8"/>
          <p:cNvSpPr txBox="1"/>
          <p:nvPr/>
        </p:nvSpPr>
        <p:spPr>
          <a:xfrm>
            <a:off x="713232" y="3255264"/>
            <a:ext cx="1682496" cy="23774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release manifest {content vN, code vN}</a:t>
            </a:r>
            <a:endParaRPr lang="en-US" sz="1100" dirty="0"/>
          </a:p>
        </p:txBody>
      </p:sp>
      <p:sp>
        <p:nvSpPr>
          <p:cNvPr id="13" name="shape-9"/>
          <p:cNvSpPr/>
          <p:nvPr/>
        </p:nvSpPr>
        <p:spPr>
          <a:xfrm>
            <a:off x="3383280" y="2286000"/>
            <a:ext cx="1554480" cy="1371600"/>
          </a:xfrm>
          <a:prstGeom prst="roundRect">
            <a:avLst>
              <a:gd name="adj" fmla="val 6667"/>
            </a:avLst>
          </a:prstGeom>
          <a:solidFill>
            <a:srgbClr val="FDF1E3"/>
          </a:solidFill>
          <a:ln w="12700">
            <a:solidFill>
              <a:srgbClr val="B45309"/>
            </a:solidFill>
            <a:prstDash val="solid"/>
          </a:ln>
        </p:spPr>
      </p:sp>
      <p:pic>
        <p:nvPicPr>
          <p:cNvPr id="14" name="icon-10" descr="preencoded.png">    </p:cNvPr>
          <p:cNvPicPr>
            <a:picLocks noChangeAspect="1"/>
          </p:cNvPicPr>
          <p:nvPr/>
        </p:nvPicPr>
        <p:blipFill>
          <a:blip r:embed="rId2"/>
          <a:stretch>
            <a:fillRect/>
          </a:stretch>
        </p:blipFill>
        <p:spPr>
          <a:xfrm>
            <a:off x="3547872" y="2450592"/>
            <a:ext cx="237744" cy="237744"/>
          </a:xfrm>
          <a:prstGeom prst="rect">
            <a:avLst/>
          </a:prstGeom>
        </p:spPr>
      </p:pic>
      <p:sp>
        <p:nvSpPr>
          <p:cNvPr id="15" name="text-11"/>
          <p:cNvSpPr txBox="1"/>
          <p:nvPr/>
        </p:nvSpPr>
        <p:spPr>
          <a:xfrm>
            <a:off x="3858768" y="2432304"/>
            <a:ext cx="1005840" cy="27432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Event log</a:t>
            </a:r>
            <a:endParaRPr lang="en-US" sz="1350" dirty="0"/>
          </a:p>
        </p:txBody>
      </p:sp>
      <p:sp>
        <p:nvSpPr>
          <p:cNvPr id="16" name="text-12"/>
          <p:cNvSpPr txBox="1"/>
          <p:nvPr/>
        </p:nvSpPr>
        <p:spPr>
          <a:xfrm>
            <a:off x="3511296" y="2798064"/>
            <a:ext cx="1371600" cy="182880"/>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as proposed: the bus</a:t>
            </a:r>
            <a:endParaRPr lang="en-US" sz="1100" dirty="0"/>
          </a:p>
        </p:txBody>
      </p:sp>
      <p:sp>
        <p:nvSpPr>
          <p:cNvPr id="17" name="text-13"/>
          <p:cNvSpPr txBox="1"/>
          <p:nvPr/>
        </p:nvSpPr>
        <p:spPr>
          <a:xfrm>
            <a:off x="3511296" y="2980944"/>
            <a:ext cx="1371600" cy="182880"/>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immutable, ordered,</a:t>
            </a:r>
            <a:endParaRPr lang="en-US" sz="1100" dirty="0"/>
          </a:p>
        </p:txBody>
      </p:sp>
      <p:sp>
        <p:nvSpPr>
          <p:cNvPr id="18" name="text-14"/>
          <p:cNvSpPr txBox="1"/>
          <p:nvPr/>
        </p:nvSpPr>
        <p:spPr>
          <a:xfrm>
            <a:off x="3511296" y="3163824"/>
            <a:ext cx="1371600" cy="182880"/>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retained, replayable</a:t>
            </a:r>
            <a:endParaRPr lang="en-US" sz="1100" dirty="0"/>
          </a:p>
        </p:txBody>
      </p:sp>
      <p:sp>
        <p:nvSpPr>
          <p:cNvPr id="19" name="text-15"/>
          <p:cNvSpPr txBox="1"/>
          <p:nvPr/>
        </p:nvSpPr>
        <p:spPr>
          <a:xfrm>
            <a:off x="3511296" y="3346704"/>
            <a:ext cx="1371600" cy="182880"/>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fan-out to every node</a:t>
            </a:r>
            <a:endParaRPr lang="en-US" sz="1100" dirty="0"/>
          </a:p>
        </p:txBody>
      </p:sp>
      <p:sp>
        <p:nvSpPr>
          <p:cNvPr id="20" name="line-16"/>
          <p:cNvSpPr/>
          <p:nvPr/>
        </p:nvSpPr>
        <p:spPr>
          <a:xfrm>
            <a:off x="2560320" y="2971800"/>
            <a:ext cx="768096" cy="0"/>
          </a:xfrm>
          <a:prstGeom prst="line">
            <a:avLst/>
          </a:prstGeom>
          <a:noFill/>
          <a:ln w="31750">
            <a:solidFill>
              <a:srgbClr val="134E4A"/>
            </a:solidFill>
            <a:prstDash val="solid"/>
            <a:tailEnd type="triangle"/>
          </a:ln>
        </p:spPr>
      </p:sp>
      <p:sp>
        <p:nvSpPr>
          <p:cNvPr id="21" name="text-17"/>
          <p:cNvSpPr txBox="1"/>
          <p:nvPr/>
        </p:nvSpPr>
        <p:spPr>
          <a:xfrm>
            <a:off x="2560320" y="2743200"/>
            <a:ext cx="822960" cy="164592"/>
          </a:xfrm>
          <a:prstGeom prst="rect">
            <a:avLst/>
          </a:prstGeom>
          <a:noFill/>
          <a:ln/>
        </p:spPr>
        <p:txBody>
          <a:bodyPr wrap="square" lIns="0" tIns="0" rIns="0" bIns="0" rtlCol="0" anchor="ctr"/>
          <a:lstStyle/>
          <a:p>
            <a:pPr algn="ctr" indent="0" marL="0">
              <a:lnSpc>
                <a:spcPct val="100000"/>
              </a:lnSpc>
              <a:buNone/>
            </a:pPr>
            <a:r>
              <a:rPr lang="en-US" sz="1100" b="1" dirty="0">
                <a:solidFill>
                  <a:srgbClr val="134E4A"/>
                </a:solidFill>
                <a:latin typeface="Calibri" pitchFamily="34" charset="0"/>
                <a:ea typeface="Calibri" pitchFamily="34" charset="-122"/>
                <a:cs typeface="Calibri" pitchFamily="34" charset="-120"/>
              </a:rPr>
              <a:t>publish</a:t>
            </a:r>
            <a:endParaRPr lang="en-US" sz="1100" dirty="0"/>
          </a:p>
        </p:txBody>
      </p:sp>
      <p:sp>
        <p:nvSpPr>
          <p:cNvPr id="22" name="shape-18"/>
          <p:cNvSpPr/>
          <p:nvPr/>
        </p:nvSpPr>
        <p:spPr>
          <a:xfrm>
            <a:off x="5303520" y="1408176"/>
            <a:ext cx="2286000" cy="950976"/>
          </a:xfrm>
          <a:prstGeom prst="roundRect">
            <a:avLst>
              <a:gd name="adj" fmla="val 9615"/>
            </a:avLst>
          </a:prstGeom>
          <a:solidFill>
            <a:srgbClr val="0F766E"/>
          </a:solidFill>
          <a:ln w="12700">
            <a:solidFill>
              <a:srgbClr val="0F766E"/>
            </a:solidFill>
            <a:prstDash val="solid"/>
          </a:ln>
        </p:spPr>
      </p:sp>
      <p:pic>
        <p:nvPicPr>
          <p:cNvPr id="23" name="icon-19" descr="preencoded.png">    </p:cNvPr>
          <p:cNvPicPr>
            <a:picLocks noChangeAspect="1"/>
          </p:cNvPicPr>
          <p:nvPr/>
        </p:nvPicPr>
        <p:blipFill>
          <a:blip r:embed="rId3"/>
          <a:stretch>
            <a:fillRect/>
          </a:stretch>
        </p:blipFill>
        <p:spPr>
          <a:xfrm>
            <a:off x="5449824" y="1536192"/>
            <a:ext cx="237744" cy="237744"/>
          </a:xfrm>
          <a:prstGeom prst="rect">
            <a:avLst/>
          </a:prstGeom>
        </p:spPr>
      </p:pic>
      <p:sp>
        <p:nvSpPr>
          <p:cNvPr id="24" name="text-20"/>
          <p:cNvSpPr txBox="1"/>
          <p:nvPr/>
        </p:nvSpPr>
        <p:spPr>
          <a:xfrm>
            <a:off x="5760720" y="1517904"/>
            <a:ext cx="1554480" cy="256032"/>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Region 1</a:t>
            </a:r>
            <a:endParaRPr lang="en-US" sz="1350" dirty="0"/>
          </a:p>
        </p:txBody>
      </p:sp>
      <p:sp>
        <p:nvSpPr>
          <p:cNvPr id="25" name="text-21"/>
          <p:cNvSpPr txBox="1"/>
          <p:nvPr/>
        </p:nvSpPr>
        <p:spPr>
          <a:xfrm>
            <a:off x="5449824" y="1810512"/>
            <a:ext cx="1993392" cy="164592"/>
          </a:xfrm>
          <a:prstGeom prst="rect">
            <a:avLst/>
          </a:prstGeom>
          <a:noFill/>
          <a:ln/>
        </p:spPr>
        <p:txBody>
          <a:bodyPr wrap="none" lIns="0" tIns="0" rIns="0" bIns="0" rtlCol="0" anchor="ctr"/>
          <a:lstStyle/>
          <a:p>
            <a:pPr algn="l" indent="0" marL="0">
              <a:lnSpc>
                <a:spcPct val="100000"/>
              </a:lnSpc>
              <a:buNone/>
            </a:pPr>
            <a:r>
              <a:rPr lang="en-US" sz="1100" i="1" dirty="0">
                <a:solidFill>
                  <a:srgbClr val="CFE8E5"/>
                </a:solidFill>
                <a:latin typeface="Calibri" pitchFamily="34" charset="0"/>
                <a:ea typeface="Calibri" pitchFamily="34" charset="-122"/>
                <a:cs typeface="Calibri" pitchFamily="34" charset="-120"/>
              </a:rPr>
              <a:t>primary for its users</a:t>
            </a:r>
            <a:endParaRPr lang="en-US" sz="1100" dirty="0"/>
          </a:p>
        </p:txBody>
      </p:sp>
      <p:sp>
        <p:nvSpPr>
          <p:cNvPr id="26" name="text-22"/>
          <p:cNvSpPr txBox="1"/>
          <p:nvPr/>
        </p:nvSpPr>
        <p:spPr>
          <a:xfrm>
            <a:off x="5449824" y="1993392"/>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content vN · app · entitlement cache</a:t>
            </a:r>
            <a:endParaRPr lang="en-US" sz="1100" dirty="0"/>
          </a:p>
        </p:txBody>
      </p:sp>
      <p:sp>
        <p:nvSpPr>
          <p:cNvPr id="27" name="text-23"/>
          <p:cNvSpPr txBox="1"/>
          <p:nvPr/>
        </p:nvSpPr>
        <p:spPr>
          <a:xfrm>
            <a:off x="5449824" y="2157984"/>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serves alone if the hub is down</a:t>
            </a:r>
            <a:endParaRPr lang="en-US" sz="1100" dirty="0"/>
          </a:p>
        </p:txBody>
      </p:sp>
      <p:sp>
        <p:nvSpPr>
          <p:cNvPr id="28" name="line-24"/>
          <p:cNvSpPr/>
          <p:nvPr/>
        </p:nvSpPr>
        <p:spPr>
          <a:xfrm flipV="1">
            <a:off x="4937760" y="1883664"/>
            <a:ext cx="310896" cy="676656"/>
          </a:xfrm>
          <a:prstGeom prst="line">
            <a:avLst/>
          </a:prstGeom>
          <a:noFill/>
          <a:ln w="19050">
            <a:solidFill>
              <a:srgbClr val="B45309"/>
            </a:solidFill>
            <a:prstDash val="sysDash"/>
            <a:tailEnd type="triangle"/>
          </a:ln>
        </p:spPr>
      </p:sp>
      <p:sp>
        <p:nvSpPr>
          <p:cNvPr id="29" name="shape-25"/>
          <p:cNvSpPr/>
          <p:nvPr/>
        </p:nvSpPr>
        <p:spPr>
          <a:xfrm>
            <a:off x="5303520" y="2487168"/>
            <a:ext cx="2286000" cy="950976"/>
          </a:xfrm>
          <a:prstGeom prst="roundRect">
            <a:avLst>
              <a:gd name="adj" fmla="val 9615"/>
            </a:avLst>
          </a:prstGeom>
          <a:solidFill>
            <a:srgbClr val="0F766E"/>
          </a:solidFill>
          <a:ln w="12700">
            <a:solidFill>
              <a:srgbClr val="0F766E"/>
            </a:solidFill>
            <a:prstDash val="solid"/>
          </a:ln>
        </p:spPr>
      </p:sp>
      <p:pic>
        <p:nvPicPr>
          <p:cNvPr id="30" name="icon-26" descr="preencoded.png">    </p:cNvPr>
          <p:cNvPicPr>
            <a:picLocks noChangeAspect="1"/>
          </p:cNvPicPr>
          <p:nvPr/>
        </p:nvPicPr>
        <p:blipFill>
          <a:blip r:embed="rId4"/>
          <a:stretch>
            <a:fillRect/>
          </a:stretch>
        </p:blipFill>
        <p:spPr>
          <a:xfrm>
            <a:off x="5449824" y="2615184"/>
            <a:ext cx="237744" cy="237744"/>
          </a:xfrm>
          <a:prstGeom prst="rect">
            <a:avLst/>
          </a:prstGeom>
        </p:spPr>
      </p:pic>
      <p:sp>
        <p:nvSpPr>
          <p:cNvPr id="31" name="text-27"/>
          <p:cNvSpPr txBox="1"/>
          <p:nvPr/>
        </p:nvSpPr>
        <p:spPr>
          <a:xfrm>
            <a:off x="5760720" y="2596896"/>
            <a:ext cx="1554480" cy="256032"/>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Region 2</a:t>
            </a:r>
            <a:endParaRPr lang="en-US" sz="1350" dirty="0"/>
          </a:p>
        </p:txBody>
      </p:sp>
      <p:sp>
        <p:nvSpPr>
          <p:cNvPr id="32" name="text-28"/>
          <p:cNvSpPr txBox="1"/>
          <p:nvPr/>
        </p:nvSpPr>
        <p:spPr>
          <a:xfrm>
            <a:off x="5449824" y="2889504"/>
            <a:ext cx="1993392" cy="164592"/>
          </a:xfrm>
          <a:prstGeom prst="rect">
            <a:avLst/>
          </a:prstGeom>
          <a:noFill/>
          <a:ln/>
        </p:spPr>
        <p:txBody>
          <a:bodyPr wrap="none" lIns="0" tIns="0" rIns="0" bIns="0" rtlCol="0" anchor="ctr"/>
          <a:lstStyle/>
          <a:p>
            <a:pPr algn="l" indent="0" marL="0">
              <a:lnSpc>
                <a:spcPct val="100000"/>
              </a:lnSpc>
              <a:buNone/>
            </a:pPr>
            <a:r>
              <a:rPr lang="en-US" sz="1100" i="1" dirty="0">
                <a:solidFill>
                  <a:srgbClr val="CFE8E5"/>
                </a:solidFill>
                <a:latin typeface="Calibri" pitchFamily="34" charset="0"/>
                <a:ea typeface="Calibri" pitchFamily="34" charset="-122"/>
                <a:cs typeface="Calibri" pitchFamily="34" charset="-120"/>
              </a:rPr>
              <a:t>primary for its users</a:t>
            </a:r>
            <a:endParaRPr lang="en-US" sz="1100" dirty="0"/>
          </a:p>
        </p:txBody>
      </p:sp>
      <p:sp>
        <p:nvSpPr>
          <p:cNvPr id="33" name="text-29"/>
          <p:cNvSpPr txBox="1"/>
          <p:nvPr/>
        </p:nvSpPr>
        <p:spPr>
          <a:xfrm>
            <a:off x="5449824" y="3072384"/>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content vN · app · entitlement cache</a:t>
            </a:r>
            <a:endParaRPr lang="en-US" sz="1100" dirty="0"/>
          </a:p>
        </p:txBody>
      </p:sp>
      <p:sp>
        <p:nvSpPr>
          <p:cNvPr id="34" name="text-30"/>
          <p:cNvSpPr txBox="1"/>
          <p:nvPr/>
        </p:nvSpPr>
        <p:spPr>
          <a:xfrm>
            <a:off x="5449824" y="3236976"/>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FFFFFF"/>
                </a:solidFill>
                <a:latin typeface="Calibri" pitchFamily="34" charset="0"/>
                <a:ea typeface="Calibri" pitchFamily="34" charset="-122"/>
                <a:cs typeface="Calibri" pitchFamily="34" charset="-120"/>
              </a:rPr>
              <a:t>serves alone if the hub is down</a:t>
            </a:r>
            <a:endParaRPr lang="en-US" sz="1100" dirty="0"/>
          </a:p>
        </p:txBody>
      </p:sp>
      <p:sp>
        <p:nvSpPr>
          <p:cNvPr id="35" name="line-31"/>
          <p:cNvSpPr/>
          <p:nvPr/>
        </p:nvSpPr>
        <p:spPr>
          <a:xfrm flipV="1">
            <a:off x="4937760" y="2962656"/>
            <a:ext cx="310896" cy="9144"/>
          </a:xfrm>
          <a:prstGeom prst="line">
            <a:avLst/>
          </a:prstGeom>
          <a:noFill/>
          <a:ln w="19050">
            <a:solidFill>
              <a:srgbClr val="B45309"/>
            </a:solidFill>
            <a:prstDash val="sysDash"/>
            <a:tailEnd type="triangle"/>
          </a:ln>
        </p:spPr>
      </p:sp>
      <p:sp>
        <p:nvSpPr>
          <p:cNvPr id="36" name="shape-32"/>
          <p:cNvSpPr/>
          <p:nvPr/>
        </p:nvSpPr>
        <p:spPr>
          <a:xfrm>
            <a:off x="5303520" y="3566160"/>
            <a:ext cx="2286000" cy="950976"/>
          </a:xfrm>
          <a:prstGeom prst="roundRect">
            <a:avLst>
              <a:gd name="adj" fmla="val 9615"/>
            </a:avLst>
          </a:prstGeom>
          <a:solidFill>
            <a:srgbClr val="D6ECE9"/>
          </a:solidFill>
          <a:ln w="12700">
            <a:solidFill>
              <a:srgbClr val="D6ECE9"/>
            </a:solidFill>
            <a:prstDash val="solid"/>
          </a:ln>
        </p:spPr>
      </p:sp>
      <p:pic>
        <p:nvPicPr>
          <p:cNvPr id="37" name="icon-33" descr="preencoded.png">    </p:cNvPr>
          <p:cNvPicPr>
            <a:picLocks noChangeAspect="1"/>
          </p:cNvPicPr>
          <p:nvPr/>
        </p:nvPicPr>
        <p:blipFill>
          <a:blip r:embed="rId5"/>
          <a:stretch>
            <a:fillRect/>
          </a:stretch>
        </p:blipFill>
        <p:spPr>
          <a:xfrm>
            <a:off x="5449824" y="3694176"/>
            <a:ext cx="237744" cy="237744"/>
          </a:xfrm>
          <a:prstGeom prst="rect">
            <a:avLst/>
          </a:prstGeom>
        </p:spPr>
      </p:pic>
      <p:sp>
        <p:nvSpPr>
          <p:cNvPr id="38" name="text-34"/>
          <p:cNvSpPr txBox="1"/>
          <p:nvPr/>
        </p:nvSpPr>
        <p:spPr>
          <a:xfrm>
            <a:off x="5760720" y="3675888"/>
            <a:ext cx="1554480" cy="256032"/>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Region 3</a:t>
            </a:r>
            <a:endParaRPr lang="en-US" sz="1350" dirty="0"/>
          </a:p>
        </p:txBody>
      </p:sp>
      <p:sp>
        <p:nvSpPr>
          <p:cNvPr id="39" name="text-35"/>
          <p:cNvSpPr txBox="1"/>
          <p:nvPr/>
        </p:nvSpPr>
        <p:spPr>
          <a:xfrm>
            <a:off x="5449824" y="3968496"/>
            <a:ext cx="1993392" cy="164592"/>
          </a:xfrm>
          <a:prstGeom prst="rect">
            <a:avLst/>
          </a:prstGeom>
          <a:noFill/>
          <a:ln/>
        </p:spPr>
        <p:txBody>
          <a:bodyPr wrap="non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standby; rebuilt from the log</a:t>
            </a:r>
            <a:endParaRPr lang="en-US" sz="1100" dirty="0"/>
          </a:p>
        </p:txBody>
      </p:sp>
      <p:sp>
        <p:nvSpPr>
          <p:cNvPr id="40" name="text-36"/>
          <p:cNvSpPr txBox="1"/>
          <p:nvPr/>
        </p:nvSpPr>
        <p:spPr>
          <a:xfrm>
            <a:off x="5449824" y="4151376"/>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content vN · app · entitlement cache</a:t>
            </a:r>
            <a:endParaRPr lang="en-US" sz="1100" dirty="0"/>
          </a:p>
        </p:txBody>
      </p:sp>
      <p:sp>
        <p:nvSpPr>
          <p:cNvPr id="41" name="text-37"/>
          <p:cNvSpPr txBox="1"/>
          <p:nvPr/>
        </p:nvSpPr>
        <p:spPr>
          <a:xfrm>
            <a:off x="5449824" y="4315968"/>
            <a:ext cx="1993392" cy="164592"/>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serves alone if the hub is down</a:t>
            </a:r>
            <a:endParaRPr lang="en-US" sz="1100" dirty="0"/>
          </a:p>
        </p:txBody>
      </p:sp>
      <p:sp>
        <p:nvSpPr>
          <p:cNvPr id="42" name="line-38"/>
          <p:cNvSpPr/>
          <p:nvPr/>
        </p:nvSpPr>
        <p:spPr>
          <a:xfrm>
            <a:off x="4937760" y="3383280"/>
            <a:ext cx="310896" cy="658368"/>
          </a:xfrm>
          <a:prstGeom prst="line">
            <a:avLst/>
          </a:prstGeom>
          <a:noFill/>
          <a:ln w="19050">
            <a:solidFill>
              <a:srgbClr val="B45309"/>
            </a:solidFill>
            <a:prstDash val="sysDash"/>
            <a:tailEnd type="triangle"/>
          </a:ln>
        </p:spPr>
      </p:sp>
      <p:sp>
        <p:nvSpPr>
          <p:cNvPr id="43" name="text-39"/>
          <p:cNvSpPr txBox="1"/>
          <p:nvPr/>
        </p:nvSpPr>
        <p:spPr>
          <a:xfrm>
            <a:off x="5303520" y="4681728"/>
            <a:ext cx="2286000" cy="164592"/>
          </a:xfrm>
          <a:prstGeom prst="rect">
            <a:avLst/>
          </a:prstGeom>
          <a:noFill/>
          <a:ln/>
        </p:spPr>
        <p:txBody>
          <a:bodyPr wrap="square" lIns="0" tIns="0" rIns="0" bIns="0" rtlCol="0" anchor="ctr"/>
          <a:lstStyle/>
          <a:p>
            <a:pPr algn="ctr" indent="0" marL="0">
              <a:lnSpc>
                <a:spcPct val="100000"/>
              </a:lnSpc>
              <a:buNone/>
            </a:pPr>
            <a:r>
              <a:rPr lang="en-US" sz="1100" i="1" dirty="0">
                <a:solidFill>
                  <a:srgbClr val="5A6B75"/>
                </a:solidFill>
                <a:latin typeface="Calibri" pitchFamily="34" charset="0"/>
                <a:ea typeface="Calibri" pitchFamily="34" charset="-122"/>
                <a:cs typeface="Calibri" pitchFamily="34" charset="-120"/>
              </a:rPr>
              <a:t>nodes are backups for each other</a:t>
            </a:r>
            <a:endParaRPr lang="en-US" sz="1100" dirty="0"/>
          </a:p>
        </p:txBody>
      </p:sp>
      <p:sp>
        <p:nvSpPr>
          <p:cNvPr id="44" name="shape-40"/>
          <p:cNvSpPr/>
          <p:nvPr/>
        </p:nvSpPr>
        <p:spPr>
          <a:xfrm>
            <a:off x="8595360" y="1645920"/>
            <a:ext cx="1280160" cy="2651760"/>
          </a:xfrm>
          <a:prstGeom prst="roundRect">
            <a:avLst>
              <a:gd name="adj" fmla="val 7143"/>
            </a:avLst>
          </a:prstGeom>
          <a:solidFill>
            <a:srgbClr val="EEF2F4"/>
          </a:solidFill>
          <a:ln w="12700">
            <a:solidFill>
              <a:srgbClr val="EEF2F4"/>
            </a:solidFill>
            <a:prstDash val="solid"/>
          </a:ln>
        </p:spPr>
      </p:sp>
      <p:sp>
        <p:nvSpPr>
          <p:cNvPr id="45" name="text-41"/>
          <p:cNvSpPr txBox="1"/>
          <p:nvPr/>
        </p:nvSpPr>
        <p:spPr>
          <a:xfrm>
            <a:off x="8595360" y="1810512"/>
            <a:ext cx="1280160" cy="201168"/>
          </a:xfrm>
          <a:prstGeom prst="rect">
            <a:avLst/>
          </a:prstGeom>
          <a:noFill/>
          <a:ln/>
        </p:spPr>
        <p:txBody>
          <a:bodyPr wrap="square" lIns="0" tIns="0" rIns="0" bIns="0" rtlCol="0" anchor="ctr"/>
          <a:lstStyle/>
          <a:p>
            <a:pPr algn="ctr" indent="0" marL="0">
              <a:lnSpc>
                <a:spcPct val="100000"/>
              </a:lnSpc>
              <a:buNone/>
            </a:pPr>
            <a:r>
              <a:rPr lang="en-US" sz="1150" b="1" dirty="0">
                <a:solidFill>
                  <a:srgbClr val="1C2B33"/>
                </a:solidFill>
                <a:latin typeface="Calibri" pitchFamily="34" charset="0"/>
                <a:ea typeface="Calibri" pitchFamily="34" charset="-122"/>
                <a:cs typeface="Calibri" pitchFamily="34" charset="-120"/>
              </a:rPr>
              <a:t>Multi-CDN edge</a:t>
            </a:r>
            <a:endParaRPr lang="en-US" sz="1150" dirty="0"/>
          </a:p>
        </p:txBody>
      </p:sp>
      <p:sp>
        <p:nvSpPr>
          <p:cNvPr id="46" name="text-42"/>
          <p:cNvSpPr txBox="1"/>
          <p:nvPr/>
        </p:nvSpPr>
        <p:spPr>
          <a:xfrm>
            <a:off x="8686800" y="2084832"/>
            <a:ext cx="1097280" cy="1371600"/>
          </a:xfrm>
          <a:prstGeom prst="rect">
            <a:avLst/>
          </a:prstGeom>
          <a:noFill/>
          <a:ln/>
        </p:spPr>
        <p:txBody>
          <a:bodyPr wrap="square" lIns="0" tIns="0" rIns="0" bIns="0" rtlCol="0" anchor="t"/>
          <a:lstStyle/>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published content cached at the edge</a:t>
            </a:r>
            <a:endParaRPr lang="en-US" sz="1100" dirty="0"/>
          </a:p>
          <a:p>
            <a:pPr algn="ctr" indent="0" marL="0">
              <a:lnSpc>
                <a:spcPct val="100000"/>
              </a:lnSpc>
              <a:buNone/>
            </a:pPr>
            <a:endParaRPr lang="en-US" sz="1100" dirty="0"/>
          </a:p>
          <a:p>
            <a:pPr algn="ctr" indent="0" marL="0">
              <a:lnSpc>
                <a:spcPct val="100000"/>
              </a:lnSpc>
              <a:buNone/>
            </a:pPr>
            <a:r>
              <a:rPr lang="en-US" sz="1100" dirty="0">
                <a:solidFill>
                  <a:srgbClr val="5A6B75"/>
                </a:solidFill>
                <a:latin typeface="Calibri" pitchFamily="34" charset="0"/>
                <a:ea typeface="Calibri" pitchFamily="34" charset="-122"/>
                <a:cs typeface="Calibri" pitchFamily="34" charset="-120"/>
              </a:rPr>
              <a:t>anycast DNS and health-based routing to the nearest healthy node</a:t>
            </a:r>
            <a:endParaRPr lang="en-US" sz="1100" dirty="0"/>
          </a:p>
        </p:txBody>
      </p:sp>
      <p:pic>
        <p:nvPicPr>
          <p:cNvPr id="47" name="icon-43" descr="preencoded.png">    </p:cNvPr>
          <p:cNvPicPr>
            <a:picLocks noChangeAspect="1"/>
          </p:cNvPicPr>
          <p:nvPr/>
        </p:nvPicPr>
        <p:blipFill>
          <a:blip r:embed="rId6"/>
          <a:stretch>
            <a:fillRect/>
          </a:stretch>
        </p:blipFill>
        <p:spPr>
          <a:xfrm>
            <a:off x="9107424" y="3767328"/>
            <a:ext cx="256032" cy="256032"/>
          </a:xfrm>
          <a:prstGeom prst="rect">
            <a:avLst/>
          </a:prstGeom>
        </p:spPr>
      </p:pic>
      <p:sp>
        <p:nvSpPr>
          <p:cNvPr id="48" name="line-44"/>
          <p:cNvSpPr/>
          <p:nvPr/>
        </p:nvSpPr>
        <p:spPr>
          <a:xfrm>
            <a:off x="7589520" y="1883664"/>
            <a:ext cx="1005840" cy="1088136"/>
          </a:xfrm>
          <a:prstGeom prst="line">
            <a:avLst/>
          </a:prstGeom>
          <a:noFill/>
          <a:ln w="25400">
            <a:solidFill>
              <a:srgbClr val="0F766E"/>
            </a:solidFill>
            <a:prstDash val="solid"/>
          </a:ln>
        </p:spPr>
      </p:sp>
      <p:sp>
        <p:nvSpPr>
          <p:cNvPr id="49" name="line-45"/>
          <p:cNvSpPr/>
          <p:nvPr/>
        </p:nvSpPr>
        <p:spPr>
          <a:xfrm>
            <a:off x="7589520" y="2962656"/>
            <a:ext cx="1005840" cy="9144"/>
          </a:xfrm>
          <a:prstGeom prst="line">
            <a:avLst/>
          </a:prstGeom>
          <a:noFill/>
          <a:ln w="25400">
            <a:solidFill>
              <a:srgbClr val="0F766E"/>
            </a:solidFill>
            <a:prstDash val="solid"/>
          </a:ln>
        </p:spPr>
      </p:sp>
      <p:sp>
        <p:nvSpPr>
          <p:cNvPr id="50" name="line-46"/>
          <p:cNvSpPr/>
          <p:nvPr/>
        </p:nvSpPr>
        <p:spPr>
          <a:xfrm flipV="1">
            <a:off x="7589520" y="2971800"/>
            <a:ext cx="1005840" cy="1069848"/>
          </a:xfrm>
          <a:prstGeom prst="line">
            <a:avLst/>
          </a:prstGeom>
          <a:noFill/>
          <a:ln w="25400">
            <a:solidFill>
              <a:srgbClr val="0F766E"/>
            </a:solidFill>
            <a:prstDash val="solid"/>
          </a:ln>
        </p:spPr>
      </p:sp>
      <p:sp>
        <p:nvSpPr>
          <p:cNvPr id="51" name="oval-47"/>
          <p:cNvSpPr/>
          <p:nvPr/>
        </p:nvSpPr>
        <p:spPr>
          <a:xfrm>
            <a:off x="10195560" y="2606040"/>
            <a:ext cx="731520" cy="731520"/>
          </a:xfrm>
          <a:prstGeom prst="ellipse">
            <a:avLst/>
          </a:prstGeom>
          <a:solidFill>
            <a:srgbClr val="134E4A"/>
          </a:solidFill>
          <a:ln w="12700">
            <a:solidFill>
              <a:srgbClr val="134E4A"/>
            </a:solidFill>
            <a:prstDash val="solid"/>
          </a:ln>
        </p:spPr>
      </p:sp>
      <p:pic>
        <p:nvPicPr>
          <p:cNvPr id="52" name="icon-48" descr="preencoded.png">    </p:cNvPr>
          <p:cNvPicPr>
            <a:picLocks noChangeAspect="1"/>
          </p:cNvPicPr>
          <p:nvPr/>
        </p:nvPicPr>
        <p:blipFill>
          <a:blip r:embed="rId7"/>
          <a:stretch>
            <a:fillRect/>
          </a:stretch>
        </p:blipFill>
        <p:spPr>
          <a:xfrm>
            <a:off x="10415016" y="2825496"/>
            <a:ext cx="292608" cy="292608"/>
          </a:xfrm>
          <a:prstGeom prst="rect">
            <a:avLst/>
          </a:prstGeom>
        </p:spPr>
      </p:pic>
      <p:sp>
        <p:nvSpPr>
          <p:cNvPr id="53" name="text-49"/>
          <p:cNvSpPr txBox="1"/>
          <p:nvPr/>
        </p:nvSpPr>
        <p:spPr>
          <a:xfrm>
            <a:off x="9464040" y="3419856"/>
            <a:ext cx="2194560" cy="402336"/>
          </a:xfrm>
          <a:prstGeom prst="rect">
            <a:avLst/>
          </a:prstGeom>
          <a:noFill/>
          <a:ln/>
        </p:spPr>
        <p:txBody>
          <a:bodyPr wrap="square" lIns="0" tIns="0" rIns="0" bIns="0" rtlCol="0" anchor="t"/>
          <a:lstStyle/>
          <a:p>
            <a:pPr algn="ctr" indent="0" marL="0">
              <a:lnSpc>
                <a:spcPct val="100000"/>
              </a:lnSpc>
              <a:buNone/>
            </a:pPr>
            <a:r>
              <a:rPr lang="en-US" sz="1100" dirty="0">
                <a:solidFill>
                  <a:srgbClr val="1C2B33"/>
                </a:solidFill>
                <a:latin typeface="Calibri" pitchFamily="34" charset="0"/>
                <a:ea typeface="Calibri" pitchFamily="34" charset="-122"/>
                <a:cs typeface="Calibri" pitchFamily="34" charset="-120"/>
              </a:rPr>
              <a:t>clinicians, institutions,</a:t>
            </a:r>
            <a:endParaRPr lang="en-US" sz="1100" dirty="0"/>
          </a:p>
          <a:p>
            <a:pPr algn="ctr" indent="0" marL="0">
              <a:lnSpc>
                <a:spcPct val="100000"/>
              </a:lnSpc>
              <a:buNone/>
            </a:pPr>
            <a:r>
              <a:rPr lang="en-US" sz="1100" dirty="0">
                <a:solidFill>
                  <a:srgbClr val="1C2B33"/>
                </a:solidFill>
                <a:latin typeface="Calibri" pitchFamily="34" charset="0"/>
                <a:ea typeface="Calibri" pitchFamily="34" charset="-122"/>
                <a:cs typeface="Calibri" pitchFamily="34" charset="-120"/>
              </a:rPr>
              <a:t>third-party systems</a:t>
            </a:r>
            <a:endParaRPr lang="en-US" sz="1100" dirty="0"/>
          </a:p>
        </p:txBody>
      </p:sp>
      <p:sp>
        <p:nvSpPr>
          <p:cNvPr id="54" name="line-50"/>
          <p:cNvSpPr/>
          <p:nvPr/>
        </p:nvSpPr>
        <p:spPr>
          <a:xfrm>
            <a:off x="9875520" y="2971800"/>
            <a:ext cx="301752" cy="0"/>
          </a:xfrm>
          <a:prstGeom prst="line">
            <a:avLst/>
          </a:prstGeom>
          <a:noFill/>
          <a:ln w="31750">
            <a:solidFill>
              <a:srgbClr val="134E4A"/>
            </a:solidFill>
            <a:prstDash val="solid"/>
          </a:ln>
        </p:spPr>
      </p:sp>
      <p:sp>
        <p:nvSpPr>
          <p:cNvPr id="55" name="shape-51"/>
          <p:cNvSpPr/>
          <p:nvPr/>
        </p:nvSpPr>
        <p:spPr>
          <a:xfrm>
            <a:off x="548640" y="4754880"/>
            <a:ext cx="5394960" cy="1645920"/>
          </a:xfrm>
          <a:prstGeom prst="roundRect">
            <a:avLst>
              <a:gd name="adj" fmla="val 4444"/>
            </a:avLst>
          </a:prstGeom>
          <a:solidFill>
            <a:srgbClr val="EEF2F4"/>
          </a:solidFill>
          <a:ln w="12700">
            <a:solidFill>
              <a:srgbClr val="EEF2F4"/>
            </a:solidFill>
            <a:prstDash val="solid"/>
          </a:ln>
        </p:spPr>
      </p:sp>
      <p:sp>
        <p:nvSpPr>
          <p:cNvPr id="56" name="text-52"/>
          <p:cNvSpPr txBox="1"/>
          <p:nvPr/>
        </p:nvSpPr>
        <p:spPr>
          <a:xfrm>
            <a:off x="749808" y="490118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ROLLBACK IN THIS WORLD</a:t>
            </a:r>
            <a:endParaRPr lang="en-US" sz="1100" dirty="0"/>
          </a:p>
        </p:txBody>
      </p:sp>
      <p:sp>
        <p:nvSpPr>
          <p:cNvPr id="57" name="oval-53"/>
          <p:cNvSpPr/>
          <p:nvPr/>
        </p:nvSpPr>
        <p:spPr>
          <a:xfrm>
            <a:off x="768096" y="5321808"/>
            <a:ext cx="73152" cy="73152"/>
          </a:xfrm>
          <a:prstGeom prst="ellipse">
            <a:avLst/>
          </a:prstGeom>
          <a:solidFill>
            <a:srgbClr val="0F766E"/>
          </a:solidFill>
          <a:ln w="12700">
            <a:solidFill>
              <a:srgbClr val="0F766E"/>
            </a:solidFill>
            <a:prstDash val="solid"/>
          </a:ln>
        </p:spPr>
      </p:sp>
      <p:sp>
        <p:nvSpPr>
          <p:cNvPr id="58" name="text-54"/>
          <p:cNvSpPr txBox="1"/>
          <p:nvPr/>
        </p:nvSpPr>
        <p:spPr>
          <a:xfrm>
            <a:off x="932688" y="5230368"/>
            <a:ext cx="4846320" cy="256032"/>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Rolling back is re-pointing to vN-1 — seconds, no redeploy</a:t>
            </a:r>
            <a:endParaRPr lang="en-US" sz="1150" dirty="0"/>
          </a:p>
        </p:txBody>
      </p:sp>
      <p:sp>
        <p:nvSpPr>
          <p:cNvPr id="59" name="oval-55"/>
          <p:cNvSpPr/>
          <p:nvPr/>
        </p:nvSpPr>
        <p:spPr>
          <a:xfrm>
            <a:off x="768096" y="5596128"/>
            <a:ext cx="73152" cy="73152"/>
          </a:xfrm>
          <a:prstGeom prst="ellipse">
            <a:avLst/>
          </a:prstGeom>
          <a:solidFill>
            <a:srgbClr val="0F766E"/>
          </a:solidFill>
          <a:ln w="12700">
            <a:solidFill>
              <a:srgbClr val="0F766E"/>
            </a:solidFill>
            <a:prstDash val="solid"/>
          </a:ln>
        </p:spPr>
      </p:sp>
      <p:sp>
        <p:nvSpPr>
          <p:cNvPr id="60" name="text-56"/>
          <p:cNvSpPr txBox="1"/>
          <p:nvPr/>
        </p:nvSpPr>
        <p:spPr>
          <a:xfrm>
            <a:off x="932688" y="5504688"/>
            <a:ext cx="4846320" cy="256032"/>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Content and code roll back together: the manifest binds them</a:t>
            </a:r>
            <a:endParaRPr lang="en-US" sz="1150" dirty="0"/>
          </a:p>
        </p:txBody>
      </p:sp>
      <p:sp>
        <p:nvSpPr>
          <p:cNvPr id="61" name="oval-57"/>
          <p:cNvSpPr/>
          <p:nvPr/>
        </p:nvSpPr>
        <p:spPr>
          <a:xfrm>
            <a:off x="768096" y="5870448"/>
            <a:ext cx="73152" cy="73152"/>
          </a:xfrm>
          <a:prstGeom prst="ellipse">
            <a:avLst/>
          </a:prstGeom>
          <a:solidFill>
            <a:srgbClr val="0F766E"/>
          </a:solidFill>
          <a:ln w="12700">
            <a:solidFill>
              <a:srgbClr val="0F766E"/>
            </a:solidFill>
            <a:prstDash val="solid"/>
          </a:ln>
        </p:spPr>
      </p:sp>
      <p:sp>
        <p:nvSpPr>
          <p:cNvPr id="62" name="text-58"/>
          <p:cNvSpPr txBox="1"/>
          <p:nvPr/>
        </p:nvSpPr>
        <p:spPr>
          <a:xfrm>
            <a:off x="932688" y="5779008"/>
            <a:ext cx="4846320" cy="256032"/>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A lost node is rebuilt by replaying the log — no restore from backup</a:t>
            </a:r>
            <a:endParaRPr lang="en-US" sz="1150" dirty="0"/>
          </a:p>
        </p:txBody>
      </p:sp>
      <p:sp>
        <p:nvSpPr>
          <p:cNvPr id="63" name="oval-59"/>
          <p:cNvSpPr/>
          <p:nvPr/>
        </p:nvSpPr>
        <p:spPr>
          <a:xfrm>
            <a:off x="768096" y="6144768"/>
            <a:ext cx="73152" cy="73152"/>
          </a:xfrm>
          <a:prstGeom prst="ellipse">
            <a:avLst/>
          </a:prstGeom>
          <a:solidFill>
            <a:srgbClr val="0F766E"/>
          </a:solidFill>
          <a:ln w="12700">
            <a:solidFill>
              <a:srgbClr val="0F766E"/>
            </a:solidFill>
            <a:prstDash val="solid"/>
          </a:ln>
        </p:spPr>
      </p:sp>
      <p:sp>
        <p:nvSpPr>
          <p:cNvPr id="64" name="text-60"/>
          <p:cNvSpPr txBox="1"/>
          <p:nvPr/>
        </p:nvSpPr>
        <p:spPr>
          <a:xfrm>
            <a:off x="932688" y="6053328"/>
            <a:ext cx="4846320" cy="256032"/>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Canary: publish to one node or cohort, watch the SLO, then fan out</a:t>
            </a:r>
            <a:endParaRPr lang="en-US" sz="1150" dirty="0"/>
          </a:p>
        </p:txBody>
      </p:sp>
      <p:sp>
        <p:nvSpPr>
          <p:cNvPr id="65" name="shape-61"/>
          <p:cNvSpPr/>
          <p:nvPr/>
        </p:nvSpPr>
        <p:spPr>
          <a:xfrm>
            <a:off x="6126480" y="4754880"/>
            <a:ext cx="5486400" cy="1645920"/>
          </a:xfrm>
          <a:prstGeom prst="roundRect">
            <a:avLst>
              <a:gd name="adj" fmla="val 4444"/>
            </a:avLst>
          </a:prstGeom>
          <a:solidFill>
            <a:srgbClr val="FDF1E3"/>
          </a:solidFill>
          <a:ln w="12700">
            <a:solidFill>
              <a:srgbClr val="FDF1E3"/>
            </a:solidFill>
            <a:prstDash val="solid"/>
          </a:ln>
        </p:spPr>
      </p:sp>
      <p:sp>
        <p:nvSpPr>
          <p:cNvPr id="66" name="text-62"/>
          <p:cNvSpPr txBox="1"/>
          <p:nvPr/>
        </p:nvSpPr>
        <p:spPr>
          <a:xfrm>
            <a:off x="6327648" y="490118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B45309"/>
                </a:solidFill>
                <a:latin typeface="Calibri" pitchFamily="34" charset="0"/>
                <a:ea typeface="Calibri" pitchFamily="34" charset="-122"/>
                <a:cs typeface="Calibri" pitchFamily="34" charset="-120"/>
              </a:rPr>
              <a:t>OTHER CONSIDERATIONS — TO EVALUATE AT GATE 2, NOT CHANGES</a:t>
            </a:r>
            <a:endParaRPr lang="en-US" sz="1100" dirty="0"/>
          </a:p>
        </p:txBody>
      </p:sp>
      <p:sp>
        <p:nvSpPr>
          <p:cNvPr id="67" name="text-63"/>
          <p:cNvSpPr txBox="1"/>
          <p:nvPr/>
        </p:nvSpPr>
        <p:spPr>
          <a:xfrm>
            <a:off x="6327648" y="5248656"/>
            <a:ext cx="3657600" cy="219456"/>
          </a:xfrm>
          <a:prstGeom prst="rect">
            <a:avLst/>
          </a:prstGeom>
          <a:noFill/>
          <a:ln/>
        </p:spPr>
        <p:txBody>
          <a:bodyPr wrap="non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Event backbone: replay and ordering</a:t>
            </a:r>
            <a:endParaRPr lang="en-US" sz="1100" dirty="0"/>
          </a:p>
        </p:txBody>
      </p:sp>
      <p:sp>
        <p:nvSpPr>
          <p:cNvPr id="68" name="shape-64"/>
          <p:cNvSpPr/>
          <p:nvPr/>
        </p:nvSpPr>
        <p:spPr>
          <a:xfrm>
            <a:off x="10149840" y="5257800"/>
            <a:ext cx="1280160" cy="201168"/>
          </a:xfrm>
          <a:prstGeom prst="roundRect">
            <a:avLst>
              <a:gd name="adj" fmla="val 50000"/>
            </a:avLst>
          </a:prstGeom>
          <a:solidFill>
            <a:srgbClr val="B45309"/>
          </a:solidFill>
          <a:ln w="12700">
            <a:solidFill>
              <a:srgbClr val="B45309"/>
            </a:solidFill>
            <a:prstDash val="solid"/>
          </a:ln>
        </p:spPr>
      </p:sp>
      <p:sp>
        <p:nvSpPr>
          <p:cNvPr id="69" name="text-65"/>
          <p:cNvSpPr txBox="1"/>
          <p:nvPr/>
        </p:nvSpPr>
        <p:spPr>
          <a:xfrm>
            <a:off x="10149840" y="5257800"/>
            <a:ext cx="1280160" cy="201168"/>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Kafka-class log</a:t>
            </a:r>
            <a:endParaRPr lang="en-US" sz="1100" dirty="0"/>
          </a:p>
        </p:txBody>
      </p:sp>
      <p:sp>
        <p:nvSpPr>
          <p:cNvPr id="70" name="text-66"/>
          <p:cNvSpPr txBox="1"/>
          <p:nvPr/>
        </p:nvSpPr>
        <p:spPr>
          <a:xfrm>
            <a:off x="6327648" y="5522976"/>
            <a:ext cx="3657600" cy="219456"/>
          </a:xfrm>
          <a:prstGeom prst="rect">
            <a:avLst/>
          </a:prstGeom>
          <a:noFill/>
          <a:ln/>
        </p:spPr>
        <p:txBody>
          <a:bodyPr wrap="non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Institutional single sign-on</a:t>
            </a:r>
            <a:endParaRPr lang="en-US" sz="1100" dirty="0"/>
          </a:p>
        </p:txBody>
      </p:sp>
      <p:sp>
        <p:nvSpPr>
          <p:cNvPr id="71" name="shape-67"/>
          <p:cNvSpPr/>
          <p:nvPr/>
        </p:nvSpPr>
        <p:spPr>
          <a:xfrm>
            <a:off x="10149840" y="5532120"/>
            <a:ext cx="1280160" cy="201168"/>
          </a:xfrm>
          <a:prstGeom prst="roundRect">
            <a:avLst>
              <a:gd name="adj" fmla="val 50000"/>
            </a:avLst>
          </a:prstGeom>
          <a:solidFill>
            <a:srgbClr val="B45309"/>
          </a:solidFill>
          <a:ln w="12700">
            <a:solidFill>
              <a:srgbClr val="B45309"/>
            </a:solidFill>
            <a:prstDash val="solid"/>
          </a:ln>
        </p:spPr>
      </p:sp>
      <p:sp>
        <p:nvSpPr>
          <p:cNvPr id="72" name="text-68"/>
          <p:cNvSpPr txBox="1"/>
          <p:nvPr/>
        </p:nvSpPr>
        <p:spPr>
          <a:xfrm>
            <a:off x="10149840" y="5532120"/>
            <a:ext cx="1280160" cy="201168"/>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Shibboleth / SAML</a:t>
            </a:r>
            <a:endParaRPr lang="en-US" sz="1100" dirty="0"/>
          </a:p>
        </p:txBody>
      </p:sp>
      <p:sp>
        <p:nvSpPr>
          <p:cNvPr id="73" name="text-69"/>
          <p:cNvSpPr txBox="1"/>
          <p:nvPr/>
        </p:nvSpPr>
        <p:spPr>
          <a:xfrm>
            <a:off x="6327648" y="5797296"/>
            <a:ext cx="3657600" cy="219456"/>
          </a:xfrm>
          <a:prstGeom prst="rect">
            <a:avLst/>
          </a:prstGeom>
          <a:noFill/>
          <a:ln/>
        </p:spPr>
        <p:txBody>
          <a:bodyPr wrap="non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Learning-platform integration</a:t>
            </a:r>
            <a:endParaRPr lang="en-US" sz="1100" dirty="0"/>
          </a:p>
        </p:txBody>
      </p:sp>
      <p:sp>
        <p:nvSpPr>
          <p:cNvPr id="74" name="shape-70"/>
          <p:cNvSpPr/>
          <p:nvPr/>
        </p:nvSpPr>
        <p:spPr>
          <a:xfrm>
            <a:off x="10149840" y="5806440"/>
            <a:ext cx="1280160" cy="201168"/>
          </a:xfrm>
          <a:prstGeom prst="roundRect">
            <a:avLst>
              <a:gd name="adj" fmla="val 50000"/>
            </a:avLst>
          </a:prstGeom>
          <a:solidFill>
            <a:srgbClr val="B45309"/>
          </a:solidFill>
          <a:ln w="12700">
            <a:solidFill>
              <a:srgbClr val="B45309"/>
            </a:solidFill>
            <a:prstDash val="solid"/>
          </a:ln>
        </p:spPr>
      </p:sp>
      <p:sp>
        <p:nvSpPr>
          <p:cNvPr id="75" name="text-71"/>
          <p:cNvSpPr txBox="1"/>
          <p:nvPr/>
        </p:nvSpPr>
        <p:spPr>
          <a:xfrm>
            <a:off x="10149840" y="5806440"/>
            <a:ext cx="1280160" cy="201168"/>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LTI / LIS</a:t>
            </a:r>
            <a:endParaRPr lang="en-US" sz="1100" dirty="0"/>
          </a:p>
        </p:txBody>
      </p:sp>
      <p:sp>
        <p:nvSpPr>
          <p:cNvPr id="76" name="text-72"/>
          <p:cNvSpPr txBox="1"/>
          <p:nvPr/>
        </p:nvSpPr>
        <p:spPr>
          <a:xfrm>
            <a:off x="6327648" y="6071616"/>
            <a:ext cx="3657600" cy="219456"/>
          </a:xfrm>
          <a:prstGeom prst="rect">
            <a:avLst/>
          </a:prstGeom>
          <a:noFill/>
          <a:ln/>
        </p:spPr>
        <p:txBody>
          <a:bodyPr wrap="non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Clinical and prescribing systems</a:t>
            </a:r>
            <a:endParaRPr lang="en-US" sz="1100" dirty="0"/>
          </a:p>
        </p:txBody>
      </p:sp>
      <p:sp>
        <p:nvSpPr>
          <p:cNvPr id="77" name="shape-73"/>
          <p:cNvSpPr/>
          <p:nvPr/>
        </p:nvSpPr>
        <p:spPr>
          <a:xfrm>
            <a:off x="10149840" y="6080760"/>
            <a:ext cx="1280160" cy="201168"/>
          </a:xfrm>
          <a:prstGeom prst="roundRect">
            <a:avLst>
              <a:gd name="adj" fmla="val 50000"/>
            </a:avLst>
          </a:prstGeom>
          <a:solidFill>
            <a:srgbClr val="B45309"/>
          </a:solidFill>
          <a:ln w="12700">
            <a:solidFill>
              <a:srgbClr val="B45309"/>
            </a:solidFill>
            <a:prstDash val="solid"/>
          </a:ln>
        </p:spPr>
      </p:sp>
      <p:sp>
        <p:nvSpPr>
          <p:cNvPr id="78" name="text-74"/>
          <p:cNvSpPr txBox="1"/>
          <p:nvPr/>
        </p:nvSpPr>
        <p:spPr>
          <a:xfrm>
            <a:off x="10149840" y="6080760"/>
            <a:ext cx="1280160" cy="201168"/>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clinical standards</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6  ·  THE TEAM THE NEXT STAGE NEEDS</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A minimum viable team of six, and the options Gate 2 decides</a:t>
            </a:r>
            <a:endParaRPr lang="en-US" sz="2250" dirty="0"/>
          </a:p>
        </p:txBody>
      </p:sp>
      <p:sp>
        <p:nvSpPr>
          <p:cNvPr id="4" name="shape-0"/>
          <p:cNvSpPr/>
          <p:nvPr/>
        </p:nvSpPr>
        <p:spPr>
          <a:xfrm>
            <a:off x="9418320" y="365760"/>
            <a:ext cx="2194560" cy="219456"/>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418320" y="365760"/>
            <a:ext cx="2194560" cy="219456"/>
          </a:xfrm>
          <a:prstGeom prst="rect">
            <a:avLst/>
          </a:prstGeom>
          <a:noFill/>
          <a:ln/>
        </p:spPr>
        <p:txBody>
          <a:bodyPr wrap="none" lIns="0" tIns="0" rIns="0" bIns="0" rtlCol="0" anchor="ctr"/>
          <a:lstStyle/>
          <a:p>
            <a:pPr algn="ctr" indent="0" marL="0">
              <a:lnSpc>
                <a:spcPct val="100000"/>
              </a:lnSpc>
              <a:buNone/>
            </a:pPr>
            <a:r>
              <a:rPr lang="en-US" sz="1100" b="1" spc="100" kern="0" dirty="0">
                <a:solidFill>
                  <a:srgbClr val="B45309"/>
                </a:solidFill>
                <a:latin typeface="Calibri" pitchFamily="34" charset="0"/>
                <a:ea typeface="Calibri" pitchFamily="34" charset="-122"/>
                <a:cs typeface="Calibri" pitchFamily="34" charset="-120"/>
              </a:rPr>
              <a:t>ILLUSTRATIVE — NOT A DECISION</a:t>
            </a:r>
            <a:endParaRPr lang="en-US" sz="1100" dirty="0"/>
          </a:p>
        </p:txBody>
      </p:sp>
      <p:sp>
        <p:nvSpPr>
          <p:cNvPr id="6" name="text-2"/>
          <p:cNvSpPr txBox="1"/>
          <p:nvPr/>
        </p:nvSpPr>
        <p:spPr>
          <a:xfrm>
            <a:off x="548640" y="142646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MINIMUM VIABLE TEAM — WHO OWNS WHAT</a:t>
            </a:r>
            <a:endParaRPr lang="en-US" sz="1100" dirty="0"/>
          </a:p>
        </p:txBody>
      </p:sp>
      <p:sp>
        <p:nvSpPr>
          <p:cNvPr id="7" name="shape-3"/>
          <p:cNvSpPr/>
          <p:nvPr/>
        </p:nvSpPr>
        <p:spPr>
          <a:xfrm>
            <a:off x="548640" y="1773936"/>
            <a:ext cx="6949440" cy="676656"/>
          </a:xfrm>
          <a:prstGeom prst="roundRect">
            <a:avLst>
              <a:gd name="adj" fmla="val 10811"/>
            </a:avLst>
          </a:prstGeom>
          <a:solidFill>
            <a:srgbClr val="134E4A"/>
          </a:solidFill>
          <a:ln w="12700">
            <a:solidFill>
              <a:srgbClr val="134E4A"/>
            </a:solidFill>
            <a:prstDash val="solid"/>
          </a:ln>
        </p:spPr>
      </p:sp>
      <p:sp>
        <p:nvSpPr>
          <p:cNvPr id="8" name="text-4"/>
          <p:cNvSpPr txBox="1"/>
          <p:nvPr/>
        </p:nvSpPr>
        <p:spPr>
          <a:xfrm>
            <a:off x="731520" y="1773936"/>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CTO</a:t>
            </a:r>
            <a:endParaRPr lang="en-US" sz="1750" dirty="0"/>
          </a:p>
        </p:txBody>
      </p:sp>
      <p:sp>
        <p:nvSpPr>
          <p:cNvPr id="9" name="text-5"/>
          <p:cNvSpPr txBox="1"/>
          <p:nvPr/>
        </p:nvSpPr>
        <p:spPr>
          <a:xfrm>
            <a:off x="3383280" y="1773936"/>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CFE8E5"/>
                </a:solidFill>
                <a:latin typeface="Calibri" pitchFamily="34" charset="0"/>
                <a:ea typeface="Calibri" pitchFamily="34" charset="-122"/>
                <a:cs typeface="Calibri" pitchFamily="34" charset="-120"/>
              </a:rPr>
              <a:t>Strategy, architecture, transformation, PM, roadmap</a:t>
            </a:r>
            <a:endParaRPr lang="en-US" sz="1300" dirty="0"/>
          </a:p>
        </p:txBody>
      </p:sp>
      <p:sp>
        <p:nvSpPr>
          <p:cNvPr id="10" name="shape-6"/>
          <p:cNvSpPr/>
          <p:nvPr/>
        </p:nvSpPr>
        <p:spPr>
          <a:xfrm>
            <a:off x="7187184" y="2048256"/>
            <a:ext cx="201168" cy="146304"/>
          </a:xfrm>
          <a:prstGeom prst="roundRect">
            <a:avLst>
              <a:gd name="adj" fmla="val 50000"/>
            </a:avLst>
          </a:prstGeom>
          <a:solidFill>
            <a:srgbClr val="0F766E"/>
          </a:solidFill>
          <a:ln w="12700">
            <a:solidFill>
              <a:srgbClr val="0F766E"/>
            </a:solidFill>
            <a:prstDash val="solid"/>
          </a:ln>
        </p:spPr>
      </p:sp>
      <p:sp>
        <p:nvSpPr>
          <p:cNvPr id="11" name="text-7"/>
          <p:cNvSpPr txBox="1"/>
          <p:nvPr/>
        </p:nvSpPr>
        <p:spPr>
          <a:xfrm>
            <a:off x="718718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 name="shape-8"/>
          <p:cNvSpPr/>
          <p:nvPr/>
        </p:nvSpPr>
        <p:spPr>
          <a:xfrm>
            <a:off x="6912864" y="2048256"/>
            <a:ext cx="201168" cy="146304"/>
          </a:xfrm>
          <a:prstGeom prst="roundRect">
            <a:avLst>
              <a:gd name="adj" fmla="val 50000"/>
            </a:avLst>
          </a:prstGeom>
          <a:solidFill>
            <a:srgbClr val="0F766E"/>
          </a:solidFill>
          <a:ln w="12700">
            <a:solidFill>
              <a:srgbClr val="0F766E"/>
            </a:solidFill>
            <a:prstDash val="solid"/>
          </a:ln>
        </p:spPr>
      </p:sp>
      <p:sp>
        <p:nvSpPr>
          <p:cNvPr id="13" name="text-9"/>
          <p:cNvSpPr txBox="1"/>
          <p:nvPr/>
        </p:nvSpPr>
        <p:spPr>
          <a:xfrm>
            <a:off x="691286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4" name="shape-10"/>
          <p:cNvSpPr/>
          <p:nvPr/>
        </p:nvSpPr>
        <p:spPr>
          <a:xfrm>
            <a:off x="6638544" y="2048256"/>
            <a:ext cx="201168" cy="146304"/>
          </a:xfrm>
          <a:prstGeom prst="roundRect">
            <a:avLst>
              <a:gd name="adj" fmla="val 50000"/>
            </a:avLst>
          </a:prstGeom>
          <a:solidFill>
            <a:srgbClr val="8A99A3"/>
          </a:solidFill>
          <a:ln w="12700">
            <a:solidFill>
              <a:srgbClr val="8A99A3"/>
            </a:solidFill>
            <a:prstDash val="solid"/>
          </a:ln>
        </p:spPr>
      </p:sp>
      <p:sp>
        <p:nvSpPr>
          <p:cNvPr id="15" name="text-11"/>
          <p:cNvSpPr txBox="1"/>
          <p:nvPr/>
        </p:nvSpPr>
        <p:spPr>
          <a:xfrm>
            <a:off x="663854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6" name="shape-12"/>
          <p:cNvSpPr/>
          <p:nvPr/>
        </p:nvSpPr>
        <p:spPr>
          <a:xfrm>
            <a:off x="6364224" y="2048256"/>
            <a:ext cx="201168" cy="146304"/>
          </a:xfrm>
          <a:prstGeom prst="roundRect">
            <a:avLst>
              <a:gd name="adj" fmla="val 50000"/>
            </a:avLst>
          </a:prstGeom>
          <a:solidFill>
            <a:srgbClr val="B45309"/>
          </a:solidFill>
          <a:ln w="12700">
            <a:solidFill>
              <a:srgbClr val="B45309"/>
            </a:solidFill>
            <a:prstDash val="solid"/>
          </a:ln>
        </p:spPr>
      </p:sp>
      <p:sp>
        <p:nvSpPr>
          <p:cNvPr id="17" name="text-13"/>
          <p:cNvSpPr txBox="1"/>
          <p:nvPr/>
        </p:nvSpPr>
        <p:spPr>
          <a:xfrm>
            <a:off x="636422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8" name="shape-14"/>
          <p:cNvSpPr/>
          <p:nvPr/>
        </p:nvSpPr>
        <p:spPr>
          <a:xfrm>
            <a:off x="548640" y="2542032"/>
            <a:ext cx="6949440" cy="676656"/>
          </a:xfrm>
          <a:prstGeom prst="roundRect">
            <a:avLst>
              <a:gd name="adj" fmla="val 10811"/>
            </a:avLst>
          </a:prstGeom>
          <a:solidFill>
            <a:srgbClr val="EEF2F4"/>
          </a:solidFill>
          <a:ln w="12700">
            <a:solidFill>
              <a:srgbClr val="EEF2F4"/>
            </a:solidFill>
            <a:prstDash val="solid"/>
          </a:ln>
        </p:spPr>
      </p:sp>
      <p:sp>
        <p:nvSpPr>
          <p:cNvPr id="19" name="text-15"/>
          <p:cNvSpPr txBox="1"/>
          <p:nvPr/>
        </p:nvSpPr>
        <p:spPr>
          <a:xfrm>
            <a:off x="731520" y="2542032"/>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Lead Engineer</a:t>
            </a:r>
            <a:endParaRPr lang="en-US" sz="1750" dirty="0"/>
          </a:p>
        </p:txBody>
      </p:sp>
      <p:sp>
        <p:nvSpPr>
          <p:cNvPr id="20" name="text-16"/>
          <p:cNvSpPr txBox="1"/>
          <p:nvPr/>
        </p:nvSpPr>
        <p:spPr>
          <a:xfrm>
            <a:off x="3383280" y="2542032"/>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Standards, build, maintain, technical QA</a:t>
            </a:r>
            <a:endParaRPr lang="en-US" sz="1300" dirty="0"/>
          </a:p>
        </p:txBody>
      </p:sp>
      <p:sp>
        <p:nvSpPr>
          <p:cNvPr id="21" name="shape-17"/>
          <p:cNvSpPr/>
          <p:nvPr/>
        </p:nvSpPr>
        <p:spPr>
          <a:xfrm>
            <a:off x="7187184" y="2816352"/>
            <a:ext cx="201168" cy="146304"/>
          </a:xfrm>
          <a:prstGeom prst="roundRect">
            <a:avLst>
              <a:gd name="adj" fmla="val 50000"/>
            </a:avLst>
          </a:prstGeom>
          <a:solidFill>
            <a:srgbClr val="134E4A"/>
          </a:solidFill>
          <a:ln w="12700">
            <a:solidFill>
              <a:srgbClr val="134E4A"/>
            </a:solidFill>
            <a:prstDash val="solid"/>
          </a:ln>
        </p:spPr>
      </p:sp>
      <p:sp>
        <p:nvSpPr>
          <p:cNvPr id="22" name="text-18"/>
          <p:cNvSpPr txBox="1"/>
          <p:nvPr/>
        </p:nvSpPr>
        <p:spPr>
          <a:xfrm>
            <a:off x="718718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3" name="shape-19"/>
          <p:cNvSpPr/>
          <p:nvPr/>
        </p:nvSpPr>
        <p:spPr>
          <a:xfrm>
            <a:off x="6912864" y="2816352"/>
            <a:ext cx="201168" cy="146304"/>
          </a:xfrm>
          <a:prstGeom prst="roundRect">
            <a:avLst>
              <a:gd name="adj" fmla="val 50000"/>
            </a:avLst>
          </a:prstGeom>
          <a:solidFill>
            <a:srgbClr val="B45309"/>
          </a:solidFill>
          <a:ln w="12700">
            <a:solidFill>
              <a:srgbClr val="B45309"/>
            </a:solidFill>
            <a:prstDash val="solid"/>
          </a:ln>
        </p:spPr>
      </p:sp>
      <p:sp>
        <p:nvSpPr>
          <p:cNvPr id="24" name="text-20"/>
          <p:cNvSpPr txBox="1"/>
          <p:nvPr/>
        </p:nvSpPr>
        <p:spPr>
          <a:xfrm>
            <a:off x="691286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25" name="shape-21"/>
          <p:cNvSpPr/>
          <p:nvPr/>
        </p:nvSpPr>
        <p:spPr>
          <a:xfrm>
            <a:off x="6638544" y="2816352"/>
            <a:ext cx="201168" cy="146304"/>
          </a:xfrm>
          <a:prstGeom prst="roundRect">
            <a:avLst>
              <a:gd name="adj" fmla="val 50000"/>
            </a:avLst>
          </a:prstGeom>
          <a:solidFill>
            <a:srgbClr val="0F766E"/>
          </a:solidFill>
          <a:ln w="12700">
            <a:solidFill>
              <a:srgbClr val="0F766E"/>
            </a:solidFill>
            <a:prstDash val="solid"/>
          </a:ln>
        </p:spPr>
      </p:sp>
      <p:sp>
        <p:nvSpPr>
          <p:cNvPr id="26" name="text-22"/>
          <p:cNvSpPr txBox="1"/>
          <p:nvPr/>
        </p:nvSpPr>
        <p:spPr>
          <a:xfrm>
            <a:off x="663854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7" name="shape-23"/>
          <p:cNvSpPr/>
          <p:nvPr/>
        </p:nvSpPr>
        <p:spPr>
          <a:xfrm>
            <a:off x="548640" y="3310128"/>
            <a:ext cx="6949440" cy="676656"/>
          </a:xfrm>
          <a:prstGeom prst="roundRect">
            <a:avLst>
              <a:gd name="adj" fmla="val 10811"/>
            </a:avLst>
          </a:prstGeom>
          <a:solidFill>
            <a:srgbClr val="EEF2F4"/>
          </a:solidFill>
          <a:ln w="12700">
            <a:solidFill>
              <a:srgbClr val="EEF2F4"/>
            </a:solidFill>
            <a:prstDash val="solid"/>
          </a:ln>
        </p:spPr>
      </p:sp>
      <p:sp>
        <p:nvSpPr>
          <p:cNvPr id="28" name="text-24"/>
          <p:cNvSpPr txBox="1"/>
          <p:nvPr/>
        </p:nvSpPr>
        <p:spPr>
          <a:xfrm>
            <a:off x="731520" y="3310128"/>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Developer</a:t>
            </a:r>
            <a:endParaRPr lang="en-US" sz="1750" dirty="0"/>
          </a:p>
        </p:txBody>
      </p:sp>
      <p:sp>
        <p:nvSpPr>
          <p:cNvPr id="29" name="text-25"/>
          <p:cNvSpPr txBox="1"/>
          <p:nvPr/>
        </p:nvSpPr>
        <p:spPr>
          <a:xfrm>
            <a:off x="3383280" y="3310128"/>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Build, maintain, technical QA</a:t>
            </a:r>
            <a:endParaRPr lang="en-US" sz="1300" dirty="0"/>
          </a:p>
        </p:txBody>
      </p:sp>
      <p:sp>
        <p:nvSpPr>
          <p:cNvPr id="30" name="shape-26"/>
          <p:cNvSpPr/>
          <p:nvPr/>
        </p:nvSpPr>
        <p:spPr>
          <a:xfrm>
            <a:off x="7187184" y="3584448"/>
            <a:ext cx="201168" cy="146304"/>
          </a:xfrm>
          <a:prstGeom prst="roundRect">
            <a:avLst>
              <a:gd name="adj" fmla="val 50000"/>
            </a:avLst>
          </a:prstGeom>
          <a:solidFill>
            <a:srgbClr val="134E4A"/>
          </a:solidFill>
          <a:ln w="12700">
            <a:solidFill>
              <a:srgbClr val="134E4A"/>
            </a:solidFill>
            <a:prstDash val="solid"/>
          </a:ln>
        </p:spPr>
      </p:sp>
      <p:sp>
        <p:nvSpPr>
          <p:cNvPr id="31" name="text-27"/>
          <p:cNvSpPr txBox="1"/>
          <p:nvPr/>
        </p:nvSpPr>
        <p:spPr>
          <a:xfrm>
            <a:off x="7187184" y="3584448"/>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2" name="shape-28"/>
          <p:cNvSpPr/>
          <p:nvPr/>
        </p:nvSpPr>
        <p:spPr>
          <a:xfrm>
            <a:off x="6912864" y="3584448"/>
            <a:ext cx="201168" cy="146304"/>
          </a:xfrm>
          <a:prstGeom prst="roundRect">
            <a:avLst>
              <a:gd name="adj" fmla="val 50000"/>
            </a:avLst>
          </a:prstGeom>
          <a:solidFill>
            <a:srgbClr val="B45309"/>
          </a:solidFill>
          <a:ln w="12700">
            <a:solidFill>
              <a:srgbClr val="B45309"/>
            </a:solidFill>
            <a:prstDash val="solid"/>
          </a:ln>
        </p:spPr>
      </p:sp>
      <p:sp>
        <p:nvSpPr>
          <p:cNvPr id="33" name="text-29"/>
          <p:cNvSpPr txBox="1"/>
          <p:nvPr/>
        </p:nvSpPr>
        <p:spPr>
          <a:xfrm>
            <a:off x="6912864" y="3584448"/>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34" name="shape-30"/>
          <p:cNvSpPr/>
          <p:nvPr/>
        </p:nvSpPr>
        <p:spPr>
          <a:xfrm>
            <a:off x="548640" y="4078224"/>
            <a:ext cx="6949440" cy="676656"/>
          </a:xfrm>
          <a:prstGeom prst="roundRect">
            <a:avLst>
              <a:gd name="adj" fmla="val 10811"/>
            </a:avLst>
          </a:prstGeom>
          <a:solidFill>
            <a:srgbClr val="EEF2F4"/>
          </a:solidFill>
          <a:ln w="12700">
            <a:solidFill>
              <a:srgbClr val="EEF2F4"/>
            </a:solidFill>
            <a:prstDash val="solid"/>
          </a:ln>
        </p:spPr>
      </p:sp>
      <p:sp>
        <p:nvSpPr>
          <p:cNvPr id="35" name="text-31"/>
          <p:cNvSpPr txBox="1"/>
          <p:nvPr/>
        </p:nvSpPr>
        <p:spPr>
          <a:xfrm>
            <a:off x="731520" y="4078224"/>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DevSecOps Platform Engineer</a:t>
            </a:r>
            <a:endParaRPr lang="en-US" sz="1750" dirty="0"/>
          </a:p>
        </p:txBody>
      </p:sp>
      <p:sp>
        <p:nvSpPr>
          <p:cNvPr id="36" name="text-32"/>
          <p:cNvSpPr txBox="1"/>
          <p:nvPr/>
        </p:nvSpPr>
        <p:spPr>
          <a:xfrm>
            <a:off x="3383280" y="4078224"/>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Security, platform, pipeline</a:t>
            </a:r>
            <a:endParaRPr lang="en-US" sz="1300" dirty="0"/>
          </a:p>
        </p:txBody>
      </p:sp>
      <p:sp>
        <p:nvSpPr>
          <p:cNvPr id="37" name="shape-33"/>
          <p:cNvSpPr/>
          <p:nvPr/>
        </p:nvSpPr>
        <p:spPr>
          <a:xfrm>
            <a:off x="7187184" y="4352544"/>
            <a:ext cx="201168" cy="146304"/>
          </a:xfrm>
          <a:prstGeom prst="roundRect">
            <a:avLst>
              <a:gd name="adj" fmla="val 50000"/>
            </a:avLst>
          </a:prstGeom>
          <a:solidFill>
            <a:srgbClr val="B45309"/>
          </a:solidFill>
          <a:ln w="12700">
            <a:solidFill>
              <a:srgbClr val="B45309"/>
            </a:solidFill>
            <a:prstDash val="solid"/>
          </a:ln>
        </p:spPr>
      </p:sp>
      <p:sp>
        <p:nvSpPr>
          <p:cNvPr id="38" name="text-34"/>
          <p:cNvSpPr txBox="1"/>
          <p:nvPr/>
        </p:nvSpPr>
        <p:spPr>
          <a:xfrm>
            <a:off x="718718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39" name="shape-35"/>
          <p:cNvSpPr/>
          <p:nvPr/>
        </p:nvSpPr>
        <p:spPr>
          <a:xfrm>
            <a:off x="6912864" y="4352544"/>
            <a:ext cx="201168" cy="146304"/>
          </a:xfrm>
          <a:prstGeom prst="roundRect">
            <a:avLst>
              <a:gd name="adj" fmla="val 50000"/>
            </a:avLst>
          </a:prstGeom>
          <a:solidFill>
            <a:srgbClr val="134E4A"/>
          </a:solidFill>
          <a:ln w="12700">
            <a:solidFill>
              <a:srgbClr val="134E4A"/>
            </a:solidFill>
            <a:prstDash val="solid"/>
          </a:ln>
        </p:spPr>
      </p:sp>
      <p:sp>
        <p:nvSpPr>
          <p:cNvPr id="40" name="text-36"/>
          <p:cNvSpPr txBox="1"/>
          <p:nvPr/>
        </p:nvSpPr>
        <p:spPr>
          <a:xfrm>
            <a:off x="691286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1" name="shape-37"/>
          <p:cNvSpPr/>
          <p:nvPr/>
        </p:nvSpPr>
        <p:spPr>
          <a:xfrm>
            <a:off x="6638544" y="4352544"/>
            <a:ext cx="201168" cy="146304"/>
          </a:xfrm>
          <a:prstGeom prst="roundRect">
            <a:avLst>
              <a:gd name="adj" fmla="val 50000"/>
            </a:avLst>
          </a:prstGeom>
          <a:solidFill>
            <a:srgbClr val="0F766E"/>
          </a:solidFill>
          <a:ln w="12700">
            <a:solidFill>
              <a:srgbClr val="0F766E"/>
            </a:solidFill>
            <a:prstDash val="solid"/>
          </a:ln>
        </p:spPr>
      </p:sp>
      <p:sp>
        <p:nvSpPr>
          <p:cNvPr id="42" name="text-38"/>
          <p:cNvSpPr txBox="1"/>
          <p:nvPr/>
        </p:nvSpPr>
        <p:spPr>
          <a:xfrm>
            <a:off x="663854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3" name="shape-39"/>
          <p:cNvSpPr/>
          <p:nvPr/>
        </p:nvSpPr>
        <p:spPr>
          <a:xfrm>
            <a:off x="548640" y="4846320"/>
            <a:ext cx="6949440" cy="676656"/>
          </a:xfrm>
          <a:prstGeom prst="roundRect">
            <a:avLst>
              <a:gd name="adj" fmla="val 10811"/>
            </a:avLst>
          </a:prstGeom>
          <a:solidFill>
            <a:srgbClr val="EEF2F4"/>
          </a:solidFill>
          <a:ln w="12700">
            <a:solidFill>
              <a:srgbClr val="EEF2F4"/>
            </a:solidFill>
            <a:prstDash val="solid"/>
          </a:ln>
        </p:spPr>
      </p:sp>
      <p:sp>
        <p:nvSpPr>
          <p:cNvPr id="44" name="text-40"/>
          <p:cNvSpPr txBox="1"/>
          <p:nvPr/>
        </p:nvSpPr>
        <p:spPr>
          <a:xfrm>
            <a:off x="731520" y="4846320"/>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Product</a:t>
            </a:r>
            <a:endParaRPr lang="en-US" sz="1750" dirty="0"/>
          </a:p>
        </p:txBody>
      </p:sp>
      <p:sp>
        <p:nvSpPr>
          <p:cNvPr id="45" name="text-41"/>
          <p:cNvSpPr txBox="1"/>
          <p:nvPr/>
        </p:nvSpPr>
        <p:spPr>
          <a:xfrm>
            <a:off x="3383280" y="4846320"/>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Project, research, design</a:t>
            </a:r>
            <a:endParaRPr lang="en-US" sz="1300" dirty="0"/>
          </a:p>
        </p:txBody>
      </p:sp>
      <p:sp>
        <p:nvSpPr>
          <p:cNvPr id="46" name="shape-42"/>
          <p:cNvSpPr/>
          <p:nvPr/>
        </p:nvSpPr>
        <p:spPr>
          <a:xfrm>
            <a:off x="7187184" y="5120640"/>
            <a:ext cx="201168" cy="146304"/>
          </a:xfrm>
          <a:prstGeom prst="roundRect">
            <a:avLst>
              <a:gd name="adj" fmla="val 50000"/>
            </a:avLst>
          </a:prstGeom>
          <a:solidFill>
            <a:srgbClr val="134E4A"/>
          </a:solidFill>
          <a:ln w="12700">
            <a:solidFill>
              <a:srgbClr val="134E4A"/>
            </a:solidFill>
            <a:prstDash val="solid"/>
          </a:ln>
        </p:spPr>
      </p:sp>
      <p:sp>
        <p:nvSpPr>
          <p:cNvPr id="47" name="text-43"/>
          <p:cNvSpPr txBox="1"/>
          <p:nvPr/>
        </p:nvSpPr>
        <p:spPr>
          <a:xfrm>
            <a:off x="718718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8" name="shape-44"/>
          <p:cNvSpPr/>
          <p:nvPr/>
        </p:nvSpPr>
        <p:spPr>
          <a:xfrm>
            <a:off x="6912864" y="5120640"/>
            <a:ext cx="201168" cy="146304"/>
          </a:xfrm>
          <a:prstGeom prst="roundRect">
            <a:avLst>
              <a:gd name="adj" fmla="val 50000"/>
            </a:avLst>
          </a:prstGeom>
          <a:solidFill>
            <a:srgbClr val="0F766E"/>
          </a:solidFill>
          <a:ln w="12700">
            <a:solidFill>
              <a:srgbClr val="0F766E"/>
            </a:solidFill>
            <a:prstDash val="solid"/>
          </a:ln>
        </p:spPr>
      </p:sp>
      <p:sp>
        <p:nvSpPr>
          <p:cNvPr id="49" name="text-45"/>
          <p:cNvSpPr txBox="1"/>
          <p:nvPr/>
        </p:nvSpPr>
        <p:spPr>
          <a:xfrm>
            <a:off x="691286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0" name="shape-46"/>
          <p:cNvSpPr/>
          <p:nvPr/>
        </p:nvSpPr>
        <p:spPr>
          <a:xfrm>
            <a:off x="6638544" y="5120640"/>
            <a:ext cx="201168" cy="146304"/>
          </a:xfrm>
          <a:prstGeom prst="roundRect">
            <a:avLst>
              <a:gd name="adj" fmla="val 50000"/>
            </a:avLst>
          </a:prstGeom>
          <a:solidFill>
            <a:srgbClr val="8A99A3"/>
          </a:solidFill>
          <a:ln w="12700">
            <a:solidFill>
              <a:srgbClr val="8A99A3"/>
            </a:solidFill>
            <a:prstDash val="solid"/>
          </a:ln>
        </p:spPr>
      </p:sp>
      <p:sp>
        <p:nvSpPr>
          <p:cNvPr id="51" name="text-47"/>
          <p:cNvSpPr txBox="1"/>
          <p:nvPr/>
        </p:nvSpPr>
        <p:spPr>
          <a:xfrm>
            <a:off x="663854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52" name="shape-48"/>
          <p:cNvSpPr/>
          <p:nvPr/>
        </p:nvSpPr>
        <p:spPr>
          <a:xfrm>
            <a:off x="548640" y="5614416"/>
            <a:ext cx="6949440" cy="676656"/>
          </a:xfrm>
          <a:prstGeom prst="roundRect">
            <a:avLst>
              <a:gd name="adj" fmla="val 10811"/>
            </a:avLst>
          </a:prstGeom>
          <a:solidFill>
            <a:srgbClr val="EEF2F4"/>
          </a:solidFill>
          <a:ln w="12700">
            <a:solidFill>
              <a:srgbClr val="EEF2F4"/>
            </a:solidFill>
            <a:prstDash val="solid"/>
          </a:ln>
        </p:spPr>
      </p:sp>
      <p:sp>
        <p:nvSpPr>
          <p:cNvPr id="53" name="text-49"/>
          <p:cNvSpPr txBox="1"/>
          <p:nvPr/>
        </p:nvSpPr>
        <p:spPr>
          <a:xfrm>
            <a:off x="731520" y="5614416"/>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BA / QA</a:t>
            </a:r>
            <a:endParaRPr lang="en-US" sz="1750" dirty="0"/>
          </a:p>
        </p:txBody>
      </p:sp>
      <p:sp>
        <p:nvSpPr>
          <p:cNvPr id="54" name="text-50"/>
          <p:cNvSpPr txBox="1"/>
          <p:nvPr/>
        </p:nvSpPr>
        <p:spPr>
          <a:xfrm>
            <a:off x="3383280" y="5614416"/>
            <a:ext cx="3108960" cy="6766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User testing, QA, product assistance</a:t>
            </a:r>
            <a:endParaRPr lang="en-US" sz="1300" dirty="0"/>
          </a:p>
        </p:txBody>
      </p:sp>
      <p:sp>
        <p:nvSpPr>
          <p:cNvPr id="55" name="shape-51"/>
          <p:cNvSpPr/>
          <p:nvPr/>
        </p:nvSpPr>
        <p:spPr>
          <a:xfrm>
            <a:off x="7187184" y="5888736"/>
            <a:ext cx="201168" cy="146304"/>
          </a:xfrm>
          <a:prstGeom prst="roundRect">
            <a:avLst>
              <a:gd name="adj" fmla="val 50000"/>
            </a:avLst>
          </a:prstGeom>
          <a:solidFill>
            <a:srgbClr val="134E4A"/>
          </a:solidFill>
          <a:ln w="12700">
            <a:solidFill>
              <a:srgbClr val="134E4A"/>
            </a:solidFill>
            <a:prstDash val="solid"/>
          </a:ln>
        </p:spPr>
      </p:sp>
      <p:sp>
        <p:nvSpPr>
          <p:cNvPr id="56" name="text-52"/>
          <p:cNvSpPr txBox="1"/>
          <p:nvPr/>
        </p:nvSpPr>
        <p:spPr>
          <a:xfrm>
            <a:off x="7187184" y="588873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7" name="shape-53"/>
          <p:cNvSpPr/>
          <p:nvPr/>
        </p:nvSpPr>
        <p:spPr>
          <a:xfrm>
            <a:off x="6912864" y="5888736"/>
            <a:ext cx="201168" cy="146304"/>
          </a:xfrm>
          <a:prstGeom prst="roundRect">
            <a:avLst>
              <a:gd name="adj" fmla="val 50000"/>
            </a:avLst>
          </a:prstGeom>
          <a:solidFill>
            <a:srgbClr val="8A99A3"/>
          </a:solidFill>
          <a:ln w="12700">
            <a:solidFill>
              <a:srgbClr val="8A99A3"/>
            </a:solidFill>
            <a:prstDash val="solid"/>
          </a:ln>
        </p:spPr>
      </p:sp>
      <p:sp>
        <p:nvSpPr>
          <p:cNvPr id="58" name="text-54"/>
          <p:cNvSpPr txBox="1"/>
          <p:nvPr/>
        </p:nvSpPr>
        <p:spPr>
          <a:xfrm>
            <a:off x="6912864" y="588873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59" name="text-55"/>
          <p:cNvSpPr txBox="1"/>
          <p:nvPr/>
        </p:nvSpPr>
        <p:spPr>
          <a:xfrm>
            <a:off x="7772400" y="142646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OPTIONS GATE 2 WOULD CHOOSE BETWEEN</a:t>
            </a:r>
            <a:endParaRPr lang="en-US" sz="1100" dirty="0"/>
          </a:p>
        </p:txBody>
      </p:sp>
      <p:sp>
        <p:nvSpPr>
          <p:cNvPr id="60" name="shape-56"/>
          <p:cNvSpPr/>
          <p:nvPr/>
        </p:nvSpPr>
        <p:spPr>
          <a:xfrm>
            <a:off x="7772400" y="1773936"/>
            <a:ext cx="3840480" cy="969264"/>
          </a:xfrm>
          <a:prstGeom prst="roundRect">
            <a:avLst>
              <a:gd name="adj" fmla="val 7547"/>
            </a:avLst>
          </a:prstGeom>
          <a:solidFill>
            <a:srgbClr val="FFFFFF"/>
          </a:solidFill>
          <a:ln w="15875">
            <a:solidFill>
              <a:srgbClr val="D4DBE0"/>
            </a:solidFill>
            <a:prstDash val="solid"/>
          </a:ln>
        </p:spPr>
      </p:sp>
      <p:pic>
        <p:nvPicPr>
          <p:cNvPr id="61" name="icon-57" descr="preencoded.png">    </p:cNvPr>
          <p:cNvPicPr>
            <a:picLocks noChangeAspect="1"/>
          </p:cNvPicPr>
          <p:nvPr/>
        </p:nvPicPr>
        <p:blipFill>
          <a:blip r:embed="rId1"/>
          <a:stretch>
            <a:fillRect/>
          </a:stretch>
        </p:blipFill>
        <p:spPr>
          <a:xfrm>
            <a:off x="7918704" y="1956816"/>
            <a:ext cx="219456" cy="219456"/>
          </a:xfrm>
          <a:prstGeom prst="rect">
            <a:avLst/>
          </a:prstGeom>
        </p:spPr>
      </p:pic>
      <p:sp>
        <p:nvSpPr>
          <p:cNvPr id="62" name="text-58"/>
          <p:cNvSpPr txBox="1"/>
          <p:nvPr/>
        </p:nvSpPr>
        <p:spPr>
          <a:xfrm>
            <a:off x="8247888" y="1883664"/>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Second engineer, or the vendor’s 0.6 PM</a:t>
            </a:r>
            <a:endParaRPr lang="en-US" sz="1350" dirty="0"/>
          </a:p>
        </p:txBody>
      </p:sp>
      <p:sp>
        <p:nvSpPr>
          <p:cNvPr id="63" name="text-59"/>
          <p:cNvSpPr txBox="1"/>
          <p:nvPr/>
        </p:nvSpPr>
        <p:spPr>
          <a:xfrm>
            <a:off x="7918704" y="2395728"/>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how much of the product is built in-house</a:t>
            </a:r>
            <a:endParaRPr lang="en-US" sz="1150" dirty="0"/>
          </a:p>
        </p:txBody>
      </p:sp>
      <p:sp>
        <p:nvSpPr>
          <p:cNvPr id="64" name="shape-60"/>
          <p:cNvSpPr/>
          <p:nvPr/>
        </p:nvSpPr>
        <p:spPr>
          <a:xfrm>
            <a:off x="7772400" y="2852928"/>
            <a:ext cx="3840480" cy="969264"/>
          </a:xfrm>
          <a:prstGeom prst="roundRect">
            <a:avLst>
              <a:gd name="adj" fmla="val 7547"/>
            </a:avLst>
          </a:prstGeom>
          <a:solidFill>
            <a:srgbClr val="FFFFFF"/>
          </a:solidFill>
          <a:ln w="15875">
            <a:solidFill>
              <a:srgbClr val="D4DBE0"/>
            </a:solidFill>
            <a:prstDash val="solid"/>
          </a:ln>
        </p:spPr>
      </p:sp>
      <p:pic>
        <p:nvPicPr>
          <p:cNvPr id="65" name="icon-61" descr="preencoded.png">    </p:cNvPr>
          <p:cNvPicPr>
            <a:picLocks noChangeAspect="1"/>
          </p:cNvPicPr>
          <p:nvPr/>
        </p:nvPicPr>
        <p:blipFill>
          <a:blip r:embed="rId2"/>
          <a:stretch>
            <a:fillRect/>
          </a:stretch>
        </p:blipFill>
        <p:spPr>
          <a:xfrm>
            <a:off x="7918704" y="3035808"/>
            <a:ext cx="219456" cy="219456"/>
          </a:xfrm>
          <a:prstGeom prst="rect">
            <a:avLst/>
          </a:prstGeom>
        </p:spPr>
      </p:pic>
      <p:sp>
        <p:nvSpPr>
          <p:cNvPr id="66" name="text-62"/>
          <p:cNvSpPr txBox="1"/>
          <p:nvPr/>
        </p:nvSpPr>
        <p:spPr>
          <a:xfrm>
            <a:off x="8247888" y="2962656"/>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AI budget and AI-DLC adoption instead of more headcount</a:t>
            </a:r>
            <a:endParaRPr lang="en-US" sz="1350" dirty="0"/>
          </a:p>
        </p:txBody>
      </p:sp>
      <p:sp>
        <p:nvSpPr>
          <p:cNvPr id="67" name="text-63"/>
          <p:cNvSpPr txBox="1"/>
          <p:nvPr/>
        </p:nvSpPr>
        <p:spPr>
          <a:xfrm>
            <a:off x="7918704" y="3474720"/>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assist, accelerate and de-risk product work</a:t>
            </a:r>
            <a:endParaRPr lang="en-US" sz="1150" dirty="0"/>
          </a:p>
        </p:txBody>
      </p:sp>
      <p:sp>
        <p:nvSpPr>
          <p:cNvPr id="68" name="shape-64"/>
          <p:cNvSpPr/>
          <p:nvPr/>
        </p:nvSpPr>
        <p:spPr>
          <a:xfrm>
            <a:off x="7772400" y="3931920"/>
            <a:ext cx="3840480" cy="969264"/>
          </a:xfrm>
          <a:prstGeom prst="roundRect">
            <a:avLst>
              <a:gd name="adj" fmla="val 7547"/>
            </a:avLst>
          </a:prstGeom>
          <a:solidFill>
            <a:srgbClr val="FFFFFF"/>
          </a:solidFill>
          <a:ln w="15875">
            <a:solidFill>
              <a:srgbClr val="D4DBE0"/>
            </a:solidFill>
            <a:prstDash val="solid"/>
          </a:ln>
        </p:spPr>
      </p:sp>
      <p:pic>
        <p:nvPicPr>
          <p:cNvPr id="69" name="icon-65" descr="preencoded.png">    </p:cNvPr>
          <p:cNvPicPr>
            <a:picLocks noChangeAspect="1"/>
          </p:cNvPicPr>
          <p:nvPr/>
        </p:nvPicPr>
        <p:blipFill>
          <a:blip r:embed="rId3"/>
          <a:stretch>
            <a:fillRect/>
          </a:stretch>
        </p:blipFill>
        <p:spPr>
          <a:xfrm>
            <a:off x="7918704" y="4114800"/>
            <a:ext cx="219456" cy="219456"/>
          </a:xfrm>
          <a:prstGeom prst="rect">
            <a:avLst/>
          </a:prstGeom>
        </p:spPr>
      </p:pic>
      <p:sp>
        <p:nvSpPr>
          <p:cNvPr id="70" name="text-66"/>
          <p:cNvSpPr txBox="1"/>
          <p:nvPr/>
        </p:nvSpPr>
        <p:spPr>
          <a:xfrm>
            <a:off x="8247888" y="4041648"/>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Research and design in-house, or partner</a:t>
            </a:r>
            <a:endParaRPr lang="en-US" sz="1350" dirty="0"/>
          </a:p>
        </p:txBody>
      </p:sp>
      <p:sp>
        <p:nvSpPr>
          <p:cNvPr id="71" name="text-67"/>
          <p:cNvSpPr txBox="1"/>
          <p:nvPr/>
        </p:nvSpPr>
        <p:spPr>
          <a:xfrm>
            <a:off x="7918704" y="4553712"/>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depends on the licence model found at Gate 1</a:t>
            </a:r>
            <a:endParaRPr lang="en-US" sz="1150" dirty="0"/>
          </a:p>
        </p:txBody>
      </p:sp>
      <p:sp>
        <p:nvSpPr>
          <p:cNvPr id="72" name="shape-68"/>
          <p:cNvSpPr/>
          <p:nvPr/>
        </p:nvSpPr>
        <p:spPr>
          <a:xfrm>
            <a:off x="7772400" y="5010912"/>
            <a:ext cx="3840480" cy="1353312"/>
          </a:xfrm>
          <a:prstGeom prst="roundRect">
            <a:avLst>
              <a:gd name="adj" fmla="val 5405"/>
            </a:avLst>
          </a:prstGeom>
          <a:solidFill>
            <a:srgbClr val="FDF1E3"/>
          </a:solidFill>
          <a:ln w="12700">
            <a:solidFill>
              <a:srgbClr val="FDF1E3"/>
            </a:solidFill>
            <a:prstDash val="solid"/>
          </a:ln>
        </p:spPr>
      </p:sp>
      <p:sp>
        <p:nvSpPr>
          <p:cNvPr id="73" name="text-69"/>
          <p:cNvSpPr txBox="1"/>
          <p:nvPr/>
        </p:nvSpPr>
        <p:spPr>
          <a:xfrm>
            <a:off x="7918704" y="5138928"/>
            <a:ext cx="3547872"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B45309"/>
                </a:solidFill>
                <a:latin typeface="Calibri" pitchFamily="34" charset="0"/>
                <a:ea typeface="Calibri" pitchFamily="34" charset="-122"/>
                <a:cs typeface="Calibri" pitchFamily="34" charset="-120"/>
              </a:rPr>
              <a:t>NOT IN THE TEAM — PARTNER OR MSP</a:t>
            </a:r>
            <a:endParaRPr lang="en-US" sz="1100" dirty="0"/>
          </a:p>
        </p:txBody>
      </p:sp>
      <p:sp>
        <p:nvSpPr>
          <p:cNvPr id="74" name="oval-70"/>
          <p:cNvSpPr/>
          <p:nvPr/>
        </p:nvSpPr>
        <p:spPr>
          <a:xfrm>
            <a:off x="7941564" y="5472684"/>
            <a:ext cx="64008" cy="64008"/>
          </a:xfrm>
          <a:prstGeom prst="ellipse">
            <a:avLst/>
          </a:prstGeom>
          <a:solidFill>
            <a:srgbClr val="B45309"/>
          </a:solidFill>
          <a:ln w="12700">
            <a:solidFill>
              <a:srgbClr val="B45309"/>
            </a:solidFill>
            <a:prstDash val="solid"/>
          </a:ln>
        </p:spPr>
      </p:sp>
      <p:sp>
        <p:nvSpPr>
          <p:cNvPr id="75" name="text-71"/>
          <p:cNvSpPr txBox="1"/>
          <p:nvPr/>
        </p:nvSpPr>
        <p:spPr>
          <a:xfrm>
            <a:off x="8101584" y="5394960"/>
            <a:ext cx="3364992" cy="2194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24×7 operations and on-call</a:t>
            </a:r>
            <a:endParaRPr lang="en-US" sz="1300" dirty="0"/>
          </a:p>
        </p:txBody>
      </p:sp>
      <p:sp>
        <p:nvSpPr>
          <p:cNvPr id="76" name="oval-72"/>
          <p:cNvSpPr/>
          <p:nvPr/>
        </p:nvSpPr>
        <p:spPr>
          <a:xfrm>
            <a:off x="7941564" y="5710428"/>
            <a:ext cx="64008" cy="64008"/>
          </a:xfrm>
          <a:prstGeom prst="ellipse">
            <a:avLst/>
          </a:prstGeom>
          <a:solidFill>
            <a:srgbClr val="B45309"/>
          </a:solidFill>
          <a:ln w="12700">
            <a:solidFill>
              <a:srgbClr val="B45309"/>
            </a:solidFill>
            <a:prstDash val="solid"/>
          </a:ln>
        </p:spPr>
      </p:sp>
      <p:sp>
        <p:nvSpPr>
          <p:cNvPr id="77" name="text-73"/>
          <p:cNvSpPr txBox="1"/>
          <p:nvPr/>
        </p:nvSpPr>
        <p:spPr>
          <a:xfrm>
            <a:off x="8101584" y="5632704"/>
            <a:ext cx="3364992" cy="2194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Security operations</a:t>
            </a:r>
            <a:endParaRPr lang="en-US" sz="1300" dirty="0"/>
          </a:p>
        </p:txBody>
      </p:sp>
      <p:sp>
        <p:nvSpPr>
          <p:cNvPr id="78" name="oval-74"/>
          <p:cNvSpPr/>
          <p:nvPr/>
        </p:nvSpPr>
        <p:spPr>
          <a:xfrm>
            <a:off x="7941564" y="5948172"/>
            <a:ext cx="64008" cy="64008"/>
          </a:xfrm>
          <a:prstGeom prst="ellipse">
            <a:avLst/>
          </a:prstGeom>
          <a:solidFill>
            <a:srgbClr val="B45309"/>
          </a:solidFill>
          <a:ln w="12700">
            <a:solidFill>
              <a:srgbClr val="B45309"/>
            </a:solidFill>
            <a:prstDash val="solid"/>
          </a:ln>
        </p:spPr>
      </p:sp>
      <p:sp>
        <p:nvSpPr>
          <p:cNvPr id="79" name="text-75"/>
          <p:cNvSpPr txBox="1"/>
          <p:nvPr/>
        </p:nvSpPr>
        <p:spPr>
          <a:xfrm>
            <a:off x="8101584" y="5870448"/>
            <a:ext cx="3364992" cy="2194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Commodity configuration</a:t>
            </a:r>
            <a:endParaRPr lang="en-US" sz="1300" dirty="0"/>
          </a:p>
        </p:txBody>
      </p:sp>
      <p:sp>
        <p:nvSpPr>
          <p:cNvPr id="80" name="oval-76"/>
          <p:cNvSpPr/>
          <p:nvPr/>
        </p:nvSpPr>
        <p:spPr>
          <a:xfrm>
            <a:off x="7941564" y="6185916"/>
            <a:ext cx="64008" cy="64008"/>
          </a:xfrm>
          <a:prstGeom prst="ellipse">
            <a:avLst/>
          </a:prstGeom>
          <a:solidFill>
            <a:srgbClr val="B45309"/>
          </a:solidFill>
          <a:ln w="12700">
            <a:solidFill>
              <a:srgbClr val="B45309"/>
            </a:solidFill>
            <a:prstDash val="solid"/>
          </a:ln>
        </p:spPr>
      </p:sp>
      <p:sp>
        <p:nvSpPr>
          <p:cNvPr id="81" name="text-77"/>
          <p:cNvSpPr txBox="1"/>
          <p:nvPr/>
        </p:nvSpPr>
        <p:spPr>
          <a:xfrm>
            <a:off x="8101584" y="6108192"/>
            <a:ext cx="3364992" cy="219456"/>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Content operations (outside remit)</a:t>
            </a:r>
            <a:endParaRPr lang="en-US" sz="1300" dirty="0"/>
          </a:p>
        </p:txBody>
      </p:sp>
      <p:sp>
        <p:nvSpPr>
          <p:cNvPr id="82" name="text-78"/>
          <p:cNvSpPr txBox="1"/>
          <p:nvPr/>
        </p:nvSpPr>
        <p:spPr>
          <a:xfrm>
            <a:off x="548640" y="6419088"/>
            <a:ext cx="11064240"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Responsibilities, not an approved hiring plan.</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7  ·  GOVERNANCE, ASSURANCE GATES AND THE NEXT SIX MONTHS</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One operating rhythm, gates sized to the tier, judged on outcomes rather than AI activity</a:t>
            </a:r>
            <a:endParaRPr lang="en-US" sz="2250" dirty="0"/>
          </a:p>
        </p:txBody>
      </p:sp>
      <p:sp>
        <p:nvSpPr>
          <p:cNvPr id="4" name="text-0"/>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OPERATING RHYTHM — WHO SEES WHAT</a:t>
            </a:r>
            <a:endParaRPr lang="en-US" sz="1100" dirty="0"/>
          </a:p>
        </p:txBody>
      </p:sp>
      <p:sp>
        <p:nvSpPr>
          <p:cNvPr id="5" name="shape-1"/>
          <p:cNvSpPr/>
          <p:nvPr/>
        </p:nvSpPr>
        <p:spPr>
          <a:xfrm>
            <a:off x="548640" y="1664208"/>
            <a:ext cx="4023360" cy="585216"/>
          </a:xfrm>
          <a:prstGeom prst="roundRect">
            <a:avLst>
              <a:gd name="adj" fmla="val 12500"/>
            </a:avLst>
          </a:prstGeom>
          <a:solidFill>
            <a:srgbClr val="134E4A"/>
          </a:solidFill>
          <a:ln w="12700">
            <a:solidFill>
              <a:srgbClr val="134E4A"/>
            </a:solidFill>
            <a:prstDash val="solid"/>
          </a:ln>
        </p:spPr>
      </p:sp>
      <p:sp>
        <p:nvSpPr>
          <p:cNvPr id="6" name="text-2"/>
          <p:cNvSpPr txBox="1"/>
          <p:nvPr/>
        </p:nvSpPr>
        <p:spPr>
          <a:xfrm>
            <a:off x="694944" y="1737360"/>
            <a:ext cx="3749040" cy="219456"/>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Board / Risk Committee</a:t>
            </a:r>
            <a:endParaRPr lang="en-US" sz="1350" dirty="0"/>
          </a:p>
        </p:txBody>
      </p:sp>
      <p:sp>
        <p:nvSpPr>
          <p:cNvPr id="7" name="text-3"/>
          <p:cNvSpPr txBox="1"/>
          <p:nvPr/>
        </p:nvSpPr>
        <p:spPr>
          <a:xfrm>
            <a:off x="694944" y="1956816"/>
            <a:ext cx="3749040" cy="256032"/>
          </a:xfrm>
          <a:prstGeom prst="rect">
            <a:avLst/>
          </a:prstGeom>
          <a:noFill/>
          <a:ln/>
        </p:spPr>
        <p:txBody>
          <a:bodyPr wrap="square" lIns="0" tIns="0" rIns="0" bIns="0" rtlCol="0" anchor="t"/>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quarterly meeting, monthly review pack · date confidence, availability vs appetite, risks, spend</a:t>
            </a:r>
            <a:endParaRPr lang="en-US" sz="1100" dirty="0"/>
          </a:p>
        </p:txBody>
      </p:sp>
      <p:sp>
        <p:nvSpPr>
          <p:cNvPr id="8" name="shape-4"/>
          <p:cNvSpPr/>
          <p:nvPr/>
        </p:nvSpPr>
        <p:spPr>
          <a:xfrm>
            <a:off x="548640" y="2340864"/>
            <a:ext cx="3749040" cy="585216"/>
          </a:xfrm>
          <a:prstGeom prst="roundRect">
            <a:avLst>
              <a:gd name="adj" fmla="val 12500"/>
            </a:avLst>
          </a:prstGeom>
          <a:solidFill>
            <a:srgbClr val="0F766E"/>
          </a:solidFill>
          <a:ln w="12700">
            <a:solidFill>
              <a:srgbClr val="0F766E"/>
            </a:solidFill>
            <a:prstDash val="solid"/>
          </a:ln>
        </p:spPr>
      </p:sp>
      <p:sp>
        <p:nvSpPr>
          <p:cNvPr id="9" name="text-5"/>
          <p:cNvSpPr txBox="1"/>
          <p:nvPr/>
        </p:nvSpPr>
        <p:spPr>
          <a:xfrm>
            <a:off x="694944" y="2414016"/>
            <a:ext cx="3474720" cy="219456"/>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Programme Steering</a:t>
            </a:r>
            <a:endParaRPr lang="en-US" sz="1350" dirty="0"/>
          </a:p>
        </p:txBody>
      </p:sp>
      <p:sp>
        <p:nvSpPr>
          <p:cNvPr id="10" name="text-6"/>
          <p:cNvSpPr txBox="1"/>
          <p:nvPr/>
        </p:nvSpPr>
        <p:spPr>
          <a:xfrm>
            <a:off x="694944" y="2633472"/>
            <a:ext cx="3474720" cy="256032"/>
          </a:xfrm>
          <a:prstGeom prst="rect">
            <a:avLst/>
          </a:prstGeom>
          <a:noFill/>
          <a:ln/>
        </p:spPr>
        <p:txBody>
          <a:bodyPr wrap="square" lIns="0" tIns="0" rIns="0" bIns="0" rtlCol="0" anchor="t"/>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monthly · priorities, gate sign-off, decisions pending</a:t>
            </a:r>
            <a:endParaRPr lang="en-US" sz="1100" dirty="0"/>
          </a:p>
        </p:txBody>
      </p:sp>
      <p:sp>
        <p:nvSpPr>
          <p:cNvPr id="11" name="shape-7"/>
          <p:cNvSpPr/>
          <p:nvPr/>
        </p:nvSpPr>
        <p:spPr>
          <a:xfrm>
            <a:off x="548640" y="3017520"/>
            <a:ext cx="3474720" cy="585216"/>
          </a:xfrm>
          <a:prstGeom prst="roundRect">
            <a:avLst>
              <a:gd name="adj" fmla="val 12500"/>
            </a:avLst>
          </a:prstGeom>
          <a:solidFill>
            <a:srgbClr val="1F8F86"/>
          </a:solidFill>
          <a:ln w="12700">
            <a:solidFill>
              <a:srgbClr val="1F8F86"/>
            </a:solidFill>
            <a:prstDash val="solid"/>
          </a:ln>
        </p:spPr>
      </p:sp>
      <p:sp>
        <p:nvSpPr>
          <p:cNvPr id="12" name="text-8"/>
          <p:cNvSpPr txBox="1"/>
          <p:nvPr/>
        </p:nvSpPr>
        <p:spPr>
          <a:xfrm>
            <a:off x="694944" y="3090672"/>
            <a:ext cx="3200400" cy="219456"/>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Delivery and Partner Review</a:t>
            </a:r>
            <a:endParaRPr lang="en-US" sz="1350" dirty="0"/>
          </a:p>
        </p:txBody>
      </p:sp>
      <p:sp>
        <p:nvSpPr>
          <p:cNvPr id="13" name="text-9"/>
          <p:cNvSpPr txBox="1"/>
          <p:nvPr/>
        </p:nvSpPr>
        <p:spPr>
          <a:xfrm>
            <a:off x="694944" y="3310128"/>
            <a:ext cx="3200400" cy="256032"/>
          </a:xfrm>
          <a:prstGeom prst="rect">
            <a:avLst/>
          </a:prstGeom>
          <a:noFill/>
          <a:ln/>
        </p:spPr>
        <p:txBody>
          <a:bodyPr wrap="square" lIns="0" tIns="0" rIns="0" bIns="0" rtlCol="0" anchor="t"/>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weekly · cycle time, change failure, blockers, evidence</a:t>
            </a:r>
            <a:endParaRPr lang="en-US" sz="1100" dirty="0"/>
          </a:p>
        </p:txBody>
      </p:sp>
      <p:sp>
        <p:nvSpPr>
          <p:cNvPr id="14" name="shape-10"/>
          <p:cNvSpPr/>
          <p:nvPr/>
        </p:nvSpPr>
        <p:spPr>
          <a:xfrm>
            <a:off x="548640" y="3694176"/>
            <a:ext cx="3200400" cy="585216"/>
          </a:xfrm>
          <a:prstGeom prst="roundRect">
            <a:avLst>
              <a:gd name="adj" fmla="val 12500"/>
            </a:avLst>
          </a:prstGeom>
          <a:solidFill>
            <a:srgbClr val="D6ECE9"/>
          </a:solidFill>
          <a:ln w="12700">
            <a:solidFill>
              <a:srgbClr val="D6ECE9"/>
            </a:solidFill>
            <a:prstDash val="solid"/>
          </a:ln>
        </p:spPr>
      </p:sp>
      <p:sp>
        <p:nvSpPr>
          <p:cNvPr id="15" name="text-11"/>
          <p:cNvSpPr txBox="1"/>
          <p:nvPr/>
        </p:nvSpPr>
        <p:spPr>
          <a:xfrm>
            <a:off x="694944" y="3767328"/>
            <a:ext cx="2926080" cy="219456"/>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Architecture decisions</a:t>
            </a:r>
            <a:endParaRPr lang="en-US" sz="1350" dirty="0"/>
          </a:p>
        </p:txBody>
      </p:sp>
      <p:sp>
        <p:nvSpPr>
          <p:cNvPr id="16" name="text-12"/>
          <p:cNvSpPr txBox="1"/>
          <p:nvPr/>
        </p:nvSpPr>
        <p:spPr>
          <a:xfrm>
            <a:off x="694944" y="3986784"/>
            <a:ext cx="2926080" cy="256032"/>
          </a:xfrm>
          <a:prstGeom prst="rect">
            <a:avLst/>
          </a:prstGeom>
          <a:noFill/>
          <a:ln/>
        </p:spPr>
        <p:txBody>
          <a:bodyPr wrap="square" lIns="0" tIns="0" rIns="0" bIns="0" rtlCol="0" anchor="t"/>
          <a:lstStyle/>
          <a:p>
            <a:pPr algn="l" indent="0" marL="0">
              <a:lnSpc>
                <a:spcPct val="100000"/>
              </a:lnSpc>
              <a:buNone/>
            </a:pPr>
            <a:r>
              <a:rPr lang="en-US" sz="1100" dirty="0">
                <a:solidFill>
                  <a:srgbClr val="5A6B75"/>
                </a:solidFill>
                <a:latin typeface="Calibri" pitchFamily="34" charset="0"/>
                <a:ea typeface="Calibri" pitchFamily="34" charset="-122"/>
                <a:cs typeface="Calibri" pitchFamily="34" charset="-120"/>
              </a:rPr>
              <a:t>written down, visible to all</a:t>
            </a:r>
            <a:endParaRPr lang="en-US" sz="1100" dirty="0"/>
          </a:p>
        </p:txBody>
      </p:sp>
      <p:sp>
        <p:nvSpPr>
          <p:cNvPr id="17" name="text-13"/>
          <p:cNvSpPr txBox="1"/>
          <p:nvPr/>
        </p:nvSpPr>
        <p:spPr>
          <a:xfrm>
            <a:off x="4937760" y="133502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ASSURANCE GATES BY TIER — EVERY INCREMENT, EVIDENCE NOT MEETINGS</a:t>
            </a:r>
            <a:endParaRPr lang="en-US" sz="1100" dirty="0"/>
          </a:p>
        </p:txBody>
      </p:sp>
      <p:sp>
        <p:nvSpPr>
          <p:cNvPr id="18" name="shape-14"/>
          <p:cNvSpPr/>
          <p:nvPr/>
        </p:nvSpPr>
        <p:spPr>
          <a:xfrm>
            <a:off x="8595360" y="1581912"/>
            <a:ext cx="201168" cy="1463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8595360" y="158191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0" name="shape-16"/>
          <p:cNvSpPr/>
          <p:nvPr/>
        </p:nvSpPr>
        <p:spPr>
          <a:xfrm>
            <a:off x="9326880" y="1581912"/>
            <a:ext cx="201168" cy="146304"/>
          </a:xfrm>
          <a:prstGeom prst="roundRect">
            <a:avLst>
              <a:gd name="adj" fmla="val 50000"/>
            </a:avLst>
          </a:prstGeom>
          <a:solidFill>
            <a:srgbClr val="0F766E"/>
          </a:solidFill>
          <a:ln w="12700">
            <a:solidFill>
              <a:srgbClr val="0F766E"/>
            </a:solidFill>
            <a:prstDash val="solid"/>
          </a:ln>
        </p:spPr>
      </p:sp>
      <p:sp>
        <p:nvSpPr>
          <p:cNvPr id="21" name="text-17"/>
          <p:cNvSpPr txBox="1"/>
          <p:nvPr/>
        </p:nvSpPr>
        <p:spPr>
          <a:xfrm>
            <a:off x="9326880" y="158191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2" name="shape-18"/>
          <p:cNvSpPr/>
          <p:nvPr/>
        </p:nvSpPr>
        <p:spPr>
          <a:xfrm>
            <a:off x="10058400" y="1581912"/>
            <a:ext cx="201168" cy="146304"/>
          </a:xfrm>
          <a:prstGeom prst="roundRect">
            <a:avLst>
              <a:gd name="adj" fmla="val 50000"/>
            </a:avLst>
          </a:prstGeom>
          <a:solidFill>
            <a:srgbClr val="8A99A3"/>
          </a:solidFill>
          <a:ln w="12700">
            <a:solidFill>
              <a:srgbClr val="8A99A3"/>
            </a:solidFill>
            <a:prstDash val="solid"/>
          </a:ln>
        </p:spPr>
      </p:sp>
      <p:sp>
        <p:nvSpPr>
          <p:cNvPr id="23" name="text-19"/>
          <p:cNvSpPr txBox="1"/>
          <p:nvPr/>
        </p:nvSpPr>
        <p:spPr>
          <a:xfrm>
            <a:off x="10058400" y="158191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4" name="shape-20"/>
          <p:cNvSpPr/>
          <p:nvPr/>
        </p:nvSpPr>
        <p:spPr>
          <a:xfrm>
            <a:off x="10789920" y="1581912"/>
            <a:ext cx="201168" cy="146304"/>
          </a:xfrm>
          <a:prstGeom prst="roundRect">
            <a:avLst>
              <a:gd name="adj" fmla="val 50000"/>
            </a:avLst>
          </a:prstGeom>
          <a:solidFill>
            <a:srgbClr val="B45309"/>
          </a:solidFill>
          <a:ln w="12700">
            <a:solidFill>
              <a:srgbClr val="B45309"/>
            </a:solidFill>
            <a:prstDash val="solid"/>
          </a:ln>
        </p:spPr>
      </p:sp>
      <p:sp>
        <p:nvSpPr>
          <p:cNvPr id="25" name="text-21"/>
          <p:cNvSpPr txBox="1"/>
          <p:nvPr/>
        </p:nvSpPr>
        <p:spPr>
          <a:xfrm>
            <a:off x="10789920" y="158191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26" name="shape-22"/>
          <p:cNvSpPr/>
          <p:nvPr/>
        </p:nvSpPr>
        <p:spPr>
          <a:xfrm>
            <a:off x="4937760" y="1773936"/>
            <a:ext cx="6675120" cy="402336"/>
          </a:xfrm>
          <a:prstGeom prst="roundRect">
            <a:avLst>
              <a:gd name="adj" fmla="val 9091"/>
            </a:avLst>
          </a:prstGeom>
          <a:solidFill>
            <a:srgbClr val="EEF2F4"/>
          </a:solidFill>
          <a:ln w="12700">
            <a:solidFill>
              <a:srgbClr val="EEF2F4"/>
            </a:solidFill>
            <a:prstDash val="solid"/>
          </a:ln>
        </p:spPr>
      </p:sp>
      <p:sp>
        <p:nvSpPr>
          <p:cNvPr id="27" name="text-23"/>
          <p:cNvSpPr txBox="1"/>
          <p:nvPr/>
        </p:nvSpPr>
        <p:spPr>
          <a:xfrm>
            <a:off x="5029200" y="1847088"/>
            <a:ext cx="2926080" cy="256032"/>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Security and payments</a:t>
            </a:r>
            <a:endParaRPr lang="en-US" sz="1300" dirty="0"/>
          </a:p>
        </p:txBody>
      </p:sp>
      <p:sp>
        <p:nvSpPr>
          <p:cNvPr id="28" name="oval-24"/>
          <p:cNvSpPr/>
          <p:nvPr/>
        </p:nvSpPr>
        <p:spPr>
          <a:xfrm>
            <a:off x="8613648" y="1892808"/>
            <a:ext cx="164592" cy="164592"/>
          </a:xfrm>
          <a:prstGeom prst="ellipse">
            <a:avLst/>
          </a:prstGeom>
          <a:solidFill>
            <a:srgbClr val="134E4A"/>
          </a:solidFill>
          <a:ln w="12700">
            <a:solidFill>
              <a:srgbClr val="134E4A"/>
            </a:solidFill>
            <a:prstDash val="solid"/>
          </a:ln>
        </p:spPr>
      </p:sp>
      <p:sp>
        <p:nvSpPr>
          <p:cNvPr id="29" name="oval-25"/>
          <p:cNvSpPr/>
          <p:nvPr/>
        </p:nvSpPr>
        <p:spPr>
          <a:xfrm>
            <a:off x="10076688" y="1892808"/>
            <a:ext cx="164592" cy="164592"/>
          </a:xfrm>
          <a:prstGeom prst="ellipse">
            <a:avLst/>
          </a:prstGeom>
          <a:solidFill>
            <a:srgbClr val="8A99A3"/>
          </a:solidFill>
          <a:ln w="12700">
            <a:solidFill>
              <a:srgbClr val="8A99A3"/>
            </a:solidFill>
            <a:prstDash val="solid"/>
          </a:ln>
        </p:spPr>
      </p:sp>
      <p:sp>
        <p:nvSpPr>
          <p:cNvPr id="30" name="oval-26"/>
          <p:cNvSpPr/>
          <p:nvPr/>
        </p:nvSpPr>
        <p:spPr>
          <a:xfrm>
            <a:off x="10808208" y="1892808"/>
            <a:ext cx="164592" cy="164592"/>
          </a:xfrm>
          <a:prstGeom prst="ellipse">
            <a:avLst/>
          </a:prstGeom>
          <a:solidFill>
            <a:srgbClr val="B45309"/>
          </a:solidFill>
          <a:ln w="12700">
            <a:solidFill>
              <a:srgbClr val="B45309"/>
            </a:solidFill>
            <a:prstDash val="solid"/>
          </a:ln>
        </p:spPr>
      </p:sp>
      <p:sp>
        <p:nvSpPr>
          <p:cNvPr id="31" name="text-27"/>
          <p:cNvSpPr txBox="1"/>
          <p:nvPr/>
        </p:nvSpPr>
        <p:spPr>
          <a:xfrm>
            <a:off x="5029200" y="2304288"/>
            <a:ext cx="2926080" cy="256032"/>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Data and privacy</a:t>
            </a:r>
            <a:endParaRPr lang="en-US" sz="1300" dirty="0"/>
          </a:p>
        </p:txBody>
      </p:sp>
      <p:sp>
        <p:nvSpPr>
          <p:cNvPr id="32" name="oval-28"/>
          <p:cNvSpPr/>
          <p:nvPr/>
        </p:nvSpPr>
        <p:spPr>
          <a:xfrm>
            <a:off x="8613648" y="2350008"/>
            <a:ext cx="164592" cy="164592"/>
          </a:xfrm>
          <a:prstGeom prst="ellipse">
            <a:avLst/>
          </a:prstGeom>
          <a:solidFill>
            <a:srgbClr val="134E4A"/>
          </a:solidFill>
          <a:ln w="12700">
            <a:solidFill>
              <a:srgbClr val="134E4A"/>
            </a:solidFill>
            <a:prstDash val="solid"/>
          </a:ln>
        </p:spPr>
      </p:sp>
      <p:sp>
        <p:nvSpPr>
          <p:cNvPr id="33" name="oval-29"/>
          <p:cNvSpPr/>
          <p:nvPr/>
        </p:nvSpPr>
        <p:spPr>
          <a:xfrm>
            <a:off x="9345168" y="2350008"/>
            <a:ext cx="164592" cy="164592"/>
          </a:xfrm>
          <a:prstGeom prst="ellipse">
            <a:avLst/>
          </a:prstGeom>
          <a:solidFill>
            <a:srgbClr val="0F766E"/>
          </a:solidFill>
          <a:ln w="12700">
            <a:solidFill>
              <a:srgbClr val="0F766E"/>
            </a:solidFill>
            <a:prstDash val="solid"/>
          </a:ln>
        </p:spPr>
      </p:sp>
      <p:sp>
        <p:nvSpPr>
          <p:cNvPr id="34" name="oval-30"/>
          <p:cNvSpPr/>
          <p:nvPr/>
        </p:nvSpPr>
        <p:spPr>
          <a:xfrm>
            <a:off x="10076688" y="2350008"/>
            <a:ext cx="164592" cy="164592"/>
          </a:xfrm>
          <a:prstGeom prst="ellipse">
            <a:avLst/>
          </a:prstGeom>
          <a:solidFill>
            <a:srgbClr val="8A99A3"/>
          </a:solidFill>
          <a:ln w="12700">
            <a:solidFill>
              <a:srgbClr val="8A99A3"/>
            </a:solidFill>
            <a:prstDash val="solid"/>
          </a:ln>
        </p:spPr>
      </p:sp>
      <p:sp>
        <p:nvSpPr>
          <p:cNvPr id="35" name="shape-31"/>
          <p:cNvSpPr/>
          <p:nvPr/>
        </p:nvSpPr>
        <p:spPr>
          <a:xfrm>
            <a:off x="4937760" y="2688336"/>
            <a:ext cx="6675120" cy="402336"/>
          </a:xfrm>
          <a:prstGeom prst="roundRect">
            <a:avLst>
              <a:gd name="adj" fmla="val 9091"/>
            </a:avLst>
          </a:prstGeom>
          <a:solidFill>
            <a:srgbClr val="EEF2F4"/>
          </a:solidFill>
          <a:ln w="12700">
            <a:solidFill>
              <a:srgbClr val="EEF2F4"/>
            </a:solidFill>
            <a:prstDash val="solid"/>
          </a:ln>
        </p:spPr>
      </p:sp>
      <p:sp>
        <p:nvSpPr>
          <p:cNvPr id="36" name="text-32"/>
          <p:cNvSpPr txBox="1"/>
          <p:nvPr/>
        </p:nvSpPr>
        <p:spPr>
          <a:xfrm>
            <a:off x="5029200" y="2761488"/>
            <a:ext cx="2926080" cy="256032"/>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Content integrity</a:t>
            </a:r>
            <a:endParaRPr lang="en-US" sz="1300" dirty="0"/>
          </a:p>
        </p:txBody>
      </p:sp>
      <p:sp>
        <p:nvSpPr>
          <p:cNvPr id="37" name="oval-33"/>
          <p:cNvSpPr/>
          <p:nvPr/>
        </p:nvSpPr>
        <p:spPr>
          <a:xfrm>
            <a:off x="8613648" y="2807208"/>
            <a:ext cx="164592" cy="164592"/>
          </a:xfrm>
          <a:prstGeom prst="ellipse">
            <a:avLst/>
          </a:prstGeom>
          <a:solidFill>
            <a:srgbClr val="134E4A"/>
          </a:solidFill>
          <a:ln w="12700">
            <a:solidFill>
              <a:srgbClr val="134E4A"/>
            </a:solidFill>
            <a:prstDash val="solid"/>
          </a:ln>
        </p:spPr>
      </p:sp>
      <p:sp>
        <p:nvSpPr>
          <p:cNvPr id="38" name="oval-34"/>
          <p:cNvSpPr/>
          <p:nvPr/>
        </p:nvSpPr>
        <p:spPr>
          <a:xfrm>
            <a:off x="9345168" y="2807208"/>
            <a:ext cx="164592" cy="164592"/>
          </a:xfrm>
          <a:prstGeom prst="ellipse">
            <a:avLst/>
          </a:prstGeom>
          <a:solidFill>
            <a:srgbClr val="0F766E"/>
          </a:solidFill>
          <a:ln w="12700">
            <a:solidFill>
              <a:srgbClr val="0F766E"/>
            </a:solidFill>
            <a:prstDash val="solid"/>
          </a:ln>
        </p:spPr>
      </p:sp>
      <p:sp>
        <p:nvSpPr>
          <p:cNvPr id="39" name="text-35"/>
          <p:cNvSpPr txBox="1"/>
          <p:nvPr/>
        </p:nvSpPr>
        <p:spPr>
          <a:xfrm>
            <a:off x="5029200" y="3218688"/>
            <a:ext cx="2926080" cy="256032"/>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Integration and operability</a:t>
            </a:r>
            <a:endParaRPr lang="en-US" sz="1300" dirty="0"/>
          </a:p>
        </p:txBody>
      </p:sp>
      <p:sp>
        <p:nvSpPr>
          <p:cNvPr id="40" name="oval-36"/>
          <p:cNvSpPr/>
          <p:nvPr/>
        </p:nvSpPr>
        <p:spPr>
          <a:xfrm>
            <a:off x="8613648" y="3264408"/>
            <a:ext cx="164592" cy="164592"/>
          </a:xfrm>
          <a:prstGeom prst="ellipse">
            <a:avLst/>
          </a:prstGeom>
          <a:solidFill>
            <a:srgbClr val="134E4A"/>
          </a:solidFill>
          <a:ln w="12700">
            <a:solidFill>
              <a:srgbClr val="134E4A"/>
            </a:solidFill>
            <a:prstDash val="solid"/>
          </a:ln>
        </p:spPr>
      </p:sp>
      <p:sp>
        <p:nvSpPr>
          <p:cNvPr id="41" name="oval-37"/>
          <p:cNvSpPr/>
          <p:nvPr/>
        </p:nvSpPr>
        <p:spPr>
          <a:xfrm>
            <a:off x="10076688" y="3264408"/>
            <a:ext cx="164592" cy="164592"/>
          </a:xfrm>
          <a:prstGeom prst="ellipse">
            <a:avLst/>
          </a:prstGeom>
          <a:solidFill>
            <a:srgbClr val="8A99A3"/>
          </a:solidFill>
          <a:ln w="12700">
            <a:solidFill>
              <a:srgbClr val="8A99A3"/>
            </a:solidFill>
            <a:prstDash val="solid"/>
          </a:ln>
        </p:spPr>
      </p:sp>
      <p:sp>
        <p:nvSpPr>
          <p:cNvPr id="42" name="oval-38"/>
          <p:cNvSpPr/>
          <p:nvPr/>
        </p:nvSpPr>
        <p:spPr>
          <a:xfrm>
            <a:off x="10808208" y="3264408"/>
            <a:ext cx="164592" cy="164592"/>
          </a:xfrm>
          <a:prstGeom prst="ellipse">
            <a:avLst/>
          </a:prstGeom>
          <a:solidFill>
            <a:srgbClr val="B45309"/>
          </a:solidFill>
          <a:ln w="12700">
            <a:solidFill>
              <a:srgbClr val="B45309"/>
            </a:solidFill>
            <a:prstDash val="solid"/>
          </a:ln>
        </p:spPr>
      </p:sp>
      <p:sp>
        <p:nvSpPr>
          <p:cNvPr id="43" name="shape-39"/>
          <p:cNvSpPr/>
          <p:nvPr/>
        </p:nvSpPr>
        <p:spPr>
          <a:xfrm>
            <a:off x="4937760" y="3602736"/>
            <a:ext cx="6675120" cy="402336"/>
          </a:xfrm>
          <a:prstGeom prst="roundRect">
            <a:avLst>
              <a:gd name="adj" fmla="val 9091"/>
            </a:avLst>
          </a:prstGeom>
          <a:solidFill>
            <a:srgbClr val="EEF2F4"/>
          </a:solidFill>
          <a:ln w="12700">
            <a:solidFill>
              <a:srgbClr val="EEF2F4"/>
            </a:solidFill>
            <a:prstDash val="solid"/>
          </a:ln>
        </p:spPr>
      </p:sp>
      <p:sp>
        <p:nvSpPr>
          <p:cNvPr id="44" name="text-40"/>
          <p:cNvSpPr txBox="1"/>
          <p:nvPr/>
        </p:nvSpPr>
        <p:spPr>
          <a:xfrm>
            <a:off x="5029200" y="3675888"/>
            <a:ext cx="2926080" cy="256032"/>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Release readiness</a:t>
            </a:r>
            <a:endParaRPr lang="en-US" sz="1300" dirty="0"/>
          </a:p>
        </p:txBody>
      </p:sp>
      <p:sp>
        <p:nvSpPr>
          <p:cNvPr id="45" name="oval-41"/>
          <p:cNvSpPr/>
          <p:nvPr/>
        </p:nvSpPr>
        <p:spPr>
          <a:xfrm>
            <a:off x="8613648" y="3721608"/>
            <a:ext cx="164592" cy="164592"/>
          </a:xfrm>
          <a:prstGeom prst="ellipse">
            <a:avLst/>
          </a:prstGeom>
          <a:solidFill>
            <a:srgbClr val="134E4A"/>
          </a:solidFill>
          <a:ln w="12700">
            <a:solidFill>
              <a:srgbClr val="134E4A"/>
            </a:solidFill>
            <a:prstDash val="solid"/>
          </a:ln>
        </p:spPr>
      </p:sp>
      <p:sp>
        <p:nvSpPr>
          <p:cNvPr id="46" name="oval-42"/>
          <p:cNvSpPr/>
          <p:nvPr/>
        </p:nvSpPr>
        <p:spPr>
          <a:xfrm>
            <a:off x="9345168" y="3721608"/>
            <a:ext cx="164592" cy="164592"/>
          </a:xfrm>
          <a:prstGeom prst="ellipse">
            <a:avLst/>
          </a:prstGeom>
          <a:solidFill>
            <a:srgbClr val="0F766E"/>
          </a:solidFill>
          <a:ln w="12700">
            <a:solidFill>
              <a:srgbClr val="0F766E"/>
            </a:solidFill>
            <a:prstDash val="solid"/>
          </a:ln>
        </p:spPr>
      </p:sp>
      <p:sp>
        <p:nvSpPr>
          <p:cNvPr id="47" name="oval-43"/>
          <p:cNvSpPr/>
          <p:nvPr/>
        </p:nvSpPr>
        <p:spPr>
          <a:xfrm>
            <a:off x="10808208" y="3721608"/>
            <a:ext cx="164592" cy="164592"/>
          </a:xfrm>
          <a:prstGeom prst="ellipse">
            <a:avLst/>
          </a:prstGeom>
          <a:solidFill>
            <a:srgbClr val="B45309"/>
          </a:solidFill>
          <a:ln w="12700">
            <a:solidFill>
              <a:srgbClr val="B45309"/>
            </a:solidFill>
            <a:prstDash val="solid"/>
          </a:ln>
        </p:spPr>
      </p:sp>
      <p:sp>
        <p:nvSpPr>
          <p:cNvPr id="48" name="text-44"/>
          <p:cNvSpPr txBox="1"/>
          <p:nvPr/>
        </p:nvSpPr>
        <p:spPr>
          <a:xfrm>
            <a:off x="4937760" y="4297680"/>
            <a:ext cx="6675120" cy="164592"/>
          </a:xfrm>
          <a:prstGeom prst="rect">
            <a:avLst/>
          </a:prstGeom>
          <a:noFill/>
          <a:ln/>
        </p:spPr>
        <p:txBody>
          <a:bodyPr wrap="square" lIns="0" tIns="0" rIns="0" bIns="0" rtlCol="0" anchor="ctr"/>
          <a:lstStyle/>
          <a:p>
            <a:pPr algn="l" indent="0" marL="0">
              <a:lnSpc>
                <a:spcPct val="100000"/>
              </a:lnSpc>
              <a:buNone/>
            </a:pPr>
            <a:r>
              <a:rPr lang="en-US" sz="1100" dirty="0">
                <a:solidFill>
                  <a:srgbClr val="5A6B75"/>
                </a:solidFill>
                <a:latin typeface="Calibri" pitchFamily="34" charset="0"/>
                <a:ea typeface="Calibri" pitchFamily="34" charset="-122"/>
                <a:cs typeface="Calibri" pitchFamily="34" charset="-120"/>
              </a:rPr>
              <a:t>A product · B content tooling · C commodity · X cross-cutting</a:t>
            </a:r>
            <a:endParaRPr lang="en-US" sz="1100" dirty="0"/>
          </a:p>
        </p:txBody>
      </p:sp>
      <p:sp>
        <p:nvSpPr>
          <p:cNvPr id="49" name="text-45"/>
          <p:cNvSpPr txBox="1"/>
          <p:nvPr/>
        </p:nvSpPr>
        <p:spPr>
          <a:xfrm>
            <a:off x="548640" y="471830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THE NEXT SIX MONTHS</a:t>
            </a:r>
            <a:endParaRPr lang="en-US" sz="1100" dirty="0"/>
          </a:p>
        </p:txBody>
      </p:sp>
      <p:sp>
        <p:nvSpPr>
          <p:cNvPr id="50" name="shape-46"/>
          <p:cNvSpPr/>
          <p:nvPr/>
        </p:nvSpPr>
        <p:spPr>
          <a:xfrm>
            <a:off x="548640" y="4992624"/>
            <a:ext cx="3590544" cy="1005840"/>
          </a:xfrm>
          <a:prstGeom prst="roundRect">
            <a:avLst>
              <a:gd name="adj" fmla="val 7273"/>
            </a:avLst>
          </a:prstGeom>
          <a:solidFill>
            <a:srgbClr val="D6ECE9"/>
          </a:solidFill>
          <a:ln w="12700">
            <a:solidFill>
              <a:srgbClr val="D6ECE9"/>
            </a:solidFill>
            <a:prstDash val="solid"/>
          </a:ln>
        </p:spPr>
      </p:sp>
      <p:sp>
        <p:nvSpPr>
          <p:cNvPr id="51" name="text-47"/>
          <p:cNvSpPr txBox="1"/>
          <p:nvPr/>
        </p:nvSpPr>
        <p:spPr>
          <a:xfrm>
            <a:off x="731520" y="5120640"/>
            <a:ext cx="3224784" cy="292608"/>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Months 1–2</a:t>
            </a:r>
            <a:endParaRPr lang="en-US" sz="1750" dirty="0"/>
          </a:p>
        </p:txBody>
      </p:sp>
      <p:sp>
        <p:nvSpPr>
          <p:cNvPr id="52" name="text-48"/>
          <p:cNvSpPr txBox="1"/>
          <p:nvPr/>
        </p:nvSpPr>
        <p:spPr>
          <a:xfrm>
            <a:off x="731520" y="5468112"/>
            <a:ext cx="3224784" cy="438912"/>
          </a:xfrm>
          <a:prstGeom prst="rect">
            <a:avLst/>
          </a:prstGeom>
          <a:noFill/>
          <a:ln/>
        </p:spPr>
        <p:txBody>
          <a:bodyPr wrap="square" lIns="0" tIns="0" rIns="0" bIns="0" rtlCol="0" anchor="t"/>
          <a:lstStyle/>
          <a:p>
            <a:pPr algn="l" indent="0" marL="0">
              <a:lnSpc>
                <a:spcPct val="100000"/>
              </a:lnSpc>
              <a:buNone/>
            </a:pPr>
            <a:r>
              <a:rPr lang="en-US" sz="1250" dirty="0">
                <a:solidFill>
                  <a:srgbClr val="5A6B75"/>
                </a:solidFill>
                <a:latin typeface="Calibri" pitchFamily="34" charset="0"/>
                <a:ea typeface="Calibri" pitchFamily="34" charset="-122"/>
                <a:cs typeface="Calibri" pitchFamily="34" charset="-120"/>
              </a:rPr>
              <a:t>two baselines, fit test, scope decisions to the board</a:t>
            </a:r>
            <a:endParaRPr lang="en-US" sz="1250" dirty="0"/>
          </a:p>
        </p:txBody>
      </p:sp>
      <p:sp>
        <p:nvSpPr>
          <p:cNvPr id="53" name="shape-49"/>
          <p:cNvSpPr/>
          <p:nvPr/>
        </p:nvSpPr>
        <p:spPr>
          <a:xfrm>
            <a:off x="4285488" y="4992624"/>
            <a:ext cx="3590544" cy="1005840"/>
          </a:xfrm>
          <a:prstGeom prst="roundRect">
            <a:avLst>
              <a:gd name="adj" fmla="val 7273"/>
            </a:avLst>
          </a:prstGeom>
          <a:solidFill>
            <a:srgbClr val="0F766E"/>
          </a:solidFill>
          <a:ln w="12700">
            <a:solidFill>
              <a:srgbClr val="0F766E"/>
            </a:solidFill>
            <a:prstDash val="solid"/>
          </a:ln>
        </p:spPr>
      </p:sp>
      <p:sp>
        <p:nvSpPr>
          <p:cNvPr id="54" name="text-50"/>
          <p:cNvSpPr txBox="1"/>
          <p:nvPr/>
        </p:nvSpPr>
        <p:spPr>
          <a:xfrm>
            <a:off x="4468368" y="5120640"/>
            <a:ext cx="3224784" cy="292608"/>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Months 3–4</a:t>
            </a:r>
            <a:endParaRPr lang="en-US" sz="1750" dirty="0"/>
          </a:p>
        </p:txBody>
      </p:sp>
      <p:sp>
        <p:nvSpPr>
          <p:cNvPr id="55" name="text-51"/>
          <p:cNvSpPr txBox="1"/>
          <p:nvPr/>
        </p:nvSpPr>
        <p:spPr>
          <a:xfrm>
            <a:off x="4468368" y="5468112"/>
            <a:ext cx="3224784" cy="438912"/>
          </a:xfrm>
          <a:prstGeom prst="rect">
            <a:avLst/>
          </a:prstGeom>
          <a:noFill/>
          <a:ln/>
        </p:spPr>
        <p:txBody>
          <a:bodyPr wrap="square" lIns="0" tIns="0" rIns="0" bIns="0" rtlCol="0" anchor="t"/>
          <a:lstStyle/>
          <a:p>
            <a:pPr algn="l" indent="0" marL="0">
              <a:lnSpc>
                <a:spcPct val="100000"/>
              </a:lnSpc>
              <a:buNone/>
            </a:pPr>
            <a:r>
              <a:rPr lang="en-US" sz="1250" dirty="0">
                <a:solidFill>
                  <a:srgbClr val="CFE8E5"/>
                </a:solidFill>
                <a:latin typeface="Calibri" pitchFamily="34" charset="0"/>
                <a:ea typeface="Calibri" pitchFamily="34" charset="-122"/>
                <a:cs typeface="Calibri" pitchFamily="34" charset="-120"/>
              </a:rPr>
              <a:t>first assured delivery on the core; partners delivering</a:t>
            </a:r>
            <a:endParaRPr lang="en-US" sz="1250" dirty="0"/>
          </a:p>
        </p:txBody>
      </p:sp>
      <p:sp>
        <p:nvSpPr>
          <p:cNvPr id="56" name="shape-52"/>
          <p:cNvSpPr/>
          <p:nvPr/>
        </p:nvSpPr>
        <p:spPr>
          <a:xfrm>
            <a:off x="8022336" y="4992624"/>
            <a:ext cx="3590544" cy="1005840"/>
          </a:xfrm>
          <a:prstGeom prst="roundRect">
            <a:avLst>
              <a:gd name="adj" fmla="val 7273"/>
            </a:avLst>
          </a:prstGeom>
          <a:solidFill>
            <a:srgbClr val="134E4A"/>
          </a:solidFill>
          <a:ln w="12700">
            <a:solidFill>
              <a:srgbClr val="134E4A"/>
            </a:solidFill>
            <a:prstDash val="solid"/>
          </a:ln>
        </p:spPr>
      </p:sp>
      <p:sp>
        <p:nvSpPr>
          <p:cNvPr id="57" name="text-53"/>
          <p:cNvSpPr txBox="1"/>
          <p:nvPr/>
        </p:nvSpPr>
        <p:spPr>
          <a:xfrm>
            <a:off x="8205216" y="5120640"/>
            <a:ext cx="3224784" cy="292608"/>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Months 5–6</a:t>
            </a:r>
            <a:endParaRPr lang="en-US" sz="1750" dirty="0"/>
          </a:p>
        </p:txBody>
      </p:sp>
      <p:sp>
        <p:nvSpPr>
          <p:cNvPr id="58" name="text-54"/>
          <p:cNvSpPr txBox="1"/>
          <p:nvPr/>
        </p:nvSpPr>
        <p:spPr>
          <a:xfrm>
            <a:off x="8205216" y="5468112"/>
            <a:ext cx="3224784" cy="438912"/>
          </a:xfrm>
          <a:prstGeom prst="rect">
            <a:avLst/>
          </a:prstGeom>
          <a:noFill/>
          <a:ln/>
        </p:spPr>
        <p:txBody>
          <a:bodyPr wrap="square" lIns="0" tIns="0" rIns="0" bIns="0" rtlCol="0" anchor="t"/>
          <a:lstStyle/>
          <a:p>
            <a:pPr algn="l" indent="0" marL="0">
              <a:lnSpc>
                <a:spcPct val="100000"/>
              </a:lnSpc>
              <a:buNone/>
            </a:pPr>
            <a:r>
              <a:rPr lang="en-US" sz="1250" dirty="0">
                <a:solidFill>
                  <a:srgbClr val="CFE8E5"/>
                </a:solidFill>
                <a:latin typeface="Calibri" pitchFamily="34" charset="0"/>
                <a:ea typeface="Calibri" pitchFamily="34" charset="-122"/>
                <a:cs typeface="Calibri" pitchFamily="34" charset="-120"/>
              </a:rPr>
              <a:t>build waves, cutover rehearsal, go-live against the date</a:t>
            </a:r>
            <a:endParaRPr lang="en-US" sz="12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8  ·  IDEAS BEYOND DAY 1</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Not commitments, not walked through today — parked until their time comes</a:t>
            </a:r>
            <a:endParaRPr lang="en-US" sz="2250" dirty="0"/>
          </a:p>
        </p:txBody>
      </p:sp>
      <p:sp>
        <p:nvSpPr>
          <p:cNvPr id="4" name="shape-0"/>
          <p:cNvSpPr/>
          <p:nvPr/>
        </p:nvSpPr>
        <p:spPr>
          <a:xfrm>
            <a:off x="548640" y="1371600"/>
            <a:ext cx="7680960" cy="4937760"/>
          </a:xfrm>
          <a:prstGeom prst="roundRect">
            <a:avLst>
              <a:gd name="adj" fmla="val 1481"/>
            </a:avLst>
          </a:prstGeom>
          <a:solidFill>
            <a:srgbClr val="F4F1EA"/>
          </a:solidFill>
          <a:ln w="12700">
            <a:solidFill>
              <a:srgbClr val="F4F1EA"/>
            </a:solidFill>
            <a:prstDash val="solid"/>
          </a:ln>
        </p:spPr>
      </p:sp>
      <p:sp>
        <p:nvSpPr>
          <p:cNvPr id="5" name="text-1"/>
          <p:cNvSpPr txBox="1"/>
          <p:nvPr/>
        </p:nvSpPr>
        <p:spPr>
          <a:xfrm>
            <a:off x="731520" y="1499616"/>
            <a:ext cx="73152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5A6B75"/>
                </a:solidFill>
                <a:latin typeface="Calibri" pitchFamily="34" charset="0"/>
                <a:ea typeface="Calibri" pitchFamily="34" charset="-122"/>
                <a:cs typeface="Calibri" pitchFamily="34" charset="-120"/>
              </a:rPr>
              <a:t>DAY 1.5 — IDEAS WALL: PARKED, UNSORTED, JUDGED BY TIER WHEN THEIR TIME COMES</a:t>
            </a:r>
            <a:endParaRPr lang="en-US" sz="1100" dirty="0"/>
          </a:p>
        </p:txBody>
      </p:sp>
      <p:sp>
        <p:nvSpPr>
          <p:cNvPr id="6" name="shape-2"/>
          <p:cNvSpPr/>
          <p:nvPr/>
        </p:nvSpPr>
        <p:spPr>
          <a:xfrm rot="-240000">
            <a:off x="804672" y="1920240"/>
            <a:ext cx="1572768" cy="1188720"/>
          </a:xfrm>
          <a:prstGeom prst="rect">
            <a:avLst/>
          </a:prstGeom>
          <a:solidFill>
            <a:srgbClr val="000000">
              <a:alpha val="10000"/>
            </a:srgbClr>
          </a:solidFill>
          <a:ln w="12700">
            <a:solidFill>
              <a:srgbClr val="000000"/>
            </a:solidFill>
            <a:prstDash val="solid"/>
          </a:ln>
        </p:spPr>
      </p:sp>
      <p:sp>
        <p:nvSpPr>
          <p:cNvPr id="7" name="shape-3"/>
          <p:cNvSpPr/>
          <p:nvPr/>
        </p:nvSpPr>
        <p:spPr>
          <a:xfrm rot="-240000">
            <a:off x="768096" y="1865376"/>
            <a:ext cx="1572768" cy="1188720"/>
          </a:xfrm>
          <a:prstGeom prst="rect">
            <a:avLst/>
          </a:prstGeom>
          <a:solidFill>
            <a:srgbClr val="FFF3B0"/>
          </a:solidFill>
          <a:ln w="12700">
            <a:solidFill>
              <a:srgbClr val="FFF3B0"/>
            </a:solidFill>
            <a:prstDash val="solid"/>
          </a:ln>
        </p:spPr>
      </p:sp>
      <p:sp>
        <p:nvSpPr>
          <p:cNvPr id="8" name="shape-4"/>
          <p:cNvSpPr/>
          <p:nvPr/>
        </p:nvSpPr>
        <p:spPr>
          <a:xfrm rot="-240000">
            <a:off x="1316736" y="1810512"/>
            <a:ext cx="475488" cy="128016"/>
          </a:xfrm>
          <a:prstGeom prst="rect">
            <a:avLst/>
          </a:prstGeom>
          <a:solidFill>
            <a:srgbClr val="9A9A9A">
              <a:alpha val="30000"/>
            </a:srgbClr>
          </a:solidFill>
          <a:ln w="12700">
            <a:solidFill>
              <a:srgbClr val="9A9A9A"/>
            </a:solidFill>
            <a:prstDash val="solid"/>
          </a:ln>
        </p:spPr>
      </p:sp>
      <p:sp>
        <p:nvSpPr>
          <p:cNvPr id="9" name="text-5"/>
          <p:cNvSpPr txBox="1"/>
          <p:nvPr/>
        </p:nvSpPr>
        <p:spPr>
          <a:xfrm rot="-240000">
            <a:off x="841248" y="1956816"/>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Unified communications</a:t>
            </a:r>
            <a:endParaRPr lang="en-US" sz="1300" dirty="0"/>
          </a:p>
        </p:txBody>
      </p:sp>
      <p:sp>
        <p:nvSpPr>
          <p:cNvPr id="10" name="shape-6"/>
          <p:cNvSpPr/>
          <p:nvPr/>
        </p:nvSpPr>
        <p:spPr>
          <a:xfrm rot="180000">
            <a:off x="2807208" y="1828800"/>
            <a:ext cx="1572768" cy="1188720"/>
          </a:xfrm>
          <a:prstGeom prst="rect">
            <a:avLst/>
          </a:prstGeom>
          <a:solidFill>
            <a:srgbClr val="000000">
              <a:alpha val="10000"/>
            </a:srgbClr>
          </a:solidFill>
          <a:ln w="12700">
            <a:solidFill>
              <a:srgbClr val="000000"/>
            </a:solidFill>
            <a:prstDash val="solid"/>
          </a:ln>
        </p:spPr>
      </p:sp>
      <p:sp>
        <p:nvSpPr>
          <p:cNvPr id="11" name="shape-7"/>
          <p:cNvSpPr/>
          <p:nvPr/>
        </p:nvSpPr>
        <p:spPr>
          <a:xfrm rot="180000">
            <a:off x="2770632" y="1773936"/>
            <a:ext cx="1572768" cy="1188720"/>
          </a:xfrm>
          <a:prstGeom prst="rect">
            <a:avLst/>
          </a:prstGeom>
          <a:solidFill>
            <a:srgbClr val="FFF3B0"/>
          </a:solidFill>
          <a:ln w="12700">
            <a:solidFill>
              <a:srgbClr val="FFF3B0"/>
            </a:solidFill>
            <a:prstDash val="solid"/>
          </a:ln>
        </p:spPr>
      </p:sp>
      <p:sp>
        <p:nvSpPr>
          <p:cNvPr id="12" name="shape-8"/>
          <p:cNvSpPr/>
          <p:nvPr/>
        </p:nvSpPr>
        <p:spPr>
          <a:xfrm rot="180000">
            <a:off x="3319272" y="1719072"/>
            <a:ext cx="475488" cy="128016"/>
          </a:xfrm>
          <a:prstGeom prst="rect">
            <a:avLst/>
          </a:prstGeom>
          <a:solidFill>
            <a:srgbClr val="9A9A9A">
              <a:alpha val="30000"/>
            </a:srgbClr>
          </a:solidFill>
          <a:ln w="12700">
            <a:solidFill>
              <a:srgbClr val="9A9A9A"/>
            </a:solidFill>
            <a:prstDash val="solid"/>
          </a:ln>
        </p:spPr>
      </p:sp>
      <p:sp>
        <p:nvSpPr>
          <p:cNvPr id="13" name="text-9"/>
          <p:cNvSpPr txBox="1"/>
          <p:nvPr/>
        </p:nvSpPr>
        <p:spPr>
          <a:xfrm rot="180000">
            <a:off x="2843784" y="1865376"/>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Product analytics and behaviour</a:t>
            </a:r>
            <a:endParaRPr lang="en-US" sz="1300" dirty="0"/>
          </a:p>
        </p:txBody>
      </p:sp>
      <p:sp>
        <p:nvSpPr>
          <p:cNvPr id="14" name="shape-10"/>
          <p:cNvSpPr/>
          <p:nvPr/>
        </p:nvSpPr>
        <p:spPr>
          <a:xfrm rot="-120000">
            <a:off x="4581144" y="1947672"/>
            <a:ext cx="1572768" cy="1188720"/>
          </a:xfrm>
          <a:prstGeom prst="rect">
            <a:avLst/>
          </a:prstGeom>
          <a:solidFill>
            <a:srgbClr val="000000">
              <a:alpha val="10000"/>
            </a:srgbClr>
          </a:solidFill>
          <a:ln w="12700">
            <a:solidFill>
              <a:srgbClr val="000000"/>
            </a:solidFill>
            <a:prstDash val="solid"/>
          </a:ln>
        </p:spPr>
      </p:sp>
      <p:sp>
        <p:nvSpPr>
          <p:cNvPr id="15" name="shape-11"/>
          <p:cNvSpPr/>
          <p:nvPr/>
        </p:nvSpPr>
        <p:spPr>
          <a:xfrm rot="-120000">
            <a:off x="4544568" y="1892808"/>
            <a:ext cx="1572768" cy="1188720"/>
          </a:xfrm>
          <a:prstGeom prst="rect">
            <a:avLst/>
          </a:prstGeom>
          <a:solidFill>
            <a:srgbClr val="FFF3B0"/>
          </a:solidFill>
          <a:ln w="12700">
            <a:solidFill>
              <a:srgbClr val="FFF3B0"/>
            </a:solidFill>
            <a:prstDash val="solid"/>
          </a:ln>
        </p:spPr>
      </p:sp>
      <p:sp>
        <p:nvSpPr>
          <p:cNvPr id="16" name="shape-12"/>
          <p:cNvSpPr/>
          <p:nvPr/>
        </p:nvSpPr>
        <p:spPr>
          <a:xfrm rot="-120000">
            <a:off x="5093208" y="1837944"/>
            <a:ext cx="475488" cy="128016"/>
          </a:xfrm>
          <a:prstGeom prst="rect">
            <a:avLst/>
          </a:prstGeom>
          <a:solidFill>
            <a:srgbClr val="9A9A9A">
              <a:alpha val="30000"/>
            </a:srgbClr>
          </a:solidFill>
          <a:ln w="12700">
            <a:solidFill>
              <a:srgbClr val="9A9A9A"/>
            </a:solidFill>
            <a:prstDash val="solid"/>
          </a:ln>
        </p:spPr>
      </p:sp>
      <p:sp>
        <p:nvSpPr>
          <p:cNvPr id="17" name="text-13"/>
          <p:cNvSpPr txBox="1"/>
          <p:nvPr/>
        </p:nvSpPr>
        <p:spPr>
          <a:xfrm rot="-120000">
            <a:off x="4617720" y="1984248"/>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In-app guidance and onboarding</a:t>
            </a:r>
            <a:endParaRPr lang="en-US" sz="1300" dirty="0"/>
          </a:p>
        </p:txBody>
      </p:sp>
      <p:sp>
        <p:nvSpPr>
          <p:cNvPr id="18" name="shape-14"/>
          <p:cNvSpPr/>
          <p:nvPr/>
        </p:nvSpPr>
        <p:spPr>
          <a:xfrm rot="240000">
            <a:off x="6528816" y="1847088"/>
            <a:ext cx="1572768" cy="1188720"/>
          </a:xfrm>
          <a:prstGeom prst="rect">
            <a:avLst/>
          </a:prstGeom>
          <a:solidFill>
            <a:srgbClr val="000000">
              <a:alpha val="10000"/>
            </a:srgbClr>
          </a:solidFill>
          <a:ln w="12700">
            <a:solidFill>
              <a:srgbClr val="000000"/>
            </a:solidFill>
            <a:prstDash val="solid"/>
          </a:ln>
        </p:spPr>
      </p:sp>
      <p:sp>
        <p:nvSpPr>
          <p:cNvPr id="19" name="shape-15"/>
          <p:cNvSpPr/>
          <p:nvPr/>
        </p:nvSpPr>
        <p:spPr>
          <a:xfrm rot="240000">
            <a:off x="6492240" y="1792224"/>
            <a:ext cx="1572768" cy="1188720"/>
          </a:xfrm>
          <a:prstGeom prst="rect">
            <a:avLst/>
          </a:prstGeom>
          <a:solidFill>
            <a:srgbClr val="FFF3B0"/>
          </a:solidFill>
          <a:ln w="12700">
            <a:solidFill>
              <a:srgbClr val="FFF3B0"/>
            </a:solidFill>
            <a:prstDash val="solid"/>
          </a:ln>
        </p:spPr>
      </p:sp>
      <p:sp>
        <p:nvSpPr>
          <p:cNvPr id="20" name="shape-16"/>
          <p:cNvSpPr/>
          <p:nvPr/>
        </p:nvSpPr>
        <p:spPr>
          <a:xfrm rot="240000">
            <a:off x="7040880" y="1737360"/>
            <a:ext cx="475488" cy="128016"/>
          </a:xfrm>
          <a:prstGeom prst="rect">
            <a:avLst/>
          </a:prstGeom>
          <a:solidFill>
            <a:srgbClr val="9A9A9A">
              <a:alpha val="30000"/>
            </a:srgbClr>
          </a:solidFill>
          <a:ln w="12700">
            <a:solidFill>
              <a:srgbClr val="9A9A9A"/>
            </a:solidFill>
            <a:prstDash val="solid"/>
          </a:ln>
        </p:spPr>
      </p:sp>
      <p:sp>
        <p:nvSpPr>
          <p:cNvPr id="21" name="text-17"/>
          <p:cNvSpPr txBox="1"/>
          <p:nvPr/>
        </p:nvSpPr>
        <p:spPr>
          <a:xfrm rot="240000">
            <a:off x="6565392" y="1883664"/>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Inline surveys and sentiment</a:t>
            </a:r>
            <a:endParaRPr lang="en-US" sz="1300" dirty="0"/>
          </a:p>
        </p:txBody>
      </p:sp>
      <p:sp>
        <p:nvSpPr>
          <p:cNvPr id="22" name="shape-18"/>
          <p:cNvSpPr/>
          <p:nvPr/>
        </p:nvSpPr>
        <p:spPr>
          <a:xfrm rot="120000">
            <a:off x="786384" y="3364992"/>
            <a:ext cx="1572768" cy="1188720"/>
          </a:xfrm>
          <a:prstGeom prst="rect">
            <a:avLst/>
          </a:prstGeom>
          <a:solidFill>
            <a:srgbClr val="000000">
              <a:alpha val="10000"/>
            </a:srgbClr>
          </a:solidFill>
          <a:ln w="12700">
            <a:solidFill>
              <a:srgbClr val="000000"/>
            </a:solidFill>
            <a:prstDash val="solid"/>
          </a:ln>
        </p:spPr>
      </p:sp>
      <p:sp>
        <p:nvSpPr>
          <p:cNvPr id="23" name="shape-19"/>
          <p:cNvSpPr/>
          <p:nvPr/>
        </p:nvSpPr>
        <p:spPr>
          <a:xfrm rot="120000">
            <a:off x="749808" y="3310128"/>
            <a:ext cx="1572768" cy="1188720"/>
          </a:xfrm>
          <a:prstGeom prst="rect">
            <a:avLst/>
          </a:prstGeom>
          <a:solidFill>
            <a:srgbClr val="FFF3B0"/>
          </a:solidFill>
          <a:ln w="12700">
            <a:solidFill>
              <a:srgbClr val="FFF3B0"/>
            </a:solidFill>
            <a:prstDash val="solid"/>
          </a:ln>
        </p:spPr>
      </p:sp>
      <p:sp>
        <p:nvSpPr>
          <p:cNvPr id="24" name="shape-20"/>
          <p:cNvSpPr/>
          <p:nvPr/>
        </p:nvSpPr>
        <p:spPr>
          <a:xfrm rot="120000">
            <a:off x="1298448" y="3255264"/>
            <a:ext cx="475488" cy="128016"/>
          </a:xfrm>
          <a:prstGeom prst="rect">
            <a:avLst/>
          </a:prstGeom>
          <a:solidFill>
            <a:srgbClr val="9A9A9A">
              <a:alpha val="30000"/>
            </a:srgbClr>
          </a:solidFill>
          <a:ln w="12700">
            <a:solidFill>
              <a:srgbClr val="9A9A9A"/>
            </a:solidFill>
            <a:prstDash val="solid"/>
          </a:ln>
        </p:spPr>
      </p:sp>
      <p:sp>
        <p:nvSpPr>
          <p:cNvPr id="25" name="text-21"/>
          <p:cNvSpPr txBox="1"/>
          <p:nvPr/>
        </p:nvSpPr>
        <p:spPr>
          <a:xfrm rot="120000">
            <a:off x="822960" y="3401568"/>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Feature switches, progressive delivery</a:t>
            </a:r>
            <a:endParaRPr lang="en-US" sz="1300" dirty="0"/>
          </a:p>
        </p:txBody>
      </p:sp>
      <p:sp>
        <p:nvSpPr>
          <p:cNvPr id="26" name="shape-22"/>
          <p:cNvSpPr/>
          <p:nvPr/>
        </p:nvSpPr>
        <p:spPr>
          <a:xfrm rot="-300000">
            <a:off x="2770632" y="3401568"/>
            <a:ext cx="1572768" cy="1188720"/>
          </a:xfrm>
          <a:prstGeom prst="rect">
            <a:avLst/>
          </a:prstGeom>
          <a:solidFill>
            <a:srgbClr val="000000">
              <a:alpha val="10000"/>
            </a:srgbClr>
          </a:solidFill>
          <a:ln w="12700">
            <a:solidFill>
              <a:srgbClr val="000000"/>
            </a:solidFill>
            <a:prstDash val="solid"/>
          </a:ln>
        </p:spPr>
      </p:sp>
      <p:sp>
        <p:nvSpPr>
          <p:cNvPr id="27" name="shape-23"/>
          <p:cNvSpPr/>
          <p:nvPr/>
        </p:nvSpPr>
        <p:spPr>
          <a:xfrm rot="-300000">
            <a:off x="2734056" y="3346704"/>
            <a:ext cx="1572768" cy="1188720"/>
          </a:xfrm>
          <a:prstGeom prst="rect">
            <a:avLst/>
          </a:prstGeom>
          <a:solidFill>
            <a:srgbClr val="FFF3B0"/>
          </a:solidFill>
          <a:ln w="12700">
            <a:solidFill>
              <a:srgbClr val="FFF3B0"/>
            </a:solidFill>
            <a:prstDash val="solid"/>
          </a:ln>
        </p:spPr>
      </p:sp>
      <p:sp>
        <p:nvSpPr>
          <p:cNvPr id="28" name="shape-24"/>
          <p:cNvSpPr/>
          <p:nvPr/>
        </p:nvSpPr>
        <p:spPr>
          <a:xfrm rot="-300000">
            <a:off x="3282696" y="3291840"/>
            <a:ext cx="475488" cy="128016"/>
          </a:xfrm>
          <a:prstGeom prst="rect">
            <a:avLst/>
          </a:prstGeom>
          <a:solidFill>
            <a:srgbClr val="9A9A9A">
              <a:alpha val="30000"/>
            </a:srgbClr>
          </a:solidFill>
          <a:ln w="12700">
            <a:solidFill>
              <a:srgbClr val="9A9A9A"/>
            </a:solidFill>
            <a:prstDash val="solid"/>
          </a:ln>
        </p:spPr>
      </p:sp>
      <p:sp>
        <p:nvSpPr>
          <p:cNvPr id="29" name="text-25"/>
          <p:cNvSpPr txBox="1"/>
          <p:nvPr/>
        </p:nvSpPr>
        <p:spPr>
          <a:xfrm rot="-300000">
            <a:off x="2807208" y="3438144"/>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Search as a product capability</a:t>
            </a:r>
            <a:endParaRPr lang="en-US" sz="1300" dirty="0"/>
          </a:p>
        </p:txBody>
      </p:sp>
      <p:sp>
        <p:nvSpPr>
          <p:cNvPr id="30" name="shape-26"/>
          <p:cNvSpPr/>
          <p:nvPr/>
        </p:nvSpPr>
        <p:spPr>
          <a:xfrm rot="180000">
            <a:off x="4562856" y="3319272"/>
            <a:ext cx="1572768" cy="1188720"/>
          </a:xfrm>
          <a:prstGeom prst="rect">
            <a:avLst/>
          </a:prstGeom>
          <a:solidFill>
            <a:srgbClr val="000000">
              <a:alpha val="10000"/>
            </a:srgbClr>
          </a:solidFill>
          <a:ln w="12700">
            <a:solidFill>
              <a:srgbClr val="000000"/>
            </a:solidFill>
            <a:prstDash val="solid"/>
          </a:ln>
        </p:spPr>
      </p:sp>
      <p:sp>
        <p:nvSpPr>
          <p:cNvPr id="31" name="shape-27"/>
          <p:cNvSpPr/>
          <p:nvPr/>
        </p:nvSpPr>
        <p:spPr>
          <a:xfrm rot="180000">
            <a:off x="4526280" y="3264408"/>
            <a:ext cx="1572768" cy="1188720"/>
          </a:xfrm>
          <a:prstGeom prst="rect">
            <a:avLst/>
          </a:prstGeom>
          <a:solidFill>
            <a:srgbClr val="FFF3B0"/>
          </a:solidFill>
          <a:ln w="12700">
            <a:solidFill>
              <a:srgbClr val="FFF3B0"/>
            </a:solidFill>
            <a:prstDash val="solid"/>
          </a:ln>
        </p:spPr>
      </p:sp>
      <p:sp>
        <p:nvSpPr>
          <p:cNvPr id="32" name="shape-28"/>
          <p:cNvSpPr/>
          <p:nvPr/>
        </p:nvSpPr>
        <p:spPr>
          <a:xfrm rot="180000">
            <a:off x="5074920" y="3209544"/>
            <a:ext cx="475488" cy="128016"/>
          </a:xfrm>
          <a:prstGeom prst="rect">
            <a:avLst/>
          </a:prstGeom>
          <a:solidFill>
            <a:srgbClr val="9A9A9A">
              <a:alpha val="30000"/>
            </a:srgbClr>
          </a:solidFill>
          <a:ln w="12700">
            <a:solidFill>
              <a:srgbClr val="9A9A9A"/>
            </a:solidFill>
            <a:prstDash val="solid"/>
          </a:ln>
        </p:spPr>
      </p:sp>
      <p:sp>
        <p:nvSpPr>
          <p:cNvPr id="33" name="text-29"/>
          <p:cNvSpPr txBox="1"/>
          <p:nvPr/>
        </p:nvSpPr>
        <p:spPr>
          <a:xfrm rot="180000">
            <a:off x="4599432" y="3355848"/>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Developer and API portal</a:t>
            </a:r>
            <a:endParaRPr lang="en-US" sz="1300" dirty="0"/>
          </a:p>
        </p:txBody>
      </p:sp>
      <p:sp>
        <p:nvSpPr>
          <p:cNvPr id="34" name="shape-30"/>
          <p:cNvSpPr/>
          <p:nvPr/>
        </p:nvSpPr>
        <p:spPr>
          <a:xfrm rot="-180000">
            <a:off x="6547104" y="3374136"/>
            <a:ext cx="1572768" cy="1188720"/>
          </a:xfrm>
          <a:prstGeom prst="rect">
            <a:avLst/>
          </a:prstGeom>
          <a:solidFill>
            <a:srgbClr val="000000">
              <a:alpha val="10000"/>
            </a:srgbClr>
          </a:solidFill>
          <a:ln w="12700">
            <a:solidFill>
              <a:srgbClr val="000000"/>
            </a:solidFill>
            <a:prstDash val="solid"/>
          </a:ln>
        </p:spPr>
      </p:sp>
      <p:sp>
        <p:nvSpPr>
          <p:cNvPr id="35" name="shape-31"/>
          <p:cNvSpPr/>
          <p:nvPr/>
        </p:nvSpPr>
        <p:spPr>
          <a:xfrm rot="-180000">
            <a:off x="6510528" y="3319272"/>
            <a:ext cx="1572768" cy="1188720"/>
          </a:xfrm>
          <a:prstGeom prst="rect">
            <a:avLst/>
          </a:prstGeom>
          <a:solidFill>
            <a:srgbClr val="FFD8A8"/>
          </a:solidFill>
          <a:ln w="12700">
            <a:solidFill>
              <a:srgbClr val="FFD8A8"/>
            </a:solidFill>
            <a:prstDash val="solid"/>
          </a:ln>
        </p:spPr>
      </p:sp>
      <p:sp>
        <p:nvSpPr>
          <p:cNvPr id="36" name="shape-32"/>
          <p:cNvSpPr/>
          <p:nvPr/>
        </p:nvSpPr>
        <p:spPr>
          <a:xfrm rot="-180000">
            <a:off x="7059168" y="3264408"/>
            <a:ext cx="475488" cy="128016"/>
          </a:xfrm>
          <a:prstGeom prst="rect">
            <a:avLst/>
          </a:prstGeom>
          <a:solidFill>
            <a:srgbClr val="9A9A9A">
              <a:alpha val="30000"/>
            </a:srgbClr>
          </a:solidFill>
          <a:ln w="12700">
            <a:solidFill>
              <a:srgbClr val="9A9A9A"/>
            </a:solidFill>
            <a:prstDash val="solid"/>
          </a:ln>
        </p:spPr>
      </p:sp>
      <p:sp>
        <p:nvSpPr>
          <p:cNvPr id="37" name="text-33"/>
          <p:cNvSpPr txBox="1"/>
          <p:nvPr/>
        </p:nvSpPr>
        <p:spPr>
          <a:xfrm rot="-180000">
            <a:off x="6583680" y="3410712"/>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Consent and preferences</a:t>
            </a:r>
            <a:endParaRPr lang="en-US" sz="1300" dirty="0"/>
          </a:p>
        </p:txBody>
      </p:sp>
      <p:sp>
        <p:nvSpPr>
          <p:cNvPr id="38" name="shape-34"/>
          <p:cNvSpPr/>
          <p:nvPr/>
        </p:nvSpPr>
        <p:spPr>
          <a:xfrm rot="300000">
            <a:off x="877824" y="4745736"/>
            <a:ext cx="1572768" cy="1188720"/>
          </a:xfrm>
          <a:prstGeom prst="rect">
            <a:avLst/>
          </a:prstGeom>
          <a:solidFill>
            <a:srgbClr val="000000">
              <a:alpha val="10000"/>
            </a:srgbClr>
          </a:solidFill>
          <a:ln w="12700">
            <a:solidFill>
              <a:srgbClr val="000000"/>
            </a:solidFill>
            <a:prstDash val="solid"/>
          </a:ln>
        </p:spPr>
      </p:sp>
      <p:sp>
        <p:nvSpPr>
          <p:cNvPr id="39" name="shape-35"/>
          <p:cNvSpPr/>
          <p:nvPr/>
        </p:nvSpPr>
        <p:spPr>
          <a:xfrm rot="300000">
            <a:off x="841248" y="4690872"/>
            <a:ext cx="1572768" cy="1188720"/>
          </a:xfrm>
          <a:prstGeom prst="rect">
            <a:avLst/>
          </a:prstGeom>
          <a:solidFill>
            <a:srgbClr val="FFD8A8"/>
          </a:solidFill>
          <a:ln w="12700">
            <a:solidFill>
              <a:srgbClr val="FFD8A8"/>
            </a:solidFill>
            <a:prstDash val="solid"/>
          </a:ln>
        </p:spPr>
      </p:sp>
      <p:sp>
        <p:nvSpPr>
          <p:cNvPr id="40" name="shape-36"/>
          <p:cNvSpPr/>
          <p:nvPr/>
        </p:nvSpPr>
        <p:spPr>
          <a:xfrm rot="300000">
            <a:off x="1389888" y="4636008"/>
            <a:ext cx="475488" cy="128016"/>
          </a:xfrm>
          <a:prstGeom prst="rect">
            <a:avLst/>
          </a:prstGeom>
          <a:solidFill>
            <a:srgbClr val="9A9A9A">
              <a:alpha val="30000"/>
            </a:srgbClr>
          </a:solidFill>
          <a:ln w="12700">
            <a:solidFill>
              <a:srgbClr val="9A9A9A"/>
            </a:solidFill>
            <a:prstDash val="solid"/>
          </a:ln>
        </p:spPr>
      </p:sp>
      <p:sp>
        <p:nvSpPr>
          <p:cNvPr id="41" name="text-37"/>
          <p:cNvSpPr txBox="1"/>
          <p:nvPr/>
        </p:nvSpPr>
        <p:spPr>
          <a:xfrm rot="300000">
            <a:off x="914400" y="4782312"/>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Status page and incident comms</a:t>
            </a:r>
            <a:endParaRPr lang="en-US" sz="1300" dirty="0"/>
          </a:p>
        </p:txBody>
      </p:sp>
      <p:sp>
        <p:nvSpPr>
          <p:cNvPr id="42" name="shape-38"/>
          <p:cNvSpPr/>
          <p:nvPr/>
        </p:nvSpPr>
        <p:spPr>
          <a:xfrm rot="-240000">
            <a:off x="2670048" y="4855464"/>
            <a:ext cx="1572768" cy="1188720"/>
          </a:xfrm>
          <a:prstGeom prst="rect">
            <a:avLst/>
          </a:prstGeom>
          <a:solidFill>
            <a:srgbClr val="000000">
              <a:alpha val="10000"/>
            </a:srgbClr>
          </a:solidFill>
          <a:ln w="12700">
            <a:solidFill>
              <a:srgbClr val="000000"/>
            </a:solidFill>
            <a:prstDash val="solid"/>
          </a:ln>
        </p:spPr>
      </p:sp>
      <p:sp>
        <p:nvSpPr>
          <p:cNvPr id="43" name="shape-39"/>
          <p:cNvSpPr/>
          <p:nvPr/>
        </p:nvSpPr>
        <p:spPr>
          <a:xfrm rot="-240000">
            <a:off x="2633472" y="4800600"/>
            <a:ext cx="1572768" cy="1188720"/>
          </a:xfrm>
          <a:prstGeom prst="rect">
            <a:avLst/>
          </a:prstGeom>
          <a:solidFill>
            <a:srgbClr val="FFD8A8"/>
          </a:solidFill>
          <a:ln w="12700">
            <a:solidFill>
              <a:srgbClr val="FFD8A8"/>
            </a:solidFill>
            <a:prstDash val="solid"/>
          </a:ln>
        </p:spPr>
      </p:sp>
      <p:sp>
        <p:nvSpPr>
          <p:cNvPr id="44" name="shape-40"/>
          <p:cNvSpPr/>
          <p:nvPr/>
        </p:nvSpPr>
        <p:spPr>
          <a:xfrm rot="-240000">
            <a:off x="3182112" y="4745736"/>
            <a:ext cx="475488" cy="128016"/>
          </a:xfrm>
          <a:prstGeom prst="rect">
            <a:avLst/>
          </a:prstGeom>
          <a:solidFill>
            <a:srgbClr val="9A9A9A">
              <a:alpha val="30000"/>
            </a:srgbClr>
          </a:solidFill>
          <a:ln w="12700">
            <a:solidFill>
              <a:srgbClr val="9A9A9A"/>
            </a:solidFill>
            <a:prstDash val="solid"/>
          </a:ln>
        </p:spPr>
      </p:sp>
      <p:sp>
        <p:nvSpPr>
          <p:cNvPr id="45" name="text-41"/>
          <p:cNvSpPr txBox="1"/>
          <p:nvPr/>
        </p:nvSpPr>
        <p:spPr>
          <a:xfrm rot="-240000">
            <a:off x="2706624" y="4892040"/>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Integration standards: SSO, LTI/LIS, clinical</a:t>
            </a:r>
            <a:endParaRPr lang="en-US" sz="1300" dirty="0"/>
          </a:p>
        </p:txBody>
      </p:sp>
      <p:sp>
        <p:nvSpPr>
          <p:cNvPr id="46" name="shape-42"/>
          <p:cNvSpPr/>
          <p:nvPr/>
        </p:nvSpPr>
        <p:spPr>
          <a:xfrm rot="120000">
            <a:off x="4663440" y="4791456"/>
            <a:ext cx="1572768" cy="1188720"/>
          </a:xfrm>
          <a:prstGeom prst="rect">
            <a:avLst/>
          </a:prstGeom>
          <a:solidFill>
            <a:srgbClr val="000000">
              <a:alpha val="10000"/>
            </a:srgbClr>
          </a:solidFill>
          <a:ln w="12700">
            <a:solidFill>
              <a:srgbClr val="000000"/>
            </a:solidFill>
            <a:prstDash val="solid"/>
          </a:ln>
        </p:spPr>
      </p:sp>
      <p:sp>
        <p:nvSpPr>
          <p:cNvPr id="47" name="shape-43"/>
          <p:cNvSpPr/>
          <p:nvPr/>
        </p:nvSpPr>
        <p:spPr>
          <a:xfrm rot="120000">
            <a:off x="4626864" y="4736592"/>
            <a:ext cx="1572768" cy="1188720"/>
          </a:xfrm>
          <a:prstGeom prst="rect">
            <a:avLst/>
          </a:prstGeom>
          <a:solidFill>
            <a:srgbClr val="CDEBE3"/>
          </a:solidFill>
          <a:ln w="12700">
            <a:solidFill>
              <a:srgbClr val="CDEBE3"/>
            </a:solidFill>
            <a:prstDash val="solid"/>
          </a:ln>
        </p:spPr>
      </p:sp>
      <p:sp>
        <p:nvSpPr>
          <p:cNvPr id="48" name="shape-44"/>
          <p:cNvSpPr/>
          <p:nvPr/>
        </p:nvSpPr>
        <p:spPr>
          <a:xfrm rot="120000">
            <a:off x="5175504" y="4681728"/>
            <a:ext cx="475488" cy="128016"/>
          </a:xfrm>
          <a:prstGeom prst="rect">
            <a:avLst/>
          </a:prstGeom>
          <a:solidFill>
            <a:srgbClr val="9A9A9A">
              <a:alpha val="30000"/>
            </a:srgbClr>
          </a:solidFill>
          <a:ln w="12700">
            <a:solidFill>
              <a:srgbClr val="9A9A9A"/>
            </a:solidFill>
            <a:prstDash val="solid"/>
          </a:ln>
        </p:spPr>
      </p:sp>
      <p:sp>
        <p:nvSpPr>
          <p:cNvPr id="49" name="text-45"/>
          <p:cNvSpPr txBox="1"/>
          <p:nvPr/>
        </p:nvSpPr>
        <p:spPr>
          <a:xfrm rot="120000">
            <a:off x="4700016" y="4828032"/>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Content versioning visible to customers</a:t>
            </a:r>
            <a:endParaRPr lang="en-US" sz="1300" dirty="0"/>
          </a:p>
        </p:txBody>
      </p:sp>
      <p:sp>
        <p:nvSpPr>
          <p:cNvPr id="50" name="shape-46"/>
          <p:cNvSpPr/>
          <p:nvPr/>
        </p:nvSpPr>
        <p:spPr>
          <a:xfrm rot="-180000">
            <a:off x="6446520" y="4864608"/>
            <a:ext cx="1572768" cy="1188720"/>
          </a:xfrm>
          <a:prstGeom prst="rect">
            <a:avLst/>
          </a:prstGeom>
          <a:solidFill>
            <a:srgbClr val="000000">
              <a:alpha val="10000"/>
            </a:srgbClr>
          </a:solidFill>
          <a:ln w="12700">
            <a:solidFill>
              <a:srgbClr val="000000"/>
            </a:solidFill>
            <a:prstDash val="solid"/>
          </a:ln>
        </p:spPr>
      </p:sp>
      <p:sp>
        <p:nvSpPr>
          <p:cNvPr id="51" name="shape-47"/>
          <p:cNvSpPr/>
          <p:nvPr/>
        </p:nvSpPr>
        <p:spPr>
          <a:xfrm rot="-180000">
            <a:off x="6409944" y="4809744"/>
            <a:ext cx="1572768" cy="1188720"/>
          </a:xfrm>
          <a:prstGeom prst="rect">
            <a:avLst/>
          </a:prstGeom>
          <a:solidFill>
            <a:srgbClr val="FFF3B0"/>
          </a:solidFill>
          <a:ln w="12700">
            <a:solidFill>
              <a:srgbClr val="FFF3B0"/>
            </a:solidFill>
            <a:prstDash val="solid"/>
          </a:ln>
        </p:spPr>
      </p:sp>
      <p:sp>
        <p:nvSpPr>
          <p:cNvPr id="52" name="shape-48"/>
          <p:cNvSpPr/>
          <p:nvPr/>
        </p:nvSpPr>
        <p:spPr>
          <a:xfrm rot="-180000">
            <a:off x="6958584" y="4754880"/>
            <a:ext cx="475488" cy="128016"/>
          </a:xfrm>
          <a:prstGeom prst="rect">
            <a:avLst/>
          </a:prstGeom>
          <a:solidFill>
            <a:srgbClr val="9A9A9A">
              <a:alpha val="30000"/>
            </a:srgbClr>
          </a:solidFill>
          <a:ln w="12700">
            <a:solidFill>
              <a:srgbClr val="9A9A9A"/>
            </a:solidFill>
            <a:prstDash val="solid"/>
          </a:ln>
        </p:spPr>
      </p:sp>
      <p:sp>
        <p:nvSpPr>
          <p:cNvPr id="53" name="text-49"/>
          <p:cNvSpPr txBox="1"/>
          <p:nvPr/>
        </p:nvSpPr>
        <p:spPr>
          <a:xfrm rot="-180000">
            <a:off x="6483096" y="4901184"/>
            <a:ext cx="1426464" cy="1005840"/>
          </a:xfrm>
          <a:prstGeom prst="rect">
            <a:avLst/>
          </a:prstGeom>
          <a:noFill/>
          <a:ln/>
        </p:spPr>
        <p:txBody>
          <a:bodyPr wrap="square" lIns="0" tIns="0" rIns="0" bIns="0" rtlCol="0" anchor="ctr"/>
          <a:lstStyle/>
          <a:p>
            <a:pPr algn="ctr" indent="0" marL="0">
              <a:lnSpc>
                <a:spcPct val="100000"/>
              </a:lnSpc>
              <a:buNone/>
            </a:pPr>
            <a:r>
              <a:rPr lang="en-US" sz="1300" dirty="0">
                <a:solidFill>
                  <a:srgbClr val="1C2B33"/>
                </a:solidFill>
                <a:latin typeface="Segoe Print" pitchFamily="34" charset="0"/>
                <a:ea typeface="Segoe Print" pitchFamily="34" charset="-122"/>
                <a:cs typeface="Segoe Print" pitchFamily="34" charset="-120"/>
              </a:rPr>
              <a:t>Accessibility and offline mobile</a:t>
            </a:r>
            <a:endParaRPr lang="en-US" sz="1300" dirty="0"/>
          </a:p>
        </p:txBody>
      </p:sp>
      <p:sp>
        <p:nvSpPr>
          <p:cNvPr id="54" name="shape-50"/>
          <p:cNvSpPr/>
          <p:nvPr/>
        </p:nvSpPr>
        <p:spPr>
          <a:xfrm>
            <a:off x="8412480" y="1371600"/>
            <a:ext cx="3200400" cy="4937760"/>
          </a:xfrm>
          <a:prstGeom prst="roundRect">
            <a:avLst>
              <a:gd name="adj" fmla="val 2286"/>
            </a:avLst>
          </a:prstGeom>
          <a:solidFill>
            <a:srgbClr val="EEF2F4"/>
          </a:solidFill>
          <a:ln w="12700">
            <a:solidFill>
              <a:srgbClr val="EEF2F4"/>
            </a:solidFill>
            <a:prstDash val="solid"/>
          </a:ln>
        </p:spPr>
      </p:sp>
      <p:sp>
        <p:nvSpPr>
          <p:cNvPr id="55" name="text-51"/>
          <p:cNvSpPr txBox="1"/>
          <p:nvPr/>
        </p:nvSpPr>
        <p:spPr>
          <a:xfrm>
            <a:off x="8595360" y="1499616"/>
            <a:ext cx="292608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134E4A"/>
                </a:solidFill>
                <a:latin typeface="Calibri" pitchFamily="34" charset="0"/>
                <a:ea typeface="Calibri" pitchFamily="34" charset="-122"/>
                <a:cs typeface="Calibri" pitchFamily="34" charset="-120"/>
              </a:rPr>
              <a:t>DAY 2 — ALREADY ON THE PATHWAY</a:t>
            </a:r>
            <a:endParaRPr lang="en-US" sz="1100" dirty="0"/>
          </a:p>
        </p:txBody>
      </p:sp>
      <p:sp>
        <p:nvSpPr>
          <p:cNvPr id="56" name="shape-52"/>
          <p:cNvSpPr/>
          <p:nvPr/>
        </p:nvSpPr>
        <p:spPr>
          <a:xfrm rot="-120000">
            <a:off x="8677656" y="1883664"/>
            <a:ext cx="2743200" cy="1078992"/>
          </a:xfrm>
          <a:prstGeom prst="rect">
            <a:avLst/>
          </a:prstGeom>
          <a:solidFill>
            <a:srgbClr val="000000">
              <a:alpha val="10000"/>
            </a:srgbClr>
          </a:solidFill>
          <a:ln w="12700">
            <a:solidFill>
              <a:srgbClr val="000000"/>
            </a:solidFill>
            <a:prstDash val="solid"/>
          </a:ln>
        </p:spPr>
      </p:sp>
      <p:sp>
        <p:nvSpPr>
          <p:cNvPr id="57" name="shape-53"/>
          <p:cNvSpPr/>
          <p:nvPr/>
        </p:nvSpPr>
        <p:spPr>
          <a:xfrm rot="-120000">
            <a:off x="8641080" y="1828800"/>
            <a:ext cx="2743200" cy="1078992"/>
          </a:xfrm>
          <a:prstGeom prst="rect">
            <a:avLst/>
          </a:prstGeom>
          <a:solidFill>
            <a:srgbClr val="134E4A"/>
          </a:solidFill>
          <a:ln w="12700">
            <a:solidFill>
              <a:srgbClr val="134E4A"/>
            </a:solidFill>
            <a:prstDash val="solid"/>
          </a:ln>
        </p:spPr>
      </p:sp>
      <p:sp>
        <p:nvSpPr>
          <p:cNvPr id="58" name="text-54"/>
          <p:cNvSpPr txBox="1"/>
          <p:nvPr/>
        </p:nvSpPr>
        <p:spPr>
          <a:xfrm rot="-120000">
            <a:off x="8732520" y="1920240"/>
            <a:ext cx="2560320" cy="896112"/>
          </a:xfrm>
          <a:prstGeom prst="rect">
            <a:avLst/>
          </a:prstGeom>
          <a:noFill/>
          <a:ln/>
        </p:spPr>
        <p:txBody>
          <a:bodyPr wrap="square" lIns="0" tIns="0" rIns="0" bIns="0" rtlCol="0" anchor="ctr"/>
          <a:lstStyle/>
          <a:p>
            <a:pPr algn="ctr" indent="0" marL="0">
              <a:lnSpc>
                <a:spcPct val="100000"/>
              </a:lnSpc>
              <a:buNone/>
            </a:pPr>
            <a:r>
              <a:rPr lang="en-US" sz="1200" dirty="0">
                <a:solidFill>
                  <a:srgbClr val="FFFFFF"/>
                </a:solidFill>
                <a:latin typeface="Segoe Print" pitchFamily="34" charset="0"/>
                <a:ea typeface="Segoe Print" pitchFamily="34" charset="-122"/>
                <a:cs typeface="Segoe Print" pitchFamily="34" charset="-120"/>
              </a:rPr>
              <a:t>Assistant over authoritative content — citations, no generated clinical text</a:t>
            </a:r>
            <a:endParaRPr lang="en-US" sz="1200" dirty="0"/>
          </a:p>
        </p:txBody>
      </p:sp>
      <p:sp>
        <p:nvSpPr>
          <p:cNvPr id="59" name="shape-55"/>
          <p:cNvSpPr/>
          <p:nvPr/>
        </p:nvSpPr>
        <p:spPr>
          <a:xfrm>
            <a:off x="8677656" y="3255264"/>
            <a:ext cx="2743200" cy="1078992"/>
          </a:xfrm>
          <a:prstGeom prst="rect">
            <a:avLst/>
          </a:prstGeom>
          <a:solidFill>
            <a:srgbClr val="000000">
              <a:alpha val="10000"/>
            </a:srgbClr>
          </a:solidFill>
          <a:ln w="12700">
            <a:solidFill>
              <a:srgbClr val="000000"/>
            </a:solidFill>
            <a:prstDash val="solid"/>
          </a:ln>
        </p:spPr>
      </p:sp>
      <p:sp>
        <p:nvSpPr>
          <p:cNvPr id="60" name="shape-56"/>
          <p:cNvSpPr/>
          <p:nvPr/>
        </p:nvSpPr>
        <p:spPr>
          <a:xfrm>
            <a:off x="8641080" y="3200400"/>
            <a:ext cx="2743200" cy="1078992"/>
          </a:xfrm>
          <a:prstGeom prst="rect">
            <a:avLst/>
          </a:prstGeom>
          <a:solidFill>
            <a:srgbClr val="134E4A"/>
          </a:solidFill>
          <a:ln w="12700">
            <a:solidFill>
              <a:srgbClr val="134E4A"/>
            </a:solidFill>
            <a:prstDash val="solid"/>
          </a:ln>
        </p:spPr>
      </p:sp>
      <p:sp>
        <p:nvSpPr>
          <p:cNvPr id="61" name="text-57"/>
          <p:cNvSpPr txBox="1"/>
          <p:nvPr/>
        </p:nvSpPr>
        <p:spPr>
          <a:xfrm>
            <a:off x="8732520" y="3291840"/>
            <a:ext cx="2560320" cy="896112"/>
          </a:xfrm>
          <a:prstGeom prst="rect">
            <a:avLst/>
          </a:prstGeom>
          <a:noFill/>
          <a:ln/>
        </p:spPr>
        <p:txBody>
          <a:bodyPr wrap="square" lIns="0" tIns="0" rIns="0" bIns="0" rtlCol="0" anchor="ctr"/>
          <a:lstStyle/>
          <a:p>
            <a:pPr algn="ctr" indent="0" marL="0">
              <a:lnSpc>
                <a:spcPct val="100000"/>
              </a:lnSpc>
              <a:buNone/>
            </a:pPr>
            <a:r>
              <a:rPr lang="en-US" sz="1200" dirty="0">
                <a:solidFill>
                  <a:srgbClr val="FFFFFF"/>
                </a:solidFill>
                <a:latin typeface="Segoe Print" pitchFamily="34" charset="0"/>
                <a:ea typeface="Segoe Print" pitchFamily="34" charset="-122"/>
                <a:cs typeface="Segoe Print" pitchFamily="34" charset="-120"/>
              </a:rPr>
              <a:t>Internal operational AI on the same platform</a:t>
            </a:r>
            <a:endParaRPr lang="en-US" sz="1200" dirty="0"/>
          </a:p>
        </p:txBody>
      </p:sp>
      <p:sp>
        <p:nvSpPr>
          <p:cNvPr id="62" name="shape-58"/>
          <p:cNvSpPr/>
          <p:nvPr/>
        </p:nvSpPr>
        <p:spPr>
          <a:xfrm rot="120000">
            <a:off x="8677656" y="4626864"/>
            <a:ext cx="2743200" cy="1078992"/>
          </a:xfrm>
          <a:prstGeom prst="rect">
            <a:avLst/>
          </a:prstGeom>
          <a:solidFill>
            <a:srgbClr val="000000">
              <a:alpha val="10000"/>
            </a:srgbClr>
          </a:solidFill>
          <a:ln w="12700">
            <a:solidFill>
              <a:srgbClr val="000000"/>
            </a:solidFill>
            <a:prstDash val="solid"/>
          </a:ln>
        </p:spPr>
      </p:sp>
      <p:sp>
        <p:nvSpPr>
          <p:cNvPr id="63" name="shape-59"/>
          <p:cNvSpPr/>
          <p:nvPr/>
        </p:nvSpPr>
        <p:spPr>
          <a:xfrm rot="120000">
            <a:off x="8641080" y="4572000"/>
            <a:ext cx="2743200" cy="1078992"/>
          </a:xfrm>
          <a:prstGeom prst="rect">
            <a:avLst/>
          </a:prstGeom>
          <a:solidFill>
            <a:srgbClr val="134E4A"/>
          </a:solidFill>
          <a:ln w="12700">
            <a:solidFill>
              <a:srgbClr val="134E4A"/>
            </a:solidFill>
            <a:prstDash val="solid"/>
          </a:ln>
        </p:spPr>
      </p:sp>
      <p:sp>
        <p:nvSpPr>
          <p:cNvPr id="64" name="text-60"/>
          <p:cNvSpPr txBox="1"/>
          <p:nvPr/>
        </p:nvSpPr>
        <p:spPr>
          <a:xfrm rot="120000">
            <a:off x="8732520" y="4663440"/>
            <a:ext cx="2560320" cy="896112"/>
          </a:xfrm>
          <a:prstGeom prst="rect">
            <a:avLst/>
          </a:prstGeom>
          <a:noFill/>
          <a:ln/>
        </p:spPr>
        <p:txBody>
          <a:bodyPr wrap="square" lIns="0" tIns="0" rIns="0" bIns="0" rtlCol="0" anchor="ctr"/>
          <a:lstStyle/>
          <a:p>
            <a:pPr algn="ctr" indent="0" marL="0">
              <a:lnSpc>
                <a:spcPct val="100000"/>
              </a:lnSpc>
              <a:buNone/>
            </a:pPr>
            <a:r>
              <a:rPr lang="en-US" sz="1200" dirty="0">
                <a:solidFill>
                  <a:srgbClr val="FFFFFF"/>
                </a:solidFill>
                <a:latin typeface="Segoe Print" pitchFamily="34" charset="0"/>
                <a:ea typeface="Segoe Print" pitchFamily="34" charset="-122"/>
                <a:cs typeface="Segoe Print" pitchFamily="34" charset="-120"/>
              </a:rPr>
              <a:t>Subscription and user-update integration</a:t>
            </a:r>
            <a:endParaRPr lang="en-US" sz="1200" dirty="0"/>
          </a:p>
        </p:txBody>
      </p:sp>
      <p:sp>
        <p:nvSpPr>
          <p:cNvPr id="65" name="text-61"/>
          <p:cNvSpPr txBox="1"/>
          <p:nvPr/>
        </p:nvSpPr>
        <p:spPr>
          <a:xfrm>
            <a:off x="548640" y="6400800"/>
            <a:ext cx="11064240"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Yellow product · orange cross-cutting · green content tooling. Day 1.5 = after the agreed path is live, before Day 2.</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2026-10-15T07:19:42Z</dcterms:created>
  <dcterms:modified xsi:type="dcterms:W3CDTF">2026-10-15T07:19:42Z</dcterms:modified>
</cp:coreProperties>
</file>
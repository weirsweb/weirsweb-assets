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(demoted from the slide; the rhythm now says who sees what)
- Inward, the team sees and improves: cycle time from decision to assured release; change failure, rework, time to recover; product availability and latency by region; AI judged on cycle time and quality, never on tokens.
- Upward, what passes the gates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OPERATING RHYTHM (assumes a board and risk committee exist; the programme reports into them)
- Board / Risk Committee — quarterly meeting with a monthly review pack, or by exception: target date, funding envelope, risk appetite (including the availability stance), policy exceptions.
- Programme Steering — monthly: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TAKING OWNERSHIP OF THE AGREED PATHWAY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Own the agreed pathway without stalling it: understand, stabilise, accelerate</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AGAINST THE 27 APRIL DATE</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December start leaves little room: three gates by early March, then eight weeks to go live</a:t>
            </a:r>
            <a:endParaRPr lang="en-US" sz="2000" dirty="0"/>
          </a:p>
        </p:txBody>
      </p:sp>
      <p:sp>
        <p:nvSpPr>
          <p:cNvPr id="4" name="shape-0"/>
          <p:cNvSpPr/>
          <p:nvPr/>
        </p:nvSpPr>
        <p:spPr>
          <a:xfrm>
            <a:off x="1931437" y="1280160"/>
            <a:ext cx="1601133" cy="1335024"/>
          </a:xfrm>
          <a:prstGeom prst="roundRect">
            <a:avLst>
              <a:gd name="adj" fmla="val 4110"/>
            </a:avLst>
          </a:prstGeom>
          <a:solidFill>
            <a:srgbClr val="FDF1E3"/>
          </a:solidFill>
          <a:ln w="12700">
            <a:solidFill>
              <a:srgbClr val="FDF1E3"/>
            </a:solidFill>
            <a:prstDash val="solid"/>
          </a:ln>
        </p:spPr>
      </p:sp>
      <p:sp>
        <p:nvSpPr>
          <p:cNvPr id="5" name="text-1"/>
          <p:cNvSpPr txBox="1"/>
          <p:nvPr/>
        </p:nvSpPr>
        <p:spPr>
          <a:xfrm>
            <a:off x="1657117" y="2432304"/>
            <a:ext cx="2149773" cy="146304"/>
          </a:xfrm>
          <a:prstGeom prst="rect">
            <a:avLst/>
          </a:prstGeom>
          <a:noFill/>
          <a:ln/>
        </p:spPr>
        <p:txBody>
          <a:bodyPr wrap="square" lIns="0" tIns="0" rIns="0" bIns="0" rtlCol="0" anchor="ctr"/>
          <a:lstStyle/>
          <a:p>
            <a:pPr algn="ctr" indent="0" marL="0">
              <a:lnSpc>
                <a:spcPct val="100000"/>
              </a:lnSpc>
              <a:buNone/>
            </a:pPr>
            <a:r>
              <a:rPr lang="en-US" sz="850" b="1" dirty="0">
                <a:solidFill>
                  <a:srgbClr val="B45309"/>
                </a:solidFill>
                <a:latin typeface="Calibri" pitchFamily="34" charset="0"/>
                <a:ea typeface="Calibri" pitchFamily="34" charset="-122"/>
                <a:cs typeface="Calibri" pitchFamily="34" charset="-120"/>
              </a:rPr>
              <a:t>December break</a:t>
            </a:r>
            <a:endParaRPr lang="en-US" sz="850" dirty="0"/>
          </a:p>
        </p:txBody>
      </p:sp>
      <p:sp>
        <p:nvSpPr>
          <p:cNvPr id="6" name="line-2"/>
          <p:cNvSpPr/>
          <p:nvPr/>
        </p:nvSpPr>
        <p:spPr>
          <a:xfrm>
            <a:off x="548640" y="1828800"/>
            <a:ext cx="10698480" cy="0"/>
          </a:xfrm>
          <a:prstGeom prst="line">
            <a:avLst/>
          </a:prstGeom>
          <a:noFill/>
          <a:ln w="50800">
            <a:solidFill>
              <a:srgbClr val="D4DBE0"/>
            </a:solidFill>
            <a:prstDash val="solid"/>
          </a:ln>
        </p:spPr>
      </p:sp>
      <p:sp>
        <p:nvSpPr>
          <p:cNvPr id="7" name="tri-3"/>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8" name="shape-4"/>
          <p:cNvSpPr/>
          <p:nvPr/>
        </p:nvSpPr>
        <p:spPr>
          <a:xfrm>
            <a:off x="548640" y="1805940"/>
            <a:ext cx="6550090" cy="45720"/>
          </a:xfrm>
          <a:prstGeom prst="rect">
            <a:avLst/>
          </a:prstGeom>
          <a:solidFill>
            <a:srgbClr val="0F766E"/>
          </a:solidFill>
          <a:ln w="12700">
            <a:solidFill>
              <a:srgbClr val="0F766E"/>
            </a:solidFill>
            <a:prstDash val="solid"/>
          </a:ln>
        </p:spPr>
      </p:sp>
      <p:sp>
        <p:nvSpPr>
          <p:cNvPr id="9" name="line-5"/>
          <p:cNvSpPr/>
          <p:nvPr/>
        </p:nvSpPr>
        <p:spPr>
          <a:xfrm>
            <a:off x="548640" y="1956816"/>
            <a:ext cx="0" cy="73152"/>
          </a:xfrm>
          <a:prstGeom prst="line">
            <a:avLst/>
          </a:prstGeom>
          <a:noFill/>
          <a:ln w="12700">
            <a:solidFill>
              <a:srgbClr val="5A6B75"/>
            </a:solidFill>
            <a:prstDash val="solid"/>
          </a:ln>
        </p:spPr>
      </p:sp>
      <p:sp>
        <p:nvSpPr>
          <p:cNvPr id="10" name="text-6"/>
          <p:cNvSpPr txBox="1"/>
          <p:nvPr/>
        </p:nvSpPr>
        <p:spPr>
          <a:xfrm>
            <a:off x="365760" y="2048256"/>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Dec</a:t>
            </a:r>
            <a:endParaRPr lang="en-US" sz="800" dirty="0"/>
          </a:p>
        </p:txBody>
      </p:sp>
      <p:sp>
        <p:nvSpPr>
          <p:cNvPr id="11" name="line-7"/>
          <p:cNvSpPr/>
          <p:nvPr/>
        </p:nvSpPr>
        <p:spPr>
          <a:xfrm>
            <a:off x="2804782" y="1956816"/>
            <a:ext cx="0" cy="73152"/>
          </a:xfrm>
          <a:prstGeom prst="line">
            <a:avLst/>
          </a:prstGeom>
          <a:noFill/>
          <a:ln w="12700">
            <a:solidFill>
              <a:srgbClr val="5A6B75"/>
            </a:solidFill>
            <a:prstDash val="solid"/>
          </a:ln>
        </p:spPr>
      </p:sp>
      <p:sp>
        <p:nvSpPr>
          <p:cNvPr id="12" name="text-8"/>
          <p:cNvSpPr txBox="1"/>
          <p:nvPr/>
        </p:nvSpPr>
        <p:spPr>
          <a:xfrm>
            <a:off x="2621902" y="2048256"/>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Jan</a:t>
            </a:r>
            <a:endParaRPr lang="en-US" sz="800" dirty="0"/>
          </a:p>
        </p:txBody>
      </p:sp>
      <p:sp>
        <p:nvSpPr>
          <p:cNvPr id="13" name="line-9"/>
          <p:cNvSpPr/>
          <p:nvPr/>
        </p:nvSpPr>
        <p:spPr>
          <a:xfrm>
            <a:off x="5060924" y="1956816"/>
            <a:ext cx="0" cy="73152"/>
          </a:xfrm>
          <a:prstGeom prst="line">
            <a:avLst/>
          </a:prstGeom>
          <a:noFill/>
          <a:ln w="12700">
            <a:solidFill>
              <a:srgbClr val="5A6B75"/>
            </a:solidFill>
            <a:prstDash val="solid"/>
          </a:ln>
        </p:spPr>
      </p:sp>
      <p:sp>
        <p:nvSpPr>
          <p:cNvPr id="14" name="text-10"/>
          <p:cNvSpPr txBox="1"/>
          <p:nvPr/>
        </p:nvSpPr>
        <p:spPr>
          <a:xfrm>
            <a:off x="4878044" y="2048256"/>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Feb</a:t>
            </a:r>
            <a:endParaRPr lang="en-US" sz="800" dirty="0"/>
          </a:p>
        </p:txBody>
      </p:sp>
      <p:sp>
        <p:nvSpPr>
          <p:cNvPr id="15" name="line-11"/>
          <p:cNvSpPr/>
          <p:nvPr/>
        </p:nvSpPr>
        <p:spPr>
          <a:xfrm>
            <a:off x="7098730" y="1956816"/>
            <a:ext cx="0" cy="73152"/>
          </a:xfrm>
          <a:prstGeom prst="line">
            <a:avLst/>
          </a:prstGeom>
          <a:noFill/>
          <a:ln w="12700">
            <a:solidFill>
              <a:srgbClr val="5A6B75"/>
            </a:solidFill>
            <a:prstDash val="solid"/>
          </a:ln>
        </p:spPr>
      </p:sp>
      <p:sp>
        <p:nvSpPr>
          <p:cNvPr id="16" name="text-12"/>
          <p:cNvSpPr txBox="1"/>
          <p:nvPr/>
        </p:nvSpPr>
        <p:spPr>
          <a:xfrm>
            <a:off x="6915850" y="2048256"/>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Mar</a:t>
            </a:r>
            <a:endParaRPr lang="en-US" sz="800" dirty="0"/>
          </a:p>
        </p:txBody>
      </p:sp>
      <p:sp>
        <p:nvSpPr>
          <p:cNvPr id="17" name="line-13"/>
          <p:cNvSpPr/>
          <p:nvPr/>
        </p:nvSpPr>
        <p:spPr>
          <a:xfrm>
            <a:off x="9354872" y="1956816"/>
            <a:ext cx="0" cy="73152"/>
          </a:xfrm>
          <a:prstGeom prst="line">
            <a:avLst/>
          </a:prstGeom>
          <a:noFill/>
          <a:ln w="12700">
            <a:solidFill>
              <a:srgbClr val="5A6B75"/>
            </a:solidFill>
            <a:prstDash val="solid"/>
          </a:ln>
        </p:spPr>
      </p:sp>
      <p:sp>
        <p:nvSpPr>
          <p:cNvPr id="18" name="text-14"/>
          <p:cNvSpPr txBox="1"/>
          <p:nvPr/>
        </p:nvSpPr>
        <p:spPr>
          <a:xfrm>
            <a:off x="9171992" y="2048256"/>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Apr</a:t>
            </a:r>
            <a:endParaRPr lang="en-US" sz="800" dirty="0"/>
          </a:p>
        </p:txBody>
      </p:sp>
      <p:sp>
        <p:nvSpPr>
          <p:cNvPr id="19" name="oval-15"/>
          <p:cNvSpPr/>
          <p:nvPr/>
        </p:nvSpPr>
        <p:spPr>
          <a:xfrm>
            <a:off x="466344" y="1746504"/>
            <a:ext cx="164592" cy="164592"/>
          </a:xfrm>
          <a:prstGeom prst="ellipse">
            <a:avLst/>
          </a:prstGeom>
          <a:solidFill>
            <a:srgbClr val="5A6B75"/>
          </a:solidFill>
          <a:ln w="12700">
            <a:solidFill>
              <a:srgbClr val="5A6B75"/>
            </a:solidFill>
            <a:prstDash val="solid"/>
          </a:ln>
        </p:spPr>
      </p:sp>
      <p:sp>
        <p:nvSpPr>
          <p:cNvPr id="20" name="text-16"/>
          <p:cNvSpPr txBox="1"/>
          <p:nvPr/>
        </p:nvSpPr>
        <p:spPr>
          <a:xfrm>
            <a:off x="0" y="1389888"/>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Start</a:t>
            </a:r>
            <a:endParaRPr lang="en-US" sz="1000" dirty="0"/>
          </a:p>
        </p:txBody>
      </p:sp>
      <p:sp>
        <p:nvSpPr>
          <p:cNvPr id="21" name="oval-17"/>
          <p:cNvSpPr/>
          <p:nvPr/>
        </p:nvSpPr>
        <p:spPr>
          <a:xfrm>
            <a:off x="2549123" y="1645920"/>
            <a:ext cx="365760" cy="365760"/>
          </a:xfrm>
          <a:prstGeom prst="ellipse">
            <a:avLst/>
          </a:prstGeom>
          <a:solidFill>
            <a:srgbClr val="0F766E"/>
          </a:solidFill>
          <a:ln w="12700">
            <a:solidFill>
              <a:srgbClr val="0F766E"/>
            </a:solidFill>
            <a:prstDash val="solid"/>
          </a:ln>
        </p:spPr>
      </p:sp>
      <p:sp>
        <p:nvSpPr>
          <p:cNvPr id="22" name="text-18"/>
          <p:cNvSpPr txBox="1"/>
          <p:nvPr/>
        </p:nvSpPr>
        <p:spPr>
          <a:xfrm>
            <a:off x="2549123"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23" name="text-19"/>
          <p:cNvSpPr txBox="1"/>
          <p:nvPr/>
        </p:nvSpPr>
        <p:spPr>
          <a:xfrm>
            <a:off x="2183363" y="1389888"/>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24" name="text-20"/>
          <p:cNvSpPr txBox="1"/>
          <p:nvPr/>
        </p:nvSpPr>
        <p:spPr>
          <a:xfrm>
            <a:off x="1909043" y="2231136"/>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Two baselines</a:t>
            </a:r>
            <a:endParaRPr lang="en-US" sz="1000" dirty="0"/>
          </a:p>
        </p:txBody>
      </p:sp>
      <p:sp>
        <p:nvSpPr>
          <p:cNvPr id="25" name="oval-21"/>
          <p:cNvSpPr/>
          <p:nvPr/>
        </p:nvSpPr>
        <p:spPr>
          <a:xfrm>
            <a:off x="4732487" y="1645920"/>
            <a:ext cx="365760" cy="365760"/>
          </a:xfrm>
          <a:prstGeom prst="ellipse">
            <a:avLst/>
          </a:prstGeom>
          <a:solidFill>
            <a:srgbClr val="0F766E"/>
          </a:solidFill>
          <a:ln w="12700">
            <a:solidFill>
              <a:srgbClr val="0F766E"/>
            </a:solidFill>
            <a:prstDash val="solid"/>
          </a:ln>
        </p:spPr>
      </p:sp>
      <p:sp>
        <p:nvSpPr>
          <p:cNvPr id="26" name="text-22"/>
          <p:cNvSpPr txBox="1"/>
          <p:nvPr/>
        </p:nvSpPr>
        <p:spPr>
          <a:xfrm>
            <a:off x="4732487"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27" name="text-23"/>
          <p:cNvSpPr txBox="1"/>
          <p:nvPr/>
        </p:nvSpPr>
        <p:spPr>
          <a:xfrm>
            <a:off x="4366727" y="1389888"/>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28" name="text-24"/>
          <p:cNvSpPr txBox="1"/>
          <p:nvPr/>
        </p:nvSpPr>
        <p:spPr>
          <a:xfrm>
            <a:off x="4092407" y="2231136"/>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Fit test, decisions</a:t>
            </a:r>
            <a:endParaRPr lang="en-US" sz="1000" dirty="0"/>
          </a:p>
        </p:txBody>
      </p:sp>
      <p:sp>
        <p:nvSpPr>
          <p:cNvPr id="29" name="oval-25"/>
          <p:cNvSpPr/>
          <p:nvPr/>
        </p:nvSpPr>
        <p:spPr>
          <a:xfrm>
            <a:off x="6915850" y="1645920"/>
            <a:ext cx="365760" cy="365760"/>
          </a:xfrm>
          <a:prstGeom prst="ellipse">
            <a:avLst/>
          </a:prstGeom>
          <a:solidFill>
            <a:srgbClr val="134E4A"/>
          </a:solidFill>
          <a:ln w="12700">
            <a:solidFill>
              <a:srgbClr val="134E4A"/>
            </a:solidFill>
            <a:prstDash val="solid"/>
          </a:ln>
        </p:spPr>
      </p:sp>
      <p:sp>
        <p:nvSpPr>
          <p:cNvPr id="30" name="text-26"/>
          <p:cNvSpPr txBox="1"/>
          <p:nvPr/>
        </p:nvSpPr>
        <p:spPr>
          <a:xfrm>
            <a:off x="6915850"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31" name="text-27"/>
          <p:cNvSpPr txBox="1"/>
          <p:nvPr/>
        </p:nvSpPr>
        <p:spPr>
          <a:xfrm>
            <a:off x="6550090" y="1389888"/>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32" name="text-28"/>
          <p:cNvSpPr txBox="1"/>
          <p:nvPr/>
        </p:nvSpPr>
        <p:spPr>
          <a:xfrm>
            <a:off x="6275770" y="2231136"/>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First assured delivery</a:t>
            </a:r>
            <a:endParaRPr lang="en-US" sz="1000" dirty="0"/>
          </a:p>
        </p:txBody>
      </p:sp>
      <p:sp>
        <p:nvSpPr>
          <p:cNvPr id="33" name="oval-29"/>
          <p:cNvSpPr/>
          <p:nvPr/>
        </p:nvSpPr>
        <p:spPr>
          <a:xfrm>
            <a:off x="11137392" y="1719072"/>
            <a:ext cx="219456" cy="219456"/>
          </a:xfrm>
          <a:prstGeom prst="ellipse">
            <a:avLst/>
          </a:prstGeom>
          <a:solidFill>
            <a:srgbClr val="B45309"/>
          </a:solidFill>
          <a:ln w="12700">
            <a:solidFill>
              <a:srgbClr val="B45309"/>
            </a:solidFill>
            <a:prstDash val="solid"/>
          </a:ln>
        </p:spPr>
      </p:sp>
      <p:sp>
        <p:nvSpPr>
          <p:cNvPr id="34" name="text-30"/>
          <p:cNvSpPr txBox="1"/>
          <p:nvPr/>
        </p:nvSpPr>
        <p:spPr>
          <a:xfrm>
            <a:off x="10698480" y="1389888"/>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27 April</a:t>
            </a:r>
            <a:endParaRPr lang="en-US" sz="1000" dirty="0"/>
          </a:p>
        </p:txBody>
      </p:sp>
      <p:sp>
        <p:nvSpPr>
          <p:cNvPr id="35" name="text-31"/>
          <p:cNvSpPr txBox="1"/>
          <p:nvPr/>
        </p:nvSpPr>
        <p:spPr>
          <a:xfrm>
            <a:off x="10424160" y="2231136"/>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fixed</a:t>
            </a:r>
            <a:endParaRPr lang="en-US" sz="1000" dirty="0"/>
          </a:p>
        </p:txBody>
      </p:sp>
      <p:sp>
        <p:nvSpPr>
          <p:cNvPr id="36" name="text-32"/>
          <p:cNvSpPr txBox="1"/>
          <p:nvPr/>
        </p:nvSpPr>
        <p:spPr>
          <a:xfrm>
            <a:off x="7281610" y="1389888"/>
            <a:ext cx="3782630" cy="182880"/>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 8 working weeks after day 90 for build waves, cutover rehearsal and go-live</a:t>
            </a:r>
            <a:endParaRPr lang="en-US" sz="850" dirty="0"/>
          </a:p>
        </p:txBody>
      </p:sp>
      <p:sp>
        <p:nvSpPr>
          <p:cNvPr id="37" name="shape-33"/>
          <p:cNvSpPr/>
          <p:nvPr/>
        </p:nvSpPr>
        <p:spPr>
          <a:xfrm>
            <a:off x="548640" y="2651760"/>
            <a:ext cx="3383280" cy="1280160"/>
          </a:xfrm>
          <a:prstGeom prst="roundRect">
            <a:avLst>
              <a:gd name="adj" fmla="val 5714"/>
            </a:avLst>
          </a:prstGeom>
          <a:solidFill>
            <a:srgbClr val="EEF2F4"/>
          </a:solidFill>
          <a:ln w="12700">
            <a:solidFill>
              <a:srgbClr val="EEF2F4"/>
            </a:solidFill>
            <a:prstDash val="solid"/>
          </a:ln>
        </p:spPr>
      </p:sp>
      <p:pic>
        <p:nvPicPr>
          <p:cNvPr id="38" name="icon-34" descr="preencoded.png">    </p:cNvPr>
          <p:cNvPicPr>
            <a:picLocks noChangeAspect="1"/>
          </p:cNvPicPr>
          <p:nvPr/>
        </p:nvPicPr>
        <p:blipFill>
          <a:blip r:embed="rId1"/>
          <a:stretch>
            <a:fillRect/>
          </a:stretch>
        </p:blipFill>
        <p:spPr>
          <a:xfrm>
            <a:off x="713232" y="2816352"/>
            <a:ext cx="201168" cy="201168"/>
          </a:xfrm>
          <a:prstGeom prst="rect">
            <a:avLst/>
          </a:prstGeom>
        </p:spPr>
      </p:pic>
      <p:sp>
        <p:nvSpPr>
          <p:cNvPr id="39" name="text-35"/>
          <p:cNvSpPr txBox="1"/>
          <p:nvPr/>
        </p:nvSpPr>
        <p:spPr>
          <a:xfrm>
            <a:off x="1005840" y="2798064"/>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40" name="text-36"/>
          <p:cNvSpPr txBox="1"/>
          <p:nvPr/>
        </p:nvSpPr>
        <p:spPr>
          <a:xfrm>
            <a:off x="713232" y="3108960"/>
            <a:ext cx="3054096" cy="731520"/>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Systems, integrations, contracts, partners, run cost; licence model; what is in flight</a:t>
            </a:r>
            <a:endParaRPr lang="en-US" sz="1000" dirty="0"/>
          </a:p>
        </p:txBody>
      </p:sp>
      <p:sp>
        <p:nvSpPr>
          <p:cNvPr id="41" name="shape-37"/>
          <p:cNvSpPr/>
          <p:nvPr/>
        </p:nvSpPr>
        <p:spPr>
          <a:xfrm>
            <a:off x="4078224" y="2651760"/>
            <a:ext cx="3383280" cy="1280160"/>
          </a:xfrm>
          <a:prstGeom prst="roundRect">
            <a:avLst>
              <a:gd name="adj" fmla="val 5714"/>
            </a:avLst>
          </a:prstGeom>
          <a:solidFill>
            <a:srgbClr val="D6ECE9"/>
          </a:solidFill>
          <a:ln w="12700">
            <a:solidFill>
              <a:srgbClr val="D6ECE9"/>
            </a:solidFill>
            <a:prstDash val="solid"/>
          </a:ln>
        </p:spPr>
      </p:sp>
      <p:pic>
        <p:nvPicPr>
          <p:cNvPr id="42" name="icon-38" descr="preencoded.png">    </p:cNvPr>
          <p:cNvPicPr>
            <a:picLocks noChangeAspect="1"/>
          </p:cNvPicPr>
          <p:nvPr/>
        </p:nvPicPr>
        <p:blipFill>
          <a:blip r:embed="rId2"/>
          <a:stretch>
            <a:fillRect/>
          </a:stretch>
        </p:blipFill>
        <p:spPr>
          <a:xfrm>
            <a:off x="4242816" y="2816352"/>
            <a:ext cx="201168" cy="201168"/>
          </a:xfrm>
          <a:prstGeom prst="rect">
            <a:avLst/>
          </a:prstGeom>
        </p:spPr>
      </p:pic>
      <p:sp>
        <p:nvSpPr>
          <p:cNvPr id="43" name="text-39"/>
          <p:cNvSpPr txBox="1"/>
          <p:nvPr/>
        </p:nvSpPr>
        <p:spPr>
          <a:xfrm>
            <a:off x="4535424" y="2798064"/>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4" name="text-40"/>
          <p:cNvSpPr txBox="1"/>
          <p:nvPr/>
        </p:nvSpPr>
        <p:spPr>
          <a:xfrm>
            <a:off x="4242816" y="3108960"/>
            <a:ext cx="3054096" cy="731520"/>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Processes, SOPs, SLAs, mandated requirements; hand-offs; what each ceremony produces</a:t>
            </a:r>
            <a:endParaRPr lang="en-US" sz="1000" dirty="0"/>
          </a:p>
        </p:txBody>
      </p:sp>
      <p:sp>
        <p:nvSpPr>
          <p:cNvPr id="45" name="tri-41"/>
          <p:cNvSpPr/>
          <p:nvPr/>
        </p:nvSpPr>
        <p:spPr>
          <a:xfrm rot="5400000">
            <a:off x="7598664" y="3209544"/>
            <a:ext cx="164592" cy="164592"/>
          </a:xfrm>
          <a:prstGeom prst="triangle">
            <a:avLst/>
          </a:prstGeom>
          <a:solidFill>
            <a:srgbClr val="5A6B75"/>
          </a:solidFill>
          <a:ln w="12700">
            <a:solidFill>
              <a:srgbClr val="5A6B75"/>
            </a:solidFill>
            <a:prstDash val="solid"/>
          </a:ln>
        </p:spPr>
      </p:sp>
      <p:sp>
        <p:nvSpPr>
          <p:cNvPr id="46" name="shape-42"/>
          <p:cNvSpPr/>
          <p:nvPr/>
        </p:nvSpPr>
        <p:spPr>
          <a:xfrm>
            <a:off x="7790688" y="2651760"/>
            <a:ext cx="3822192" cy="1280160"/>
          </a:xfrm>
          <a:prstGeom prst="roundRect">
            <a:avLst>
              <a:gd name="adj" fmla="val 5714"/>
            </a:avLst>
          </a:prstGeom>
          <a:solidFill>
            <a:srgbClr val="134E4A"/>
          </a:solidFill>
          <a:ln w="12700">
            <a:solidFill>
              <a:srgbClr val="134E4A"/>
            </a:solidFill>
            <a:prstDash val="solid"/>
          </a:ln>
        </p:spPr>
      </p:sp>
      <p:sp>
        <p:nvSpPr>
          <p:cNvPr id="47" name="text-43"/>
          <p:cNvSpPr txBox="1"/>
          <p:nvPr/>
        </p:nvSpPr>
        <p:spPr>
          <a:xfrm>
            <a:off x="7973568" y="2798064"/>
            <a:ext cx="3456432"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48" name="text-44"/>
          <p:cNvSpPr txBox="1"/>
          <p:nvPr/>
        </p:nvSpPr>
        <p:spPr>
          <a:xfrm>
            <a:off x="7973568" y="3090672"/>
            <a:ext cx="3456432" cy="237744"/>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Does the proposal support the way we want to work?</a:t>
            </a:r>
            <a:endParaRPr lang="en-US" sz="1000" dirty="0"/>
          </a:p>
        </p:txBody>
      </p:sp>
      <p:sp>
        <p:nvSpPr>
          <p:cNvPr id="49" name="text-45"/>
          <p:cNvSpPr txBox="1"/>
          <p:nvPr/>
        </p:nvSpPr>
        <p:spPr>
          <a:xfrm>
            <a:off x="7973568" y="3346704"/>
            <a:ext cx="3456432" cy="237744"/>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Is each component in the right tier, under the right rule?</a:t>
            </a:r>
            <a:endParaRPr lang="en-US" sz="1000" dirty="0"/>
          </a:p>
        </p:txBody>
      </p:sp>
      <p:sp>
        <p:nvSpPr>
          <p:cNvPr id="50" name="text-46"/>
          <p:cNvSpPr txBox="1"/>
          <p:nvPr/>
        </p:nvSpPr>
        <p:spPr>
          <a:xfrm>
            <a:off x="7973568" y="3602736"/>
            <a:ext cx="3456432" cy="237744"/>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What tooling and AI help or hinder?</a:t>
            </a:r>
            <a:endParaRPr lang="en-US" sz="1000" dirty="0"/>
          </a:p>
        </p:txBody>
      </p:sp>
      <p:sp>
        <p:nvSpPr>
          <p:cNvPr id="51" name="shape-47"/>
          <p:cNvSpPr/>
          <p:nvPr/>
        </p:nvSpPr>
        <p:spPr>
          <a:xfrm>
            <a:off x="548640" y="4078224"/>
            <a:ext cx="11064240" cy="2286000"/>
          </a:xfrm>
          <a:prstGeom prst="roundRect">
            <a:avLst>
              <a:gd name="adj" fmla="val 3200"/>
            </a:avLst>
          </a:prstGeom>
          <a:solidFill>
            <a:srgbClr val="FDF1E3"/>
          </a:solidFill>
          <a:ln w="12700">
            <a:solidFill>
              <a:srgbClr val="FDF1E3"/>
            </a:solidFill>
            <a:prstDash val="solid"/>
          </a:ln>
        </p:spPr>
      </p:sp>
      <p:pic>
        <p:nvPicPr>
          <p:cNvPr id="52" name="icon-48" descr="preencoded.png">    </p:cNvPr>
          <p:cNvPicPr>
            <a:picLocks noChangeAspect="1"/>
          </p:cNvPicPr>
          <p:nvPr/>
        </p:nvPicPr>
        <p:blipFill>
          <a:blip r:embed="rId3"/>
          <a:stretch>
            <a:fillRect/>
          </a:stretch>
        </p:blipFill>
        <p:spPr>
          <a:xfrm>
            <a:off x="768096" y="4261104"/>
            <a:ext cx="219456" cy="219456"/>
          </a:xfrm>
          <a:prstGeom prst="rect">
            <a:avLst/>
          </a:prstGeom>
        </p:spPr>
      </p:pic>
      <p:sp>
        <p:nvSpPr>
          <p:cNvPr id="53" name="text-49"/>
          <p:cNvSpPr txBox="1"/>
          <p:nvPr/>
        </p:nvSpPr>
        <p:spPr>
          <a:xfrm>
            <a:off x="1078992" y="4279392"/>
            <a:ext cx="7315200" cy="201168"/>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THE REALITY: PROTECT WHAT WORKS, AND HOLD THE SCOPE</a:t>
            </a:r>
            <a:endParaRPr lang="en-US" sz="950" dirty="0"/>
          </a:p>
        </p:txBody>
      </p:sp>
      <p:sp>
        <p:nvSpPr>
          <p:cNvPr id="54" name="oval-50"/>
          <p:cNvSpPr/>
          <p:nvPr/>
        </p:nvSpPr>
        <p:spPr>
          <a:xfrm>
            <a:off x="768096" y="4645152"/>
            <a:ext cx="73152" cy="73152"/>
          </a:xfrm>
          <a:prstGeom prst="ellipse">
            <a:avLst/>
          </a:prstGeom>
          <a:solidFill>
            <a:srgbClr val="B45309"/>
          </a:solidFill>
          <a:ln w="12700">
            <a:solidFill>
              <a:srgbClr val="B45309"/>
            </a:solidFill>
            <a:prstDash val="solid"/>
          </a:ln>
        </p:spPr>
      </p:sp>
      <p:sp>
        <p:nvSpPr>
          <p:cNvPr id="55" name="text-51"/>
          <p:cNvSpPr txBox="1"/>
          <p:nvPr/>
        </p:nvSpPr>
        <p:spPr>
          <a:xfrm>
            <a:off x="932688" y="4572000"/>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Start in December</a:t>
            </a:r>
            <a:endParaRPr lang="en-US" sz="1100" dirty="0"/>
          </a:p>
        </p:txBody>
      </p:sp>
      <p:sp>
        <p:nvSpPr>
          <p:cNvPr id="56" name="text-52"/>
          <p:cNvSpPr txBox="1"/>
          <p:nvPr/>
        </p:nvSpPr>
        <p:spPr>
          <a:xfrm>
            <a:off x="932688" y="4791456"/>
            <a:ext cx="5120640" cy="329184"/>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The break takes three of the first four weeks; Gate 1 lands mid-January in practice, so the baselines are a fortnight of work, not a month</a:t>
            </a:r>
            <a:endParaRPr lang="en-US" sz="900" dirty="0"/>
          </a:p>
        </p:txBody>
      </p:sp>
      <p:sp>
        <p:nvSpPr>
          <p:cNvPr id="57" name="oval-53"/>
          <p:cNvSpPr/>
          <p:nvPr/>
        </p:nvSpPr>
        <p:spPr>
          <a:xfrm>
            <a:off x="768096" y="5230368"/>
            <a:ext cx="73152" cy="73152"/>
          </a:xfrm>
          <a:prstGeom prst="ellipse">
            <a:avLst/>
          </a:prstGeom>
          <a:solidFill>
            <a:srgbClr val="B45309"/>
          </a:solidFill>
          <a:ln w="12700">
            <a:solidFill>
              <a:srgbClr val="B45309"/>
            </a:solidFill>
            <a:prstDash val="solid"/>
          </a:ln>
        </p:spPr>
      </p:sp>
      <p:sp>
        <p:nvSpPr>
          <p:cNvPr id="58" name="text-54"/>
          <p:cNvSpPr txBox="1"/>
          <p:nvPr/>
        </p:nvSpPr>
        <p:spPr>
          <a:xfrm>
            <a:off x="932688" y="5157216"/>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Day 90 is early March</a:t>
            </a:r>
            <a:endParaRPr lang="en-US" sz="1100" dirty="0"/>
          </a:p>
        </p:txBody>
      </p:sp>
      <p:sp>
        <p:nvSpPr>
          <p:cNvPr id="59" name="text-55"/>
          <p:cNvSpPr txBox="1"/>
          <p:nvPr/>
        </p:nvSpPr>
        <p:spPr>
          <a:xfrm>
            <a:off x="932688" y="5376672"/>
            <a:ext cx="5120640" cy="329184"/>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About eight working weeks remain for build waves, a cutover rehearsal and go-live before 27 April</a:t>
            </a:r>
            <a:endParaRPr lang="en-US" sz="900" dirty="0"/>
          </a:p>
        </p:txBody>
      </p:sp>
      <p:sp>
        <p:nvSpPr>
          <p:cNvPr id="60" name="oval-56"/>
          <p:cNvSpPr/>
          <p:nvPr/>
        </p:nvSpPr>
        <p:spPr>
          <a:xfrm>
            <a:off x="768096" y="5815584"/>
            <a:ext cx="73152" cy="73152"/>
          </a:xfrm>
          <a:prstGeom prst="ellipse">
            <a:avLst/>
          </a:prstGeom>
          <a:solidFill>
            <a:srgbClr val="B45309"/>
          </a:solidFill>
          <a:ln w="12700">
            <a:solidFill>
              <a:srgbClr val="B45309"/>
            </a:solidFill>
            <a:prstDash val="solid"/>
          </a:ln>
        </p:spPr>
      </p:sp>
      <p:sp>
        <p:nvSpPr>
          <p:cNvPr id="61" name="text-57"/>
          <p:cNvSpPr txBox="1"/>
          <p:nvPr/>
        </p:nvSpPr>
        <p:spPr>
          <a:xfrm>
            <a:off x="932688" y="5742432"/>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Don’t break what is working</a:t>
            </a:r>
            <a:endParaRPr lang="en-US" sz="1100" dirty="0"/>
          </a:p>
        </p:txBody>
      </p:sp>
      <p:sp>
        <p:nvSpPr>
          <p:cNvPr id="62" name="text-58"/>
          <p:cNvSpPr txBox="1"/>
          <p:nvPr/>
        </p:nvSpPr>
        <p:spPr>
          <a:xfrm>
            <a:off x="932688" y="5961888"/>
            <a:ext cx="5120640" cy="329184"/>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Nothing that works today stops until its replacement is proven; in-flight work is confirmed or stopped by Gate 1</a:t>
            </a:r>
            <a:endParaRPr lang="en-US" sz="900" dirty="0"/>
          </a:p>
        </p:txBody>
      </p:sp>
      <p:sp>
        <p:nvSpPr>
          <p:cNvPr id="63" name="oval-59"/>
          <p:cNvSpPr/>
          <p:nvPr/>
        </p:nvSpPr>
        <p:spPr>
          <a:xfrm>
            <a:off x="6254496" y="4645152"/>
            <a:ext cx="73152" cy="73152"/>
          </a:xfrm>
          <a:prstGeom prst="ellipse">
            <a:avLst/>
          </a:prstGeom>
          <a:solidFill>
            <a:srgbClr val="B45309"/>
          </a:solidFill>
          <a:ln w="12700">
            <a:solidFill>
              <a:srgbClr val="B45309"/>
            </a:solidFill>
            <a:prstDash val="solid"/>
          </a:ln>
        </p:spPr>
      </p:sp>
      <p:sp>
        <p:nvSpPr>
          <p:cNvPr id="64" name="text-60"/>
          <p:cNvSpPr txBox="1"/>
          <p:nvPr/>
        </p:nvSpPr>
        <p:spPr>
          <a:xfrm>
            <a:off x="6419088" y="4572000"/>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Scope is the only lever</a:t>
            </a:r>
            <a:endParaRPr lang="en-US" sz="1100" dirty="0"/>
          </a:p>
        </p:txBody>
      </p:sp>
      <p:sp>
        <p:nvSpPr>
          <p:cNvPr id="65" name="text-61"/>
          <p:cNvSpPr txBox="1"/>
          <p:nvPr/>
        </p:nvSpPr>
        <p:spPr>
          <a:xfrm>
            <a:off x="6419088" y="4791456"/>
            <a:ext cx="5120640" cy="329184"/>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No growth on hoped-for AI or efficiency gains, no slippage on quality or risk; what does not fit moves to Day 1.5</a:t>
            </a:r>
            <a:endParaRPr lang="en-US" sz="900" dirty="0"/>
          </a:p>
        </p:txBody>
      </p:sp>
      <p:sp>
        <p:nvSpPr>
          <p:cNvPr id="66" name="oval-62"/>
          <p:cNvSpPr/>
          <p:nvPr/>
        </p:nvSpPr>
        <p:spPr>
          <a:xfrm>
            <a:off x="6254496" y="5230368"/>
            <a:ext cx="73152" cy="73152"/>
          </a:xfrm>
          <a:prstGeom prst="ellipse">
            <a:avLst/>
          </a:prstGeom>
          <a:solidFill>
            <a:srgbClr val="B45309"/>
          </a:solidFill>
          <a:ln w="12700">
            <a:solidFill>
              <a:srgbClr val="B45309"/>
            </a:solidFill>
            <a:prstDash val="solid"/>
          </a:ln>
        </p:spPr>
      </p:sp>
      <p:sp>
        <p:nvSpPr>
          <p:cNvPr id="67" name="text-63"/>
          <p:cNvSpPr txBox="1"/>
          <p:nvPr/>
        </p:nvSpPr>
        <p:spPr>
          <a:xfrm>
            <a:off x="6419088" y="5157216"/>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Decide early, in writing</a:t>
            </a:r>
            <a:endParaRPr lang="en-US" sz="1100" dirty="0"/>
          </a:p>
        </p:txBody>
      </p:sp>
      <p:sp>
        <p:nvSpPr>
          <p:cNvPr id="68" name="text-64"/>
          <p:cNvSpPr txBox="1"/>
          <p:nvPr/>
        </p:nvSpPr>
        <p:spPr>
          <a:xfrm>
            <a:off x="6419088" y="5376672"/>
            <a:ext cx="5120640" cy="329184"/>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Any scope-versus-date trade-off goes to the board at Gate 2, in late January — not in April</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GATE 2 ASSESSES EACH COMPONENT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Four questions for every component: what it is decides how we spend time, money and concern</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1554480"/>
            <a:ext cx="274320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68096"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1</a:t>
            </a:r>
            <a:endParaRPr lang="en-US" sz="1350" dirty="0"/>
          </a:p>
        </p:txBody>
      </p:sp>
      <p:sp>
        <p:nvSpPr>
          <p:cNvPr id="8" name="text-4"/>
          <p:cNvSpPr txBox="1"/>
          <p:nvPr/>
        </p:nvSpPr>
        <p:spPr>
          <a:xfrm>
            <a:off x="1024128" y="1554480"/>
            <a:ext cx="215798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kind of thing is it?</a:t>
            </a:r>
            <a:endParaRPr lang="en-US" sz="1100" dirty="0"/>
          </a:p>
        </p:txBody>
      </p:sp>
      <p:sp>
        <p:nvSpPr>
          <p:cNvPr id="9" name="tri-5"/>
          <p:cNvSpPr/>
          <p:nvPr/>
        </p:nvSpPr>
        <p:spPr>
          <a:xfrm rot="5400000">
            <a:off x="3337560" y="1792224"/>
            <a:ext cx="128016" cy="128016"/>
          </a:xfrm>
          <a:prstGeom prst="triangle">
            <a:avLst/>
          </a:prstGeom>
          <a:solidFill>
            <a:srgbClr val="5A6B75"/>
          </a:solidFill>
          <a:ln w="12700">
            <a:solidFill>
              <a:srgbClr val="5A6B75"/>
            </a:solidFill>
            <a:prstDash val="solid"/>
          </a:ln>
        </p:spPr>
      </p:sp>
      <p:sp>
        <p:nvSpPr>
          <p:cNvPr id="10" name="shape-6"/>
          <p:cNvSpPr/>
          <p:nvPr/>
        </p:nvSpPr>
        <p:spPr>
          <a:xfrm>
            <a:off x="3493008" y="1554480"/>
            <a:ext cx="187452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3712464"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2</a:t>
            </a:r>
            <a:endParaRPr lang="en-US" sz="1350" dirty="0"/>
          </a:p>
        </p:txBody>
      </p:sp>
      <p:sp>
        <p:nvSpPr>
          <p:cNvPr id="12" name="text-8"/>
          <p:cNvSpPr txBox="1"/>
          <p:nvPr/>
        </p:nvSpPr>
        <p:spPr>
          <a:xfrm>
            <a:off x="3968496" y="1554480"/>
            <a:ext cx="128930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Spending judged on?</a:t>
            </a:r>
            <a:endParaRPr lang="en-US" sz="1100" dirty="0"/>
          </a:p>
        </p:txBody>
      </p:sp>
      <p:sp>
        <p:nvSpPr>
          <p:cNvPr id="13" name="tri-9"/>
          <p:cNvSpPr/>
          <p:nvPr/>
        </p:nvSpPr>
        <p:spPr>
          <a:xfrm rot="5400000">
            <a:off x="5413248" y="1792224"/>
            <a:ext cx="128016" cy="128016"/>
          </a:xfrm>
          <a:prstGeom prst="triangle">
            <a:avLst/>
          </a:prstGeom>
          <a:solidFill>
            <a:srgbClr val="5A6B75"/>
          </a:solidFill>
          <a:ln w="12700">
            <a:solidFill>
              <a:srgbClr val="5A6B75"/>
            </a:solidFill>
            <a:prstDash val="solid"/>
          </a:ln>
        </p:spPr>
      </p:sp>
      <p:sp>
        <p:nvSpPr>
          <p:cNvPr id="14" name="shape-10"/>
          <p:cNvSpPr/>
          <p:nvPr/>
        </p:nvSpPr>
        <p:spPr>
          <a:xfrm>
            <a:off x="5568696" y="1554480"/>
            <a:ext cx="187452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5788152"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3</a:t>
            </a:r>
            <a:endParaRPr lang="en-US" sz="1350" dirty="0"/>
          </a:p>
        </p:txBody>
      </p:sp>
      <p:sp>
        <p:nvSpPr>
          <p:cNvPr id="16" name="text-12"/>
          <p:cNvSpPr txBox="1"/>
          <p:nvPr/>
        </p:nvSpPr>
        <p:spPr>
          <a:xfrm>
            <a:off x="6044184" y="1554480"/>
            <a:ext cx="128930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How resilient?</a:t>
            </a:r>
            <a:endParaRPr lang="en-US" sz="1100" dirty="0"/>
          </a:p>
        </p:txBody>
      </p:sp>
      <p:sp>
        <p:nvSpPr>
          <p:cNvPr id="17" name="tri-13"/>
          <p:cNvSpPr/>
          <p:nvPr/>
        </p:nvSpPr>
        <p:spPr>
          <a:xfrm rot="5400000">
            <a:off x="7488936" y="1792224"/>
            <a:ext cx="128016" cy="128016"/>
          </a:xfrm>
          <a:prstGeom prst="triangle">
            <a:avLst/>
          </a:prstGeom>
          <a:solidFill>
            <a:srgbClr val="5A6B75"/>
          </a:solidFill>
          <a:ln w="12700">
            <a:solidFill>
              <a:srgbClr val="5A6B75"/>
            </a:solidFill>
            <a:prstDash val="solid"/>
          </a:ln>
        </p:spPr>
      </p:sp>
      <p:sp>
        <p:nvSpPr>
          <p:cNvPr id="18" name="shape-14"/>
          <p:cNvSpPr/>
          <p:nvPr/>
        </p:nvSpPr>
        <p:spPr>
          <a:xfrm>
            <a:off x="7644384" y="1554480"/>
            <a:ext cx="2194560" cy="6035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7863840"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4</a:t>
            </a:r>
            <a:endParaRPr lang="en-US" sz="1350" dirty="0"/>
          </a:p>
        </p:txBody>
      </p:sp>
      <p:sp>
        <p:nvSpPr>
          <p:cNvPr id="20" name="text-16"/>
          <p:cNvSpPr txBox="1"/>
          <p:nvPr/>
        </p:nvSpPr>
        <p:spPr>
          <a:xfrm>
            <a:off x="8119872" y="1554480"/>
            <a:ext cx="160934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Build or buy?</a:t>
            </a:r>
            <a:endParaRPr lang="en-US" sz="1100" dirty="0"/>
          </a:p>
        </p:txBody>
      </p:sp>
      <p:sp>
        <p:nvSpPr>
          <p:cNvPr id="21" name="shape-17"/>
          <p:cNvSpPr/>
          <p:nvPr/>
        </p:nvSpPr>
        <p:spPr>
          <a:xfrm>
            <a:off x="10076688" y="1554480"/>
            <a:ext cx="1737360" cy="603504"/>
          </a:xfrm>
          <a:prstGeom prst="roundRect">
            <a:avLst>
              <a:gd name="adj" fmla="val 50000"/>
            </a:avLst>
          </a:prstGeom>
          <a:ln w="19050">
            <a:solidFill>
              <a:srgbClr val="0F766E"/>
            </a:solidFill>
            <a:prstDash val="sysDash"/>
          </a:ln>
        </p:spPr>
      </p:sp>
      <p:sp>
        <p:nvSpPr>
          <p:cNvPr id="22" name="text-18"/>
          <p:cNvSpPr txBox="1"/>
          <p:nvPr/>
        </p:nvSpPr>
        <p:spPr>
          <a:xfrm>
            <a:off x="10076688" y="1664208"/>
            <a:ext cx="1737360" cy="146304"/>
          </a:xfrm>
          <a:prstGeom prst="rect">
            <a:avLst/>
          </a:prstGeom>
          <a:noFill/>
          <a:ln/>
        </p:spPr>
        <p:txBody>
          <a:bodyPr wrap="square" lIns="0" tIns="0" rIns="0" bIns="0" rtlCol="0" anchor="ctr"/>
          <a:lstStyle/>
          <a:p>
            <a:pPr algn="ctr"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BONUS, NOT A RULE</a:t>
            </a:r>
            <a:endParaRPr lang="en-US" sz="800" dirty="0"/>
          </a:p>
        </p:txBody>
      </p:sp>
      <p:sp>
        <p:nvSpPr>
          <p:cNvPr id="23" name="text-19"/>
          <p:cNvSpPr txBox="1"/>
          <p:nvPr/>
        </p:nvSpPr>
        <p:spPr>
          <a:xfrm>
            <a:off x="10076688" y="1847088"/>
            <a:ext cx="1737360" cy="219456"/>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Where AI helps</a:t>
            </a:r>
            <a:endParaRPr lang="en-US" sz="1100" dirty="0"/>
          </a:p>
        </p:txBody>
      </p:sp>
      <p:sp>
        <p:nvSpPr>
          <p:cNvPr id="24" name="shape-20"/>
          <p:cNvSpPr/>
          <p:nvPr/>
        </p:nvSpPr>
        <p:spPr>
          <a:xfrm>
            <a:off x="548640" y="2395728"/>
            <a:ext cx="2743200" cy="768096"/>
          </a:xfrm>
          <a:prstGeom prst="roundRect">
            <a:avLst>
              <a:gd name="adj" fmla="val 9524"/>
            </a:avLst>
          </a:prstGeom>
          <a:solidFill>
            <a:srgbClr val="EEF2F4"/>
          </a:solidFill>
          <a:ln w="12700">
            <a:solidFill>
              <a:srgbClr val="EEF2F4"/>
            </a:solidFill>
            <a:prstDash val="solid"/>
          </a:ln>
        </p:spPr>
      </p:sp>
      <p:sp>
        <p:nvSpPr>
          <p:cNvPr id="25" name="shape-21"/>
          <p:cNvSpPr/>
          <p:nvPr/>
        </p:nvSpPr>
        <p:spPr>
          <a:xfrm>
            <a:off x="548640" y="2395728"/>
            <a:ext cx="402336" cy="768096"/>
          </a:xfrm>
          <a:prstGeom prst="roundRect">
            <a:avLst>
              <a:gd name="adj" fmla="val 18182"/>
            </a:avLst>
          </a:prstGeom>
          <a:solidFill>
            <a:srgbClr val="134E4A"/>
          </a:solidFill>
          <a:ln w="12700">
            <a:solidFill>
              <a:srgbClr val="134E4A"/>
            </a:solidFill>
            <a:prstDash val="solid"/>
          </a:ln>
        </p:spPr>
      </p:sp>
      <p:sp>
        <p:nvSpPr>
          <p:cNvPr id="26" name="shape-22"/>
          <p:cNvSpPr/>
          <p:nvPr/>
        </p:nvSpPr>
        <p:spPr>
          <a:xfrm>
            <a:off x="877824" y="2395728"/>
            <a:ext cx="73152" cy="768096"/>
          </a:xfrm>
          <a:prstGeom prst="rect">
            <a:avLst/>
          </a:prstGeom>
          <a:solidFill>
            <a:srgbClr val="134E4A"/>
          </a:solidFill>
          <a:ln w="12700">
            <a:solidFill>
              <a:srgbClr val="134E4A"/>
            </a:solidFill>
            <a:prstDash val="solid"/>
          </a:ln>
        </p:spPr>
      </p:sp>
      <p:sp>
        <p:nvSpPr>
          <p:cNvPr id="27" name="text-23"/>
          <p:cNvSpPr txBox="1"/>
          <p:nvPr/>
        </p:nvSpPr>
        <p:spPr>
          <a:xfrm>
            <a:off x="548640" y="2395728"/>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8" name="text-24"/>
          <p:cNvSpPr txBox="1"/>
          <p:nvPr/>
        </p:nvSpPr>
        <p:spPr>
          <a:xfrm>
            <a:off x="1042416" y="2395728"/>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950" dirty="0"/>
          </a:p>
        </p:txBody>
      </p:sp>
      <p:sp>
        <p:nvSpPr>
          <p:cNvPr id="29" name="shape-25"/>
          <p:cNvSpPr/>
          <p:nvPr/>
        </p:nvSpPr>
        <p:spPr>
          <a:xfrm>
            <a:off x="3493008" y="2395728"/>
            <a:ext cx="1874520" cy="768096"/>
          </a:xfrm>
          <a:prstGeom prst="roundRect">
            <a:avLst>
              <a:gd name="adj" fmla="val 9524"/>
            </a:avLst>
          </a:prstGeom>
          <a:solidFill>
            <a:srgbClr val="FFFFFF"/>
          </a:solidFill>
          <a:ln w="15875">
            <a:solidFill>
              <a:srgbClr val="D4DBE0"/>
            </a:solidFill>
            <a:prstDash val="solid"/>
          </a:ln>
        </p:spPr>
      </p:sp>
      <p:sp>
        <p:nvSpPr>
          <p:cNvPr id="30" name="text-26"/>
          <p:cNvSpPr txBox="1"/>
          <p:nvPr/>
        </p:nvSpPr>
        <p:spPr>
          <a:xfrm>
            <a:off x="3566160"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Commercials, opportunity, strategy</a:t>
            </a:r>
            <a:endParaRPr lang="en-US" sz="950" dirty="0"/>
          </a:p>
        </p:txBody>
      </p:sp>
      <p:sp>
        <p:nvSpPr>
          <p:cNvPr id="31" name="shape-27"/>
          <p:cNvSpPr/>
          <p:nvPr/>
        </p:nvSpPr>
        <p:spPr>
          <a:xfrm>
            <a:off x="5568696" y="2395728"/>
            <a:ext cx="1874520" cy="768096"/>
          </a:xfrm>
          <a:prstGeom prst="roundRect">
            <a:avLst>
              <a:gd name="adj" fmla="val 9524"/>
            </a:avLst>
          </a:prstGeom>
          <a:solidFill>
            <a:srgbClr val="FFFFFF"/>
          </a:solidFill>
          <a:ln w="15875">
            <a:solidFill>
              <a:srgbClr val="D4DBE0"/>
            </a:solidFill>
            <a:prstDash val="solid"/>
          </a:ln>
        </p:spPr>
      </p:sp>
      <p:sp>
        <p:nvSpPr>
          <p:cNvPr id="32" name="text-28"/>
          <p:cNvSpPr txBox="1"/>
          <p:nvPr/>
        </p:nvSpPr>
        <p:spPr>
          <a:xfrm>
            <a:off x="5641848"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Bullet-proof: life-critical content</a:t>
            </a:r>
            <a:endParaRPr lang="en-US" sz="950" dirty="0"/>
          </a:p>
        </p:txBody>
      </p:sp>
      <p:sp>
        <p:nvSpPr>
          <p:cNvPr id="33" name="shape-29"/>
          <p:cNvSpPr/>
          <p:nvPr/>
        </p:nvSpPr>
        <p:spPr>
          <a:xfrm>
            <a:off x="7644384" y="2395728"/>
            <a:ext cx="2194560" cy="768096"/>
          </a:xfrm>
          <a:prstGeom prst="roundRect">
            <a:avLst>
              <a:gd name="adj" fmla="val 9524"/>
            </a:avLst>
          </a:prstGeom>
          <a:solidFill>
            <a:srgbClr val="D6ECE9"/>
          </a:solidFill>
          <a:ln w="15875">
            <a:solidFill>
              <a:srgbClr val="D6ECE9"/>
            </a:solidFill>
            <a:prstDash val="solid"/>
          </a:ln>
        </p:spPr>
      </p:sp>
      <p:sp>
        <p:nvSpPr>
          <p:cNvPr id="34" name="text-30"/>
          <p:cNvSpPr txBox="1"/>
          <p:nvPr/>
        </p:nvSpPr>
        <p:spPr>
          <a:xfrm>
            <a:off x="7717536" y="2395728"/>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Build: strong appetite to wrap our own technical solutions</a:t>
            </a:r>
            <a:endParaRPr lang="en-US" sz="950" dirty="0"/>
          </a:p>
        </p:txBody>
      </p:sp>
      <p:sp>
        <p:nvSpPr>
          <p:cNvPr id="35" name="tri-31"/>
          <p:cNvSpPr/>
          <p:nvPr/>
        </p:nvSpPr>
        <p:spPr>
          <a:xfrm rot="5400000">
            <a:off x="3337560" y="2724912"/>
            <a:ext cx="109728" cy="109728"/>
          </a:xfrm>
          <a:prstGeom prst="triangle">
            <a:avLst/>
          </a:prstGeom>
          <a:solidFill>
            <a:srgbClr val="D4DBE0"/>
          </a:solidFill>
          <a:ln w="12700">
            <a:solidFill>
              <a:srgbClr val="D4DBE0"/>
            </a:solidFill>
            <a:prstDash val="solid"/>
          </a:ln>
        </p:spPr>
      </p:sp>
      <p:sp>
        <p:nvSpPr>
          <p:cNvPr id="36" name="tri-32"/>
          <p:cNvSpPr/>
          <p:nvPr/>
        </p:nvSpPr>
        <p:spPr>
          <a:xfrm rot="5400000">
            <a:off x="5413248" y="2724912"/>
            <a:ext cx="109728" cy="109728"/>
          </a:xfrm>
          <a:prstGeom prst="triangle">
            <a:avLst/>
          </a:prstGeom>
          <a:solidFill>
            <a:srgbClr val="D4DBE0"/>
          </a:solidFill>
          <a:ln w="12700">
            <a:solidFill>
              <a:srgbClr val="D4DBE0"/>
            </a:solidFill>
            <a:prstDash val="solid"/>
          </a:ln>
        </p:spPr>
      </p:sp>
      <p:sp>
        <p:nvSpPr>
          <p:cNvPr id="37" name="tri-33"/>
          <p:cNvSpPr/>
          <p:nvPr/>
        </p:nvSpPr>
        <p:spPr>
          <a:xfrm rot="5400000">
            <a:off x="7488936" y="2724912"/>
            <a:ext cx="109728" cy="109728"/>
          </a:xfrm>
          <a:prstGeom prst="triangle">
            <a:avLst/>
          </a:prstGeom>
          <a:solidFill>
            <a:srgbClr val="D4DBE0"/>
          </a:solidFill>
          <a:ln w="12700">
            <a:solidFill>
              <a:srgbClr val="D4DBE0"/>
            </a:solidFill>
            <a:prstDash val="solid"/>
          </a:ln>
        </p:spPr>
      </p:sp>
      <p:sp>
        <p:nvSpPr>
          <p:cNvPr id="38" name="shape-34"/>
          <p:cNvSpPr/>
          <p:nvPr/>
        </p:nvSpPr>
        <p:spPr>
          <a:xfrm>
            <a:off x="10076688" y="2395728"/>
            <a:ext cx="1737360" cy="768096"/>
          </a:xfrm>
          <a:prstGeom prst="roundRect">
            <a:avLst>
              <a:gd name="adj" fmla="val 9524"/>
            </a:avLst>
          </a:prstGeom>
          <a:solidFill>
            <a:srgbClr val="D6ECE9"/>
          </a:solidFill>
          <a:ln w="15875">
            <a:solidFill>
              <a:srgbClr val="0F766E"/>
            </a:solidFill>
            <a:prstDash val="sysDash"/>
          </a:ln>
        </p:spPr>
      </p:sp>
      <p:sp>
        <p:nvSpPr>
          <p:cNvPr id="39" name="oval-35"/>
          <p:cNvSpPr/>
          <p:nvPr/>
        </p:nvSpPr>
        <p:spPr>
          <a:xfrm>
            <a:off x="10149840" y="2688336"/>
            <a:ext cx="182880" cy="182880"/>
          </a:xfrm>
          <a:prstGeom prst="ellipse">
            <a:avLst/>
          </a:prstGeom>
          <a:solidFill>
            <a:srgbClr val="0F766E"/>
          </a:solidFill>
          <a:ln w="12700">
            <a:solidFill>
              <a:srgbClr val="0F766E"/>
            </a:solidFill>
            <a:prstDash val="solid"/>
          </a:ln>
        </p:spPr>
      </p:sp>
      <p:sp>
        <p:nvSpPr>
          <p:cNvPr id="40" name="text-36"/>
          <p:cNvSpPr txBox="1"/>
          <p:nvPr/>
        </p:nvSpPr>
        <p:spPr>
          <a:xfrm>
            <a:off x="10149840" y="2688336"/>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1" name="text-37"/>
          <p:cNvSpPr txBox="1"/>
          <p:nvPr/>
        </p:nvSpPr>
        <p:spPr>
          <a:xfrm>
            <a:off x="10405872" y="2395728"/>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Accelerate and de-risk product work</a:t>
            </a:r>
            <a:endParaRPr lang="en-US" sz="900" dirty="0"/>
          </a:p>
        </p:txBody>
      </p:sp>
      <p:sp>
        <p:nvSpPr>
          <p:cNvPr id="42" name="shape-38"/>
          <p:cNvSpPr/>
          <p:nvPr/>
        </p:nvSpPr>
        <p:spPr>
          <a:xfrm>
            <a:off x="548640" y="3255264"/>
            <a:ext cx="2743200" cy="768096"/>
          </a:xfrm>
          <a:prstGeom prst="roundRect">
            <a:avLst>
              <a:gd name="adj" fmla="val 9524"/>
            </a:avLst>
          </a:prstGeom>
          <a:solidFill>
            <a:srgbClr val="EEF2F4"/>
          </a:solidFill>
          <a:ln w="12700">
            <a:solidFill>
              <a:srgbClr val="EEF2F4"/>
            </a:solidFill>
            <a:prstDash val="solid"/>
          </a:ln>
        </p:spPr>
      </p:sp>
      <p:sp>
        <p:nvSpPr>
          <p:cNvPr id="43" name="shape-39"/>
          <p:cNvSpPr/>
          <p:nvPr/>
        </p:nvSpPr>
        <p:spPr>
          <a:xfrm>
            <a:off x="548640" y="3255264"/>
            <a:ext cx="402336" cy="768096"/>
          </a:xfrm>
          <a:prstGeom prst="roundRect">
            <a:avLst>
              <a:gd name="adj" fmla="val 18182"/>
            </a:avLst>
          </a:prstGeom>
          <a:solidFill>
            <a:srgbClr val="0F766E"/>
          </a:solidFill>
          <a:ln w="12700">
            <a:solidFill>
              <a:srgbClr val="0F766E"/>
            </a:solidFill>
            <a:prstDash val="solid"/>
          </a:ln>
        </p:spPr>
      </p:sp>
      <p:sp>
        <p:nvSpPr>
          <p:cNvPr id="44" name="shape-40"/>
          <p:cNvSpPr/>
          <p:nvPr/>
        </p:nvSpPr>
        <p:spPr>
          <a:xfrm>
            <a:off x="877824" y="3255264"/>
            <a:ext cx="73152" cy="768096"/>
          </a:xfrm>
          <a:prstGeom prst="rect">
            <a:avLst/>
          </a:prstGeom>
          <a:solidFill>
            <a:srgbClr val="0F766E"/>
          </a:solidFill>
          <a:ln w="12700">
            <a:solidFill>
              <a:srgbClr val="0F766E"/>
            </a:solidFill>
            <a:prstDash val="solid"/>
          </a:ln>
        </p:spPr>
      </p:sp>
      <p:sp>
        <p:nvSpPr>
          <p:cNvPr id="45" name="text-41"/>
          <p:cNvSpPr txBox="1"/>
          <p:nvPr/>
        </p:nvSpPr>
        <p:spPr>
          <a:xfrm>
            <a:off x="548640" y="3255264"/>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46" name="text-42"/>
          <p:cNvSpPr txBox="1"/>
          <p:nvPr/>
        </p:nvSpPr>
        <p:spPr>
          <a:xfrm>
            <a:off x="1042416" y="3255264"/>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Quark Content and PriXM — authoring and publishing</a:t>
            </a:r>
            <a:endParaRPr lang="en-US" sz="950" dirty="0"/>
          </a:p>
        </p:txBody>
      </p:sp>
      <p:sp>
        <p:nvSpPr>
          <p:cNvPr id="47" name="shape-43"/>
          <p:cNvSpPr/>
          <p:nvPr/>
        </p:nvSpPr>
        <p:spPr>
          <a:xfrm>
            <a:off x="3493008" y="3255264"/>
            <a:ext cx="1874520" cy="768096"/>
          </a:xfrm>
          <a:prstGeom prst="roundRect">
            <a:avLst>
              <a:gd name="adj" fmla="val 9524"/>
            </a:avLst>
          </a:prstGeom>
          <a:solidFill>
            <a:srgbClr val="FFFFFF"/>
          </a:solidFill>
          <a:ln w="15875">
            <a:solidFill>
              <a:srgbClr val="D4DBE0"/>
            </a:solidFill>
            <a:prstDash val="solid"/>
          </a:ln>
        </p:spPr>
      </p:sp>
      <p:sp>
        <p:nvSpPr>
          <p:cNvPr id="48" name="text-44"/>
          <p:cNvSpPr txBox="1"/>
          <p:nvPr/>
        </p:nvSpPr>
        <p:spPr>
          <a:xfrm>
            <a:off x="3566160"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Fit for authors, portability, cost</a:t>
            </a:r>
            <a:endParaRPr lang="en-US" sz="950" dirty="0"/>
          </a:p>
        </p:txBody>
      </p:sp>
      <p:sp>
        <p:nvSpPr>
          <p:cNvPr id="49" name="shape-45"/>
          <p:cNvSpPr/>
          <p:nvPr/>
        </p:nvSpPr>
        <p:spPr>
          <a:xfrm>
            <a:off x="5568696" y="3255264"/>
            <a:ext cx="1874520" cy="768096"/>
          </a:xfrm>
          <a:prstGeom prst="roundRect">
            <a:avLst>
              <a:gd name="adj" fmla="val 9524"/>
            </a:avLst>
          </a:prstGeom>
          <a:solidFill>
            <a:srgbClr val="FFFFFF"/>
          </a:solidFill>
          <a:ln w="15875">
            <a:solidFill>
              <a:srgbClr val="D4DBE0"/>
            </a:solidFill>
            <a:prstDash val="solid"/>
          </a:ln>
        </p:spPr>
      </p:sp>
      <p:sp>
        <p:nvSpPr>
          <p:cNvPr id="50" name="text-46"/>
          <p:cNvSpPr txBox="1"/>
          <p:nvPr/>
        </p:nvSpPr>
        <p:spPr>
          <a:xfrm>
            <a:off x="5641848"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Business hours; never the only copy</a:t>
            </a:r>
            <a:endParaRPr lang="en-US" sz="950" dirty="0"/>
          </a:p>
        </p:txBody>
      </p:sp>
      <p:sp>
        <p:nvSpPr>
          <p:cNvPr id="51" name="shape-47"/>
          <p:cNvSpPr/>
          <p:nvPr/>
        </p:nvSpPr>
        <p:spPr>
          <a:xfrm>
            <a:off x="7644384" y="3255264"/>
            <a:ext cx="2194560" cy="768096"/>
          </a:xfrm>
          <a:prstGeom prst="roundRect">
            <a:avLst>
              <a:gd name="adj" fmla="val 9524"/>
            </a:avLst>
          </a:prstGeom>
          <a:solidFill>
            <a:srgbClr val="FFFFFF"/>
          </a:solidFill>
          <a:ln w="15875">
            <a:solidFill>
              <a:srgbClr val="D4DBE0"/>
            </a:solidFill>
            <a:prstDash val="solid"/>
          </a:ln>
        </p:spPr>
      </p:sp>
      <p:sp>
        <p:nvSpPr>
          <p:cNvPr id="52" name="text-48"/>
          <p:cNvSpPr txBox="1"/>
          <p:nvPr/>
        </p:nvSpPr>
        <p:spPr>
          <a:xfrm>
            <a:off x="7717536" y="3255264"/>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and configure: plugins, paid features, small code where it pays</a:t>
            </a:r>
            <a:endParaRPr lang="en-US" sz="950" dirty="0"/>
          </a:p>
        </p:txBody>
      </p:sp>
      <p:sp>
        <p:nvSpPr>
          <p:cNvPr id="53" name="tri-49"/>
          <p:cNvSpPr/>
          <p:nvPr/>
        </p:nvSpPr>
        <p:spPr>
          <a:xfrm rot="5400000">
            <a:off x="3337560" y="3584448"/>
            <a:ext cx="109728" cy="109728"/>
          </a:xfrm>
          <a:prstGeom prst="triangle">
            <a:avLst/>
          </a:prstGeom>
          <a:solidFill>
            <a:srgbClr val="D4DBE0"/>
          </a:solidFill>
          <a:ln w="12700">
            <a:solidFill>
              <a:srgbClr val="D4DBE0"/>
            </a:solidFill>
            <a:prstDash val="solid"/>
          </a:ln>
        </p:spPr>
      </p:sp>
      <p:sp>
        <p:nvSpPr>
          <p:cNvPr id="54" name="tri-50"/>
          <p:cNvSpPr/>
          <p:nvPr/>
        </p:nvSpPr>
        <p:spPr>
          <a:xfrm rot="5400000">
            <a:off x="5413248" y="3584448"/>
            <a:ext cx="109728" cy="109728"/>
          </a:xfrm>
          <a:prstGeom prst="triangle">
            <a:avLst/>
          </a:prstGeom>
          <a:solidFill>
            <a:srgbClr val="D4DBE0"/>
          </a:solidFill>
          <a:ln w="12700">
            <a:solidFill>
              <a:srgbClr val="D4DBE0"/>
            </a:solidFill>
            <a:prstDash val="solid"/>
          </a:ln>
        </p:spPr>
      </p:sp>
      <p:sp>
        <p:nvSpPr>
          <p:cNvPr id="55" name="tri-51"/>
          <p:cNvSpPr/>
          <p:nvPr/>
        </p:nvSpPr>
        <p:spPr>
          <a:xfrm rot="5400000">
            <a:off x="7488936" y="3584448"/>
            <a:ext cx="109728" cy="109728"/>
          </a:xfrm>
          <a:prstGeom prst="triangle">
            <a:avLst/>
          </a:prstGeom>
          <a:solidFill>
            <a:srgbClr val="D4DBE0"/>
          </a:solidFill>
          <a:ln w="12700">
            <a:solidFill>
              <a:srgbClr val="D4DBE0"/>
            </a:solidFill>
            <a:prstDash val="solid"/>
          </a:ln>
        </p:spPr>
      </p:sp>
      <p:sp>
        <p:nvSpPr>
          <p:cNvPr id="56" name="shape-52"/>
          <p:cNvSpPr/>
          <p:nvPr/>
        </p:nvSpPr>
        <p:spPr>
          <a:xfrm>
            <a:off x="10076688" y="3255264"/>
            <a:ext cx="1737360" cy="768096"/>
          </a:xfrm>
          <a:prstGeom prst="roundRect">
            <a:avLst>
              <a:gd name="adj" fmla="val 9524"/>
            </a:avLst>
          </a:prstGeom>
          <a:solidFill>
            <a:srgbClr val="D6ECE9"/>
          </a:solidFill>
          <a:ln w="15875">
            <a:solidFill>
              <a:srgbClr val="0F766E"/>
            </a:solidFill>
            <a:prstDash val="sysDash"/>
          </a:ln>
        </p:spPr>
      </p:sp>
      <p:sp>
        <p:nvSpPr>
          <p:cNvPr id="57" name="oval-53"/>
          <p:cNvSpPr/>
          <p:nvPr/>
        </p:nvSpPr>
        <p:spPr>
          <a:xfrm>
            <a:off x="10149840" y="3547872"/>
            <a:ext cx="182880" cy="182880"/>
          </a:xfrm>
          <a:prstGeom prst="ellipse">
            <a:avLst/>
          </a:prstGeom>
          <a:solidFill>
            <a:srgbClr val="0F766E"/>
          </a:solidFill>
          <a:ln w="12700">
            <a:solidFill>
              <a:srgbClr val="0F766E"/>
            </a:solidFill>
            <a:prstDash val="solid"/>
          </a:ln>
        </p:spPr>
      </p:sp>
      <p:sp>
        <p:nvSpPr>
          <p:cNvPr id="58" name="text-54"/>
          <p:cNvSpPr txBox="1"/>
          <p:nvPr/>
        </p:nvSpPr>
        <p:spPr>
          <a:xfrm>
            <a:off x="10149840" y="3547872"/>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9" name="text-55"/>
          <p:cNvSpPr txBox="1"/>
          <p:nvPr/>
        </p:nvSpPr>
        <p:spPr>
          <a:xfrm>
            <a:off x="10405872" y="3255264"/>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Author assistance; human sign-off</a:t>
            </a:r>
            <a:endParaRPr lang="en-US" sz="900" dirty="0"/>
          </a:p>
        </p:txBody>
      </p:sp>
      <p:sp>
        <p:nvSpPr>
          <p:cNvPr id="60" name="shape-56"/>
          <p:cNvSpPr/>
          <p:nvPr/>
        </p:nvSpPr>
        <p:spPr>
          <a:xfrm>
            <a:off x="548640" y="4114800"/>
            <a:ext cx="2743200" cy="768096"/>
          </a:xfrm>
          <a:prstGeom prst="roundRect">
            <a:avLst>
              <a:gd name="adj" fmla="val 9524"/>
            </a:avLst>
          </a:prstGeom>
          <a:solidFill>
            <a:srgbClr val="EEF2F4"/>
          </a:solidFill>
          <a:ln w="12700">
            <a:solidFill>
              <a:srgbClr val="EEF2F4"/>
            </a:solidFill>
            <a:prstDash val="solid"/>
          </a:ln>
        </p:spPr>
      </p:sp>
      <p:sp>
        <p:nvSpPr>
          <p:cNvPr id="61" name="shape-57"/>
          <p:cNvSpPr/>
          <p:nvPr/>
        </p:nvSpPr>
        <p:spPr>
          <a:xfrm>
            <a:off x="548640" y="4114800"/>
            <a:ext cx="402336" cy="768096"/>
          </a:xfrm>
          <a:prstGeom prst="roundRect">
            <a:avLst>
              <a:gd name="adj" fmla="val 18182"/>
            </a:avLst>
          </a:prstGeom>
          <a:solidFill>
            <a:srgbClr val="8A99A3"/>
          </a:solidFill>
          <a:ln w="12700">
            <a:solidFill>
              <a:srgbClr val="8A99A3"/>
            </a:solidFill>
            <a:prstDash val="solid"/>
          </a:ln>
        </p:spPr>
      </p:sp>
      <p:sp>
        <p:nvSpPr>
          <p:cNvPr id="62" name="shape-58"/>
          <p:cNvSpPr/>
          <p:nvPr/>
        </p:nvSpPr>
        <p:spPr>
          <a:xfrm>
            <a:off x="877824" y="4114800"/>
            <a:ext cx="73152" cy="768096"/>
          </a:xfrm>
          <a:prstGeom prst="rect">
            <a:avLst/>
          </a:prstGeom>
          <a:solidFill>
            <a:srgbClr val="8A99A3"/>
          </a:solidFill>
          <a:ln w="12700">
            <a:solidFill>
              <a:srgbClr val="8A99A3"/>
            </a:solidFill>
            <a:prstDash val="solid"/>
          </a:ln>
        </p:spPr>
      </p:sp>
      <p:sp>
        <p:nvSpPr>
          <p:cNvPr id="63" name="text-59"/>
          <p:cNvSpPr txBox="1"/>
          <p:nvPr/>
        </p:nvSpPr>
        <p:spPr>
          <a:xfrm>
            <a:off x="548640" y="4114800"/>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64" name="text-60"/>
          <p:cNvSpPr txBox="1"/>
          <p:nvPr/>
        </p:nvSpPr>
        <p:spPr>
          <a:xfrm>
            <a:off x="1042416" y="4114800"/>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950" dirty="0"/>
          </a:p>
        </p:txBody>
      </p:sp>
      <p:sp>
        <p:nvSpPr>
          <p:cNvPr id="65" name="shape-61"/>
          <p:cNvSpPr/>
          <p:nvPr/>
        </p:nvSpPr>
        <p:spPr>
          <a:xfrm>
            <a:off x="3493008" y="4114800"/>
            <a:ext cx="1874520" cy="768096"/>
          </a:xfrm>
          <a:prstGeom prst="roundRect">
            <a:avLst>
              <a:gd name="adj" fmla="val 9524"/>
            </a:avLst>
          </a:prstGeom>
          <a:solidFill>
            <a:srgbClr val="FFFFFF"/>
          </a:solidFill>
          <a:ln w="15875">
            <a:solidFill>
              <a:srgbClr val="D4DBE0"/>
            </a:solidFill>
            <a:prstDash val="solid"/>
          </a:ln>
        </p:spPr>
      </p:sp>
      <p:sp>
        <p:nvSpPr>
          <p:cNvPr id="66" name="text-62"/>
          <p:cNvSpPr txBox="1"/>
          <p:nvPr/>
        </p:nvSpPr>
        <p:spPr>
          <a:xfrm>
            <a:off x="3566160"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Cost and effort vs efficiency gained</a:t>
            </a:r>
            <a:endParaRPr lang="en-US" sz="950" dirty="0"/>
          </a:p>
        </p:txBody>
      </p:sp>
      <p:sp>
        <p:nvSpPr>
          <p:cNvPr id="67" name="shape-63"/>
          <p:cNvSpPr/>
          <p:nvPr/>
        </p:nvSpPr>
        <p:spPr>
          <a:xfrm>
            <a:off x="5568696" y="4114800"/>
            <a:ext cx="1874520" cy="768096"/>
          </a:xfrm>
          <a:prstGeom prst="roundRect">
            <a:avLst>
              <a:gd name="adj" fmla="val 9524"/>
            </a:avLst>
          </a:prstGeom>
          <a:solidFill>
            <a:srgbClr val="FFFFFF"/>
          </a:solidFill>
          <a:ln w="15875">
            <a:solidFill>
              <a:srgbClr val="D4DBE0"/>
            </a:solidFill>
            <a:prstDash val="solid"/>
          </a:ln>
        </p:spPr>
      </p:sp>
      <p:sp>
        <p:nvSpPr>
          <p:cNvPr id="68" name="text-64"/>
          <p:cNvSpPr txBox="1"/>
          <p:nvPr/>
        </p:nvSpPr>
        <p:spPr>
          <a:xfrm>
            <a:off x="5641848"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Standard; no shared fate with A</a:t>
            </a:r>
            <a:endParaRPr lang="en-US" sz="950" dirty="0"/>
          </a:p>
        </p:txBody>
      </p:sp>
      <p:sp>
        <p:nvSpPr>
          <p:cNvPr id="69" name="shape-65"/>
          <p:cNvSpPr/>
          <p:nvPr/>
        </p:nvSpPr>
        <p:spPr>
          <a:xfrm>
            <a:off x="7644384" y="4114800"/>
            <a:ext cx="2194560" cy="768096"/>
          </a:xfrm>
          <a:prstGeom prst="roundRect">
            <a:avLst>
              <a:gd name="adj" fmla="val 9524"/>
            </a:avLst>
          </a:prstGeom>
          <a:solidFill>
            <a:srgbClr val="FFFFFF"/>
          </a:solidFill>
          <a:ln w="15875">
            <a:solidFill>
              <a:srgbClr val="D4DBE0"/>
            </a:solidFill>
            <a:prstDash val="solid"/>
          </a:ln>
        </p:spPr>
      </p:sp>
      <p:sp>
        <p:nvSpPr>
          <p:cNvPr id="70" name="text-66"/>
          <p:cNvSpPr txBox="1"/>
          <p:nvPr/>
        </p:nvSpPr>
        <p:spPr>
          <a:xfrm>
            <a:off x="7717536" y="4114800"/>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standard set-up; deviate by exception only</a:t>
            </a:r>
            <a:endParaRPr lang="en-US" sz="950" dirty="0"/>
          </a:p>
        </p:txBody>
      </p:sp>
      <p:sp>
        <p:nvSpPr>
          <p:cNvPr id="71" name="tri-67"/>
          <p:cNvSpPr/>
          <p:nvPr/>
        </p:nvSpPr>
        <p:spPr>
          <a:xfrm rot="5400000">
            <a:off x="3337560" y="4443984"/>
            <a:ext cx="109728" cy="109728"/>
          </a:xfrm>
          <a:prstGeom prst="triangle">
            <a:avLst/>
          </a:prstGeom>
          <a:solidFill>
            <a:srgbClr val="D4DBE0"/>
          </a:solidFill>
          <a:ln w="12700">
            <a:solidFill>
              <a:srgbClr val="D4DBE0"/>
            </a:solidFill>
            <a:prstDash val="solid"/>
          </a:ln>
        </p:spPr>
      </p:sp>
      <p:sp>
        <p:nvSpPr>
          <p:cNvPr id="72" name="tri-68"/>
          <p:cNvSpPr/>
          <p:nvPr/>
        </p:nvSpPr>
        <p:spPr>
          <a:xfrm rot="5400000">
            <a:off x="5413248" y="4443984"/>
            <a:ext cx="109728" cy="109728"/>
          </a:xfrm>
          <a:prstGeom prst="triangle">
            <a:avLst/>
          </a:prstGeom>
          <a:solidFill>
            <a:srgbClr val="D4DBE0"/>
          </a:solidFill>
          <a:ln w="12700">
            <a:solidFill>
              <a:srgbClr val="D4DBE0"/>
            </a:solidFill>
            <a:prstDash val="solid"/>
          </a:ln>
        </p:spPr>
      </p:sp>
      <p:sp>
        <p:nvSpPr>
          <p:cNvPr id="73" name="tri-69"/>
          <p:cNvSpPr/>
          <p:nvPr/>
        </p:nvSpPr>
        <p:spPr>
          <a:xfrm rot="5400000">
            <a:off x="7488936" y="4443984"/>
            <a:ext cx="109728" cy="109728"/>
          </a:xfrm>
          <a:prstGeom prst="triangle">
            <a:avLst/>
          </a:prstGeom>
          <a:solidFill>
            <a:srgbClr val="D4DBE0"/>
          </a:solidFill>
          <a:ln w="12700">
            <a:solidFill>
              <a:srgbClr val="D4DBE0"/>
            </a:solidFill>
            <a:prstDash val="solid"/>
          </a:ln>
        </p:spPr>
      </p:sp>
      <p:sp>
        <p:nvSpPr>
          <p:cNvPr id="74" name="shape-70"/>
          <p:cNvSpPr/>
          <p:nvPr/>
        </p:nvSpPr>
        <p:spPr>
          <a:xfrm>
            <a:off x="10076688" y="4114800"/>
            <a:ext cx="1737360" cy="768096"/>
          </a:xfrm>
          <a:prstGeom prst="roundRect">
            <a:avLst>
              <a:gd name="adj" fmla="val 9524"/>
            </a:avLst>
          </a:prstGeom>
          <a:solidFill>
            <a:srgbClr val="D6ECE9"/>
          </a:solidFill>
          <a:ln w="15875">
            <a:solidFill>
              <a:srgbClr val="0F766E"/>
            </a:solidFill>
            <a:prstDash val="sysDash"/>
          </a:ln>
        </p:spPr>
      </p:sp>
      <p:sp>
        <p:nvSpPr>
          <p:cNvPr id="75" name="oval-71"/>
          <p:cNvSpPr/>
          <p:nvPr/>
        </p:nvSpPr>
        <p:spPr>
          <a:xfrm>
            <a:off x="10149840" y="4407408"/>
            <a:ext cx="182880" cy="182880"/>
          </a:xfrm>
          <a:prstGeom prst="ellipse">
            <a:avLst/>
          </a:prstGeom>
          <a:solidFill>
            <a:srgbClr val="0F766E"/>
          </a:solidFill>
          <a:ln w="12700">
            <a:solidFill>
              <a:srgbClr val="0F766E"/>
            </a:solidFill>
            <a:prstDash val="solid"/>
          </a:ln>
        </p:spPr>
      </p:sp>
      <p:sp>
        <p:nvSpPr>
          <p:cNvPr id="76" name="text-72"/>
          <p:cNvSpPr txBox="1"/>
          <p:nvPr/>
        </p:nvSpPr>
        <p:spPr>
          <a:xfrm>
            <a:off x="10149840" y="4407408"/>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7" name="text-73"/>
          <p:cNvSpPr txBox="1"/>
          <p:nvPr/>
        </p:nvSpPr>
        <p:spPr>
          <a:xfrm>
            <a:off x="10405872" y="4114800"/>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Woven into process; must-haves shrink</a:t>
            </a:r>
            <a:endParaRPr lang="en-US" sz="900" dirty="0"/>
          </a:p>
        </p:txBody>
      </p:sp>
      <p:sp>
        <p:nvSpPr>
          <p:cNvPr id="78" name="shape-74"/>
          <p:cNvSpPr/>
          <p:nvPr/>
        </p:nvSpPr>
        <p:spPr>
          <a:xfrm>
            <a:off x="548640" y="4974336"/>
            <a:ext cx="2743200" cy="768096"/>
          </a:xfrm>
          <a:prstGeom prst="roundRect">
            <a:avLst>
              <a:gd name="adj" fmla="val 9524"/>
            </a:avLst>
          </a:prstGeom>
          <a:solidFill>
            <a:srgbClr val="FDF1E3"/>
          </a:solidFill>
          <a:ln w="12700">
            <a:solidFill>
              <a:srgbClr val="FDF1E3"/>
            </a:solidFill>
            <a:prstDash val="solid"/>
          </a:ln>
        </p:spPr>
      </p:sp>
      <p:sp>
        <p:nvSpPr>
          <p:cNvPr id="79" name="shape-75"/>
          <p:cNvSpPr/>
          <p:nvPr/>
        </p:nvSpPr>
        <p:spPr>
          <a:xfrm>
            <a:off x="548640" y="4974336"/>
            <a:ext cx="402336" cy="768096"/>
          </a:xfrm>
          <a:prstGeom prst="roundRect">
            <a:avLst>
              <a:gd name="adj" fmla="val 18182"/>
            </a:avLst>
          </a:prstGeom>
          <a:solidFill>
            <a:srgbClr val="B45309"/>
          </a:solidFill>
          <a:ln w="12700">
            <a:solidFill>
              <a:srgbClr val="B45309"/>
            </a:solidFill>
            <a:prstDash val="solid"/>
          </a:ln>
        </p:spPr>
      </p:sp>
      <p:sp>
        <p:nvSpPr>
          <p:cNvPr id="80" name="shape-76"/>
          <p:cNvSpPr/>
          <p:nvPr/>
        </p:nvSpPr>
        <p:spPr>
          <a:xfrm>
            <a:off x="877824" y="4974336"/>
            <a:ext cx="73152" cy="768096"/>
          </a:xfrm>
          <a:prstGeom prst="rect">
            <a:avLst/>
          </a:prstGeom>
          <a:solidFill>
            <a:srgbClr val="B45309"/>
          </a:solidFill>
          <a:ln w="12700">
            <a:solidFill>
              <a:srgbClr val="B45309"/>
            </a:solidFill>
            <a:prstDash val="solid"/>
          </a:ln>
        </p:spPr>
      </p:sp>
      <p:sp>
        <p:nvSpPr>
          <p:cNvPr id="81" name="text-77"/>
          <p:cNvSpPr txBox="1"/>
          <p:nvPr/>
        </p:nvSpPr>
        <p:spPr>
          <a:xfrm>
            <a:off x="548640" y="4974336"/>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82" name="text-78"/>
          <p:cNvSpPr txBox="1"/>
          <p:nvPr/>
        </p:nvSpPr>
        <p:spPr>
          <a:xfrm>
            <a:off x="1042416" y="4974336"/>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Azure identity and access plane, API gateway / service bus, monitoring, standards</a:t>
            </a:r>
            <a:endParaRPr lang="en-US" sz="950" dirty="0"/>
          </a:p>
        </p:txBody>
      </p:sp>
      <p:sp>
        <p:nvSpPr>
          <p:cNvPr id="83" name="shape-79"/>
          <p:cNvSpPr/>
          <p:nvPr/>
        </p:nvSpPr>
        <p:spPr>
          <a:xfrm>
            <a:off x="3493008" y="4974336"/>
            <a:ext cx="1874520" cy="768096"/>
          </a:xfrm>
          <a:prstGeom prst="roundRect">
            <a:avLst>
              <a:gd name="adj" fmla="val 9524"/>
            </a:avLst>
          </a:prstGeom>
          <a:solidFill>
            <a:srgbClr val="FFFFFF"/>
          </a:solidFill>
          <a:ln w="15875">
            <a:solidFill>
              <a:srgbClr val="D4DBE0"/>
            </a:solidFill>
            <a:prstDash val="solid"/>
          </a:ln>
        </p:spPr>
      </p:sp>
      <p:sp>
        <p:nvSpPr>
          <p:cNvPr id="84" name="text-80"/>
          <p:cNvSpPr txBox="1"/>
          <p:nvPr/>
        </p:nvSpPr>
        <p:spPr>
          <a:xfrm>
            <a:off x="3566160"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plus risk and reputation</a:t>
            </a:r>
            <a:endParaRPr lang="en-US" sz="950" dirty="0"/>
          </a:p>
        </p:txBody>
      </p:sp>
      <p:sp>
        <p:nvSpPr>
          <p:cNvPr id="85" name="shape-81"/>
          <p:cNvSpPr/>
          <p:nvPr/>
        </p:nvSpPr>
        <p:spPr>
          <a:xfrm>
            <a:off x="5568696" y="4974336"/>
            <a:ext cx="1874520" cy="768096"/>
          </a:xfrm>
          <a:prstGeom prst="roundRect">
            <a:avLst>
              <a:gd name="adj" fmla="val 9524"/>
            </a:avLst>
          </a:prstGeom>
          <a:solidFill>
            <a:srgbClr val="FFFFFF"/>
          </a:solidFill>
          <a:ln w="15875">
            <a:solidFill>
              <a:srgbClr val="D4DBE0"/>
            </a:solidFill>
            <a:prstDash val="solid"/>
          </a:ln>
        </p:spPr>
      </p:sp>
      <p:sp>
        <p:nvSpPr>
          <p:cNvPr id="86" name="text-82"/>
          <p:cNvSpPr txBox="1"/>
          <p:nvPr/>
        </p:nvSpPr>
        <p:spPr>
          <a:xfrm>
            <a:off x="5641848"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A wherever it sits in A’s path</a:t>
            </a:r>
            <a:endParaRPr lang="en-US" sz="950" dirty="0"/>
          </a:p>
        </p:txBody>
      </p:sp>
      <p:sp>
        <p:nvSpPr>
          <p:cNvPr id="87" name="shape-83"/>
          <p:cNvSpPr/>
          <p:nvPr/>
        </p:nvSpPr>
        <p:spPr>
          <a:xfrm>
            <a:off x="7644384" y="4974336"/>
            <a:ext cx="2194560" cy="768096"/>
          </a:xfrm>
          <a:prstGeom prst="roundRect">
            <a:avLst>
              <a:gd name="adj" fmla="val 9524"/>
            </a:avLst>
          </a:prstGeom>
          <a:solidFill>
            <a:srgbClr val="FFFFFF"/>
          </a:solidFill>
          <a:ln w="15875">
            <a:solidFill>
              <a:srgbClr val="D4DBE0"/>
            </a:solidFill>
            <a:prstDash val="solid"/>
          </a:ln>
        </p:spPr>
      </p:sp>
      <p:sp>
        <p:nvSpPr>
          <p:cNvPr id="88" name="text-84"/>
          <p:cNvSpPr txBox="1"/>
          <p:nvPr/>
        </p:nvSpPr>
        <p:spPr>
          <a:xfrm>
            <a:off x="7717536" y="4974336"/>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but bend to accommodate A and third parties</a:t>
            </a:r>
            <a:endParaRPr lang="en-US" sz="950" dirty="0"/>
          </a:p>
        </p:txBody>
      </p:sp>
      <p:sp>
        <p:nvSpPr>
          <p:cNvPr id="89" name="tri-85"/>
          <p:cNvSpPr/>
          <p:nvPr/>
        </p:nvSpPr>
        <p:spPr>
          <a:xfrm rot="5400000">
            <a:off x="3337560" y="5303520"/>
            <a:ext cx="109728" cy="109728"/>
          </a:xfrm>
          <a:prstGeom prst="triangle">
            <a:avLst/>
          </a:prstGeom>
          <a:solidFill>
            <a:srgbClr val="D4DBE0"/>
          </a:solidFill>
          <a:ln w="12700">
            <a:solidFill>
              <a:srgbClr val="D4DBE0"/>
            </a:solidFill>
            <a:prstDash val="solid"/>
          </a:ln>
        </p:spPr>
      </p:sp>
      <p:sp>
        <p:nvSpPr>
          <p:cNvPr id="90" name="tri-86"/>
          <p:cNvSpPr/>
          <p:nvPr/>
        </p:nvSpPr>
        <p:spPr>
          <a:xfrm rot="5400000">
            <a:off x="5413248" y="5303520"/>
            <a:ext cx="109728" cy="109728"/>
          </a:xfrm>
          <a:prstGeom prst="triangle">
            <a:avLst/>
          </a:prstGeom>
          <a:solidFill>
            <a:srgbClr val="D4DBE0"/>
          </a:solidFill>
          <a:ln w="12700">
            <a:solidFill>
              <a:srgbClr val="D4DBE0"/>
            </a:solidFill>
            <a:prstDash val="solid"/>
          </a:ln>
        </p:spPr>
      </p:sp>
      <p:sp>
        <p:nvSpPr>
          <p:cNvPr id="91" name="tri-87"/>
          <p:cNvSpPr/>
          <p:nvPr/>
        </p:nvSpPr>
        <p:spPr>
          <a:xfrm rot="5400000">
            <a:off x="7488936" y="5303520"/>
            <a:ext cx="109728" cy="109728"/>
          </a:xfrm>
          <a:prstGeom prst="triangle">
            <a:avLst/>
          </a:prstGeom>
          <a:solidFill>
            <a:srgbClr val="D4DBE0"/>
          </a:solidFill>
          <a:ln w="12700">
            <a:solidFill>
              <a:srgbClr val="D4DBE0"/>
            </a:solidFill>
            <a:prstDash val="solid"/>
          </a:ln>
        </p:spPr>
      </p:sp>
      <p:sp>
        <p:nvSpPr>
          <p:cNvPr id="92" name="shape-88"/>
          <p:cNvSpPr/>
          <p:nvPr/>
        </p:nvSpPr>
        <p:spPr>
          <a:xfrm>
            <a:off x="10076688" y="4974336"/>
            <a:ext cx="1737360" cy="768096"/>
          </a:xfrm>
          <a:prstGeom prst="roundRect">
            <a:avLst>
              <a:gd name="adj" fmla="val 9524"/>
            </a:avLst>
          </a:prstGeom>
          <a:solidFill>
            <a:srgbClr val="D6ECE9"/>
          </a:solidFill>
          <a:ln w="15875">
            <a:solidFill>
              <a:srgbClr val="0F766E"/>
            </a:solidFill>
            <a:prstDash val="sysDash"/>
          </a:ln>
        </p:spPr>
      </p:sp>
      <p:sp>
        <p:nvSpPr>
          <p:cNvPr id="93" name="oval-89"/>
          <p:cNvSpPr/>
          <p:nvPr/>
        </p:nvSpPr>
        <p:spPr>
          <a:xfrm>
            <a:off x="10149840" y="5266944"/>
            <a:ext cx="182880" cy="182880"/>
          </a:xfrm>
          <a:prstGeom prst="ellipse">
            <a:avLst/>
          </a:prstGeom>
          <a:solidFill>
            <a:srgbClr val="0F766E"/>
          </a:solidFill>
          <a:ln w="12700">
            <a:solidFill>
              <a:srgbClr val="0F766E"/>
            </a:solidFill>
            <a:prstDash val="solid"/>
          </a:ln>
        </p:spPr>
      </p:sp>
      <p:sp>
        <p:nvSpPr>
          <p:cNvPr id="94" name="text-90"/>
          <p:cNvSpPr txBox="1"/>
          <p:nvPr/>
        </p:nvSpPr>
        <p:spPr>
          <a:xfrm>
            <a:off x="10149840" y="5266944"/>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95" name="text-91"/>
          <p:cNvSpPr txBox="1"/>
          <p:nvPr/>
        </p:nvSpPr>
        <p:spPr>
          <a:xfrm>
            <a:off x="10405872" y="4974336"/>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Review, triage, runbooks</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THE RESILIENCE TOOLKIT FOR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Five kinds of protection a five-nines product needs on the way to an intelligent digital platform</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Authoring tool configured for versioning and approval</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658368"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77" name="shape-73"/>
          <p:cNvSpPr/>
          <p:nvPr/>
        </p:nvSpPr>
        <p:spPr>
          <a:xfrm>
            <a:off x="1426464" y="5294376"/>
            <a:ext cx="201168" cy="146304"/>
          </a:xfrm>
          <a:prstGeom prst="roundRect">
            <a:avLst>
              <a:gd name="adj" fmla="val 50000"/>
            </a:avLst>
          </a:prstGeom>
          <a:solidFill>
            <a:srgbClr val="134E4A"/>
          </a:solidFill>
          <a:ln w="12700">
            <a:solidFill>
              <a:srgbClr val="134E4A"/>
            </a:solidFill>
            <a:prstDash val="solid"/>
          </a:ln>
        </p:spPr>
      </p:sp>
      <p:sp>
        <p:nvSpPr>
          <p:cNvPr id="78" name="text-74"/>
          <p:cNvSpPr txBox="1"/>
          <p:nvPr/>
        </p:nvSpPr>
        <p:spPr>
          <a:xfrm>
            <a:off x="1426464"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79" name="shape-75"/>
          <p:cNvSpPr/>
          <p:nvPr/>
        </p:nvSpPr>
        <p:spPr>
          <a:xfrm>
            <a:off x="1682496" y="5294376"/>
            <a:ext cx="201168" cy="146304"/>
          </a:xfrm>
          <a:prstGeom prst="roundRect">
            <a:avLst>
              <a:gd name="adj" fmla="val 50000"/>
            </a:avLst>
          </a:prstGeom>
          <a:solidFill>
            <a:srgbClr val="B45309"/>
          </a:solidFill>
          <a:ln w="12700">
            <a:solidFill>
              <a:srgbClr val="B45309"/>
            </a:solidFill>
            <a:prstDash val="solid"/>
          </a:ln>
        </p:spPr>
      </p:sp>
      <p:sp>
        <p:nvSpPr>
          <p:cNvPr id="80" name="text-76"/>
          <p:cNvSpPr txBox="1"/>
          <p:nvPr/>
        </p:nvSpPr>
        <p:spPr>
          <a:xfrm>
            <a:off x="1682496"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81" name="text-77"/>
          <p:cNvSpPr txBox="1"/>
          <p:nvPr/>
        </p:nvSpPr>
        <p:spPr>
          <a:xfrm>
            <a:off x="2893162"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82" name="shape-78"/>
          <p:cNvSpPr/>
          <p:nvPr/>
        </p:nvSpPr>
        <p:spPr>
          <a:xfrm>
            <a:off x="3661258" y="5294376"/>
            <a:ext cx="201168" cy="146304"/>
          </a:xfrm>
          <a:prstGeom prst="roundRect">
            <a:avLst>
              <a:gd name="adj" fmla="val 50000"/>
            </a:avLst>
          </a:prstGeom>
          <a:solidFill>
            <a:srgbClr val="134E4A"/>
          </a:solidFill>
          <a:ln w="12700">
            <a:solidFill>
              <a:srgbClr val="134E4A"/>
            </a:solidFill>
            <a:prstDash val="solid"/>
          </a:ln>
        </p:spPr>
      </p:sp>
      <p:sp>
        <p:nvSpPr>
          <p:cNvPr id="83" name="text-79"/>
          <p:cNvSpPr txBox="1"/>
          <p:nvPr/>
        </p:nvSpPr>
        <p:spPr>
          <a:xfrm>
            <a:off x="3661258"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84" name="shape-80"/>
          <p:cNvSpPr/>
          <p:nvPr/>
        </p:nvSpPr>
        <p:spPr>
          <a:xfrm>
            <a:off x="3917290" y="5294376"/>
            <a:ext cx="201168" cy="146304"/>
          </a:xfrm>
          <a:prstGeom prst="roundRect">
            <a:avLst>
              <a:gd name="adj" fmla="val 50000"/>
            </a:avLst>
          </a:prstGeom>
          <a:solidFill>
            <a:srgbClr val="B45309"/>
          </a:solidFill>
          <a:ln w="12700">
            <a:solidFill>
              <a:srgbClr val="B45309"/>
            </a:solidFill>
            <a:prstDash val="solid"/>
          </a:ln>
        </p:spPr>
      </p:sp>
      <p:sp>
        <p:nvSpPr>
          <p:cNvPr id="85" name="text-81"/>
          <p:cNvSpPr txBox="1"/>
          <p:nvPr/>
        </p:nvSpPr>
        <p:spPr>
          <a:xfrm>
            <a:off x="3917290"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86" name="text-82"/>
          <p:cNvSpPr txBox="1"/>
          <p:nvPr/>
        </p:nvSpPr>
        <p:spPr>
          <a:xfrm>
            <a:off x="5127955"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87" name="shape-83"/>
          <p:cNvSpPr/>
          <p:nvPr/>
        </p:nvSpPr>
        <p:spPr>
          <a:xfrm>
            <a:off x="5896051" y="5294376"/>
            <a:ext cx="201168" cy="146304"/>
          </a:xfrm>
          <a:prstGeom prst="roundRect">
            <a:avLst>
              <a:gd name="adj" fmla="val 50000"/>
            </a:avLst>
          </a:prstGeom>
          <a:solidFill>
            <a:srgbClr val="134E4A"/>
          </a:solidFill>
          <a:ln w="12700">
            <a:solidFill>
              <a:srgbClr val="134E4A"/>
            </a:solidFill>
            <a:prstDash val="solid"/>
          </a:ln>
        </p:spPr>
      </p:sp>
      <p:sp>
        <p:nvSpPr>
          <p:cNvPr id="88" name="text-84"/>
          <p:cNvSpPr txBox="1"/>
          <p:nvPr/>
        </p:nvSpPr>
        <p:spPr>
          <a:xfrm>
            <a:off x="5896051"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89" name="shape-85"/>
          <p:cNvSpPr/>
          <p:nvPr/>
        </p:nvSpPr>
        <p:spPr>
          <a:xfrm>
            <a:off x="6152083" y="5294376"/>
            <a:ext cx="201168" cy="146304"/>
          </a:xfrm>
          <a:prstGeom prst="roundRect">
            <a:avLst>
              <a:gd name="adj" fmla="val 50000"/>
            </a:avLst>
          </a:prstGeom>
          <a:solidFill>
            <a:srgbClr val="0F766E"/>
          </a:solidFill>
          <a:ln w="12700">
            <a:solidFill>
              <a:srgbClr val="0F766E"/>
            </a:solidFill>
            <a:prstDash val="solid"/>
          </a:ln>
        </p:spPr>
      </p:sp>
      <p:sp>
        <p:nvSpPr>
          <p:cNvPr id="90" name="text-86"/>
          <p:cNvSpPr txBox="1"/>
          <p:nvPr/>
        </p:nvSpPr>
        <p:spPr>
          <a:xfrm>
            <a:off x="6152083"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91" name="text-87"/>
          <p:cNvSpPr txBox="1"/>
          <p:nvPr/>
        </p:nvSpPr>
        <p:spPr>
          <a:xfrm>
            <a:off x="7362749"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92" name="shape-88"/>
          <p:cNvSpPr/>
          <p:nvPr/>
        </p:nvSpPr>
        <p:spPr>
          <a:xfrm>
            <a:off x="8130845" y="5294376"/>
            <a:ext cx="201168" cy="146304"/>
          </a:xfrm>
          <a:prstGeom prst="roundRect">
            <a:avLst>
              <a:gd name="adj" fmla="val 50000"/>
            </a:avLst>
          </a:prstGeom>
          <a:solidFill>
            <a:srgbClr val="134E4A"/>
          </a:solidFill>
          <a:ln w="12700">
            <a:solidFill>
              <a:srgbClr val="134E4A"/>
            </a:solidFill>
            <a:prstDash val="solid"/>
          </a:ln>
        </p:spPr>
      </p:sp>
      <p:sp>
        <p:nvSpPr>
          <p:cNvPr id="93" name="text-89"/>
          <p:cNvSpPr txBox="1"/>
          <p:nvPr/>
        </p:nvSpPr>
        <p:spPr>
          <a:xfrm>
            <a:off x="8130845"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94" name="shape-90"/>
          <p:cNvSpPr/>
          <p:nvPr/>
        </p:nvSpPr>
        <p:spPr>
          <a:xfrm>
            <a:off x="8386877" y="5294376"/>
            <a:ext cx="201168" cy="146304"/>
          </a:xfrm>
          <a:prstGeom prst="roundRect">
            <a:avLst>
              <a:gd name="adj" fmla="val 50000"/>
            </a:avLst>
          </a:prstGeom>
          <a:solidFill>
            <a:srgbClr val="B45309"/>
          </a:solidFill>
          <a:ln w="12700">
            <a:solidFill>
              <a:srgbClr val="B45309"/>
            </a:solidFill>
            <a:prstDash val="solid"/>
          </a:ln>
        </p:spPr>
      </p:sp>
      <p:sp>
        <p:nvSpPr>
          <p:cNvPr id="95" name="text-91"/>
          <p:cNvSpPr txBox="1"/>
          <p:nvPr/>
        </p:nvSpPr>
        <p:spPr>
          <a:xfrm>
            <a:off x="8386877"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96" name="shape-92"/>
          <p:cNvSpPr/>
          <p:nvPr/>
        </p:nvSpPr>
        <p:spPr>
          <a:xfrm>
            <a:off x="8642909" y="5294376"/>
            <a:ext cx="201168" cy="146304"/>
          </a:xfrm>
          <a:prstGeom prst="roundRect">
            <a:avLst>
              <a:gd name="adj" fmla="val 50000"/>
            </a:avLst>
          </a:prstGeom>
          <a:solidFill>
            <a:srgbClr val="0F766E"/>
          </a:solidFill>
          <a:ln w="12700">
            <a:solidFill>
              <a:srgbClr val="0F766E"/>
            </a:solidFill>
            <a:prstDash val="solid"/>
          </a:ln>
        </p:spPr>
      </p:sp>
      <p:sp>
        <p:nvSpPr>
          <p:cNvPr id="97" name="text-93"/>
          <p:cNvSpPr txBox="1"/>
          <p:nvPr/>
        </p:nvSpPr>
        <p:spPr>
          <a:xfrm>
            <a:off x="8642909"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98" name="text-94"/>
          <p:cNvSpPr txBox="1"/>
          <p:nvPr/>
        </p:nvSpPr>
        <p:spPr>
          <a:xfrm>
            <a:off x="9597542"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99" name="shape-95"/>
          <p:cNvSpPr/>
          <p:nvPr/>
        </p:nvSpPr>
        <p:spPr>
          <a:xfrm>
            <a:off x="10365638" y="5294376"/>
            <a:ext cx="201168" cy="146304"/>
          </a:xfrm>
          <a:prstGeom prst="roundRect">
            <a:avLst>
              <a:gd name="adj" fmla="val 50000"/>
            </a:avLst>
          </a:prstGeom>
          <a:solidFill>
            <a:srgbClr val="134E4A"/>
          </a:solidFill>
          <a:ln w="12700">
            <a:solidFill>
              <a:srgbClr val="134E4A"/>
            </a:solidFill>
            <a:prstDash val="solid"/>
          </a:ln>
        </p:spPr>
      </p:sp>
      <p:sp>
        <p:nvSpPr>
          <p:cNvPr id="100" name="text-96"/>
          <p:cNvSpPr txBox="1"/>
          <p:nvPr/>
        </p:nvSpPr>
        <p:spPr>
          <a:xfrm>
            <a:off x="10365638"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01" name="shape-97"/>
          <p:cNvSpPr/>
          <p:nvPr/>
        </p:nvSpPr>
        <p:spPr>
          <a:xfrm>
            <a:off x="10621670" y="5294376"/>
            <a:ext cx="201168" cy="146304"/>
          </a:xfrm>
          <a:prstGeom prst="roundRect">
            <a:avLst>
              <a:gd name="adj" fmla="val 50000"/>
            </a:avLst>
          </a:prstGeom>
          <a:solidFill>
            <a:srgbClr val="0F766E"/>
          </a:solidFill>
          <a:ln w="12700">
            <a:solidFill>
              <a:srgbClr val="0F766E"/>
            </a:solidFill>
            <a:prstDash val="solid"/>
          </a:ln>
        </p:spPr>
      </p:sp>
      <p:sp>
        <p:nvSpPr>
          <p:cNvPr id="102" name="text-98"/>
          <p:cNvSpPr txBox="1"/>
          <p:nvPr/>
        </p:nvSpPr>
        <p:spPr>
          <a:xfrm>
            <a:off x="10621670"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03" name="text-99"/>
          <p:cNvSpPr txBox="1"/>
          <p:nvPr/>
        </p:nvSpPr>
        <p:spPr>
          <a:xfrm>
            <a:off x="548640" y="5632704"/>
            <a:ext cx="11064240" cy="329184"/>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A product: all five, built or wrapped by us · B content tooling: groups 3–5 through configuration, vendor SLAs and copies held outside the tool · X cross-cutting: inherits A in A’s path · C commodity: standard posture, no shared fate with A</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PUBLISHING AND ROLLBACK INSIDE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publishing hub, regional nodes that serve alone, rollback by re-pointing</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2286000"/>
            <a:ext cx="2011680" cy="1371600"/>
          </a:xfrm>
          <a:prstGeom prst="roundRect">
            <a:avLst>
              <a:gd name="adj" fmla="val 6667"/>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713232" y="2432304"/>
            <a:ext cx="256032" cy="256032"/>
          </a:xfrm>
          <a:prstGeom prst="rect">
            <a:avLst/>
          </a:prstGeom>
        </p:spPr>
      </p:pic>
      <p:sp>
        <p:nvSpPr>
          <p:cNvPr id="8" name="text-4"/>
          <p:cNvSpPr txBox="1"/>
          <p:nvPr/>
        </p:nvSpPr>
        <p:spPr>
          <a:xfrm>
            <a:off x="1060704" y="2414016"/>
            <a:ext cx="1463040" cy="274320"/>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Publishing hub</a:t>
            </a:r>
            <a:endParaRPr lang="en-US" sz="1350" dirty="0"/>
          </a:p>
        </p:txBody>
      </p:sp>
      <p:sp>
        <p:nvSpPr>
          <p:cNvPr id="9" name="text-5"/>
          <p:cNvSpPr txBox="1"/>
          <p:nvPr/>
        </p:nvSpPr>
        <p:spPr>
          <a:xfrm>
            <a:off x="713232" y="2798064"/>
            <a:ext cx="1828800"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authoring → review → approve</a:t>
            </a:r>
            <a:endParaRPr lang="en-US" sz="950" dirty="0"/>
          </a:p>
        </p:txBody>
      </p:sp>
      <p:sp>
        <p:nvSpPr>
          <p:cNvPr id="10" name="text-6"/>
          <p:cNvSpPr txBox="1"/>
          <p:nvPr/>
        </p:nvSpPr>
        <p:spPr>
          <a:xfrm>
            <a:off x="713232" y="2980944"/>
            <a:ext cx="1828800"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build → test evidence → sign</a:t>
            </a:r>
            <a:endParaRPr lang="en-US" sz="950" dirty="0"/>
          </a:p>
        </p:txBody>
      </p:sp>
      <p:sp>
        <p:nvSpPr>
          <p:cNvPr id="11" name="shape-7"/>
          <p:cNvSpPr/>
          <p:nvPr/>
        </p:nvSpPr>
        <p:spPr>
          <a:xfrm>
            <a:off x="713232" y="3255264"/>
            <a:ext cx="1682496" cy="237744"/>
          </a:xfrm>
          <a:prstGeom prst="roundRect">
            <a:avLst>
              <a:gd name="adj" fmla="val 15385"/>
            </a:avLst>
          </a:prstGeom>
          <a:solidFill>
            <a:srgbClr val="0F766E"/>
          </a:solidFill>
          <a:ln w="12700">
            <a:solidFill>
              <a:srgbClr val="0F766E"/>
            </a:solidFill>
            <a:prstDash val="solid"/>
          </a:ln>
        </p:spPr>
      </p:sp>
      <p:sp>
        <p:nvSpPr>
          <p:cNvPr id="12" name="text-8"/>
          <p:cNvSpPr txBox="1"/>
          <p:nvPr/>
        </p:nvSpPr>
        <p:spPr>
          <a:xfrm>
            <a:off x="713232" y="3255264"/>
            <a:ext cx="1682496" cy="237744"/>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383280" y="2286000"/>
            <a:ext cx="1554480" cy="1371600"/>
          </a:xfrm>
          <a:prstGeom prst="roundRect">
            <a:avLst>
              <a:gd name="adj" fmla="val 6667"/>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547872" y="2450592"/>
            <a:ext cx="237744" cy="237744"/>
          </a:xfrm>
          <a:prstGeom prst="rect">
            <a:avLst/>
          </a:prstGeom>
        </p:spPr>
      </p:pic>
      <p:sp>
        <p:nvSpPr>
          <p:cNvPr id="15" name="text-11"/>
          <p:cNvSpPr txBox="1"/>
          <p:nvPr/>
        </p:nvSpPr>
        <p:spPr>
          <a:xfrm>
            <a:off x="3858768" y="2432304"/>
            <a:ext cx="1005840" cy="274320"/>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Event log</a:t>
            </a:r>
            <a:endParaRPr lang="en-US" sz="1200" dirty="0"/>
          </a:p>
        </p:txBody>
      </p:sp>
      <p:sp>
        <p:nvSpPr>
          <p:cNvPr id="16" name="text-12"/>
          <p:cNvSpPr txBox="1"/>
          <p:nvPr/>
        </p:nvSpPr>
        <p:spPr>
          <a:xfrm>
            <a:off x="3511296" y="2798064"/>
            <a:ext cx="1371600" cy="182880"/>
          </a:xfrm>
          <a:prstGeom prst="rect">
            <a:avLst/>
          </a:prstGeom>
          <a:noFill/>
          <a:ln/>
        </p:spPr>
        <p:txBody>
          <a:bodyPr wrap="non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as proposed: the bus</a:t>
            </a:r>
            <a:endParaRPr lang="en-US" sz="950" dirty="0"/>
          </a:p>
        </p:txBody>
      </p:sp>
      <p:sp>
        <p:nvSpPr>
          <p:cNvPr id="17" name="text-13"/>
          <p:cNvSpPr txBox="1"/>
          <p:nvPr/>
        </p:nvSpPr>
        <p:spPr>
          <a:xfrm>
            <a:off x="3511296" y="2980944"/>
            <a:ext cx="1371600" cy="182880"/>
          </a:xfrm>
          <a:prstGeom prst="rect">
            <a:avLst/>
          </a:prstGeom>
          <a:noFill/>
          <a:ln/>
        </p:spPr>
        <p:txBody>
          <a:bodyPr wrap="non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ordered,</a:t>
            </a:r>
            <a:endParaRPr lang="en-US" sz="950" dirty="0"/>
          </a:p>
        </p:txBody>
      </p:sp>
      <p:sp>
        <p:nvSpPr>
          <p:cNvPr id="18" name="text-14"/>
          <p:cNvSpPr txBox="1"/>
          <p:nvPr/>
        </p:nvSpPr>
        <p:spPr>
          <a:xfrm>
            <a:off x="3511296" y="3163824"/>
            <a:ext cx="1371600" cy="182880"/>
          </a:xfrm>
          <a:prstGeom prst="rect">
            <a:avLst/>
          </a:prstGeom>
          <a:noFill/>
          <a:ln/>
        </p:spPr>
        <p:txBody>
          <a:bodyPr wrap="non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retained, replayable</a:t>
            </a:r>
            <a:endParaRPr lang="en-US" sz="950" dirty="0"/>
          </a:p>
        </p:txBody>
      </p:sp>
      <p:sp>
        <p:nvSpPr>
          <p:cNvPr id="19" name="text-15"/>
          <p:cNvSpPr txBox="1"/>
          <p:nvPr/>
        </p:nvSpPr>
        <p:spPr>
          <a:xfrm>
            <a:off x="3511296" y="3346704"/>
            <a:ext cx="1371600" cy="182880"/>
          </a:xfrm>
          <a:prstGeom prst="rect">
            <a:avLst/>
          </a:prstGeom>
          <a:noFill/>
          <a:ln/>
        </p:spPr>
        <p:txBody>
          <a:bodyPr wrap="non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fan-out to every node</a:t>
            </a:r>
            <a:endParaRPr lang="en-US" sz="950" dirty="0"/>
          </a:p>
        </p:txBody>
      </p:sp>
      <p:sp>
        <p:nvSpPr>
          <p:cNvPr id="20" name="line-16"/>
          <p:cNvSpPr/>
          <p:nvPr/>
        </p:nvSpPr>
        <p:spPr>
          <a:xfrm>
            <a:off x="2560320" y="2971800"/>
            <a:ext cx="768096" cy="0"/>
          </a:xfrm>
          <a:prstGeom prst="line">
            <a:avLst/>
          </a:prstGeom>
          <a:noFill/>
          <a:ln w="31750">
            <a:solidFill>
              <a:srgbClr val="134E4A"/>
            </a:solidFill>
            <a:prstDash val="solid"/>
            <a:tailEnd type="triangle"/>
          </a:ln>
        </p:spPr>
      </p:sp>
      <p:sp>
        <p:nvSpPr>
          <p:cNvPr id="21" name="text-17"/>
          <p:cNvSpPr txBox="1"/>
          <p:nvPr/>
        </p:nvSpPr>
        <p:spPr>
          <a:xfrm>
            <a:off x="2560320" y="2743200"/>
            <a:ext cx="822960" cy="164592"/>
          </a:xfrm>
          <a:prstGeom prst="rect">
            <a:avLst/>
          </a:prstGeom>
          <a:noFill/>
          <a:ln/>
        </p:spPr>
        <p:txBody>
          <a:bodyPr wrap="square" lIns="0" tIns="0" rIns="0" bIns="0" rtlCol="0" anchor="ctr"/>
          <a:lstStyle/>
          <a:p>
            <a:pPr algn="ctr" indent="0" marL="0">
              <a:lnSpc>
                <a:spcPct val="100000"/>
              </a:lnSpc>
              <a:buNone/>
            </a:pPr>
            <a:r>
              <a:rPr lang="en-US" sz="850" b="1" dirty="0">
                <a:solidFill>
                  <a:srgbClr val="134E4A"/>
                </a:solidFill>
                <a:latin typeface="Calibri" pitchFamily="34" charset="0"/>
                <a:ea typeface="Calibri" pitchFamily="34" charset="-122"/>
                <a:cs typeface="Calibri" pitchFamily="34" charset="-120"/>
              </a:rPr>
              <a:t>publish</a:t>
            </a:r>
            <a:endParaRPr lang="en-US" sz="850" dirty="0"/>
          </a:p>
        </p:txBody>
      </p:sp>
      <p:sp>
        <p:nvSpPr>
          <p:cNvPr id="22" name="shape-18"/>
          <p:cNvSpPr/>
          <p:nvPr/>
        </p:nvSpPr>
        <p:spPr>
          <a:xfrm>
            <a:off x="5303520" y="1463040"/>
            <a:ext cx="2194560" cy="896112"/>
          </a:xfrm>
          <a:prstGeom prst="roundRect">
            <a:avLst>
              <a:gd name="adj" fmla="val 1020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449824" y="1591056"/>
            <a:ext cx="237744" cy="237744"/>
          </a:xfrm>
          <a:prstGeom prst="rect">
            <a:avLst/>
          </a:prstGeom>
        </p:spPr>
      </p:pic>
      <p:sp>
        <p:nvSpPr>
          <p:cNvPr id="24" name="text-20"/>
          <p:cNvSpPr txBox="1"/>
          <p:nvPr/>
        </p:nvSpPr>
        <p:spPr>
          <a:xfrm>
            <a:off x="5760720" y="1572768"/>
            <a:ext cx="15544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Region 1</a:t>
            </a:r>
            <a:endParaRPr lang="en-US" sz="1200" dirty="0"/>
          </a:p>
        </p:txBody>
      </p:sp>
      <p:sp>
        <p:nvSpPr>
          <p:cNvPr id="25" name="text-21"/>
          <p:cNvSpPr txBox="1"/>
          <p:nvPr/>
        </p:nvSpPr>
        <p:spPr>
          <a:xfrm>
            <a:off x="5449824" y="1847088"/>
            <a:ext cx="1901952"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primary for its users</a:t>
            </a:r>
            <a:endParaRPr lang="en-US" sz="850" dirty="0"/>
          </a:p>
        </p:txBody>
      </p:sp>
      <p:sp>
        <p:nvSpPr>
          <p:cNvPr id="26" name="text-22"/>
          <p:cNvSpPr txBox="1"/>
          <p:nvPr/>
        </p:nvSpPr>
        <p:spPr>
          <a:xfrm>
            <a:off x="5449824" y="2011680"/>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content vN · app · entitlement cache</a:t>
            </a:r>
            <a:endParaRPr lang="en-US" sz="900" dirty="0"/>
          </a:p>
        </p:txBody>
      </p:sp>
      <p:sp>
        <p:nvSpPr>
          <p:cNvPr id="27" name="text-23"/>
          <p:cNvSpPr txBox="1"/>
          <p:nvPr/>
        </p:nvSpPr>
        <p:spPr>
          <a:xfrm>
            <a:off x="5449824" y="2167128"/>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serves alone if the hub is down</a:t>
            </a:r>
            <a:endParaRPr lang="en-US" sz="900" dirty="0"/>
          </a:p>
        </p:txBody>
      </p:sp>
      <p:sp>
        <p:nvSpPr>
          <p:cNvPr id="28" name="line-24"/>
          <p:cNvSpPr/>
          <p:nvPr/>
        </p:nvSpPr>
        <p:spPr>
          <a:xfrm flipV="1">
            <a:off x="4937760" y="1911096"/>
            <a:ext cx="310896" cy="1060704"/>
          </a:xfrm>
          <a:prstGeom prst="line">
            <a:avLst/>
          </a:prstGeom>
          <a:noFill/>
          <a:ln w="19050">
            <a:solidFill>
              <a:srgbClr val="B45309"/>
            </a:solidFill>
            <a:prstDash val="sysDash"/>
            <a:tailEnd type="triangle"/>
          </a:ln>
        </p:spPr>
      </p:sp>
      <p:sp>
        <p:nvSpPr>
          <p:cNvPr id="29" name="shape-25"/>
          <p:cNvSpPr/>
          <p:nvPr/>
        </p:nvSpPr>
        <p:spPr>
          <a:xfrm>
            <a:off x="5303520" y="2487168"/>
            <a:ext cx="2194560" cy="896112"/>
          </a:xfrm>
          <a:prstGeom prst="roundRect">
            <a:avLst>
              <a:gd name="adj" fmla="val 1020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449824" y="2615184"/>
            <a:ext cx="237744" cy="237744"/>
          </a:xfrm>
          <a:prstGeom prst="rect">
            <a:avLst/>
          </a:prstGeom>
        </p:spPr>
      </p:pic>
      <p:sp>
        <p:nvSpPr>
          <p:cNvPr id="31" name="text-27"/>
          <p:cNvSpPr txBox="1"/>
          <p:nvPr/>
        </p:nvSpPr>
        <p:spPr>
          <a:xfrm>
            <a:off x="5760720" y="2596896"/>
            <a:ext cx="15544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Region 2</a:t>
            </a:r>
            <a:endParaRPr lang="en-US" sz="1200" dirty="0"/>
          </a:p>
        </p:txBody>
      </p:sp>
      <p:sp>
        <p:nvSpPr>
          <p:cNvPr id="32" name="text-28"/>
          <p:cNvSpPr txBox="1"/>
          <p:nvPr/>
        </p:nvSpPr>
        <p:spPr>
          <a:xfrm>
            <a:off x="5449824" y="2871216"/>
            <a:ext cx="1901952"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primary for its users</a:t>
            </a:r>
            <a:endParaRPr lang="en-US" sz="850" dirty="0"/>
          </a:p>
        </p:txBody>
      </p:sp>
      <p:sp>
        <p:nvSpPr>
          <p:cNvPr id="33" name="text-29"/>
          <p:cNvSpPr txBox="1"/>
          <p:nvPr/>
        </p:nvSpPr>
        <p:spPr>
          <a:xfrm>
            <a:off x="5449824" y="3035808"/>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content vN · app · entitlement cache</a:t>
            </a:r>
            <a:endParaRPr lang="en-US" sz="900" dirty="0"/>
          </a:p>
        </p:txBody>
      </p:sp>
      <p:sp>
        <p:nvSpPr>
          <p:cNvPr id="34" name="text-30"/>
          <p:cNvSpPr txBox="1"/>
          <p:nvPr/>
        </p:nvSpPr>
        <p:spPr>
          <a:xfrm>
            <a:off x="5449824" y="3191256"/>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serves alone if the hub is down</a:t>
            </a:r>
            <a:endParaRPr lang="en-US" sz="900" dirty="0"/>
          </a:p>
        </p:txBody>
      </p:sp>
      <p:sp>
        <p:nvSpPr>
          <p:cNvPr id="35" name="line-31"/>
          <p:cNvSpPr/>
          <p:nvPr/>
        </p:nvSpPr>
        <p:spPr>
          <a:xfrm flipV="1">
            <a:off x="4937760" y="2935224"/>
            <a:ext cx="310896" cy="36576"/>
          </a:xfrm>
          <a:prstGeom prst="line">
            <a:avLst/>
          </a:prstGeom>
          <a:noFill/>
          <a:ln w="19050">
            <a:solidFill>
              <a:srgbClr val="B45309"/>
            </a:solidFill>
            <a:prstDash val="sysDash"/>
            <a:tailEnd type="triangle"/>
          </a:ln>
        </p:spPr>
      </p:sp>
      <p:sp>
        <p:nvSpPr>
          <p:cNvPr id="36" name="shape-32"/>
          <p:cNvSpPr/>
          <p:nvPr/>
        </p:nvSpPr>
        <p:spPr>
          <a:xfrm>
            <a:off x="5303520" y="3511296"/>
            <a:ext cx="2194560" cy="896112"/>
          </a:xfrm>
          <a:prstGeom prst="roundRect">
            <a:avLst>
              <a:gd name="adj" fmla="val 1020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449824" y="3639312"/>
            <a:ext cx="237744" cy="237744"/>
          </a:xfrm>
          <a:prstGeom prst="rect">
            <a:avLst/>
          </a:prstGeom>
        </p:spPr>
      </p:pic>
      <p:sp>
        <p:nvSpPr>
          <p:cNvPr id="38" name="text-34"/>
          <p:cNvSpPr txBox="1"/>
          <p:nvPr/>
        </p:nvSpPr>
        <p:spPr>
          <a:xfrm>
            <a:off x="5760720" y="3621024"/>
            <a:ext cx="15544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Region 3</a:t>
            </a:r>
            <a:endParaRPr lang="en-US" sz="1200" dirty="0"/>
          </a:p>
        </p:txBody>
      </p:sp>
      <p:sp>
        <p:nvSpPr>
          <p:cNvPr id="39" name="text-35"/>
          <p:cNvSpPr txBox="1"/>
          <p:nvPr/>
        </p:nvSpPr>
        <p:spPr>
          <a:xfrm>
            <a:off x="5449824" y="3895344"/>
            <a:ext cx="1901952"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standby; rebuilt from the log</a:t>
            </a:r>
            <a:endParaRPr lang="en-US" sz="850" dirty="0"/>
          </a:p>
        </p:txBody>
      </p:sp>
      <p:sp>
        <p:nvSpPr>
          <p:cNvPr id="40" name="text-36"/>
          <p:cNvSpPr txBox="1"/>
          <p:nvPr/>
        </p:nvSpPr>
        <p:spPr>
          <a:xfrm>
            <a:off x="5449824" y="4059936"/>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content vN · app · entitlement cache</a:t>
            </a:r>
            <a:endParaRPr lang="en-US" sz="900" dirty="0"/>
          </a:p>
        </p:txBody>
      </p:sp>
      <p:sp>
        <p:nvSpPr>
          <p:cNvPr id="41" name="text-37"/>
          <p:cNvSpPr txBox="1"/>
          <p:nvPr/>
        </p:nvSpPr>
        <p:spPr>
          <a:xfrm>
            <a:off x="5449824" y="4215384"/>
            <a:ext cx="1901952" cy="164592"/>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serves alone if the hub is down</a:t>
            </a:r>
            <a:endParaRPr lang="en-US" sz="900" dirty="0"/>
          </a:p>
        </p:txBody>
      </p:sp>
      <p:sp>
        <p:nvSpPr>
          <p:cNvPr id="42" name="line-38"/>
          <p:cNvSpPr/>
          <p:nvPr/>
        </p:nvSpPr>
        <p:spPr>
          <a:xfrm>
            <a:off x="4937760" y="2971800"/>
            <a:ext cx="310896" cy="987552"/>
          </a:xfrm>
          <a:prstGeom prst="line">
            <a:avLst/>
          </a:prstGeom>
          <a:noFill/>
          <a:ln w="19050">
            <a:solidFill>
              <a:srgbClr val="B45309"/>
            </a:solidFill>
            <a:prstDash val="sysDash"/>
            <a:tailEnd type="triangle"/>
          </a:ln>
        </p:spPr>
      </p:sp>
      <p:sp>
        <p:nvSpPr>
          <p:cNvPr id="43" name="text-39"/>
          <p:cNvSpPr txBox="1"/>
          <p:nvPr/>
        </p:nvSpPr>
        <p:spPr>
          <a:xfrm>
            <a:off x="5303520" y="4535424"/>
            <a:ext cx="2194560" cy="164592"/>
          </a:xfrm>
          <a:prstGeom prst="rect">
            <a:avLst/>
          </a:prstGeom>
          <a:noFill/>
          <a:ln/>
        </p:spPr>
        <p:txBody>
          <a:bodyPr wrap="square" lIns="0" tIns="0" rIns="0" bIns="0" rtlCol="0" anchor="ctr"/>
          <a:lstStyle/>
          <a:p>
            <a:pPr algn="ctr" indent="0" marL="0">
              <a:lnSpc>
                <a:spcPct val="100000"/>
              </a:lnSpc>
              <a:buNone/>
            </a:pPr>
            <a:r>
              <a:rPr lang="en-US" sz="900" i="1" dirty="0">
                <a:solidFill>
                  <a:srgbClr val="5A6B75"/>
                </a:solidFill>
                <a:latin typeface="Calibri" pitchFamily="34" charset="0"/>
                <a:ea typeface="Calibri" pitchFamily="34" charset="-122"/>
                <a:cs typeface="Calibri" pitchFamily="34" charset="-120"/>
              </a:rPr>
              <a:t>nodes are backups for each other</a:t>
            </a:r>
            <a:endParaRPr lang="en-US" sz="900" dirty="0"/>
          </a:p>
        </p:txBody>
      </p:sp>
      <p:sp>
        <p:nvSpPr>
          <p:cNvPr id="44" name="shape-40"/>
          <p:cNvSpPr/>
          <p:nvPr/>
        </p:nvSpPr>
        <p:spPr>
          <a:xfrm>
            <a:off x="8686800" y="1645920"/>
            <a:ext cx="1280160" cy="2651760"/>
          </a:xfrm>
          <a:prstGeom prst="roundRect">
            <a:avLst>
              <a:gd name="adj" fmla="val 7143"/>
            </a:avLst>
          </a:prstGeom>
          <a:solidFill>
            <a:srgbClr val="EEF2F4"/>
          </a:solidFill>
          <a:ln w="12700">
            <a:solidFill>
              <a:srgbClr val="EEF2F4"/>
            </a:solidFill>
            <a:prstDash val="solid"/>
          </a:ln>
        </p:spPr>
      </p:sp>
      <p:sp>
        <p:nvSpPr>
          <p:cNvPr id="45" name="text-41"/>
          <p:cNvSpPr txBox="1"/>
          <p:nvPr/>
        </p:nvSpPr>
        <p:spPr>
          <a:xfrm>
            <a:off x="8686800" y="1810512"/>
            <a:ext cx="1280160" cy="201168"/>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Multi-CDN edge</a:t>
            </a:r>
            <a:endParaRPr lang="en-US" sz="1050" dirty="0"/>
          </a:p>
        </p:txBody>
      </p:sp>
      <p:sp>
        <p:nvSpPr>
          <p:cNvPr id="46" name="text-42"/>
          <p:cNvSpPr txBox="1"/>
          <p:nvPr/>
        </p:nvSpPr>
        <p:spPr>
          <a:xfrm>
            <a:off x="8778240" y="2084832"/>
            <a:ext cx="1097280" cy="1371600"/>
          </a:xfrm>
          <a:prstGeom prst="rect">
            <a:avLst/>
          </a:prstGeom>
          <a:noFill/>
          <a:ln/>
        </p:spPr>
        <p:txBody>
          <a:bodyPr wrap="square" lIns="0" tIns="0" rIns="0" bIns="0" rtlCol="0" anchor="t"/>
          <a:lstStyle/>
          <a:p>
            <a:pPr algn="ctr" indent="0" marL="0">
              <a:lnSpc>
                <a:spcPct val="100000"/>
              </a:lnSpc>
              <a:buNone/>
            </a:pPr>
            <a:r>
              <a:rPr lang="en-US" sz="900" dirty="0">
                <a:solidFill>
                  <a:srgbClr val="5A6B75"/>
                </a:solidFill>
                <a:latin typeface="Calibri" pitchFamily="34" charset="0"/>
                <a:ea typeface="Calibri" pitchFamily="34" charset="-122"/>
                <a:cs typeface="Calibri" pitchFamily="34" charset="-120"/>
              </a:rPr>
              <a:t>published content cached at the edge</a:t>
            </a:r>
            <a:endParaRPr lang="en-US" sz="900" dirty="0"/>
          </a:p>
          <a:p>
            <a:pPr algn="ctr" indent="0" marL="0">
              <a:lnSpc>
                <a:spcPct val="100000"/>
              </a:lnSpc>
              <a:buNone/>
            </a:pPr>
            <a:endParaRPr lang="en-US" sz="900" dirty="0"/>
          </a:p>
          <a:p>
            <a:pPr algn="ctr" indent="0" marL="0">
              <a:lnSpc>
                <a:spcPct val="100000"/>
              </a:lnSpc>
              <a:buNone/>
            </a:pPr>
            <a:r>
              <a:rPr lang="en-US" sz="90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900" dirty="0"/>
          </a:p>
        </p:txBody>
      </p:sp>
      <p:pic>
        <p:nvPicPr>
          <p:cNvPr id="47" name="icon-43" descr="preencoded.png">    </p:cNvPr>
          <p:cNvPicPr>
            <a:picLocks noChangeAspect="1"/>
          </p:cNvPicPr>
          <p:nvPr/>
        </p:nvPicPr>
        <p:blipFill>
          <a:blip r:embed="rId6"/>
          <a:stretch>
            <a:fillRect/>
          </a:stretch>
        </p:blipFill>
        <p:spPr>
          <a:xfrm>
            <a:off x="9198864" y="3767328"/>
            <a:ext cx="256032" cy="256032"/>
          </a:xfrm>
          <a:prstGeom prst="rect">
            <a:avLst/>
          </a:prstGeom>
        </p:spPr>
      </p:pic>
      <p:sp>
        <p:nvSpPr>
          <p:cNvPr id="48" name="line-44"/>
          <p:cNvSpPr/>
          <p:nvPr/>
        </p:nvSpPr>
        <p:spPr>
          <a:xfrm>
            <a:off x="7498080" y="1911096"/>
            <a:ext cx="1188720" cy="1060704"/>
          </a:xfrm>
          <a:prstGeom prst="line">
            <a:avLst/>
          </a:prstGeom>
          <a:noFill/>
          <a:ln w="25400">
            <a:solidFill>
              <a:srgbClr val="0F766E"/>
            </a:solidFill>
            <a:prstDash val="solid"/>
          </a:ln>
        </p:spPr>
      </p:sp>
      <p:sp>
        <p:nvSpPr>
          <p:cNvPr id="49" name="line-45"/>
          <p:cNvSpPr/>
          <p:nvPr/>
        </p:nvSpPr>
        <p:spPr>
          <a:xfrm>
            <a:off x="7498080" y="2935224"/>
            <a:ext cx="1188720" cy="36576"/>
          </a:xfrm>
          <a:prstGeom prst="line">
            <a:avLst/>
          </a:prstGeom>
          <a:noFill/>
          <a:ln w="25400">
            <a:solidFill>
              <a:srgbClr val="0F766E"/>
            </a:solidFill>
            <a:prstDash val="solid"/>
          </a:ln>
        </p:spPr>
      </p:sp>
      <p:sp>
        <p:nvSpPr>
          <p:cNvPr id="50" name="line-46"/>
          <p:cNvSpPr/>
          <p:nvPr/>
        </p:nvSpPr>
        <p:spPr>
          <a:xfrm flipV="1">
            <a:off x="7498080" y="2971800"/>
            <a:ext cx="1188720" cy="987552"/>
          </a:xfrm>
          <a:prstGeom prst="line">
            <a:avLst/>
          </a:prstGeom>
          <a:noFill/>
          <a:ln w="25400">
            <a:solidFill>
              <a:srgbClr val="0F766E"/>
            </a:solidFill>
            <a:prstDash val="solid"/>
          </a:ln>
        </p:spPr>
      </p:sp>
      <p:sp>
        <p:nvSpPr>
          <p:cNvPr id="51" name="oval-47"/>
          <p:cNvSpPr/>
          <p:nvPr/>
        </p:nvSpPr>
        <p:spPr>
          <a:xfrm>
            <a:off x="10424160" y="2606040"/>
            <a:ext cx="731520" cy="731520"/>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643616" y="2825496"/>
            <a:ext cx="292608" cy="292608"/>
          </a:xfrm>
          <a:prstGeom prst="rect">
            <a:avLst/>
          </a:prstGeom>
        </p:spPr>
      </p:pic>
      <p:sp>
        <p:nvSpPr>
          <p:cNvPr id="53" name="text-49"/>
          <p:cNvSpPr txBox="1"/>
          <p:nvPr/>
        </p:nvSpPr>
        <p:spPr>
          <a:xfrm>
            <a:off x="9692640" y="3419856"/>
            <a:ext cx="2194560" cy="402336"/>
          </a:xfrm>
          <a:prstGeom prst="rect">
            <a:avLst/>
          </a:prstGeom>
          <a:noFill/>
          <a:ln/>
        </p:spPr>
        <p:txBody>
          <a:bodyPr wrap="square" lIns="0" tIns="0" rIns="0" bIns="0" rtlCol="0" anchor="t"/>
          <a:lstStyle/>
          <a:p>
            <a:pPr algn="ctr" indent="0" marL="0">
              <a:lnSpc>
                <a:spcPct val="100000"/>
              </a:lnSpc>
              <a:buNone/>
            </a:pPr>
            <a:r>
              <a:rPr lang="en-US" sz="1000" dirty="0">
                <a:solidFill>
                  <a:srgbClr val="1C2B33"/>
                </a:solidFill>
                <a:latin typeface="Calibri" pitchFamily="34" charset="0"/>
                <a:ea typeface="Calibri" pitchFamily="34" charset="-122"/>
                <a:cs typeface="Calibri" pitchFamily="34" charset="-120"/>
              </a:rPr>
              <a:t>clinicians, institutions,</a:t>
            </a:r>
            <a:endParaRPr lang="en-US" sz="1000" dirty="0"/>
          </a:p>
          <a:p>
            <a:pPr algn="ctr" indent="0" marL="0">
              <a:lnSpc>
                <a:spcPct val="100000"/>
              </a:lnSpc>
              <a:buNone/>
            </a:pPr>
            <a:r>
              <a:rPr lang="en-US" sz="1000" dirty="0">
                <a:solidFill>
                  <a:srgbClr val="1C2B33"/>
                </a:solidFill>
                <a:latin typeface="Calibri" pitchFamily="34" charset="0"/>
                <a:ea typeface="Calibri" pitchFamily="34" charset="-122"/>
                <a:cs typeface="Calibri" pitchFamily="34" charset="-120"/>
              </a:rPr>
              <a:t>third-party systems</a:t>
            </a:r>
            <a:endParaRPr lang="en-US" sz="1000" dirty="0"/>
          </a:p>
        </p:txBody>
      </p:sp>
      <p:sp>
        <p:nvSpPr>
          <p:cNvPr id="54" name="line-50"/>
          <p:cNvSpPr/>
          <p:nvPr/>
        </p:nvSpPr>
        <p:spPr>
          <a:xfrm>
            <a:off x="9966960" y="2971800"/>
            <a:ext cx="438912" cy="0"/>
          </a:xfrm>
          <a:prstGeom prst="line">
            <a:avLst/>
          </a:prstGeom>
          <a:noFill/>
          <a:ln w="31750">
            <a:solidFill>
              <a:srgbClr val="134E4A"/>
            </a:solidFill>
            <a:prstDash val="solid"/>
          </a:ln>
        </p:spPr>
      </p:sp>
      <p:sp>
        <p:nvSpPr>
          <p:cNvPr id="55" name="shape-51"/>
          <p:cNvSpPr/>
          <p:nvPr/>
        </p:nvSpPr>
        <p:spPr>
          <a:xfrm>
            <a:off x="548640" y="4754880"/>
            <a:ext cx="5394960" cy="1645920"/>
          </a:xfrm>
          <a:prstGeom prst="roundRect">
            <a:avLst>
              <a:gd name="adj" fmla="val 4444"/>
            </a:avLst>
          </a:prstGeom>
          <a:solidFill>
            <a:srgbClr val="EEF2F4"/>
          </a:solidFill>
          <a:ln w="12700">
            <a:solidFill>
              <a:srgbClr val="EEF2F4"/>
            </a:solidFill>
            <a:prstDash val="solid"/>
          </a:ln>
        </p:spPr>
      </p:sp>
      <p:sp>
        <p:nvSpPr>
          <p:cNvPr id="56" name="text-52"/>
          <p:cNvSpPr txBox="1"/>
          <p:nvPr/>
        </p:nvSpPr>
        <p:spPr>
          <a:xfrm>
            <a:off x="749808" y="490118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68096" y="5321808"/>
            <a:ext cx="73152" cy="73152"/>
          </a:xfrm>
          <a:prstGeom prst="ellipse">
            <a:avLst/>
          </a:prstGeom>
          <a:solidFill>
            <a:srgbClr val="0F766E"/>
          </a:solidFill>
          <a:ln w="12700">
            <a:solidFill>
              <a:srgbClr val="0F766E"/>
            </a:solidFill>
            <a:prstDash val="solid"/>
          </a:ln>
        </p:spPr>
      </p:sp>
      <p:sp>
        <p:nvSpPr>
          <p:cNvPr id="58" name="text-54"/>
          <p:cNvSpPr txBox="1"/>
          <p:nvPr/>
        </p:nvSpPr>
        <p:spPr>
          <a:xfrm>
            <a:off x="932688" y="5230368"/>
            <a:ext cx="4846320" cy="256032"/>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Rolling back is re-pointing to vN-1 — seconds, no redeploy</a:t>
            </a:r>
            <a:endParaRPr lang="en-US" sz="1050" dirty="0"/>
          </a:p>
        </p:txBody>
      </p:sp>
      <p:sp>
        <p:nvSpPr>
          <p:cNvPr id="59" name="oval-55"/>
          <p:cNvSpPr/>
          <p:nvPr/>
        </p:nvSpPr>
        <p:spPr>
          <a:xfrm>
            <a:off x="768096" y="5596128"/>
            <a:ext cx="73152" cy="73152"/>
          </a:xfrm>
          <a:prstGeom prst="ellipse">
            <a:avLst/>
          </a:prstGeom>
          <a:solidFill>
            <a:srgbClr val="0F766E"/>
          </a:solidFill>
          <a:ln w="12700">
            <a:solidFill>
              <a:srgbClr val="0F766E"/>
            </a:solidFill>
            <a:prstDash val="solid"/>
          </a:ln>
        </p:spPr>
      </p:sp>
      <p:sp>
        <p:nvSpPr>
          <p:cNvPr id="60" name="text-56"/>
          <p:cNvSpPr txBox="1"/>
          <p:nvPr/>
        </p:nvSpPr>
        <p:spPr>
          <a:xfrm>
            <a:off x="932688" y="5504688"/>
            <a:ext cx="4846320" cy="256032"/>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Content and code roll back together: the manifest binds them</a:t>
            </a:r>
            <a:endParaRPr lang="en-US" sz="1050" dirty="0"/>
          </a:p>
        </p:txBody>
      </p:sp>
      <p:sp>
        <p:nvSpPr>
          <p:cNvPr id="61" name="oval-57"/>
          <p:cNvSpPr/>
          <p:nvPr/>
        </p:nvSpPr>
        <p:spPr>
          <a:xfrm>
            <a:off x="768096" y="5870448"/>
            <a:ext cx="73152" cy="73152"/>
          </a:xfrm>
          <a:prstGeom prst="ellipse">
            <a:avLst/>
          </a:prstGeom>
          <a:solidFill>
            <a:srgbClr val="0F766E"/>
          </a:solidFill>
          <a:ln w="12700">
            <a:solidFill>
              <a:srgbClr val="0F766E"/>
            </a:solidFill>
            <a:prstDash val="solid"/>
          </a:ln>
        </p:spPr>
      </p:sp>
      <p:sp>
        <p:nvSpPr>
          <p:cNvPr id="62" name="text-58"/>
          <p:cNvSpPr txBox="1"/>
          <p:nvPr/>
        </p:nvSpPr>
        <p:spPr>
          <a:xfrm>
            <a:off x="932688" y="5779008"/>
            <a:ext cx="4846320" cy="256032"/>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 lost node is rebuilt by replaying the log — no restore from backup</a:t>
            </a:r>
            <a:endParaRPr lang="en-US" sz="1050" dirty="0"/>
          </a:p>
        </p:txBody>
      </p:sp>
      <p:sp>
        <p:nvSpPr>
          <p:cNvPr id="63" name="oval-59"/>
          <p:cNvSpPr/>
          <p:nvPr/>
        </p:nvSpPr>
        <p:spPr>
          <a:xfrm>
            <a:off x="768096" y="6144768"/>
            <a:ext cx="73152" cy="73152"/>
          </a:xfrm>
          <a:prstGeom prst="ellipse">
            <a:avLst/>
          </a:prstGeom>
          <a:solidFill>
            <a:srgbClr val="0F766E"/>
          </a:solidFill>
          <a:ln w="12700">
            <a:solidFill>
              <a:srgbClr val="0F766E"/>
            </a:solidFill>
            <a:prstDash val="solid"/>
          </a:ln>
        </p:spPr>
      </p:sp>
      <p:sp>
        <p:nvSpPr>
          <p:cNvPr id="64" name="text-60"/>
          <p:cNvSpPr txBox="1"/>
          <p:nvPr/>
        </p:nvSpPr>
        <p:spPr>
          <a:xfrm>
            <a:off x="932688" y="6053328"/>
            <a:ext cx="4846320" cy="256032"/>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Canary: publish to one node or cohort, watch the SLO, then fan out</a:t>
            </a:r>
            <a:endParaRPr lang="en-US" sz="1050" dirty="0"/>
          </a:p>
        </p:txBody>
      </p:sp>
      <p:sp>
        <p:nvSpPr>
          <p:cNvPr id="65" name="shape-61"/>
          <p:cNvSpPr/>
          <p:nvPr/>
        </p:nvSpPr>
        <p:spPr>
          <a:xfrm>
            <a:off x="6126480" y="4754880"/>
            <a:ext cx="5486400" cy="1645920"/>
          </a:xfrm>
          <a:prstGeom prst="roundRect">
            <a:avLst>
              <a:gd name="adj" fmla="val 4444"/>
            </a:avLst>
          </a:prstGeom>
          <a:solidFill>
            <a:srgbClr val="FDF1E3"/>
          </a:solidFill>
          <a:ln w="12700">
            <a:solidFill>
              <a:srgbClr val="FDF1E3"/>
            </a:solidFill>
            <a:prstDash val="solid"/>
          </a:ln>
        </p:spPr>
      </p:sp>
      <p:sp>
        <p:nvSpPr>
          <p:cNvPr id="66" name="text-62"/>
          <p:cNvSpPr txBox="1"/>
          <p:nvPr/>
        </p:nvSpPr>
        <p:spPr>
          <a:xfrm>
            <a:off x="6327648" y="490118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OTHER CONSIDERATIONS — TO EVALUATE AT GATE 2, NOT CHANGES</a:t>
            </a:r>
            <a:endParaRPr lang="en-US" sz="800" dirty="0"/>
          </a:p>
        </p:txBody>
      </p:sp>
      <p:sp>
        <p:nvSpPr>
          <p:cNvPr id="67" name="text-63"/>
          <p:cNvSpPr txBox="1"/>
          <p:nvPr/>
        </p:nvSpPr>
        <p:spPr>
          <a:xfrm>
            <a:off x="6327648" y="5248656"/>
            <a:ext cx="3657600" cy="219456"/>
          </a:xfrm>
          <a:prstGeom prst="rect">
            <a:avLst/>
          </a:prstGeom>
          <a:noFill/>
          <a:ln/>
        </p:spPr>
        <p:txBody>
          <a:bodyPr wrap="square" lIns="0" tIns="0" rIns="0" bIns="0" rtlCol="0" anchor="ctr"/>
          <a:lstStyle/>
          <a:p>
            <a:pPr algn="l" indent="0" marL="0">
              <a:lnSpc>
                <a:spcPct val="100000"/>
              </a:lnSpc>
              <a:buNone/>
            </a:pPr>
            <a:r>
              <a:rPr lang="en-US" sz="1050" b="1" dirty="0">
                <a:solidFill>
                  <a:srgbClr val="1C2B33"/>
                </a:solidFill>
                <a:latin typeface="Calibri" pitchFamily="34" charset="0"/>
                <a:ea typeface="Calibri" pitchFamily="34" charset="-122"/>
                <a:cs typeface="Calibri" pitchFamily="34" charset="-120"/>
              </a:rPr>
              <a:t>Event backbone: replay and ordering for the product path</a:t>
            </a:r>
            <a:endParaRPr lang="en-US" sz="1050" dirty="0"/>
          </a:p>
        </p:txBody>
      </p:sp>
      <p:sp>
        <p:nvSpPr>
          <p:cNvPr id="68" name="shape-64"/>
          <p:cNvSpPr/>
          <p:nvPr/>
        </p:nvSpPr>
        <p:spPr>
          <a:xfrm>
            <a:off x="10149840" y="5257800"/>
            <a:ext cx="1280160" cy="20116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10149840" y="5257800"/>
            <a:ext cx="1280160"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Kafka-class log</a:t>
            </a:r>
            <a:endParaRPr lang="en-US" sz="850" dirty="0"/>
          </a:p>
        </p:txBody>
      </p:sp>
      <p:sp>
        <p:nvSpPr>
          <p:cNvPr id="70" name="text-66"/>
          <p:cNvSpPr txBox="1"/>
          <p:nvPr/>
        </p:nvSpPr>
        <p:spPr>
          <a:xfrm>
            <a:off x="6327648" y="5522976"/>
            <a:ext cx="3657600" cy="219456"/>
          </a:xfrm>
          <a:prstGeom prst="rect">
            <a:avLst/>
          </a:prstGeom>
          <a:noFill/>
          <a:ln/>
        </p:spPr>
        <p:txBody>
          <a:bodyPr wrap="square" lIns="0" tIns="0" rIns="0" bIns="0" rtlCol="0" anchor="ctr"/>
          <a:lstStyle/>
          <a:p>
            <a:pPr algn="l" indent="0" marL="0">
              <a:lnSpc>
                <a:spcPct val="100000"/>
              </a:lnSpc>
              <a:buNone/>
            </a:pPr>
            <a:r>
              <a:rPr lang="en-US" sz="1050" b="1" dirty="0">
                <a:solidFill>
                  <a:srgbClr val="1C2B33"/>
                </a:solidFill>
                <a:latin typeface="Calibri" pitchFamily="34" charset="0"/>
                <a:ea typeface="Calibri" pitchFamily="34" charset="-122"/>
                <a:cs typeface="Calibri" pitchFamily="34" charset="-120"/>
              </a:rPr>
              <a:t>Institutional single sign-on</a:t>
            </a:r>
            <a:endParaRPr lang="en-US" sz="1050" dirty="0"/>
          </a:p>
        </p:txBody>
      </p:sp>
      <p:sp>
        <p:nvSpPr>
          <p:cNvPr id="71" name="shape-67"/>
          <p:cNvSpPr/>
          <p:nvPr/>
        </p:nvSpPr>
        <p:spPr>
          <a:xfrm>
            <a:off x="10149840" y="5532120"/>
            <a:ext cx="1280160" cy="201168"/>
          </a:xfrm>
          <a:prstGeom prst="roundRect">
            <a:avLst>
              <a:gd name="adj" fmla="val 50000"/>
            </a:avLst>
          </a:prstGeom>
          <a:solidFill>
            <a:srgbClr val="B45309"/>
          </a:solidFill>
          <a:ln w="12700">
            <a:solidFill>
              <a:srgbClr val="B45309"/>
            </a:solidFill>
            <a:prstDash val="solid"/>
          </a:ln>
        </p:spPr>
      </p:sp>
      <p:sp>
        <p:nvSpPr>
          <p:cNvPr id="72" name="text-68"/>
          <p:cNvSpPr txBox="1"/>
          <p:nvPr/>
        </p:nvSpPr>
        <p:spPr>
          <a:xfrm>
            <a:off x="10149840" y="5532120"/>
            <a:ext cx="1280160"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Shibboleth / SAML</a:t>
            </a:r>
            <a:endParaRPr lang="en-US" sz="850" dirty="0"/>
          </a:p>
        </p:txBody>
      </p:sp>
      <p:sp>
        <p:nvSpPr>
          <p:cNvPr id="73" name="text-69"/>
          <p:cNvSpPr txBox="1"/>
          <p:nvPr/>
        </p:nvSpPr>
        <p:spPr>
          <a:xfrm>
            <a:off x="6327648" y="5797296"/>
            <a:ext cx="3657600" cy="219456"/>
          </a:xfrm>
          <a:prstGeom prst="rect">
            <a:avLst/>
          </a:prstGeom>
          <a:noFill/>
          <a:ln/>
        </p:spPr>
        <p:txBody>
          <a:bodyPr wrap="square" lIns="0" tIns="0" rIns="0" bIns="0" rtlCol="0" anchor="ctr"/>
          <a:lstStyle/>
          <a:p>
            <a:pPr algn="l" indent="0" marL="0">
              <a:lnSpc>
                <a:spcPct val="100000"/>
              </a:lnSpc>
              <a:buNone/>
            </a:pPr>
            <a:r>
              <a:rPr lang="en-US" sz="1050" b="1" dirty="0">
                <a:solidFill>
                  <a:srgbClr val="1C2B33"/>
                </a:solidFill>
                <a:latin typeface="Calibri" pitchFamily="34" charset="0"/>
                <a:ea typeface="Calibri" pitchFamily="34" charset="-122"/>
                <a:cs typeface="Calibri" pitchFamily="34" charset="-120"/>
              </a:rPr>
              <a:t>Learning-platform integration</a:t>
            </a:r>
            <a:endParaRPr lang="en-US" sz="1050" dirty="0"/>
          </a:p>
        </p:txBody>
      </p:sp>
      <p:sp>
        <p:nvSpPr>
          <p:cNvPr id="74" name="shape-70"/>
          <p:cNvSpPr/>
          <p:nvPr/>
        </p:nvSpPr>
        <p:spPr>
          <a:xfrm>
            <a:off x="10149840" y="5806440"/>
            <a:ext cx="1280160" cy="201168"/>
          </a:xfrm>
          <a:prstGeom prst="roundRect">
            <a:avLst>
              <a:gd name="adj" fmla="val 50000"/>
            </a:avLst>
          </a:prstGeom>
          <a:solidFill>
            <a:srgbClr val="B45309"/>
          </a:solidFill>
          <a:ln w="12700">
            <a:solidFill>
              <a:srgbClr val="B45309"/>
            </a:solidFill>
            <a:prstDash val="solid"/>
          </a:ln>
        </p:spPr>
      </p:sp>
      <p:sp>
        <p:nvSpPr>
          <p:cNvPr id="75" name="text-71"/>
          <p:cNvSpPr txBox="1"/>
          <p:nvPr/>
        </p:nvSpPr>
        <p:spPr>
          <a:xfrm>
            <a:off x="10149840" y="5806440"/>
            <a:ext cx="1280160"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LTI / LIS</a:t>
            </a:r>
            <a:endParaRPr lang="en-US" sz="850" dirty="0"/>
          </a:p>
        </p:txBody>
      </p:sp>
      <p:sp>
        <p:nvSpPr>
          <p:cNvPr id="76" name="text-72"/>
          <p:cNvSpPr txBox="1"/>
          <p:nvPr/>
        </p:nvSpPr>
        <p:spPr>
          <a:xfrm>
            <a:off x="6327648" y="6071616"/>
            <a:ext cx="3657600" cy="219456"/>
          </a:xfrm>
          <a:prstGeom prst="rect">
            <a:avLst/>
          </a:prstGeom>
          <a:noFill/>
          <a:ln/>
        </p:spPr>
        <p:txBody>
          <a:bodyPr wrap="square" lIns="0" tIns="0" rIns="0" bIns="0" rtlCol="0" anchor="ctr"/>
          <a:lstStyle/>
          <a:p>
            <a:pPr algn="l" indent="0" marL="0">
              <a:lnSpc>
                <a:spcPct val="100000"/>
              </a:lnSpc>
              <a:buNone/>
            </a:pPr>
            <a:r>
              <a:rPr lang="en-US" sz="1050" b="1" dirty="0">
                <a:solidFill>
                  <a:srgbClr val="1C2B33"/>
                </a:solidFill>
                <a:latin typeface="Calibri" pitchFamily="34" charset="0"/>
                <a:ea typeface="Calibri" pitchFamily="34" charset="-122"/>
                <a:cs typeface="Calibri" pitchFamily="34" charset="-120"/>
              </a:rPr>
              <a:t>Clinical and prescribing systems</a:t>
            </a:r>
            <a:endParaRPr lang="en-US" sz="1050" dirty="0"/>
          </a:p>
        </p:txBody>
      </p:sp>
      <p:sp>
        <p:nvSpPr>
          <p:cNvPr id="77" name="shape-73"/>
          <p:cNvSpPr/>
          <p:nvPr/>
        </p:nvSpPr>
        <p:spPr>
          <a:xfrm>
            <a:off x="10149840" y="6080760"/>
            <a:ext cx="1280160" cy="201168"/>
          </a:xfrm>
          <a:prstGeom prst="roundRect">
            <a:avLst>
              <a:gd name="adj" fmla="val 50000"/>
            </a:avLst>
          </a:prstGeom>
          <a:solidFill>
            <a:srgbClr val="B45309"/>
          </a:solidFill>
          <a:ln w="12700">
            <a:solidFill>
              <a:srgbClr val="B45309"/>
            </a:solidFill>
            <a:prstDash val="solid"/>
          </a:ln>
        </p:spPr>
      </p:sp>
      <p:sp>
        <p:nvSpPr>
          <p:cNvPr id="78" name="text-74"/>
          <p:cNvSpPr txBox="1"/>
          <p:nvPr/>
        </p:nvSpPr>
        <p:spPr>
          <a:xfrm>
            <a:off x="10149840" y="6080760"/>
            <a:ext cx="1280160"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clinical standards</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TEAM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text-2"/>
          <p:cNvSpPr txBox="1"/>
          <p:nvPr/>
        </p:nvSpPr>
        <p:spPr>
          <a:xfrm>
            <a:off x="548640" y="142646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773936"/>
            <a:ext cx="6949440" cy="676656"/>
          </a:xfrm>
          <a:prstGeom prst="roundRect">
            <a:avLst>
              <a:gd name="adj" fmla="val 10811"/>
            </a:avLst>
          </a:prstGeom>
          <a:solidFill>
            <a:srgbClr val="134E4A"/>
          </a:solidFill>
          <a:ln w="12700">
            <a:solidFill>
              <a:srgbClr val="134E4A"/>
            </a:solidFill>
            <a:prstDash val="solid"/>
          </a:ln>
        </p:spPr>
      </p:sp>
      <p:sp>
        <p:nvSpPr>
          <p:cNvPr id="8" name="text-4"/>
          <p:cNvSpPr txBox="1"/>
          <p:nvPr/>
        </p:nvSpPr>
        <p:spPr>
          <a:xfrm>
            <a:off x="731520" y="1773936"/>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CTO</a:t>
            </a:r>
            <a:endParaRPr lang="en-US" sz="1600" dirty="0"/>
          </a:p>
        </p:txBody>
      </p:sp>
      <p:sp>
        <p:nvSpPr>
          <p:cNvPr id="9" name="text-5"/>
          <p:cNvSpPr txBox="1"/>
          <p:nvPr/>
        </p:nvSpPr>
        <p:spPr>
          <a:xfrm>
            <a:off x="3383280" y="1773936"/>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CFE8E5"/>
                </a:solidFill>
                <a:latin typeface="Calibri" pitchFamily="34" charset="0"/>
                <a:ea typeface="Calibri" pitchFamily="34" charset="-122"/>
                <a:cs typeface="Calibri" pitchFamily="34" charset="-120"/>
              </a:rPr>
              <a:t>Strategy, architecture, transformation, PM, roadmap</a:t>
            </a:r>
            <a:endParaRPr lang="en-US" sz="1200" dirty="0"/>
          </a:p>
        </p:txBody>
      </p:sp>
      <p:sp>
        <p:nvSpPr>
          <p:cNvPr id="10" name="shape-6"/>
          <p:cNvSpPr/>
          <p:nvPr/>
        </p:nvSpPr>
        <p:spPr>
          <a:xfrm>
            <a:off x="7187184" y="2048256"/>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187184" y="204825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12864" y="2048256"/>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12864" y="204825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38544" y="2048256"/>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38544" y="204825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364224" y="2048256"/>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364224" y="204825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542032"/>
            <a:ext cx="6949440" cy="676656"/>
          </a:xfrm>
          <a:prstGeom prst="roundRect">
            <a:avLst>
              <a:gd name="adj" fmla="val 10811"/>
            </a:avLst>
          </a:prstGeom>
          <a:solidFill>
            <a:srgbClr val="EEF2F4"/>
          </a:solidFill>
          <a:ln w="12700">
            <a:solidFill>
              <a:srgbClr val="EEF2F4"/>
            </a:solidFill>
            <a:prstDash val="solid"/>
          </a:ln>
        </p:spPr>
      </p:sp>
      <p:sp>
        <p:nvSpPr>
          <p:cNvPr id="19" name="text-15"/>
          <p:cNvSpPr txBox="1"/>
          <p:nvPr/>
        </p:nvSpPr>
        <p:spPr>
          <a:xfrm>
            <a:off x="731520" y="2542032"/>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Lead Engineer</a:t>
            </a:r>
            <a:endParaRPr lang="en-US" sz="1600" dirty="0"/>
          </a:p>
        </p:txBody>
      </p:sp>
      <p:sp>
        <p:nvSpPr>
          <p:cNvPr id="20" name="text-16"/>
          <p:cNvSpPr txBox="1"/>
          <p:nvPr/>
        </p:nvSpPr>
        <p:spPr>
          <a:xfrm>
            <a:off x="3383280" y="2542032"/>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1C2B33"/>
                </a:solidFill>
                <a:latin typeface="Calibri" pitchFamily="34" charset="0"/>
                <a:ea typeface="Calibri" pitchFamily="34" charset="-122"/>
                <a:cs typeface="Calibri" pitchFamily="34" charset="-120"/>
              </a:rPr>
              <a:t>Standards, build, maintain, technical QA</a:t>
            </a:r>
            <a:endParaRPr lang="en-US" sz="1200" dirty="0"/>
          </a:p>
        </p:txBody>
      </p:sp>
      <p:sp>
        <p:nvSpPr>
          <p:cNvPr id="21" name="shape-17"/>
          <p:cNvSpPr/>
          <p:nvPr/>
        </p:nvSpPr>
        <p:spPr>
          <a:xfrm>
            <a:off x="7187184" y="2816352"/>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187184" y="28163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12864" y="2816352"/>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12864" y="28163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6638544" y="2816352"/>
            <a:ext cx="201168" cy="146304"/>
          </a:xfrm>
          <a:prstGeom prst="roundRect">
            <a:avLst>
              <a:gd name="adj" fmla="val 50000"/>
            </a:avLst>
          </a:prstGeom>
          <a:solidFill>
            <a:srgbClr val="0F766E"/>
          </a:solidFill>
          <a:ln w="12700">
            <a:solidFill>
              <a:srgbClr val="0F766E"/>
            </a:solidFill>
            <a:prstDash val="solid"/>
          </a:ln>
        </p:spPr>
      </p:sp>
      <p:sp>
        <p:nvSpPr>
          <p:cNvPr id="26" name="text-22"/>
          <p:cNvSpPr txBox="1"/>
          <p:nvPr/>
        </p:nvSpPr>
        <p:spPr>
          <a:xfrm>
            <a:off x="6638544" y="28163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7" name="shape-23"/>
          <p:cNvSpPr/>
          <p:nvPr/>
        </p:nvSpPr>
        <p:spPr>
          <a:xfrm>
            <a:off x="548640" y="3310128"/>
            <a:ext cx="6949440" cy="676656"/>
          </a:xfrm>
          <a:prstGeom prst="roundRect">
            <a:avLst>
              <a:gd name="adj" fmla="val 10811"/>
            </a:avLst>
          </a:prstGeom>
          <a:solidFill>
            <a:srgbClr val="EEF2F4"/>
          </a:solidFill>
          <a:ln w="12700">
            <a:solidFill>
              <a:srgbClr val="EEF2F4"/>
            </a:solidFill>
            <a:prstDash val="solid"/>
          </a:ln>
        </p:spPr>
      </p:sp>
      <p:sp>
        <p:nvSpPr>
          <p:cNvPr id="28" name="text-24"/>
          <p:cNvSpPr txBox="1"/>
          <p:nvPr/>
        </p:nvSpPr>
        <p:spPr>
          <a:xfrm>
            <a:off x="731520" y="3310128"/>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Developer</a:t>
            </a:r>
            <a:endParaRPr lang="en-US" sz="1600" dirty="0"/>
          </a:p>
        </p:txBody>
      </p:sp>
      <p:sp>
        <p:nvSpPr>
          <p:cNvPr id="29" name="text-25"/>
          <p:cNvSpPr txBox="1"/>
          <p:nvPr/>
        </p:nvSpPr>
        <p:spPr>
          <a:xfrm>
            <a:off x="3383280" y="3310128"/>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1C2B33"/>
                </a:solidFill>
                <a:latin typeface="Calibri" pitchFamily="34" charset="0"/>
                <a:ea typeface="Calibri" pitchFamily="34" charset="-122"/>
                <a:cs typeface="Calibri" pitchFamily="34" charset="-120"/>
              </a:rPr>
              <a:t>Build, maintain, technical QA</a:t>
            </a:r>
            <a:endParaRPr lang="en-US" sz="1200" dirty="0"/>
          </a:p>
        </p:txBody>
      </p:sp>
      <p:sp>
        <p:nvSpPr>
          <p:cNvPr id="30" name="shape-26"/>
          <p:cNvSpPr/>
          <p:nvPr/>
        </p:nvSpPr>
        <p:spPr>
          <a:xfrm>
            <a:off x="7187184" y="3584448"/>
            <a:ext cx="201168" cy="146304"/>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7187184" y="35844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2" name="shape-28"/>
          <p:cNvSpPr/>
          <p:nvPr/>
        </p:nvSpPr>
        <p:spPr>
          <a:xfrm>
            <a:off x="6912864" y="3584448"/>
            <a:ext cx="201168" cy="146304"/>
          </a:xfrm>
          <a:prstGeom prst="roundRect">
            <a:avLst>
              <a:gd name="adj" fmla="val 50000"/>
            </a:avLst>
          </a:prstGeom>
          <a:solidFill>
            <a:srgbClr val="B45309"/>
          </a:solidFill>
          <a:ln w="12700">
            <a:solidFill>
              <a:srgbClr val="B45309"/>
            </a:solidFill>
            <a:prstDash val="solid"/>
          </a:ln>
        </p:spPr>
      </p:sp>
      <p:sp>
        <p:nvSpPr>
          <p:cNvPr id="33" name="text-29"/>
          <p:cNvSpPr txBox="1"/>
          <p:nvPr/>
        </p:nvSpPr>
        <p:spPr>
          <a:xfrm>
            <a:off x="6912864" y="35844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4" name="shape-30"/>
          <p:cNvSpPr/>
          <p:nvPr/>
        </p:nvSpPr>
        <p:spPr>
          <a:xfrm>
            <a:off x="548640" y="4078224"/>
            <a:ext cx="6949440" cy="676656"/>
          </a:xfrm>
          <a:prstGeom prst="roundRect">
            <a:avLst>
              <a:gd name="adj" fmla="val 10811"/>
            </a:avLst>
          </a:prstGeom>
          <a:solidFill>
            <a:srgbClr val="EEF2F4"/>
          </a:solidFill>
          <a:ln w="12700">
            <a:solidFill>
              <a:srgbClr val="EEF2F4"/>
            </a:solidFill>
            <a:prstDash val="solid"/>
          </a:ln>
        </p:spPr>
      </p:sp>
      <p:sp>
        <p:nvSpPr>
          <p:cNvPr id="35" name="text-31"/>
          <p:cNvSpPr txBox="1"/>
          <p:nvPr/>
        </p:nvSpPr>
        <p:spPr>
          <a:xfrm>
            <a:off x="731520" y="4078224"/>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DevSecOps Platform Engineer</a:t>
            </a:r>
            <a:endParaRPr lang="en-US" sz="1600" dirty="0"/>
          </a:p>
        </p:txBody>
      </p:sp>
      <p:sp>
        <p:nvSpPr>
          <p:cNvPr id="36" name="text-32"/>
          <p:cNvSpPr txBox="1"/>
          <p:nvPr/>
        </p:nvSpPr>
        <p:spPr>
          <a:xfrm>
            <a:off x="3383280" y="4078224"/>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1C2B33"/>
                </a:solidFill>
                <a:latin typeface="Calibri" pitchFamily="34" charset="0"/>
                <a:ea typeface="Calibri" pitchFamily="34" charset="-122"/>
                <a:cs typeface="Calibri" pitchFamily="34" charset="-120"/>
              </a:rPr>
              <a:t>Security, platform, pipeline</a:t>
            </a:r>
            <a:endParaRPr lang="en-US" sz="1200" dirty="0"/>
          </a:p>
        </p:txBody>
      </p:sp>
      <p:sp>
        <p:nvSpPr>
          <p:cNvPr id="37" name="shape-33"/>
          <p:cNvSpPr/>
          <p:nvPr/>
        </p:nvSpPr>
        <p:spPr>
          <a:xfrm>
            <a:off x="7187184" y="4352544"/>
            <a:ext cx="201168" cy="146304"/>
          </a:xfrm>
          <a:prstGeom prst="roundRect">
            <a:avLst>
              <a:gd name="adj" fmla="val 50000"/>
            </a:avLst>
          </a:prstGeom>
          <a:solidFill>
            <a:srgbClr val="B45309"/>
          </a:solidFill>
          <a:ln w="12700">
            <a:solidFill>
              <a:srgbClr val="B45309"/>
            </a:solidFill>
            <a:prstDash val="solid"/>
          </a:ln>
        </p:spPr>
      </p:sp>
      <p:sp>
        <p:nvSpPr>
          <p:cNvPr id="38" name="text-34"/>
          <p:cNvSpPr txBox="1"/>
          <p:nvPr/>
        </p:nvSpPr>
        <p:spPr>
          <a:xfrm>
            <a:off x="7187184" y="4352544"/>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9" name="shape-35"/>
          <p:cNvSpPr/>
          <p:nvPr/>
        </p:nvSpPr>
        <p:spPr>
          <a:xfrm>
            <a:off x="6912864" y="4352544"/>
            <a:ext cx="201168" cy="146304"/>
          </a:xfrm>
          <a:prstGeom prst="roundRect">
            <a:avLst>
              <a:gd name="adj" fmla="val 50000"/>
            </a:avLst>
          </a:prstGeom>
          <a:solidFill>
            <a:srgbClr val="134E4A"/>
          </a:solidFill>
          <a:ln w="12700">
            <a:solidFill>
              <a:srgbClr val="134E4A"/>
            </a:solidFill>
            <a:prstDash val="solid"/>
          </a:ln>
        </p:spPr>
      </p:sp>
      <p:sp>
        <p:nvSpPr>
          <p:cNvPr id="40" name="text-36"/>
          <p:cNvSpPr txBox="1"/>
          <p:nvPr/>
        </p:nvSpPr>
        <p:spPr>
          <a:xfrm>
            <a:off x="6912864" y="4352544"/>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1" name="shape-37"/>
          <p:cNvSpPr/>
          <p:nvPr/>
        </p:nvSpPr>
        <p:spPr>
          <a:xfrm>
            <a:off x="6638544" y="4352544"/>
            <a:ext cx="201168" cy="146304"/>
          </a:xfrm>
          <a:prstGeom prst="roundRect">
            <a:avLst>
              <a:gd name="adj" fmla="val 50000"/>
            </a:avLst>
          </a:prstGeom>
          <a:solidFill>
            <a:srgbClr val="0F766E"/>
          </a:solidFill>
          <a:ln w="12700">
            <a:solidFill>
              <a:srgbClr val="0F766E"/>
            </a:solidFill>
            <a:prstDash val="solid"/>
          </a:ln>
        </p:spPr>
      </p:sp>
      <p:sp>
        <p:nvSpPr>
          <p:cNvPr id="42" name="text-38"/>
          <p:cNvSpPr txBox="1"/>
          <p:nvPr/>
        </p:nvSpPr>
        <p:spPr>
          <a:xfrm>
            <a:off x="6638544" y="4352544"/>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3" name="shape-39"/>
          <p:cNvSpPr/>
          <p:nvPr/>
        </p:nvSpPr>
        <p:spPr>
          <a:xfrm>
            <a:off x="548640" y="4846320"/>
            <a:ext cx="6949440" cy="676656"/>
          </a:xfrm>
          <a:prstGeom prst="roundRect">
            <a:avLst>
              <a:gd name="adj" fmla="val 10811"/>
            </a:avLst>
          </a:prstGeom>
          <a:solidFill>
            <a:srgbClr val="EEF2F4"/>
          </a:solidFill>
          <a:ln w="12700">
            <a:solidFill>
              <a:srgbClr val="EEF2F4"/>
            </a:solidFill>
            <a:prstDash val="solid"/>
          </a:ln>
        </p:spPr>
      </p:sp>
      <p:sp>
        <p:nvSpPr>
          <p:cNvPr id="44" name="text-40"/>
          <p:cNvSpPr txBox="1"/>
          <p:nvPr/>
        </p:nvSpPr>
        <p:spPr>
          <a:xfrm>
            <a:off x="731520" y="4846320"/>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Product</a:t>
            </a:r>
            <a:endParaRPr lang="en-US" sz="1600" dirty="0"/>
          </a:p>
        </p:txBody>
      </p:sp>
      <p:sp>
        <p:nvSpPr>
          <p:cNvPr id="45" name="text-41"/>
          <p:cNvSpPr txBox="1"/>
          <p:nvPr/>
        </p:nvSpPr>
        <p:spPr>
          <a:xfrm>
            <a:off x="3383280" y="4846320"/>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1C2B33"/>
                </a:solidFill>
                <a:latin typeface="Calibri" pitchFamily="34" charset="0"/>
                <a:ea typeface="Calibri" pitchFamily="34" charset="-122"/>
                <a:cs typeface="Calibri" pitchFamily="34" charset="-120"/>
              </a:rPr>
              <a:t>Project, research, design</a:t>
            </a:r>
            <a:endParaRPr lang="en-US" sz="1200" dirty="0"/>
          </a:p>
        </p:txBody>
      </p:sp>
      <p:sp>
        <p:nvSpPr>
          <p:cNvPr id="46" name="shape-42"/>
          <p:cNvSpPr/>
          <p:nvPr/>
        </p:nvSpPr>
        <p:spPr>
          <a:xfrm>
            <a:off x="7187184" y="5120640"/>
            <a:ext cx="201168" cy="146304"/>
          </a:xfrm>
          <a:prstGeom prst="roundRect">
            <a:avLst>
              <a:gd name="adj" fmla="val 50000"/>
            </a:avLst>
          </a:prstGeom>
          <a:solidFill>
            <a:srgbClr val="134E4A"/>
          </a:solidFill>
          <a:ln w="12700">
            <a:solidFill>
              <a:srgbClr val="134E4A"/>
            </a:solidFill>
            <a:prstDash val="solid"/>
          </a:ln>
        </p:spPr>
      </p:sp>
      <p:sp>
        <p:nvSpPr>
          <p:cNvPr id="47" name="text-43"/>
          <p:cNvSpPr txBox="1"/>
          <p:nvPr/>
        </p:nvSpPr>
        <p:spPr>
          <a:xfrm>
            <a:off x="7187184" y="5120640"/>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8" name="shape-44"/>
          <p:cNvSpPr/>
          <p:nvPr/>
        </p:nvSpPr>
        <p:spPr>
          <a:xfrm>
            <a:off x="6912864" y="5120640"/>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6912864" y="5120640"/>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50" name="shape-46"/>
          <p:cNvSpPr/>
          <p:nvPr/>
        </p:nvSpPr>
        <p:spPr>
          <a:xfrm>
            <a:off x="6638544" y="5120640"/>
            <a:ext cx="201168" cy="146304"/>
          </a:xfrm>
          <a:prstGeom prst="roundRect">
            <a:avLst>
              <a:gd name="adj" fmla="val 50000"/>
            </a:avLst>
          </a:prstGeom>
          <a:solidFill>
            <a:srgbClr val="8A99A3"/>
          </a:solidFill>
          <a:ln w="12700">
            <a:solidFill>
              <a:srgbClr val="8A99A3"/>
            </a:solidFill>
            <a:prstDash val="solid"/>
          </a:ln>
        </p:spPr>
      </p:sp>
      <p:sp>
        <p:nvSpPr>
          <p:cNvPr id="51" name="text-47"/>
          <p:cNvSpPr txBox="1"/>
          <p:nvPr/>
        </p:nvSpPr>
        <p:spPr>
          <a:xfrm>
            <a:off x="6638544" y="5120640"/>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2" name="shape-48"/>
          <p:cNvSpPr/>
          <p:nvPr/>
        </p:nvSpPr>
        <p:spPr>
          <a:xfrm>
            <a:off x="548640" y="5614416"/>
            <a:ext cx="6949440" cy="676656"/>
          </a:xfrm>
          <a:prstGeom prst="roundRect">
            <a:avLst>
              <a:gd name="adj" fmla="val 10811"/>
            </a:avLst>
          </a:prstGeom>
          <a:solidFill>
            <a:srgbClr val="EEF2F4"/>
          </a:solidFill>
          <a:ln w="12700">
            <a:solidFill>
              <a:srgbClr val="EEF2F4"/>
            </a:solidFill>
            <a:prstDash val="solid"/>
          </a:ln>
        </p:spPr>
      </p:sp>
      <p:sp>
        <p:nvSpPr>
          <p:cNvPr id="53" name="text-49"/>
          <p:cNvSpPr txBox="1"/>
          <p:nvPr/>
        </p:nvSpPr>
        <p:spPr>
          <a:xfrm>
            <a:off x="731520" y="5614416"/>
            <a:ext cx="2560320" cy="676656"/>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BA / QA</a:t>
            </a:r>
            <a:endParaRPr lang="en-US" sz="1600" dirty="0"/>
          </a:p>
        </p:txBody>
      </p:sp>
      <p:sp>
        <p:nvSpPr>
          <p:cNvPr id="54" name="text-50"/>
          <p:cNvSpPr txBox="1"/>
          <p:nvPr/>
        </p:nvSpPr>
        <p:spPr>
          <a:xfrm>
            <a:off x="3383280" y="5614416"/>
            <a:ext cx="3108960" cy="676656"/>
          </a:xfrm>
          <a:prstGeom prst="rect">
            <a:avLst/>
          </a:prstGeom>
          <a:noFill/>
          <a:ln/>
        </p:spPr>
        <p:txBody>
          <a:bodyPr wrap="square" lIns="0" tIns="0" rIns="0" bIns="0" rtlCol="0" anchor="ctr"/>
          <a:lstStyle/>
          <a:p>
            <a:pPr algn="l" indent="0" marL="0">
              <a:lnSpc>
                <a:spcPct val="100000"/>
              </a:lnSpc>
              <a:buNone/>
            </a:pPr>
            <a:r>
              <a:rPr lang="en-US" sz="1200" dirty="0">
                <a:solidFill>
                  <a:srgbClr val="1C2B33"/>
                </a:solidFill>
                <a:latin typeface="Calibri" pitchFamily="34" charset="0"/>
                <a:ea typeface="Calibri" pitchFamily="34" charset="-122"/>
                <a:cs typeface="Calibri" pitchFamily="34" charset="-120"/>
              </a:rPr>
              <a:t>User testing, QA, product assistance</a:t>
            </a:r>
            <a:endParaRPr lang="en-US" sz="1200" dirty="0"/>
          </a:p>
        </p:txBody>
      </p:sp>
      <p:sp>
        <p:nvSpPr>
          <p:cNvPr id="55" name="shape-51"/>
          <p:cNvSpPr/>
          <p:nvPr/>
        </p:nvSpPr>
        <p:spPr>
          <a:xfrm>
            <a:off x="7187184" y="5888736"/>
            <a:ext cx="201168" cy="146304"/>
          </a:xfrm>
          <a:prstGeom prst="roundRect">
            <a:avLst>
              <a:gd name="adj" fmla="val 50000"/>
            </a:avLst>
          </a:prstGeom>
          <a:solidFill>
            <a:srgbClr val="134E4A"/>
          </a:solidFill>
          <a:ln w="12700">
            <a:solidFill>
              <a:srgbClr val="134E4A"/>
            </a:solidFill>
            <a:prstDash val="solid"/>
          </a:ln>
        </p:spPr>
      </p:sp>
      <p:sp>
        <p:nvSpPr>
          <p:cNvPr id="56" name="text-52"/>
          <p:cNvSpPr txBox="1"/>
          <p:nvPr/>
        </p:nvSpPr>
        <p:spPr>
          <a:xfrm>
            <a:off x="7187184" y="588873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57" name="shape-53"/>
          <p:cNvSpPr/>
          <p:nvPr/>
        </p:nvSpPr>
        <p:spPr>
          <a:xfrm>
            <a:off x="6912864" y="5888736"/>
            <a:ext cx="201168" cy="146304"/>
          </a:xfrm>
          <a:prstGeom prst="roundRect">
            <a:avLst>
              <a:gd name="adj" fmla="val 50000"/>
            </a:avLst>
          </a:prstGeom>
          <a:solidFill>
            <a:srgbClr val="8A99A3"/>
          </a:solidFill>
          <a:ln w="12700">
            <a:solidFill>
              <a:srgbClr val="8A99A3"/>
            </a:solidFill>
            <a:prstDash val="solid"/>
          </a:ln>
        </p:spPr>
      </p:sp>
      <p:sp>
        <p:nvSpPr>
          <p:cNvPr id="58" name="text-54"/>
          <p:cNvSpPr txBox="1"/>
          <p:nvPr/>
        </p:nvSpPr>
        <p:spPr>
          <a:xfrm>
            <a:off x="6912864" y="588873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9" name="text-55"/>
          <p:cNvSpPr txBox="1"/>
          <p:nvPr/>
        </p:nvSpPr>
        <p:spPr>
          <a:xfrm>
            <a:off x="7772400" y="142646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GATE 2 WOULD CHOOSE BETWEEN</a:t>
            </a:r>
            <a:endParaRPr lang="en-US" sz="800" dirty="0"/>
          </a:p>
        </p:txBody>
      </p:sp>
      <p:sp>
        <p:nvSpPr>
          <p:cNvPr id="60" name="shape-56"/>
          <p:cNvSpPr/>
          <p:nvPr/>
        </p:nvSpPr>
        <p:spPr>
          <a:xfrm>
            <a:off x="7772400" y="1773936"/>
            <a:ext cx="3840480" cy="969264"/>
          </a:xfrm>
          <a:prstGeom prst="roundRect">
            <a:avLst>
              <a:gd name="adj" fmla="val 7547"/>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1"/>
          <a:stretch>
            <a:fillRect/>
          </a:stretch>
        </p:blipFill>
        <p:spPr>
          <a:xfrm>
            <a:off x="7918704" y="1956816"/>
            <a:ext cx="219456" cy="219456"/>
          </a:xfrm>
          <a:prstGeom prst="rect">
            <a:avLst/>
          </a:prstGeom>
        </p:spPr>
      </p:pic>
      <p:sp>
        <p:nvSpPr>
          <p:cNvPr id="62" name="text-58"/>
          <p:cNvSpPr txBox="1"/>
          <p:nvPr/>
        </p:nvSpPr>
        <p:spPr>
          <a:xfrm>
            <a:off x="8247888" y="1883664"/>
            <a:ext cx="323697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Second engineer, or the vendor’s 0.6 PM</a:t>
            </a:r>
            <a:endParaRPr lang="en-US" sz="1200" dirty="0"/>
          </a:p>
        </p:txBody>
      </p:sp>
      <p:sp>
        <p:nvSpPr>
          <p:cNvPr id="63" name="text-59"/>
          <p:cNvSpPr txBox="1"/>
          <p:nvPr/>
        </p:nvSpPr>
        <p:spPr>
          <a:xfrm>
            <a:off x="7918704" y="2395728"/>
            <a:ext cx="3547872" cy="274320"/>
          </a:xfrm>
          <a:prstGeom prst="rect">
            <a:avLst/>
          </a:prstGeom>
          <a:noFill/>
          <a:ln/>
        </p:spPr>
        <p:txBody>
          <a:bodyPr wrap="square" lIns="0" tIns="0" rIns="0" bIns="0" rtlCol="0" anchor="ctr"/>
          <a:lstStyle/>
          <a:p>
            <a:pPr algn="l" indent="0" marL="0">
              <a:lnSpc>
                <a:spcPct val="100000"/>
              </a:lnSpc>
              <a:buNone/>
            </a:pPr>
            <a:r>
              <a:rPr lang="en-US" sz="1050" dirty="0">
                <a:solidFill>
                  <a:srgbClr val="5A6B75"/>
                </a:solidFill>
                <a:latin typeface="Calibri" pitchFamily="34" charset="0"/>
                <a:ea typeface="Calibri" pitchFamily="34" charset="-122"/>
                <a:cs typeface="Calibri" pitchFamily="34" charset="-120"/>
              </a:rPr>
              <a:t>how much of the product is built in-house</a:t>
            </a:r>
            <a:endParaRPr lang="en-US" sz="1050" dirty="0"/>
          </a:p>
        </p:txBody>
      </p:sp>
      <p:sp>
        <p:nvSpPr>
          <p:cNvPr id="64" name="shape-60"/>
          <p:cNvSpPr/>
          <p:nvPr/>
        </p:nvSpPr>
        <p:spPr>
          <a:xfrm>
            <a:off x="7772400" y="2852928"/>
            <a:ext cx="3840480" cy="969264"/>
          </a:xfrm>
          <a:prstGeom prst="roundRect">
            <a:avLst>
              <a:gd name="adj" fmla="val 7547"/>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2"/>
          <a:stretch>
            <a:fillRect/>
          </a:stretch>
        </p:blipFill>
        <p:spPr>
          <a:xfrm>
            <a:off x="7918704" y="3035808"/>
            <a:ext cx="219456" cy="219456"/>
          </a:xfrm>
          <a:prstGeom prst="rect">
            <a:avLst/>
          </a:prstGeom>
        </p:spPr>
      </p:pic>
      <p:sp>
        <p:nvSpPr>
          <p:cNvPr id="66" name="text-62"/>
          <p:cNvSpPr txBox="1"/>
          <p:nvPr/>
        </p:nvSpPr>
        <p:spPr>
          <a:xfrm>
            <a:off x="8247888" y="2962656"/>
            <a:ext cx="323697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200" dirty="0"/>
          </a:p>
        </p:txBody>
      </p:sp>
      <p:sp>
        <p:nvSpPr>
          <p:cNvPr id="67" name="text-63"/>
          <p:cNvSpPr txBox="1"/>
          <p:nvPr/>
        </p:nvSpPr>
        <p:spPr>
          <a:xfrm>
            <a:off x="7918704" y="3474720"/>
            <a:ext cx="3547872" cy="274320"/>
          </a:xfrm>
          <a:prstGeom prst="rect">
            <a:avLst/>
          </a:prstGeom>
          <a:noFill/>
          <a:ln/>
        </p:spPr>
        <p:txBody>
          <a:bodyPr wrap="square" lIns="0" tIns="0" rIns="0" bIns="0" rtlCol="0" anchor="ctr"/>
          <a:lstStyle/>
          <a:p>
            <a:pPr algn="l" indent="0" marL="0">
              <a:lnSpc>
                <a:spcPct val="100000"/>
              </a:lnSpc>
              <a:buNone/>
            </a:pPr>
            <a:r>
              <a:rPr lang="en-US" sz="1050" dirty="0">
                <a:solidFill>
                  <a:srgbClr val="5A6B75"/>
                </a:solidFill>
                <a:latin typeface="Calibri" pitchFamily="34" charset="0"/>
                <a:ea typeface="Calibri" pitchFamily="34" charset="-122"/>
                <a:cs typeface="Calibri" pitchFamily="34" charset="-120"/>
              </a:rPr>
              <a:t>assist, accelerate and de-risk product work</a:t>
            </a:r>
            <a:endParaRPr lang="en-US" sz="1050" dirty="0"/>
          </a:p>
        </p:txBody>
      </p:sp>
      <p:sp>
        <p:nvSpPr>
          <p:cNvPr id="68" name="shape-64"/>
          <p:cNvSpPr/>
          <p:nvPr/>
        </p:nvSpPr>
        <p:spPr>
          <a:xfrm>
            <a:off x="7772400" y="3931920"/>
            <a:ext cx="3840480" cy="969264"/>
          </a:xfrm>
          <a:prstGeom prst="roundRect">
            <a:avLst>
              <a:gd name="adj" fmla="val 7547"/>
            </a:avLst>
          </a:prstGeom>
          <a:solidFill>
            <a:srgbClr val="FFFFFF"/>
          </a:solidFill>
          <a:ln w="15875">
            <a:solidFill>
              <a:srgbClr val="D4DBE0"/>
            </a:solidFill>
            <a:prstDash val="solid"/>
          </a:ln>
        </p:spPr>
      </p:sp>
      <p:pic>
        <p:nvPicPr>
          <p:cNvPr id="69" name="icon-65" descr="preencoded.png">    </p:cNvPr>
          <p:cNvPicPr>
            <a:picLocks noChangeAspect="1"/>
          </p:cNvPicPr>
          <p:nvPr/>
        </p:nvPicPr>
        <p:blipFill>
          <a:blip r:embed="rId3"/>
          <a:stretch>
            <a:fillRect/>
          </a:stretch>
        </p:blipFill>
        <p:spPr>
          <a:xfrm>
            <a:off x="7918704" y="4114800"/>
            <a:ext cx="219456" cy="219456"/>
          </a:xfrm>
          <a:prstGeom prst="rect">
            <a:avLst/>
          </a:prstGeom>
        </p:spPr>
      </p:pic>
      <p:sp>
        <p:nvSpPr>
          <p:cNvPr id="70" name="text-66"/>
          <p:cNvSpPr txBox="1"/>
          <p:nvPr/>
        </p:nvSpPr>
        <p:spPr>
          <a:xfrm>
            <a:off x="8247888" y="4041648"/>
            <a:ext cx="323697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Research and design in-house, or partner</a:t>
            </a:r>
            <a:endParaRPr lang="en-US" sz="1200" dirty="0"/>
          </a:p>
        </p:txBody>
      </p:sp>
      <p:sp>
        <p:nvSpPr>
          <p:cNvPr id="71" name="text-67"/>
          <p:cNvSpPr txBox="1"/>
          <p:nvPr/>
        </p:nvSpPr>
        <p:spPr>
          <a:xfrm>
            <a:off x="7918704" y="4553712"/>
            <a:ext cx="3547872" cy="274320"/>
          </a:xfrm>
          <a:prstGeom prst="rect">
            <a:avLst/>
          </a:prstGeom>
          <a:noFill/>
          <a:ln/>
        </p:spPr>
        <p:txBody>
          <a:bodyPr wrap="square" lIns="0" tIns="0" rIns="0" bIns="0" rtlCol="0" anchor="ctr"/>
          <a:lstStyle/>
          <a:p>
            <a:pPr algn="l" indent="0" marL="0">
              <a:lnSpc>
                <a:spcPct val="100000"/>
              </a:lnSpc>
              <a:buNone/>
            </a:pPr>
            <a:r>
              <a:rPr lang="en-US" sz="1050" dirty="0">
                <a:solidFill>
                  <a:srgbClr val="5A6B75"/>
                </a:solidFill>
                <a:latin typeface="Calibri" pitchFamily="34" charset="0"/>
                <a:ea typeface="Calibri" pitchFamily="34" charset="-122"/>
                <a:cs typeface="Calibri" pitchFamily="34" charset="-120"/>
              </a:rPr>
              <a:t>depends on the licence model found at Gate 1</a:t>
            </a:r>
            <a:endParaRPr lang="en-US" sz="1050" dirty="0"/>
          </a:p>
        </p:txBody>
      </p:sp>
      <p:sp>
        <p:nvSpPr>
          <p:cNvPr id="72" name="shape-68"/>
          <p:cNvSpPr/>
          <p:nvPr/>
        </p:nvSpPr>
        <p:spPr>
          <a:xfrm>
            <a:off x="7772400" y="5010912"/>
            <a:ext cx="3840480" cy="1353312"/>
          </a:xfrm>
          <a:prstGeom prst="roundRect">
            <a:avLst>
              <a:gd name="adj" fmla="val 5405"/>
            </a:avLst>
          </a:prstGeom>
          <a:solidFill>
            <a:srgbClr val="FDF1E3"/>
          </a:solidFill>
          <a:ln w="12700">
            <a:solidFill>
              <a:srgbClr val="FDF1E3"/>
            </a:solidFill>
            <a:prstDash val="solid"/>
          </a:ln>
        </p:spPr>
      </p:sp>
      <p:sp>
        <p:nvSpPr>
          <p:cNvPr id="73" name="text-69"/>
          <p:cNvSpPr txBox="1"/>
          <p:nvPr/>
        </p:nvSpPr>
        <p:spPr>
          <a:xfrm>
            <a:off x="7918704" y="5138928"/>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4" name="oval-70"/>
          <p:cNvSpPr/>
          <p:nvPr/>
        </p:nvSpPr>
        <p:spPr>
          <a:xfrm>
            <a:off x="7941564" y="5472684"/>
            <a:ext cx="64008" cy="64008"/>
          </a:xfrm>
          <a:prstGeom prst="ellipse">
            <a:avLst/>
          </a:prstGeom>
          <a:solidFill>
            <a:srgbClr val="B45309"/>
          </a:solidFill>
          <a:ln w="12700">
            <a:solidFill>
              <a:srgbClr val="B45309"/>
            </a:solidFill>
            <a:prstDash val="solid"/>
          </a:ln>
        </p:spPr>
      </p:sp>
      <p:sp>
        <p:nvSpPr>
          <p:cNvPr id="75" name="text-71"/>
          <p:cNvSpPr txBox="1"/>
          <p:nvPr/>
        </p:nvSpPr>
        <p:spPr>
          <a:xfrm>
            <a:off x="8101584" y="5394960"/>
            <a:ext cx="3364992" cy="219456"/>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24×7 operations and on-call</a:t>
            </a:r>
            <a:endParaRPr lang="en-US" sz="1150" dirty="0"/>
          </a:p>
        </p:txBody>
      </p:sp>
      <p:sp>
        <p:nvSpPr>
          <p:cNvPr id="76" name="oval-72"/>
          <p:cNvSpPr/>
          <p:nvPr/>
        </p:nvSpPr>
        <p:spPr>
          <a:xfrm>
            <a:off x="7941564" y="5710428"/>
            <a:ext cx="64008" cy="64008"/>
          </a:xfrm>
          <a:prstGeom prst="ellipse">
            <a:avLst/>
          </a:prstGeom>
          <a:solidFill>
            <a:srgbClr val="B45309"/>
          </a:solidFill>
          <a:ln w="12700">
            <a:solidFill>
              <a:srgbClr val="B45309"/>
            </a:solidFill>
            <a:prstDash val="solid"/>
          </a:ln>
        </p:spPr>
      </p:sp>
      <p:sp>
        <p:nvSpPr>
          <p:cNvPr id="77" name="text-73"/>
          <p:cNvSpPr txBox="1"/>
          <p:nvPr/>
        </p:nvSpPr>
        <p:spPr>
          <a:xfrm>
            <a:off x="8101584" y="5632704"/>
            <a:ext cx="3364992" cy="219456"/>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Security operations</a:t>
            </a:r>
            <a:endParaRPr lang="en-US" sz="1150" dirty="0"/>
          </a:p>
        </p:txBody>
      </p:sp>
      <p:sp>
        <p:nvSpPr>
          <p:cNvPr id="78" name="oval-74"/>
          <p:cNvSpPr/>
          <p:nvPr/>
        </p:nvSpPr>
        <p:spPr>
          <a:xfrm>
            <a:off x="7941564" y="5948172"/>
            <a:ext cx="64008" cy="64008"/>
          </a:xfrm>
          <a:prstGeom prst="ellipse">
            <a:avLst/>
          </a:prstGeom>
          <a:solidFill>
            <a:srgbClr val="B45309"/>
          </a:solidFill>
          <a:ln w="12700">
            <a:solidFill>
              <a:srgbClr val="B45309"/>
            </a:solidFill>
            <a:prstDash val="solid"/>
          </a:ln>
        </p:spPr>
      </p:sp>
      <p:sp>
        <p:nvSpPr>
          <p:cNvPr id="79" name="text-75"/>
          <p:cNvSpPr txBox="1"/>
          <p:nvPr/>
        </p:nvSpPr>
        <p:spPr>
          <a:xfrm>
            <a:off x="8101584" y="5870448"/>
            <a:ext cx="3364992" cy="219456"/>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Commodity configuration</a:t>
            </a:r>
            <a:endParaRPr lang="en-US" sz="1150" dirty="0"/>
          </a:p>
        </p:txBody>
      </p:sp>
      <p:sp>
        <p:nvSpPr>
          <p:cNvPr id="80" name="oval-76"/>
          <p:cNvSpPr/>
          <p:nvPr/>
        </p:nvSpPr>
        <p:spPr>
          <a:xfrm>
            <a:off x="7941564" y="6185916"/>
            <a:ext cx="64008" cy="64008"/>
          </a:xfrm>
          <a:prstGeom prst="ellipse">
            <a:avLst/>
          </a:prstGeom>
          <a:solidFill>
            <a:srgbClr val="B45309"/>
          </a:solidFill>
          <a:ln w="12700">
            <a:solidFill>
              <a:srgbClr val="B45309"/>
            </a:solidFill>
            <a:prstDash val="solid"/>
          </a:ln>
        </p:spPr>
      </p:sp>
      <p:sp>
        <p:nvSpPr>
          <p:cNvPr id="81" name="text-77"/>
          <p:cNvSpPr txBox="1"/>
          <p:nvPr/>
        </p:nvSpPr>
        <p:spPr>
          <a:xfrm>
            <a:off x="8101584" y="6108192"/>
            <a:ext cx="3364992" cy="219456"/>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Content operations (outside remit)</a:t>
            </a:r>
            <a:endParaRPr lang="en-US" sz="1150" dirty="0"/>
          </a:p>
        </p:txBody>
      </p:sp>
      <p:sp>
        <p:nvSpPr>
          <p:cNvPr id="82" name="text-78"/>
          <p:cNvSpPr txBox="1"/>
          <p:nvPr/>
        </p:nvSpPr>
        <p:spPr>
          <a:xfrm>
            <a:off x="548640" y="6419088"/>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ASSURANCE GATES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operating rhythm, gates sized to the tier, judged on outcomes rather than AI activity</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 — WHO SEES WHAT</a:t>
            </a:r>
            <a:endParaRPr lang="en-US" sz="800" dirty="0"/>
          </a:p>
        </p:txBody>
      </p:sp>
      <p:sp>
        <p:nvSpPr>
          <p:cNvPr id="5" name="shape-1"/>
          <p:cNvSpPr/>
          <p:nvPr/>
        </p:nvSpPr>
        <p:spPr>
          <a:xfrm>
            <a:off x="548640" y="1664208"/>
            <a:ext cx="4023360" cy="585216"/>
          </a:xfrm>
          <a:prstGeom prst="roundRect">
            <a:avLst>
              <a:gd name="adj" fmla="val 12500"/>
            </a:avLst>
          </a:prstGeom>
          <a:solidFill>
            <a:srgbClr val="134E4A"/>
          </a:solidFill>
          <a:ln w="12700">
            <a:solidFill>
              <a:srgbClr val="134E4A"/>
            </a:solidFill>
            <a:prstDash val="solid"/>
          </a:ln>
        </p:spPr>
      </p:sp>
      <p:sp>
        <p:nvSpPr>
          <p:cNvPr id="6" name="text-2"/>
          <p:cNvSpPr txBox="1"/>
          <p:nvPr/>
        </p:nvSpPr>
        <p:spPr>
          <a:xfrm>
            <a:off x="694944" y="1737360"/>
            <a:ext cx="374904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56816"/>
            <a:ext cx="374904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quarterly meeting, monthly review pack · date confidence, availability vs appetite, risks, spend</a:t>
            </a:r>
            <a:endParaRPr lang="en-US" sz="900" dirty="0"/>
          </a:p>
        </p:txBody>
      </p:sp>
      <p:sp>
        <p:nvSpPr>
          <p:cNvPr id="8" name="shape-4"/>
          <p:cNvSpPr/>
          <p:nvPr/>
        </p:nvSpPr>
        <p:spPr>
          <a:xfrm>
            <a:off x="548640" y="2340864"/>
            <a:ext cx="3749040" cy="585216"/>
          </a:xfrm>
          <a:prstGeom prst="roundRect">
            <a:avLst>
              <a:gd name="adj" fmla="val 12500"/>
            </a:avLst>
          </a:prstGeom>
          <a:solidFill>
            <a:srgbClr val="0F766E"/>
          </a:solidFill>
          <a:ln w="12700">
            <a:solidFill>
              <a:srgbClr val="0F766E"/>
            </a:solidFill>
            <a:prstDash val="solid"/>
          </a:ln>
        </p:spPr>
      </p:sp>
      <p:sp>
        <p:nvSpPr>
          <p:cNvPr id="9" name="text-5"/>
          <p:cNvSpPr txBox="1"/>
          <p:nvPr/>
        </p:nvSpPr>
        <p:spPr>
          <a:xfrm>
            <a:off x="694944" y="2414016"/>
            <a:ext cx="347472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633472"/>
            <a:ext cx="347472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monthly · priorities, gate sign-off, decisions pending</a:t>
            </a:r>
            <a:endParaRPr lang="en-US" sz="900" dirty="0"/>
          </a:p>
        </p:txBody>
      </p:sp>
      <p:sp>
        <p:nvSpPr>
          <p:cNvPr id="11" name="shape-7"/>
          <p:cNvSpPr/>
          <p:nvPr/>
        </p:nvSpPr>
        <p:spPr>
          <a:xfrm>
            <a:off x="548640" y="3017520"/>
            <a:ext cx="3474720" cy="585216"/>
          </a:xfrm>
          <a:prstGeom prst="roundRect">
            <a:avLst>
              <a:gd name="adj" fmla="val 12500"/>
            </a:avLst>
          </a:prstGeom>
          <a:solidFill>
            <a:srgbClr val="1F8F86"/>
          </a:solidFill>
          <a:ln w="12700">
            <a:solidFill>
              <a:srgbClr val="1F8F86"/>
            </a:solidFill>
            <a:prstDash val="solid"/>
          </a:ln>
        </p:spPr>
      </p:sp>
      <p:sp>
        <p:nvSpPr>
          <p:cNvPr id="12" name="text-8"/>
          <p:cNvSpPr txBox="1"/>
          <p:nvPr/>
        </p:nvSpPr>
        <p:spPr>
          <a:xfrm>
            <a:off x="694944" y="3090672"/>
            <a:ext cx="320040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3310128"/>
            <a:ext cx="320040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weekly · cycle time, change failure, blockers, evidence</a:t>
            </a:r>
            <a:endParaRPr lang="en-US" sz="900" dirty="0"/>
          </a:p>
        </p:txBody>
      </p:sp>
      <p:sp>
        <p:nvSpPr>
          <p:cNvPr id="14" name="shape-10"/>
          <p:cNvSpPr/>
          <p:nvPr/>
        </p:nvSpPr>
        <p:spPr>
          <a:xfrm>
            <a:off x="548640" y="3694176"/>
            <a:ext cx="3200400" cy="585216"/>
          </a:xfrm>
          <a:prstGeom prst="roundRect">
            <a:avLst>
              <a:gd name="adj" fmla="val 12500"/>
            </a:avLst>
          </a:prstGeom>
          <a:solidFill>
            <a:srgbClr val="D6ECE9"/>
          </a:solidFill>
          <a:ln w="12700">
            <a:solidFill>
              <a:srgbClr val="D6ECE9"/>
            </a:solidFill>
            <a:prstDash val="solid"/>
          </a:ln>
        </p:spPr>
      </p:sp>
      <p:sp>
        <p:nvSpPr>
          <p:cNvPr id="15" name="text-11"/>
          <p:cNvSpPr txBox="1"/>
          <p:nvPr/>
        </p:nvSpPr>
        <p:spPr>
          <a:xfrm>
            <a:off x="694944" y="3767328"/>
            <a:ext cx="29260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986784"/>
            <a:ext cx="2926080" cy="256032"/>
          </a:xfrm>
          <a:prstGeom prst="rect">
            <a:avLst/>
          </a:prstGeom>
          <a:noFill/>
          <a:ln/>
        </p:spPr>
        <p:txBody>
          <a:bodyPr wrap="square" lIns="0" tIns="0" rIns="0" bIns="0" rtlCol="0" anchor="t"/>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written down, visible to all</a:t>
            </a:r>
            <a:endParaRPr lang="en-US" sz="900" dirty="0"/>
          </a:p>
        </p:txBody>
      </p:sp>
      <p:sp>
        <p:nvSpPr>
          <p:cNvPr id="17" name="text-13"/>
          <p:cNvSpPr txBox="1"/>
          <p:nvPr/>
        </p:nvSpPr>
        <p:spPr>
          <a:xfrm>
            <a:off x="493776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 — EVERY INCREMENT, EVIDENCE NOT MEETINGS</a:t>
            </a:r>
            <a:endParaRPr lang="en-US" sz="800" dirty="0"/>
          </a:p>
        </p:txBody>
      </p:sp>
      <p:sp>
        <p:nvSpPr>
          <p:cNvPr id="18" name="shape-14"/>
          <p:cNvSpPr/>
          <p:nvPr/>
        </p:nvSpPr>
        <p:spPr>
          <a:xfrm>
            <a:off x="859536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59536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32688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3268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1005840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100584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78992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7899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937760" y="1773936"/>
            <a:ext cx="6675120" cy="402336"/>
          </a:xfrm>
          <a:prstGeom prst="roundRect">
            <a:avLst>
              <a:gd name="adj" fmla="val 9091"/>
            </a:avLst>
          </a:prstGeom>
          <a:solidFill>
            <a:srgbClr val="EEF2F4"/>
          </a:solidFill>
          <a:ln w="12700">
            <a:solidFill>
              <a:srgbClr val="EEF2F4"/>
            </a:solidFill>
            <a:prstDash val="solid"/>
          </a:ln>
        </p:spPr>
      </p:sp>
      <p:sp>
        <p:nvSpPr>
          <p:cNvPr id="27" name="text-23"/>
          <p:cNvSpPr txBox="1"/>
          <p:nvPr/>
        </p:nvSpPr>
        <p:spPr>
          <a:xfrm>
            <a:off x="5029200" y="18470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Security and payments</a:t>
            </a:r>
            <a:endParaRPr lang="en-US" sz="1200" dirty="0"/>
          </a:p>
        </p:txBody>
      </p:sp>
      <p:sp>
        <p:nvSpPr>
          <p:cNvPr id="28" name="oval-24"/>
          <p:cNvSpPr/>
          <p:nvPr/>
        </p:nvSpPr>
        <p:spPr>
          <a:xfrm>
            <a:off x="8613648" y="1892808"/>
            <a:ext cx="164592" cy="164592"/>
          </a:xfrm>
          <a:prstGeom prst="ellipse">
            <a:avLst/>
          </a:prstGeom>
          <a:solidFill>
            <a:srgbClr val="134E4A"/>
          </a:solidFill>
          <a:ln w="12700">
            <a:solidFill>
              <a:srgbClr val="134E4A"/>
            </a:solidFill>
            <a:prstDash val="solid"/>
          </a:ln>
        </p:spPr>
      </p:sp>
      <p:sp>
        <p:nvSpPr>
          <p:cNvPr id="29" name="oval-25"/>
          <p:cNvSpPr/>
          <p:nvPr/>
        </p:nvSpPr>
        <p:spPr>
          <a:xfrm>
            <a:off x="10076688" y="1892808"/>
            <a:ext cx="164592" cy="164592"/>
          </a:xfrm>
          <a:prstGeom prst="ellipse">
            <a:avLst/>
          </a:prstGeom>
          <a:solidFill>
            <a:srgbClr val="8A99A3"/>
          </a:solidFill>
          <a:ln w="12700">
            <a:solidFill>
              <a:srgbClr val="8A99A3"/>
            </a:solidFill>
            <a:prstDash val="solid"/>
          </a:ln>
        </p:spPr>
      </p:sp>
      <p:sp>
        <p:nvSpPr>
          <p:cNvPr id="30" name="oval-26"/>
          <p:cNvSpPr/>
          <p:nvPr/>
        </p:nvSpPr>
        <p:spPr>
          <a:xfrm>
            <a:off x="10808208" y="1892808"/>
            <a:ext cx="164592" cy="164592"/>
          </a:xfrm>
          <a:prstGeom prst="ellipse">
            <a:avLst/>
          </a:prstGeom>
          <a:solidFill>
            <a:srgbClr val="B45309"/>
          </a:solidFill>
          <a:ln w="12700">
            <a:solidFill>
              <a:srgbClr val="B45309"/>
            </a:solidFill>
            <a:prstDash val="solid"/>
          </a:ln>
        </p:spPr>
      </p:sp>
      <p:sp>
        <p:nvSpPr>
          <p:cNvPr id="31" name="text-27"/>
          <p:cNvSpPr txBox="1"/>
          <p:nvPr/>
        </p:nvSpPr>
        <p:spPr>
          <a:xfrm>
            <a:off x="5029200" y="23042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Data and privacy</a:t>
            </a:r>
            <a:endParaRPr lang="en-US" sz="1200" dirty="0"/>
          </a:p>
        </p:txBody>
      </p:sp>
      <p:sp>
        <p:nvSpPr>
          <p:cNvPr id="32" name="oval-28"/>
          <p:cNvSpPr/>
          <p:nvPr/>
        </p:nvSpPr>
        <p:spPr>
          <a:xfrm>
            <a:off x="8613648" y="2350008"/>
            <a:ext cx="164592" cy="164592"/>
          </a:xfrm>
          <a:prstGeom prst="ellipse">
            <a:avLst/>
          </a:prstGeom>
          <a:solidFill>
            <a:srgbClr val="134E4A"/>
          </a:solidFill>
          <a:ln w="12700">
            <a:solidFill>
              <a:srgbClr val="134E4A"/>
            </a:solidFill>
            <a:prstDash val="solid"/>
          </a:ln>
        </p:spPr>
      </p:sp>
      <p:sp>
        <p:nvSpPr>
          <p:cNvPr id="33" name="oval-29"/>
          <p:cNvSpPr/>
          <p:nvPr/>
        </p:nvSpPr>
        <p:spPr>
          <a:xfrm>
            <a:off x="9345168" y="2350008"/>
            <a:ext cx="164592" cy="164592"/>
          </a:xfrm>
          <a:prstGeom prst="ellipse">
            <a:avLst/>
          </a:prstGeom>
          <a:solidFill>
            <a:srgbClr val="0F766E"/>
          </a:solidFill>
          <a:ln w="12700">
            <a:solidFill>
              <a:srgbClr val="0F766E"/>
            </a:solidFill>
            <a:prstDash val="solid"/>
          </a:ln>
        </p:spPr>
      </p:sp>
      <p:sp>
        <p:nvSpPr>
          <p:cNvPr id="34" name="oval-30"/>
          <p:cNvSpPr/>
          <p:nvPr/>
        </p:nvSpPr>
        <p:spPr>
          <a:xfrm>
            <a:off x="10076688" y="2350008"/>
            <a:ext cx="164592" cy="164592"/>
          </a:xfrm>
          <a:prstGeom prst="ellipse">
            <a:avLst/>
          </a:prstGeom>
          <a:solidFill>
            <a:srgbClr val="8A99A3"/>
          </a:solidFill>
          <a:ln w="12700">
            <a:solidFill>
              <a:srgbClr val="8A99A3"/>
            </a:solidFill>
            <a:prstDash val="solid"/>
          </a:ln>
        </p:spPr>
      </p:sp>
      <p:sp>
        <p:nvSpPr>
          <p:cNvPr id="35" name="shape-31"/>
          <p:cNvSpPr/>
          <p:nvPr/>
        </p:nvSpPr>
        <p:spPr>
          <a:xfrm>
            <a:off x="4937760" y="2688336"/>
            <a:ext cx="6675120" cy="402336"/>
          </a:xfrm>
          <a:prstGeom prst="roundRect">
            <a:avLst>
              <a:gd name="adj" fmla="val 9091"/>
            </a:avLst>
          </a:prstGeom>
          <a:solidFill>
            <a:srgbClr val="EEF2F4"/>
          </a:solidFill>
          <a:ln w="12700">
            <a:solidFill>
              <a:srgbClr val="EEF2F4"/>
            </a:solidFill>
            <a:prstDash val="solid"/>
          </a:ln>
        </p:spPr>
      </p:sp>
      <p:sp>
        <p:nvSpPr>
          <p:cNvPr id="36" name="text-32"/>
          <p:cNvSpPr txBox="1"/>
          <p:nvPr/>
        </p:nvSpPr>
        <p:spPr>
          <a:xfrm>
            <a:off x="5029200" y="27614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Content integrity</a:t>
            </a:r>
            <a:endParaRPr lang="en-US" sz="1200" dirty="0"/>
          </a:p>
        </p:txBody>
      </p:sp>
      <p:sp>
        <p:nvSpPr>
          <p:cNvPr id="37" name="oval-33"/>
          <p:cNvSpPr/>
          <p:nvPr/>
        </p:nvSpPr>
        <p:spPr>
          <a:xfrm>
            <a:off x="8613648" y="2807208"/>
            <a:ext cx="164592" cy="164592"/>
          </a:xfrm>
          <a:prstGeom prst="ellipse">
            <a:avLst/>
          </a:prstGeom>
          <a:solidFill>
            <a:srgbClr val="134E4A"/>
          </a:solidFill>
          <a:ln w="12700">
            <a:solidFill>
              <a:srgbClr val="134E4A"/>
            </a:solidFill>
            <a:prstDash val="solid"/>
          </a:ln>
        </p:spPr>
      </p:sp>
      <p:sp>
        <p:nvSpPr>
          <p:cNvPr id="38" name="oval-34"/>
          <p:cNvSpPr/>
          <p:nvPr/>
        </p:nvSpPr>
        <p:spPr>
          <a:xfrm>
            <a:off x="9345168" y="2807208"/>
            <a:ext cx="164592" cy="164592"/>
          </a:xfrm>
          <a:prstGeom prst="ellipse">
            <a:avLst/>
          </a:prstGeom>
          <a:solidFill>
            <a:srgbClr val="0F766E"/>
          </a:solidFill>
          <a:ln w="12700">
            <a:solidFill>
              <a:srgbClr val="0F766E"/>
            </a:solidFill>
            <a:prstDash val="solid"/>
          </a:ln>
        </p:spPr>
      </p:sp>
      <p:sp>
        <p:nvSpPr>
          <p:cNvPr id="39" name="text-35"/>
          <p:cNvSpPr txBox="1"/>
          <p:nvPr/>
        </p:nvSpPr>
        <p:spPr>
          <a:xfrm>
            <a:off x="5029200" y="32186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Integration and operability</a:t>
            </a:r>
            <a:endParaRPr lang="en-US" sz="1200" dirty="0"/>
          </a:p>
        </p:txBody>
      </p:sp>
      <p:sp>
        <p:nvSpPr>
          <p:cNvPr id="40" name="oval-36"/>
          <p:cNvSpPr/>
          <p:nvPr/>
        </p:nvSpPr>
        <p:spPr>
          <a:xfrm>
            <a:off x="8613648" y="3264408"/>
            <a:ext cx="164592" cy="164592"/>
          </a:xfrm>
          <a:prstGeom prst="ellipse">
            <a:avLst/>
          </a:prstGeom>
          <a:solidFill>
            <a:srgbClr val="134E4A"/>
          </a:solidFill>
          <a:ln w="12700">
            <a:solidFill>
              <a:srgbClr val="134E4A"/>
            </a:solidFill>
            <a:prstDash val="solid"/>
          </a:ln>
        </p:spPr>
      </p:sp>
      <p:sp>
        <p:nvSpPr>
          <p:cNvPr id="41" name="oval-37"/>
          <p:cNvSpPr/>
          <p:nvPr/>
        </p:nvSpPr>
        <p:spPr>
          <a:xfrm>
            <a:off x="10076688" y="3264408"/>
            <a:ext cx="164592" cy="164592"/>
          </a:xfrm>
          <a:prstGeom prst="ellipse">
            <a:avLst/>
          </a:prstGeom>
          <a:solidFill>
            <a:srgbClr val="8A99A3"/>
          </a:solidFill>
          <a:ln w="12700">
            <a:solidFill>
              <a:srgbClr val="8A99A3"/>
            </a:solidFill>
            <a:prstDash val="solid"/>
          </a:ln>
        </p:spPr>
      </p:sp>
      <p:sp>
        <p:nvSpPr>
          <p:cNvPr id="42" name="oval-38"/>
          <p:cNvSpPr/>
          <p:nvPr/>
        </p:nvSpPr>
        <p:spPr>
          <a:xfrm>
            <a:off x="10808208" y="3264408"/>
            <a:ext cx="164592" cy="164592"/>
          </a:xfrm>
          <a:prstGeom prst="ellipse">
            <a:avLst/>
          </a:prstGeom>
          <a:solidFill>
            <a:srgbClr val="B45309"/>
          </a:solidFill>
          <a:ln w="12700">
            <a:solidFill>
              <a:srgbClr val="B45309"/>
            </a:solidFill>
            <a:prstDash val="solid"/>
          </a:ln>
        </p:spPr>
      </p:sp>
      <p:sp>
        <p:nvSpPr>
          <p:cNvPr id="43" name="shape-39"/>
          <p:cNvSpPr/>
          <p:nvPr/>
        </p:nvSpPr>
        <p:spPr>
          <a:xfrm>
            <a:off x="4937760" y="3602736"/>
            <a:ext cx="6675120" cy="402336"/>
          </a:xfrm>
          <a:prstGeom prst="roundRect">
            <a:avLst>
              <a:gd name="adj" fmla="val 9091"/>
            </a:avLst>
          </a:prstGeom>
          <a:solidFill>
            <a:srgbClr val="EEF2F4"/>
          </a:solidFill>
          <a:ln w="12700">
            <a:solidFill>
              <a:srgbClr val="EEF2F4"/>
            </a:solidFill>
            <a:prstDash val="solid"/>
          </a:ln>
        </p:spPr>
      </p:sp>
      <p:sp>
        <p:nvSpPr>
          <p:cNvPr id="44" name="text-40"/>
          <p:cNvSpPr txBox="1"/>
          <p:nvPr/>
        </p:nvSpPr>
        <p:spPr>
          <a:xfrm>
            <a:off x="5029200" y="36758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Release readiness</a:t>
            </a:r>
            <a:endParaRPr lang="en-US" sz="1200" dirty="0"/>
          </a:p>
        </p:txBody>
      </p:sp>
      <p:sp>
        <p:nvSpPr>
          <p:cNvPr id="45" name="oval-41"/>
          <p:cNvSpPr/>
          <p:nvPr/>
        </p:nvSpPr>
        <p:spPr>
          <a:xfrm>
            <a:off x="8613648" y="3721608"/>
            <a:ext cx="164592" cy="164592"/>
          </a:xfrm>
          <a:prstGeom prst="ellipse">
            <a:avLst/>
          </a:prstGeom>
          <a:solidFill>
            <a:srgbClr val="134E4A"/>
          </a:solidFill>
          <a:ln w="12700">
            <a:solidFill>
              <a:srgbClr val="134E4A"/>
            </a:solidFill>
            <a:prstDash val="solid"/>
          </a:ln>
        </p:spPr>
      </p:sp>
      <p:sp>
        <p:nvSpPr>
          <p:cNvPr id="46" name="oval-42"/>
          <p:cNvSpPr/>
          <p:nvPr/>
        </p:nvSpPr>
        <p:spPr>
          <a:xfrm>
            <a:off x="9345168" y="3721608"/>
            <a:ext cx="164592" cy="164592"/>
          </a:xfrm>
          <a:prstGeom prst="ellipse">
            <a:avLst/>
          </a:prstGeom>
          <a:solidFill>
            <a:srgbClr val="0F766E"/>
          </a:solidFill>
          <a:ln w="12700">
            <a:solidFill>
              <a:srgbClr val="0F766E"/>
            </a:solidFill>
            <a:prstDash val="solid"/>
          </a:ln>
        </p:spPr>
      </p:sp>
      <p:sp>
        <p:nvSpPr>
          <p:cNvPr id="47" name="oval-43"/>
          <p:cNvSpPr/>
          <p:nvPr/>
        </p:nvSpPr>
        <p:spPr>
          <a:xfrm>
            <a:off x="10808208" y="3721608"/>
            <a:ext cx="164592" cy="164592"/>
          </a:xfrm>
          <a:prstGeom prst="ellipse">
            <a:avLst/>
          </a:prstGeom>
          <a:solidFill>
            <a:srgbClr val="B45309"/>
          </a:solidFill>
          <a:ln w="12700">
            <a:solidFill>
              <a:srgbClr val="B45309"/>
            </a:solidFill>
            <a:prstDash val="solid"/>
          </a:ln>
        </p:spPr>
      </p:sp>
      <p:sp>
        <p:nvSpPr>
          <p:cNvPr id="48" name="text-44"/>
          <p:cNvSpPr txBox="1"/>
          <p:nvPr/>
        </p:nvSpPr>
        <p:spPr>
          <a:xfrm>
            <a:off x="4937760" y="4297680"/>
            <a:ext cx="6675120" cy="164592"/>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A product · B content tooling · C commodity · X cross-cutting</a:t>
            </a:r>
            <a:endParaRPr lang="en-US" sz="800" dirty="0"/>
          </a:p>
        </p:txBody>
      </p:sp>
      <p:sp>
        <p:nvSpPr>
          <p:cNvPr id="49" name="text-45"/>
          <p:cNvSpPr txBox="1"/>
          <p:nvPr/>
        </p:nvSpPr>
        <p:spPr>
          <a:xfrm>
            <a:off x="548640" y="471830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50" name="shape-46"/>
          <p:cNvSpPr/>
          <p:nvPr/>
        </p:nvSpPr>
        <p:spPr>
          <a:xfrm>
            <a:off x="548640" y="4992624"/>
            <a:ext cx="3590544" cy="1005840"/>
          </a:xfrm>
          <a:prstGeom prst="roundRect">
            <a:avLst>
              <a:gd name="adj" fmla="val 7273"/>
            </a:avLst>
          </a:prstGeom>
          <a:solidFill>
            <a:srgbClr val="D6ECE9"/>
          </a:solidFill>
          <a:ln w="12700">
            <a:solidFill>
              <a:srgbClr val="D6ECE9"/>
            </a:solidFill>
            <a:prstDash val="solid"/>
          </a:ln>
        </p:spPr>
      </p:sp>
      <p:sp>
        <p:nvSpPr>
          <p:cNvPr id="51" name="text-47"/>
          <p:cNvSpPr txBox="1"/>
          <p:nvPr/>
        </p:nvSpPr>
        <p:spPr>
          <a:xfrm>
            <a:off x="731520"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Months 1–2</a:t>
            </a:r>
            <a:endParaRPr lang="en-US" sz="1600" dirty="0"/>
          </a:p>
        </p:txBody>
      </p:sp>
      <p:sp>
        <p:nvSpPr>
          <p:cNvPr id="52" name="text-48"/>
          <p:cNvSpPr txBox="1"/>
          <p:nvPr/>
        </p:nvSpPr>
        <p:spPr>
          <a:xfrm>
            <a:off x="731520"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two baselines, fit test, scope decisions to the board</a:t>
            </a:r>
            <a:endParaRPr lang="en-US" sz="1100" dirty="0"/>
          </a:p>
        </p:txBody>
      </p:sp>
      <p:sp>
        <p:nvSpPr>
          <p:cNvPr id="53" name="shape-49"/>
          <p:cNvSpPr/>
          <p:nvPr/>
        </p:nvSpPr>
        <p:spPr>
          <a:xfrm>
            <a:off x="4285488" y="4992624"/>
            <a:ext cx="3590544" cy="1005840"/>
          </a:xfrm>
          <a:prstGeom prst="roundRect">
            <a:avLst>
              <a:gd name="adj" fmla="val 7273"/>
            </a:avLst>
          </a:prstGeom>
          <a:solidFill>
            <a:srgbClr val="0F766E"/>
          </a:solidFill>
          <a:ln w="12700">
            <a:solidFill>
              <a:srgbClr val="0F766E"/>
            </a:solidFill>
            <a:prstDash val="solid"/>
          </a:ln>
        </p:spPr>
      </p:sp>
      <p:sp>
        <p:nvSpPr>
          <p:cNvPr id="54" name="text-50"/>
          <p:cNvSpPr txBox="1"/>
          <p:nvPr/>
        </p:nvSpPr>
        <p:spPr>
          <a:xfrm>
            <a:off x="4468368"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Months 3–4</a:t>
            </a:r>
            <a:endParaRPr lang="en-US" sz="1600" dirty="0"/>
          </a:p>
        </p:txBody>
      </p:sp>
      <p:sp>
        <p:nvSpPr>
          <p:cNvPr id="55" name="text-51"/>
          <p:cNvSpPr txBox="1"/>
          <p:nvPr/>
        </p:nvSpPr>
        <p:spPr>
          <a:xfrm>
            <a:off x="4468368"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first assured delivery on the core; partners delivering</a:t>
            </a:r>
            <a:endParaRPr lang="en-US" sz="1100" dirty="0"/>
          </a:p>
        </p:txBody>
      </p:sp>
      <p:sp>
        <p:nvSpPr>
          <p:cNvPr id="56" name="shape-52"/>
          <p:cNvSpPr/>
          <p:nvPr/>
        </p:nvSpPr>
        <p:spPr>
          <a:xfrm>
            <a:off x="8022336" y="4992624"/>
            <a:ext cx="3590544" cy="1005840"/>
          </a:xfrm>
          <a:prstGeom prst="roundRect">
            <a:avLst>
              <a:gd name="adj" fmla="val 7273"/>
            </a:avLst>
          </a:prstGeom>
          <a:solidFill>
            <a:srgbClr val="134E4A"/>
          </a:solidFill>
          <a:ln w="12700">
            <a:solidFill>
              <a:srgbClr val="134E4A"/>
            </a:solidFill>
            <a:prstDash val="solid"/>
          </a:ln>
        </p:spPr>
      </p:sp>
      <p:sp>
        <p:nvSpPr>
          <p:cNvPr id="57" name="text-53"/>
          <p:cNvSpPr txBox="1"/>
          <p:nvPr/>
        </p:nvSpPr>
        <p:spPr>
          <a:xfrm>
            <a:off x="8205216"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Months 5–6</a:t>
            </a:r>
            <a:endParaRPr lang="en-US" sz="1600" dirty="0"/>
          </a:p>
        </p:txBody>
      </p:sp>
      <p:sp>
        <p:nvSpPr>
          <p:cNvPr id="58" name="text-54"/>
          <p:cNvSpPr txBox="1"/>
          <p:nvPr/>
        </p:nvSpPr>
        <p:spPr>
          <a:xfrm>
            <a:off x="8205216"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build waves, cutover rehearsal, go-live against the date</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IDEAS BEYOND DAY 1</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Not commitments and not walked through today — parked for when their time comes</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product · orange cross-cutting · green content tooling. Day 1.5 = after the agreed path is live, before Day 2.</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2026-10-15T07:10:53Z</dcterms:created>
  <dcterms:modified xsi:type="dcterms:W3CDTF">2026-10-15T07:10:53Z</dcterms:modified>
</cp:coreProperties>
</file>
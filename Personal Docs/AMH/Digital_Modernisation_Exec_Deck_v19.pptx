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and is each component in the right tier under the right rule. (Where tooling and AI help or hinder is part of the second question; it came off the slide for space.)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Every item applies to the product in full. The badges on the slide mark, item by item, where a mechanism also applies to B, C or X — and the point is proportion: B and C get the mechanisms that stop a slow week (vendor failover plans, versioned and staged configuration, backups with restore drills, replay from the bus, status and runbooks, audit trail), not the ones that stop a lost minute (edge caching, active-active regions, canaries, read-only mode). X carries the product's mechanisms wherever it sits in the product's path. Unmarked items are product-only.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(demoted from the slide; the rhythm now says who sees what)
- Inward, the team sees and improves: cycle time from decision to assured release; change failure, rework, time to recover; product availability and latency by region; AI judged on cycle time and quality, never on tokens.
- Upward, what passes the gates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OPERATING RHYTHM (assumes a board and risk committee exist; the programme reports into them)
- Board / Risk Committee — quarterly meeting with a monthly review pack, or by exception: target date, funding envelope, risk appetite (including the availability stance), policy exceptions.
- Programme Steering — monthly: CEO, CTO, product owner, partner leads: priorities, trade-offs, partner performance, gate sign-off.
- Delivery and Partner Review — weekly, CEO invited: CTO, lead engineer, product, partner delivery leads: plan vs actual, blockers, assurance evidence, decisions pending, next week. No separate steering layer: priorities and trade-offs are settled here with the CEO; gate sign-off goes into the monthly Board/Risk pack.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settled at the weekly review; partner commercials. CTO: architecture, assurance gates, technical scope, partner technical direction. Partners: how they deliver within the agreed design and gates — not what or whether.
ASSURANCE GATES BY TIER
- Security, payments and the ISMS; data and privacy; content integrity and clinical governance (provenance, review, errata, audit);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1  ·  TAKING OWNERSHIP OF THE AGREED PATHWAY</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Own the agreed pathway without stalling it: understand, stabilise, accelerate</a:t>
            </a:r>
            <a:endParaRPr lang="en-US" sz="225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1100" spc="200" kern="0" dirty="0">
                <a:solidFill>
                  <a:srgbClr val="5A6B75"/>
                </a:solidFill>
                <a:latin typeface="Calibri" pitchFamily="34" charset="0"/>
                <a:ea typeface="Calibri" pitchFamily="34" charset="-122"/>
                <a:cs typeface="Calibri" pitchFamily="34" charset="-120"/>
              </a:rPr>
              <a:t>VALUE</a:t>
            </a:r>
            <a:endParaRPr lang="en-US" sz="110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1100" spc="200" kern="0" dirty="0">
                <a:solidFill>
                  <a:srgbClr val="5A6B75"/>
                </a:solidFill>
                <a:latin typeface="Calibri" pitchFamily="34" charset="0"/>
                <a:ea typeface="Calibri" pitchFamily="34" charset="-122"/>
                <a:cs typeface="Calibri" pitchFamily="34" charset="-120"/>
              </a:rPr>
              <a:t>TIME</a:t>
            </a:r>
            <a:endParaRPr lang="en-US" sz="110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350" b="1" dirty="0">
                <a:solidFill>
                  <a:srgbClr val="5A6B75"/>
                </a:solidFill>
                <a:latin typeface="Calibri" pitchFamily="34" charset="0"/>
                <a:ea typeface="Calibri" pitchFamily="34" charset="-122"/>
                <a:cs typeface="Calibri" pitchFamily="34" charset="-120"/>
              </a:rPr>
              <a:t>Publishing model</a:t>
            </a:r>
            <a:endParaRPr lang="en-US" sz="135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today</a:t>
            </a:r>
            <a:endParaRPr lang="en-US" sz="110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350" b="1" dirty="0">
                <a:solidFill>
                  <a:srgbClr val="0F766E"/>
                </a:solidFill>
                <a:latin typeface="Calibri" pitchFamily="34" charset="0"/>
                <a:ea typeface="Calibri" pitchFamily="34" charset="-122"/>
                <a:cs typeface="Calibri" pitchFamily="34" charset="-120"/>
              </a:rPr>
              <a:t>Digital product platform</a:t>
            </a:r>
            <a:endParaRPr lang="en-US" sz="135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1100" dirty="0">
                <a:solidFill>
                  <a:srgbClr val="0F766E"/>
                </a:solidFill>
                <a:latin typeface="Calibri" pitchFamily="34" charset="0"/>
                <a:ea typeface="Calibri" pitchFamily="34" charset="-122"/>
                <a:cs typeface="Calibri" pitchFamily="34" charset="-120"/>
              </a:rPr>
              <a:t>the agreed direction</a:t>
            </a:r>
            <a:endParaRPr lang="en-US" sz="110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Inflection point</a:t>
            </a:r>
            <a:endParaRPr lang="en-US" sz="110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200" b="1" dirty="0">
                <a:solidFill>
                  <a:srgbClr val="B45309"/>
                </a:solidFill>
                <a:latin typeface="Calibri" pitchFamily="34" charset="0"/>
                <a:ea typeface="Calibri" pitchFamily="34" charset="-122"/>
                <a:cs typeface="Calibri" pitchFamily="34" charset="-120"/>
              </a:rPr>
              <a:t>The pivot — agreed</a:t>
            </a:r>
            <a:endParaRPr lang="en-US" sz="12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fixed target date</a:t>
            </a:r>
            <a:endParaRPr lang="en-US" sz="110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1C2B33"/>
                </a:solidFill>
                <a:latin typeface="Calibri" pitchFamily="34" charset="0"/>
                <a:ea typeface="Calibri" pitchFamily="34" charset="-122"/>
                <a:cs typeface="Calibri" pitchFamily="34" charset="-120"/>
              </a:rPr>
              <a:t>Understand</a:t>
            </a:r>
            <a:endParaRPr lang="en-US" sz="190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DAYS 1–30</a:t>
            </a:r>
            <a:endParaRPr lang="en-US" sz="110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two baselines: the technology and the ways of working</a:t>
            </a:r>
            <a:endParaRPr lang="en-US" sz="130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FFFFFF"/>
                </a:solidFill>
                <a:latin typeface="Calibri" pitchFamily="34" charset="0"/>
                <a:ea typeface="Calibri" pitchFamily="34" charset="-122"/>
                <a:cs typeface="Calibri" pitchFamily="34" charset="-120"/>
              </a:rPr>
              <a:t>Stabilise</a:t>
            </a:r>
            <a:endParaRPr lang="en-US" sz="190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CFE8E5"/>
                </a:solidFill>
                <a:latin typeface="Calibri" pitchFamily="34" charset="0"/>
                <a:ea typeface="Calibri" pitchFamily="34" charset="-122"/>
                <a:cs typeface="Calibri" pitchFamily="34" charset="-120"/>
              </a:rPr>
              <a:t>DAYS 31–60</a:t>
            </a:r>
            <a:endParaRPr lang="en-US" sz="110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30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FFFFFF"/>
                </a:solidFill>
                <a:latin typeface="Calibri" pitchFamily="34" charset="0"/>
                <a:ea typeface="Calibri" pitchFamily="34" charset="-122"/>
                <a:cs typeface="Calibri" pitchFamily="34" charset="-120"/>
              </a:rPr>
              <a:t>Accelerate</a:t>
            </a:r>
            <a:endParaRPr lang="en-US" sz="190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CFE8E5"/>
                </a:solidFill>
                <a:latin typeface="Calibri" pitchFamily="34" charset="0"/>
                <a:ea typeface="Calibri" pitchFamily="34" charset="-122"/>
                <a:cs typeface="Calibri" pitchFamily="34" charset="-120"/>
              </a:rPr>
              <a:t>DAYS 61–90 →</a:t>
            </a:r>
            <a:endParaRPr lang="en-US" sz="110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first assured delivery; the plan to the date</a:t>
            </a:r>
            <a:endParaRPr lang="en-US" sz="130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20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2  ·  THE FIRST 90 DAYS AGAINST THE 27 APRIL DATE</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December start leaves little room: three gates by early March, then eight weeks to go live</a:t>
            </a:r>
            <a:endParaRPr lang="en-US" sz="2250" dirty="0"/>
          </a:p>
        </p:txBody>
      </p:sp>
      <p:sp>
        <p:nvSpPr>
          <p:cNvPr id="4" name="shape-0"/>
          <p:cNvSpPr/>
          <p:nvPr/>
        </p:nvSpPr>
        <p:spPr>
          <a:xfrm>
            <a:off x="1931437" y="1280160"/>
            <a:ext cx="1601133" cy="1335024"/>
          </a:xfrm>
          <a:prstGeom prst="roundRect">
            <a:avLst>
              <a:gd name="adj" fmla="val 4110"/>
            </a:avLst>
          </a:prstGeom>
          <a:solidFill>
            <a:srgbClr val="FDF1E3"/>
          </a:solidFill>
          <a:ln w="12700">
            <a:solidFill>
              <a:srgbClr val="FDF1E3"/>
            </a:solidFill>
            <a:prstDash val="solid"/>
          </a:ln>
        </p:spPr>
      </p:sp>
      <p:sp>
        <p:nvSpPr>
          <p:cNvPr id="5" name="text-1"/>
          <p:cNvSpPr txBox="1"/>
          <p:nvPr/>
        </p:nvSpPr>
        <p:spPr>
          <a:xfrm>
            <a:off x="1657117" y="2432304"/>
            <a:ext cx="2149773"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December break</a:t>
            </a:r>
            <a:endParaRPr lang="en-US" sz="1100" dirty="0"/>
          </a:p>
        </p:txBody>
      </p:sp>
      <p:sp>
        <p:nvSpPr>
          <p:cNvPr id="6" name="line-2"/>
          <p:cNvSpPr/>
          <p:nvPr/>
        </p:nvSpPr>
        <p:spPr>
          <a:xfrm>
            <a:off x="548640" y="1828800"/>
            <a:ext cx="10698480" cy="0"/>
          </a:xfrm>
          <a:prstGeom prst="line">
            <a:avLst/>
          </a:prstGeom>
          <a:noFill/>
          <a:ln w="50800">
            <a:solidFill>
              <a:srgbClr val="D4DBE0"/>
            </a:solidFill>
            <a:prstDash val="solid"/>
          </a:ln>
        </p:spPr>
      </p:sp>
      <p:sp>
        <p:nvSpPr>
          <p:cNvPr id="7" name="tri-3"/>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8" name="shape-4"/>
          <p:cNvSpPr/>
          <p:nvPr/>
        </p:nvSpPr>
        <p:spPr>
          <a:xfrm>
            <a:off x="548640" y="1805940"/>
            <a:ext cx="6550090" cy="45720"/>
          </a:xfrm>
          <a:prstGeom prst="rect">
            <a:avLst/>
          </a:prstGeom>
          <a:solidFill>
            <a:srgbClr val="0F766E"/>
          </a:solidFill>
          <a:ln w="12700">
            <a:solidFill>
              <a:srgbClr val="0F766E"/>
            </a:solidFill>
            <a:prstDash val="solid"/>
          </a:ln>
        </p:spPr>
      </p:sp>
      <p:sp>
        <p:nvSpPr>
          <p:cNvPr id="9" name="line-5"/>
          <p:cNvSpPr/>
          <p:nvPr/>
        </p:nvSpPr>
        <p:spPr>
          <a:xfrm>
            <a:off x="548640" y="1956816"/>
            <a:ext cx="0" cy="73152"/>
          </a:xfrm>
          <a:prstGeom prst="line">
            <a:avLst/>
          </a:prstGeom>
          <a:noFill/>
          <a:ln w="12700">
            <a:solidFill>
              <a:srgbClr val="5A6B75"/>
            </a:solidFill>
            <a:prstDash val="solid"/>
          </a:ln>
        </p:spPr>
      </p:sp>
      <p:sp>
        <p:nvSpPr>
          <p:cNvPr id="10" name="text-6"/>
          <p:cNvSpPr txBox="1"/>
          <p:nvPr/>
        </p:nvSpPr>
        <p:spPr>
          <a:xfrm>
            <a:off x="365760"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Dec</a:t>
            </a:r>
            <a:endParaRPr lang="en-US" sz="1100" dirty="0"/>
          </a:p>
        </p:txBody>
      </p:sp>
      <p:sp>
        <p:nvSpPr>
          <p:cNvPr id="11" name="line-7"/>
          <p:cNvSpPr/>
          <p:nvPr/>
        </p:nvSpPr>
        <p:spPr>
          <a:xfrm>
            <a:off x="2804782" y="1956816"/>
            <a:ext cx="0" cy="73152"/>
          </a:xfrm>
          <a:prstGeom prst="line">
            <a:avLst/>
          </a:prstGeom>
          <a:noFill/>
          <a:ln w="12700">
            <a:solidFill>
              <a:srgbClr val="5A6B75"/>
            </a:solidFill>
            <a:prstDash val="solid"/>
          </a:ln>
        </p:spPr>
      </p:sp>
      <p:sp>
        <p:nvSpPr>
          <p:cNvPr id="12" name="text-8"/>
          <p:cNvSpPr txBox="1"/>
          <p:nvPr/>
        </p:nvSpPr>
        <p:spPr>
          <a:xfrm>
            <a:off x="2621902"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Jan</a:t>
            </a:r>
            <a:endParaRPr lang="en-US" sz="1100" dirty="0"/>
          </a:p>
        </p:txBody>
      </p:sp>
      <p:sp>
        <p:nvSpPr>
          <p:cNvPr id="13" name="line-9"/>
          <p:cNvSpPr/>
          <p:nvPr/>
        </p:nvSpPr>
        <p:spPr>
          <a:xfrm>
            <a:off x="5060924" y="1956816"/>
            <a:ext cx="0" cy="73152"/>
          </a:xfrm>
          <a:prstGeom prst="line">
            <a:avLst/>
          </a:prstGeom>
          <a:noFill/>
          <a:ln w="12700">
            <a:solidFill>
              <a:srgbClr val="5A6B75"/>
            </a:solidFill>
            <a:prstDash val="solid"/>
          </a:ln>
        </p:spPr>
      </p:sp>
      <p:sp>
        <p:nvSpPr>
          <p:cNvPr id="14" name="text-10"/>
          <p:cNvSpPr txBox="1"/>
          <p:nvPr/>
        </p:nvSpPr>
        <p:spPr>
          <a:xfrm>
            <a:off x="4878044"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Feb</a:t>
            </a:r>
            <a:endParaRPr lang="en-US" sz="1100" dirty="0"/>
          </a:p>
        </p:txBody>
      </p:sp>
      <p:sp>
        <p:nvSpPr>
          <p:cNvPr id="15" name="line-11"/>
          <p:cNvSpPr/>
          <p:nvPr/>
        </p:nvSpPr>
        <p:spPr>
          <a:xfrm>
            <a:off x="7098730" y="1956816"/>
            <a:ext cx="0" cy="73152"/>
          </a:xfrm>
          <a:prstGeom prst="line">
            <a:avLst/>
          </a:prstGeom>
          <a:noFill/>
          <a:ln w="12700">
            <a:solidFill>
              <a:srgbClr val="5A6B75"/>
            </a:solidFill>
            <a:prstDash val="solid"/>
          </a:ln>
        </p:spPr>
      </p:sp>
      <p:sp>
        <p:nvSpPr>
          <p:cNvPr id="16" name="text-12"/>
          <p:cNvSpPr txBox="1"/>
          <p:nvPr/>
        </p:nvSpPr>
        <p:spPr>
          <a:xfrm>
            <a:off x="6915850"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Mar</a:t>
            </a:r>
            <a:endParaRPr lang="en-US" sz="1100" dirty="0"/>
          </a:p>
        </p:txBody>
      </p:sp>
      <p:sp>
        <p:nvSpPr>
          <p:cNvPr id="17" name="line-13"/>
          <p:cNvSpPr/>
          <p:nvPr/>
        </p:nvSpPr>
        <p:spPr>
          <a:xfrm>
            <a:off x="9354872" y="1956816"/>
            <a:ext cx="0" cy="73152"/>
          </a:xfrm>
          <a:prstGeom prst="line">
            <a:avLst/>
          </a:prstGeom>
          <a:noFill/>
          <a:ln w="12700">
            <a:solidFill>
              <a:srgbClr val="5A6B75"/>
            </a:solidFill>
            <a:prstDash val="solid"/>
          </a:ln>
        </p:spPr>
      </p:sp>
      <p:sp>
        <p:nvSpPr>
          <p:cNvPr id="18" name="text-14"/>
          <p:cNvSpPr txBox="1"/>
          <p:nvPr/>
        </p:nvSpPr>
        <p:spPr>
          <a:xfrm>
            <a:off x="9171992"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Apr</a:t>
            </a:r>
            <a:endParaRPr lang="en-US" sz="1100" dirty="0"/>
          </a:p>
        </p:txBody>
      </p:sp>
      <p:sp>
        <p:nvSpPr>
          <p:cNvPr id="19" name="oval-15"/>
          <p:cNvSpPr/>
          <p:nvPr/>
        </p:nvSpPr>
        <p:spPr>
          <a:xfrm>
            <a:off x="466344" y="1746504"/>
            <a:ext cx="164592" cy="164592"/>
          </a:xfrm>
          <a:prstGeom prst="ellipse">
            <a:avLst/>
          </a:prstGeom>
          <a:solidFill>
            <a:srgbClr val="5A6B75"/>
          </a:solidFill>
          <a:ln w="12700">
            <a:solidFill>
              <a:srgbClr val="5A6B75"/>
            </a:solidFill>
            <a:prstDash val="solid"/>
          </a:ln>
        </p:spPr>
      </p:sp>
      <p:sp>
        <p:nvSpPr>
          <p:cNvPr id="20" name="text-16"/>
          <p:cNvSpPr txBox="1"/>
          <p:nvPr/>
        </p:nvSpPr>
        <p:spPr>
          <a:xfrm>
            <a:off x="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5A6B75"/>
                </a:solidFill>
                <a:latin typeface="Calibri" pitchFamily="34" charset="0"/>
                <a:ea typeface="Calibri" pitchFamily="34" charset="-122"/>
                <a:cs typeface="Calibri" pitchFamily="34" charset="-120"/>
              </a:rPr>
              <a:t>Start</a:t>
            </a:r>
            <a:endParaRPr lang="en-US" sz="1100" dirty="0"/>
          </a:p>
        </p:txBody>
      </p:sp>
      <p:sp>
        <p:nvSpPr>
          <p:cNvPr id="21" name="oval-17"/>
          <p:cNvSpPr/>
          <p:nvPr/>
        </p:nvSpPr>
        <p:spPr>
          <a:xfrm>
            <a:off x="2549123" y="1645920"/>
            <a:ext cx="365760" cy="365760"/>
          </a:xfrm>
          <a:prstGeom prst="ellipse">
            <a:avLst/>
          </a:prstGeom>
          <a:solidFill>
            <a:srgbClr val="0F766E"/>
          </a:solidFill>
          <a:ln w="12700">
            <a:solidFill>
              <a:srgbClr val="0F766E"/>
            </a:solidFill>
            <a:prstDash val="solid"/>
          </a:ln>
        </p:spPr>
      </p:sp>
      <p:sp>
        <p:nvSpPr>
          <p:cNvPr id="22" name="text-18"/>
          <p:cNvSpPr txBox="1"/>
          <p:nvPr/>
        </p:nvSpPr>
        <p:spPr>
          <a:xfrm>
            <a:off x="2549123"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G1</a:t>
            </a:r>
            <a:endParaRPr lang="en-US" sz="1300" dirty="0"/>
          </a:p>
        </p:txBody>
      </p:sp>
      <p:sp>
        <p:nvSpPr>
          <p:cNvPr id="23" name="text-19"/>
          <p:cNvSpPr txBox="1"/>
          <p:nvPr/>
        </p:nvSpPr>
        <p:spPr>
          <a:xfrm>
            <a:off x="2183363"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Day 30</a:t>
            </a:r>
            <a:endParaRPr lang="en-US" sz="1100" dirty="0"/>
          </a:p>
        </p:txBody>
      </p:sp>
      <p:sp>
        <p:nvSpPr>
          <p:cNvPr id="24" name="text-20"/>
          <p:cNvSpPr txBox="1"/>
          <p:nvPr/>
        </p:nvSpPr>
        <p:spPr>
          <a:xfrm>
            <a:off x="1909043"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Two baselines</a:t>
            </a:r>
            <a:endParaRPr lang="en-US" sz="1100" dirty="0"/>
          </a:p>
        </p:txBody>
      </p:sp>
      <p:sp>
        <p:nvSpPr>
          <p:cNvPr id="25" name="oval-21"/>
          <p:cNvSpPr/>
          <p:nvPr/>
        </p:nvSpPr>
        <p:spPr>
          <a:xfrm>
            <a:off x="4732487" y="1645920"/>
            <a:ext cx="365760" cy="365760"/>
          </a:xfrm>
          <a:prstGeom prst="ellipse">
            <a:avLst/>
          </a:prstGeom>
          <a:solidFill>
            <a:srgbClr val="0F766E"/>
          </a:solidFill>
          <a:ln w="12700">
            <a:solidFill>
              <a:srgbClr val="0F766E"/>
            </a:solidFill>
            <a:prstDash val="solid"/>
          </a:ln>
        </p:spPr>
      </p:sp>
      <p:sp>
        <p:nvSpPr>
          <p:cNvPr id="26" name="text-22"/>
          <p:cNvSpPr txBox="1"/>
          <p:nvPr/>
        </p:nvSpPr>
        <p:spPr>
          <a:xfrm>
            <a:off x="4732487"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G2</a:t>
            </a:r>
            <a:endParaRPr lang="en-US" sz="1300" dirty="0"/>
          </a:p>
        </p:txBody>
      </p:sp>
      <p:sp>
        <p:nvSpPr>
          <p:cNvPr id="27" name="text-23"/>
          <p:cNvSpPr txBox="1"/>
          <p:nvPr/>
        </p:nvSpPr>
        <p:spPr>
          <a:xfrm>
            <a:off x="4366727"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Day 60</a:t>
            </a:r>
            <a:endParaRPr lang="en-US" sz="1100" dirty="0"/>
          </a:p>
        </p:txBody>
      </p:sp>
      <p:sp>
        <p:nvSpPr>
          <p:cNvPr id="28" name="text-24"/>
          <p:cNvSpPr txBox="1"/>
          <p:nvPr/>
        </p:nvSpPr>
        <p:spPr>
          <a:xfrm>
            <a:off x="4092407"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test, decisions</a:t>
            </a:r>
            <a:endParaRPr lang="en-US" sz="1100" dirty="0"/>
          </a:p>
        </p:txBody>
      </p:sp>
      <p:sp>
        <p:nvSpPr>
          <p:cNvPr id="29" name="oval-25"/>
          <p:cNvSpPr/>
          <p:nvPr/>
        </p:nvSpPr>
        <p:spPr>
          <a:xfrm>
            <a:off x="6915850" y="1645920"/>
            <a:ext cx="365760" cy="365760"/>
          </a:xfrm>
          <a:prstGeom prst="ellipse">
            <a:avLst/>
          </a:prstGeom>
          <a:solidFill>
            <a:srgbClr val="134E4A"/>
          </a:solidFill>
          <a:ln w="12700">
            <a:solidFill>
              <a:srgbClr val="134E4A"/>
            </a:solidFill>
            <a:prstDash val="solid"/>
          </a:ln>
        </p:spPr>
      </p:sp>
      <p:sp>
        <p:nvSpPr>
          <p:cNvPr id="30" name="text-26"/>
          <p:cNvSpPr txBox="1"/>
          <p:nvPr/>
        </p:nvSpPr>
        <p:spPr>
          <a:xfrm>
            <a:off x="6915850"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G3</a:t>
            </a:r>
            <a:endParaRPr lang="en-US" sz="1300" dirty="0"/>
          </a:p>
        </p:txBody>
      </p:sp>
      <p:sp>
        <p:nvSpPr>
          <p:cNvPr id="31" name="text-27"/>
          <p:cNvSpPr txBox="1"/>
          <p:nvPr/>
        </p:nvSpPr>
        <p:spPr>
          <a:xfrm>
            <a:off x="655009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Day 90</a:t>
            </a:r>
            <a:endParaRPr lang="en-US" sz="1100" dirty="0"/>
          </a:p>
        </p:txBody>
      </p:sp>
      <p:sp>
        <p:nvSpPr>
          <p:cNvPr id="32" name="text-28"/>
          <p:cNvSpPr txBox="1"/>
          <p:nvPr/>
        </p:nvSpPr>
        <p:spPr>
          <a:xfrm>
            <a:off x="6275770"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First assured delivery</a:t>
            </a:r>
            <a:endParaRPr lang="en-US" sz="1100" dirty="0"/>
          </a:p>
        </p:txBody>
      </p:sp>
      <p:sp>
        <p:nvSpPr>
          <p:cNvPr id="33" name="oval-29"/>
          <p:cNvSpPr/>
          <p:nvPr/>
        </p:nvSpPr>
        <p:spPr>
          <a:xfrm>
            <a:off x="11137392" y="1719072"/>
            <a:ext cx="219456" cy="219456"/>
          </a:xfrm>
          <a:prstGeom prst="ellipse">
            <a:avLst/>
          </a:prstGeom>
          <a:solidFill>
            <a:srgbClr val="B45309"/>
          </a:solidFill>
          <a:ln w="12700">
            <a:solidFill>
              <a:srgbClr val="B45309"/>
            </a:solidFill>
            <a:prstDash val="solid"/>
          </a:ln>
        </p:spPr>
      </p:sp>
      <p:sp>
        <p:nvSpPr>
          <p:cNvPr id="34" name="text-30"/>
          <p:cNvSpPr txBox="1"/>
          <p:nvPr/>
        </p:nvSpPr>
        <p:spPr>
          <a:xfrm>
            <a:off x="1069848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27 April</a:t>
            </a:r>
            <a:endParaRPr lang="en-US" sz="1100" dirty="0"/>
          </a:p>
        </p:txBody>
      </p:sp>
      <p:sp>
        <p:nvSpPr>
          <p:cNvPr id="35" name="text-31"/>
          <p:cNvSpPr txBox="1"/>
          <p:nvPr/>
        </p:nvSpPr>
        <p:spPr>
          <a:xfrm>
            <a:off x="10424160"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fixed</a:t>
            </a:r>
            <a:endParaRPr lang="en-US" sz="1100" dirty="0"/>
          </a:p>
        </p:txBody>
      </p:sp>
      <p:sp>
        <p:nvSpPr>
          <p:cNvPr id="36" name="text-32"/>
          <p:cNvSpPr txBox="1"/>
          <p:nvPr/>
        </p:nvSpPr>
        <p:spPr>
          <a:xfrm>
            <a:off x="7373050" y="1389888"/>
            <a:ext cx="3599750" cy="182880"/>
          </a:xfrm>
          <a:prstGeom prst="rect">
            <a:avLst/>
          </a:prstGeom>
          <a:noFill/>
          <a:ln/>
        </p:spPr>
        <p:txBody>
          <a:bodyPr wrap="none" lIns="0" tIns="0" rIns="0" bIns="0" rtlCol="0" anchor="ctr"/>
          <a:lstStyle/>
          <a:p>
            <a:pPr algn="ctr" indent="0" marL="0">
              <a:lnSpc>
                <a:spcPct val="100000"/>
              </a:lnSpc>
              <a:buNone/>
            </a:pPr>
            <a:r>
              <a:rPr lang="en-US" sz="1100" i="1" dirty="0">
                <a:solidFill>
                  <a:srgbClr val="5A6B75"/>
                </a:solidFill>
                <a:latin typeface="Calibri" pitchFamily="34" charset="0"/>
                <a:ea typeface="Calibri" pitchFamily="34" charset="-122"/>
                <a:cs typeface="Calibri" pitchFamily="34" charset="-120"/>
              </a:rPr>
              <a:t>≈ 8 working weeks after day 90: build waves, rehearsal, go-live</a:t>
            </a:r>
            <a:endParaRPr lang="en-US" sz="1100" dirty="0"/>
          </a:p>
        </p:txBody>
      </p:sp>
      <p:sp>
        <p:nvSpPr>
          <p:cNvPr id="37" name="shape-33"/>
          <p:cNvSpPr/>
          <p:nvPr/>
        </p:nvSpPr>
        <p:spPr>
          <a:xfrm>
            <a:off x="548640" y="2779776"/>
            <a:ext cx="3383280" cy="1024128"/>
          </a:xfrm>
          <a:prstGeom prst="roundRect">
            <a:avLst>
              <a:gd name="adj" fmla="val 7143"/>
            </a:avLst>
          </a:prstGeom>
          <a:solidFill>
            <a:srgbClr val="EEF2F4"/>
          </a:solidFill>
          <a:ln w="12700">
            <a:solidFill>
              <a:srgbClr val="EEF2F4"/>
            </a:solidFill>
            <a:prstDash val="solid"/>
          </a:ln>
        </p:spPr>
      </p:sp>
      <p:pic>
        <p:nvPicPr>
          <p:cNvPr id="38" name="icon-34" descr="preencoded.png">    </p:cNvPr>
          <p:cNvPicPr>
            <a:picLocks noChangeAspect="1"/>
          </p:cNvPicPr>
          <p:nvPr/>
        </p:nvPicPr>
        <p:blipFill>
          <a:blip r:embed="rId1"/>
          <a:stretch>
            <a:fillRect/>
          </a:stretch>
        </p:blipFill>
        <p:spPr>
          <a:xfrm>
            <a:off x="713232" y="2944368"/>
            <a:ext cx="201168" cy="201168"/>
          </a:xfrm>
          <a:prstGeom prst="rect">
            <a:avLst/>
          </a:prstGeom>
        </p:spPr>
      </p:pic>
      <p:sp>
        <p:nvSpPr>
          <p:cNvPr id="39" name="text-35"/>
          <p:cNvSpPr txBox="1"/>
          <p:nvPr/>
        </p:nvSpPr>
        <p:spPr>
          <a:xfrm>
            <a:off x="1005840" y="2907792"/>
            <a:ext cx="283464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Technology and product baseline</a:t>
            </a:r>
            <a:endParaRPr lang="en-US" sz="1300" dirty="0"/>
          </a:p>
        </p:txBody>
      </p:sp>
      <p:sp>
        <p:nvSpPr>
          <p:cNvPr id="40" name="text-36"/>
          <p:cNvSpPr txBox="1"/>
          <p:nvPr/>
        </p:nvSpPr>
        <p:spPr>
          <a:xfrm>
            <a:off x="713232" y="3200400"/>
            <a:ext cx="3054096" cy="54864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Systems, integrations, contracts, partners, run cost; licence model; what is in flight</a:t>
            </a:r>
            <a:endParaRPr lang="en-US" sz="1100" dirty="0"/>
          </a:p>
        </p:txBody>
      </p:sp>
      <p:sp>
        <p:nvSpPr>
          <p:cNvPr id="41" name="shape-37"/>
          <p:cNvSpPr/>
          <p:nvPr/>
        </p:nvSpPr>
        <p:spPr>
          <a:xfrm>
            <a:off x="4078224" y="2779776"/>
            <a:ext cx="3383280" cy="1024128"/>
          </a:xfrm>
          <a:prstGeom prst="roundRect">
            <a:avLst>
              <a:gd name="adj" fmla="val 7143"/>
            </a:avLst>
          </a:prstGeom>
          <a:solidFill>
            <a:srgbClr val="D6ECE9"/>
          </a:solidFill>
          <a:ln w="12700">
            <a:solidFill>
              <a:srgbClr val="D6ECE9"/>
            </a:solidFill>
            <a:prstDash val="solid"/>
          </a:ln>
        </p:spPr>
      </p:sp>
      <p:pic>
        <p:nvPicPr>
          <p:cNvPr id="42" name="icon-38" descr="preencoded.png">    </p:cNvPr>
          <p:cNvPicPr>
            <a:picLocks noChangeAspect="1"/>
          </p:cNvPicPr>
          <p:nvPr/>
        </p:nvPicPr>
        <p:blipFill>
          <a:blip r:embed="rId2"/>
          <a:stretch>
            <a:fillRect/>
          </a:stretch>
        </p:blipFill>
        <p:spPr>
          <a:xfrm>
            <a:off x="4242816" y="2944368"/>
            <a:ext cx="201168" cy="201168"/>
          </a:xfrm>
          <a:prstGeom prst="rect">
            <a:avLst/>
          </a:prstGeom>
        </p:spPr>
      </p:pic>
      <p:sp>
        <p:nvSpPr>
          <p:cNvPr id="43" name="text-39"/>
          <p:cNvSpPr txBox="1"/>
          <p:nvPr/>
        </p:nvSpPr>
        <p:spPr>
          <a:xfrm>
            <a:off x="4535424" y="2907792"/>
            <a:ext cx="283464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Ways-of-working baseline</a:t>
            </a:r>
            <a:endParaRPr lang="en-US" sz="1300" dirty="0"/>
          </a:p>
        </p:txBody>
      </p:sp>
      <p:sp>
        <p:nvSpPr>
          <p:cNvPr id="44" name="text-40"/>
          <p:cNvSpPr txBox="1"/>
          <p:nvPr/>
        </p:nvSpPr>
        <p:spPr>
          <a:xfrm>
            <a:off x="4242816" y="3200400"/>
            <a:ext cx="3054096" cy="54864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Processes, SOPs, SLAs, mandated requirements; hand-offs; what each ceremony produces</a:t>
            </a:r>
            <a:endParaRPr lang="en-US" sz="1100" dirty="0"/>
          </a:p>
        </p:txBody>
      </p:sp>
      <p:sp>
        <p:nvSpPr>
          <p:cNvPr id="45" name="tri-41"/>
          <p:cNvSpPr/>
          <p:nvPr/>
        </p:nvSpPr>
        <p:spPr>
          <a:xfrm rot="5400000">
            <a:off x="7598664" y="3209544"/>
            <a:ext cx="164592" cy="164592"/>
          </a:xfrm>
          <a:prstGeom prst="triangle">
            <a:avLst/>
          </a:prstGeom>
          <a:solidFill>
            <a:srgbClr val="5A6B75"/>
          </a:solidFill>
          <a:ln w="12700">
            <a:solidFill>
              <a:srgbClr val="5A6B75"/>
            </a:solidFill>
            <a:prstDash val="solid"/>
          </a:ln>
        </p:spPr>
      </p:sp>
      <p:sp>
        <p:nvSpPr>
          <p:cNvPr id="46" name="shape-42"/>
          <p:cNvSpPr/>
          <p:nvPr/>
        </p:nvSpPr>
        <p:spPr>
          <a:xfrm>
            <a:off x="7790688" y="2779776"/>
            <a:ext cx="3822192" cy="1024128"/>
          </a:xfrm>
          <a:prstGeom prst="roundRect">
            <a:avLst>
              <a:gd name="adj" fmla="val 7143"/>
            </a:avLst>
          </a:prstGeom>
          <a:solidFill>
            <a:srgbClr val="134E4A"/>
          </a:solidFill>
          <a:ln w="12700">
            <a:solidFill>
              <a:srgbClr val="134E4A"/>
            </a:solidFill>
            <a:prstDash val="solid"/>
          </a:ln>
        </p:spPr>
      </p:sp>
      <p:sp>
        <p:nvSpPr>
          <p:cNvPr id="47" name="text-43"/>
          <p:cNvSpPr txBox="1"/>
          <p:nvPr/>
        </p:nvSpPr>
        <p:spPr>
          <a:xfrm>
            <a:off x="7973568" y="2907792"/>
            <a:ext cx="3456432"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The fit test — at Gate 2</a:t>
            </a:r>
            <a:endParaRPr lang="en-US" sz="1300" dirty="0"/>
          </a:p>
        </p:txBody>
      </p:sp>
      <p:sp>
        <p:nvSpPr>
          <p:cNvPr id="48" name="text-44"/>
          <p:cNvSpPr txBox="1"/>
          <p:nvPr/>
        </p:nvSpPr>
        <p:spPr>
          <a:xfrm>
            <a:off x="7973568" y="3200400"/>
            <a:ext cx="3456432" cy="23774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Does the proposal support the way we want to work?</a:t>
            </a:r>
            <a:endParaRPr lang="en-US" sz="1100" dirty="0"/>
          </a:p>
        </p:txBody>
      </p:sp>
      <p:sp>
        <p:nvSpPr>
          <p:cNvPr id="49" name="text-45"/>
          <p:cNvSpPr txBox="1"/>
          <p:nvPr/>
        </p:nvSpPr>
        <p:spPr>
          <a:xfrm>
            <a:off x="7973568" y="3456432"/>
            <a:ext cx="3456432" cy="23774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Is each component in the right tier, under the right rule?</a:t>
            </a:r>
            <a:endParaRPr lang="en-US" sz="1100" dirty="0"/>
          </a:p>
        </p:txBody>
      </p:sp>
      <p:sp>
        <p:nvSpPr>
          <p:cNvPr id="50" name="shape-46"/>
          <p:cNvSpPr/>
          <p:nvPr/>
        </p:nvSpPr>
        <p:spPr>
          <a:xfrm>
            <a:off x="548640" y="4096512"/>
            <a:ext cx="11064240" cy="2322576"/>
          </a:xfrm>
          <a:prstGeom prst="roundRect">
            <a:avLst>
              <a:gd name="adj" fmla="val 3150"/>
            </a:avLst>
          </a:prstGeom>
          <a:solidFill>
            <a:srgbClr val="FDF1E3"/>
          </a:solidFill>
          <a:ln w="12700">
            <a:solidFill>
              <a:srgbClr val="FDF1E3"/>
            </a:solidFill>
            <a:prstDash val="solid"/>
          </a:ln>
        </p:spPr>
      </p:sp>
      <p:pic>
        <p:nvPicPr>
          <p:cNvPr id="51" name="icon-47" descr="preencoded.png">    </p:cNvPr>
          <p:cNvPicPr>
            <a:picLocks noChangeAspect="1"/>
          </p:cNvPicPr>
          <p:nvPr/>
        </p:nvPicPr>
        <p:blipFill>
          <a:blip r:embed="rId3"/>
          <a:stretch>
            <a:fillRect/>
          </a:stretch>
        </p:blipFill>
        <p:spPr>
          <a:xfrm>
            <a:off x="768096" y="4279392"/>
            <a:ext cx="219456" cy="219456"/>
          </a:xfrm>
          <a:prstGeom prst="rect">
            <a:avLst/>
          </a:prstGeom>
        </p:spPr>
      </p:pic>
      <p:sp>
        <p:nvSpPr>
          <p:cNvPr id="52" name="text-48"/>
          <p:cNvSpPr txBox="1"/>
          <p:nvPr/>
        </p:nvSpPr>
        <p:spPr>
          <a:xfrm>
            <a:off x="1078992" y="4297680"/>
            <a:ext cx="7315200" cy="201168"/>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THE REALITY: PROTECT WHAT WORKS, AND HOLD THE SCOPE</a:t>
            </a:r>
            <a:endParaRPr lang="en-US" sz="1100" dirty="0"/>
          </a:p>
        </p:txBody>
      </p:sp>
      <p:sp>
        <p:nvSpPr>
          <p:cNvPr id="53" name="oval-49"/>
          <p:cNvSpPr/>
          <p:nvPr/>
        </p:nvSpPr>
        <p:spPr>
          <a:xfrm>
            <a:off x="768096" y="4645152"/>
            <a:ext cx="73152" cy="73152"/>
          </a:xfrm>
          <a:prstGeom prst="ellipse">
            <a:avLst/>
          </a:prstGeom>
          <a:solidFill>
            <a:srgbClr val="B45309"/>
          </a:solidFill>
          <a:ln w="12700">
            <a:solidFill>
              <a:srgbClr val="B45309"/>
            </a:solidFill>
            <a:prstDash val="solid"/>
          </a:ln>
        </p:spPr>
      </p:sp>
      <p:sp>
        <p:nvSpPr>
          <p:cNvPr id="54" name="text-50"/>
          <p:cNvSpPr txBox="1"/>
          <p:nvPr/>
        </p:nvSpPr>
        <p:spPr>
          <a:xfrm>
            <a:off x="932688" y="4572000"/>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Start in December</a:t>
            </a:r>
            <a:endParaRPr lang="en-US" sz="1250" dirty="0"/>
          </a:p>
        </p:txBody>
      </p:sp>
      <p:sp>
        <p:nvSpPr>
          <p:cNvPr id="55" name="text-51"/>
          <p:cNvSpPr txBox="1"/>
          <p:nvPr/>
        </p:nvSpPr>
        <p:spPr>
          <a:xfrm>
            <a:off x="932688" y="4791456"/>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The break takes three of the first four weeks; Gate 1 lands mid-January in practice, so the baselines are a fortnight of work, not a month</a:t>
            </a:r>
            <a:endParaRPr lang="en-US" sz="1100" dirty="0"/>
          </a:p>
        </p:txBody>
      </p:sp>
      <p:sp>
        <p:nvSpPr>
          <p:cNvPr id="56" name="oval-52"/>
          <p:cNvSpPr/>
          <p:nvPr/>
        </p:nvSpPr>
        <p:spPr>
          <a:xfrm>
            <a:off x="768096" y="5285232"/>
            <a:ext cx="73152" cy="73152"/>
          </a:xfrm>
          <a:prstGeom prst="ellipse">
            <a:avLst/>
          </a:prstGeom>
          <a:solidFill>
            <a:srgbClr val="B45309"/>
          </a:solidFill>
          <a:ln w="12700">
            <a:solidFill>
              <a:srgbClr val="B45309"/>
            </a:solidFill>
            <a:prstDash val="solid"/>
          </a:ln>
        </p:spPr>
      </p:sp>
      <p:sp>
        <p:nvSpPr>
          <p:cNvPr id="57" name="text-53"/>
          <p:cNvSpPr txBox="1"/>
          <p:nvPr/>
        </p:nvSpPr>
        <p:spPr>
          <a:xfrm>
            <a:off x="932688" y="5212080"/>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Day 90 is early March</a:t>
            </a:r>
            <a:endParaRPr lang="en-US" sz="1250" dirty="0"/>
          </a:p>
        </p:txBody>
      </p:sp>
      <p:sp>
        <p:nvSpPr>
          <p:cNvPr id="58" name="text-54"/>
          <p:cNvSpPr txBox="1"/>
          <p:nvPr/>
        </p:nvSpPr>
        <p:spPr>
          <a:xfrm>
            <a:off x="932688" y="5431536"/>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About eight working weeks remain for build waves, a cutover rehearsal and go-live before 27 April</a:t>
            </a:r>
            <a:endParaRPr lang="en-US" sz="1100" dirty="0"/>
          </a:p>
        </p:txBody>
      </p:sp>
      <p:sp>
        <p:nvSpPr>
          <p:cNvPr id="59" name="oval-55"/>
          <p:cNvSpPr/>
          <p:nvPr/>
        </p:nvSpPr>
        <p:spPr>
          <a:xfrm>
            <a:off x="768096" y="5925312"/>
            <a:ext cx="73152" cy="73152"/>
          </a:xfrm>
          <a:prstGeom prst="ellipse">
            <a:avLst/>
          </a:prstGeom>
          <a:solidFill>
            <a:srgbClr val="B45309"/>
          </a:solidFill>
          <a:ln w="12700">
            <a:solidFill>
              <a:srgbClr val="B45309"/>
            </a:solidFill>
            <a:prstDash val="solid"/>
          </a:ln>
        </p:spPr>
      </p:sp>
      <p:sp>
        <p:nvSpPr>
          <p:cNvPr id="60" name="text-56"/>
          <p:cNvSpPr txBox="1"/>
          <p:nvPr/>
        </p:nvSpPr>
        <p:spPr>
          <a:xfrm>
            <a:off x="932688" y="5852160"/>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Don’t break what is working</a:t>
            </a:r>
            <a:endParaRPr lang="en-US" sz="1250" dirty="0"/>
          </a:p>
        </p:txBody>
      </p:sp>
      <p:sp>
        <p:nvSpPr>
          <p:cNvPr id="61" name="text-57"/>
          <p:cNvSpPr txBox="1"/>
          <p:nvPr/>
        </p:nvSpPr>
        <p:spPr>
          <a:xfrm>
            <a:off x="932688" y="6071616"/>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Nothing that works today stops until its replacement is proven; in-flight work is confirmed or stopped by Gate 1</a:t>
            </a:r>
            <a:endParaRPr lang="en-US" sz="1100" dirty="0"/>
          </a:p>
        </p:txBody>
      </p:sp>
      <p:sp>
        <p:nvSpPr>
          <p:cNvPr id="62" name="oval-58"/>
          <p:cNvSpPr/>
          <p:nvPr/>
        </p:nvSpPr>
        <p:spPr>
          <a:xfrm>
            <a:off x="6254496" y="4645152"/>
            <a:ext cx="73152" cy="73152"/>
          </a:xfrm>
          <a:prstGeom prst="ellipse">
            <a:avLst/>
          </a:prstGeom>
          <a:solidFill>
            <a:srgbClr val="B45309"/>
          </a:solidFill>
          <a:ln w="12700">
            <a:solidFill>
              <a:srgbClr val="B45309"/>
            </a:solidFill>
            <a:prstDash val="solid"/>
          </a:ln>
        </p:spPr>
      </p:sp>
      <p:sp>
        <p:nvSpPr>
          <p:cNvPr id="63" name="text-59"/>
          <p:cNvSpPr txBox="1"/>
          <p:nvPr/>
        </p:nvSpPr>
        <p:spPr>
          <a:xfrm>
            <a:off x="6419088" y="4572000"/>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Scope is the only lever</a:t>
            </a:r>
            <a:endParaRPr lang="en-US" sz="1250" dirty="0"/>
          </a:p>
        </p:txBody>
      </p:sp>
      <p:sp>
        <p:nvSpPr>
          <p:cNvPr id="64" name="text-60"/>
          <p:cNvSpPr txBox="1"/>
          <p:nvPr/>
        </p:nvSpPr>
        <p:spPr>
          <a:xfrm>
            <a:off x="6419088" y="4791456"/>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No growth on hoped-for AI or efficiency gains, no slippage on quality or risk; what does not fit moves to Day 1.5</a:t>
            </a:r>
            <a:endParaRPr lang="en-US" sz="1100" dirty="0"/>
          </a:p>
        </p:txBody>
      </p:sp>
      <p:sp>
        <p:nvSpPr>
          <p:cNvPr id="65" name="oval-61"/>
          <p:cNvSpPr/>
          <p:nvPr/>
        </p:nvSpPr>
        <p:spPr>
          <a:xfrm>
            <a:off x="6254496" y="5285232"/>
            <a:ext cx="73152" cy="73152"/>
          </a:xfrm>
          <a:prstGeom prst="ellipse">
            <a:avLst/>
          </a:prstGeom>
          <a:solidFill>
            <a:srgbClr val="B45309"/>
          </a:solidFill>
          <a:ln w="12700">
            <a:solidFill>
              <a:srgbClr val="B45309"/>
            </a:solidFill>
            <a:prstDash val="solid"/>
          </a:ln>
        </p:spPr>
      </p:sp>
      <p:sp>
        <p:nvSpPr>
          <p:cNvPr id="66" name="text-62"/>
          <p:cNvSpPr txBox="1"/>
          <p:nvPr/>
        </p:nvSpPr>
        <p:spPr>
          <a:xfrm>
            <a:off x="6419088" y="5212080"/>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Decide early, in writing</a:t>
            </a:r>
            <a:endParaRPr lang="en-US" sz="1250" dirty="0"/>
          </a:p>
        </p:txBody>
      </p:sp>
      <p:sp>
        <p:nvSpPr>
          <p:cNvPr id="67" name="text-63"/>
          <p:cNvSpPr txBox="1"/>
          <p:nvPr/>
        </p:nvSpPr>
        <p:spPr>
          <a:xfrm>
            <a:off x="6419088" y="5431536"/>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Any scope-versus-date trade-off goes to the board at Gate 2, in late January — not in April</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3  ·  HOW GATE 2 ASSESSES EACH COMPONENT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Four questions per component: what it is decides where time, money and concern go</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1554480"/>
            <a:ext cx="274320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68096"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1</a:t>
            </a:r>
            <a:endParaRPr lang="en-US" sz="1500" dirty="0"/>
          </a:p>
        </p:txBody>
      </p:sp>
      <p:sp>
        <p:nvSpPr>
          <p:cNvPr id="8" name="text-4"/>
          <p:cNvSpPr txBox="1"/>
          <p:nvPr/>
        </p:nvSpPr>
        <p:spPr>
          <a:xfrm>
            <a:off x="1024128" y="1554480"/>
            <a:ext cx="215798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What kind of thing is it?</a:t>
            </a:r>
            <a:endParaRPr lang="en-US" sz="1250" dirty="0"/>
          </a:p>
        </p:txBody>
      </p:sp>
      <p:sp>
        <p:nvSpPr>
          <p:cNvPr id="9" name="tri-5"/>
          <p:cNvSpPr/>
          <p:nvPr/>
        </p:nvSpPr>
        <p:spPr>
          <a:xfrm rot="5400000">
            <a:off x="3337560" y="1792224"/>
            <a:ext cx="128016" cy="128016"/>
          </a:xfrm>
          <a:prstGeom prst="triangle">
            <a:avLst/>
          </a:prstGeom>
          <a:solidFill>
            <a:srgbClr val="5A6B75"/>
          </a:solidFill>
          <a:ln w="12700">
            <a:solidFill>
              <a:srgbClr val="5A6B75"/>
            </a:solidFill>
            <a:prstDash val="solid"/>
          </a:ln>
        </p:spPr>
      </p:sp>
      <p:sp>
        <p:nvSpPr>
          <p:cNvPr id="10" name="shape-6"/>
          <p:cNvSpPr/>
          <p:nvPr/>
        </p:nvSpPr>
        <p:spPr>
          <a:xfrm>
            <a:off x="3493008" y="1554480"/>
            <a:ext cx="187452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3712464"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2</a:t>
            </a:r>
            <a:endParaRPr lang="en-US" sz="1500" dirty="0"/>
          </a:p>
        </p:txBody>
      </p:sp>
      <p:sp>
        <p:nvSpPr>
          <p:cNvPr id="12" name="text-8"/>
          <p:cNvSpPr txBox="1"/>
          <p:nvPr/>
        </p:nvSpPr>
        <p:spPr>
          <a:xfrm>
            <a:off x="3968496" y="1554480"/>
            <a:ext cx="128930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Spending judged on?</a:t>
            </a:r>
            <a:endParaRPr lang="en-US" sz="1250" dirty="0"/>
          </a:p>
        </p:txBody>
      </p:sp>
      <p:sp>
        <p:nvSpPr>
          <p:cNvPr id="13" name="tri-9"/>
          <p:cNvSpPr/>
          <p:nvPr/>
        </p:nvSpPr>
        <p:spPr>
          <a:xfrm rot="5400000">
            <a:off x="5413248" y="1792224"/>
            <a:ext cx="128016" cy="128016"/>
          </a:xfrm>
          <a:prstGeom prst="triangle">
            <a:avLst/>
          </a:prstGeom>
          <a:solidFill>
            <a:srgbClr val="5A6B75"/>
          </a:solidFill>
          <a:ln w="12700">
            <a:solidFill>
              <a:srgbClr val="5A6B75"/>
            </a:solidFill>
            <a:prstDash val="solid"/>
          </a:ln>
        </p:spPr>
      </p:sp>
      <p:sp>
        <p:nvSpPr>
          <p:cNvPr id="14" name="shape-10"/>
          <p:cNvSpPr/>
          <p:nvPr/>
        </p:nvSpPr>
        <p:spPr>
          <a:xfrm>
            <a:off x="5568696" y="1554480"/>
            <a:ext cx="187452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5788152"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3</a:t>
            </a:r>
            <a:endParaRPr lang="en-US" sz="1500" dirty="0"/>
          </a:p>
        </p:txBody>
      </p:sp>
      <p:sp>
        <p:nvSpPr>
          <p:cNvPr id="16" name="text-12"/>
          <p:cNvSpPr txBox="1"/>
          <p:nvPr/>
        </p:nvSpPr>
        <p:spPr>
          <a:xfrm>
            <a:off x="6044184" y="1554480"/>
            <a:ext cx="128930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How resilient?</a:t>
            </a:r>
            <a:endParaRPr lang="en-US" sz="1250" dirty="0"/>
          </a:p>
        </p:txBody>
      </p:sp>
      <p:sp>
        <p:nvSpPr>
          <p:cNvPr id="17" name="tri-13"/>
          <p:cNvSpPr/>
          <p:nvPr/>
        </p:nvSpPr>
        <p:spPr>
          <a:xfrm rot="5400000">
            <a:off x="7488936" y="1792224"/>
            <a:ext cx="128016" cy="128016"/>
          </a:xfrm>
          <a:prstGeom prst="triangle">
            <a:avLst/>
          </a:prstGeom>
          <a:solidFill>
            <a:srgbClr val="5A6B75"/>
          </a:solidFill>
          <a:ln w="12700">
            <a:solidFill>
              <a:srgbClr val="5A6B75"/>
            </a:solidFill>
            <a:prstDash val="solid"/>
          </a:ln>
        </p:spPr>
      </p:sp>
      <p:sp>
        <p:nvSpPr>
          <p:cNvPr id="18" name="shape-14"/>
          <p:cNvSpPr/>
          <p:nvPr/>
        </p:nvSpPr>
        <p:spPr>
          <a:xfrm>
            <a:off x="7644384" y="1554480"/>
            <a:ext cx="2194560" cy="6035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7863840"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4</a:t>
            </a:r>
            <a:endParaRPr lang="en-US" sz="1500" dirty="0"/>
          </a:p>
        </p:txBody>
      </p:sp>
      <p:sp>
        <p:nvSpPr>
          <p:cNvPr id="20" name="text-16"/>
          <p:cNvSpPr txBox="1"/>
          <p:nvPr/>
        </p:nvSpPr>
        <p:spPr>
          <a:xfrm>
            <a:off x="8119872" y="1554480"/>
            <a:ext cx="160934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Build or buy?</a:t>
            </a:r>
            <a:endParaRPr lang="en-US" sz="1250" dirty="0"/>
          </a:p>
        </p:txBody>
      </p:sp>
      <p:sp>
        <p:nvSpPr>
          <p:cNvPr id="21" name="shape-17"/>
          <p:cNvSpPr/>
          <p:nvPr/>
        </p:nvSpPr>
        <p:spPr>
          <a:xfrm>
            <a:off x="10076688" y="1554480"/>
            <a:ext cx="1737360" cy="603504"/>
          </a:xfrm>
          <a:prstGeom prst="roundRect">
            <a:avLst>
              <a:gd name="adj" fmla="val 50000"/>
            </a:avLst>
          </a:prstGeom>
          <a:ln w="19050">
            <a:solidFill>
              <a:srgbClr val="0F766E"/>
            </a:solidFill>
            <a:prstDash val="sysDash"/>
          </a:ln>
        </p:spPr>
      </p:sp>
      <p:sp>
        <p:nvSpPr>
          <p:cNvPr id="22" name="text-18"/>
          <p:cNvSpPr txBox="1"/>
          <p:nvPr/>
        </p:nvSpPr>
        <p:spPr>
          <a:xfrm>
            <a:off x="10076688" y="1664208"/>
            <a:ext cx="1737360" cy="146304"/>
          </a:xfrm>
          <a:prstGeom prst="rect">
            <a:avLst/>
          </a:prstGeom>
          <a:noFill/>
          <a:ln/>
        </p:spPr>
        <p:txBody>
          <a:bodyPr wrap="square" lIns="0" tIns="0" rIns="0" bIns="0" rtlCol="0" anchor="ctr"/>
          <a:lstStyle/>
          <a:p>
            <a:pPr algn="ctr"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BONUS, NOT A RULE</a:t>
            </a:r>
            <a:endParaRPr lang="en-US" sz="1100" dirty="0"/>
          </a:p>
        </p:txBody>
      </p:sp>
      <p:sp>
        <p:nvSpPr>
          <p:cNvPr id="23" name="text-19"/>
          <p:cNvSpPr txBox="1"/>
          <p:nvPr/>
        </p:nvSpPr>
        <p:spPr>
          <a:xfrm>
            <a:off x="10076688" y="1847088"/>
            <a:ext cx="1737360" cy="219456"/>
          </a:xfrm>
          <a:prstGeom prst="rect">
            <a:avLst/>
          </a:prstGeom>
          <a:noFill/>
          <a:ln/>
        </p:spPr>
        <p:txBody>
          <a:bodyPr wrap="square" lIns="0" tIns="0" rIns="0" bIns="0" rtlCol="0" anchor="ctr"/>
          <a:lstStyle/>
          <a:p>
            <a:pPr algn="ctr" indent="0" marL="0">
              <a:lnSpc>
                <a:spcPct val="100000"/>
              </a:lnSpc>
              <a:buNone/>
            </a:pPr>
            <a:r>
              <a:rPr lang="en-US" sz="1200" b="1" dirty="0">
                <a:solidFill>
                  <a:srgbClr val="0F766E"/>
                </a:solidFill>
                <a:latin typeface="Calibri" pitchFamily="34" charset="0"/>
                <a:ea typeface="Calibri" pitchFamily="34" charset="-122"/>
                <a:cs typeface="Calibri" pitchFamily="34" charset="-120"/>
              </a:rPr>
              <a:t>Where AI helps</a:t>
            </a:r>
            <a:endParaRPr lang="en-US" sz="1200" dirty="0"/>
          </a:p>
        </p:txBody>
      </p:sp>
      <p:sp>
        <p:nvSpPr>
          <p:cNvPr id="24" name="shape-20"/>
          <p:cNvSpPr/>
          <p:nvPr/>
        </p:nvSpPr>
        <p:spPr>
          <a:xfrm>
            <a:off x="548640" y="2432304"/>
            <a:ext cx="2743200" cy="914400"/>
          </a:xfrm>
          <a:prstGeom prst="roundRect">
            <a:avLst>
              <a:gd name="adj" fmla="val 8000"/>
            </a:avLst>
          </a:prstGeom>
          <a:solidFill>
            <a:srgbClr val="EEF2F4"/>
          </a:solidFill>
          <a:ln w="12700">
            <a:solidFill>
              <a:srgbClr val="EEF2F4"/>
            </a:solidFill>
            <a:prstDash val="solid"/>
          </a:ln>
        </p:spPr>
      </p:sp>
      <p:sp>
        <p:nvSpPr>
          <p:cNvPr id="25" name="shape-21"/>
          <p:cNvSpPr/>
          <p:nvPr/>
        </p:nvSpPr>
        <p:spPr>
          <a:xfrm>
            <a:off x="548640" y="2432304"/>
            <a:ext cx="402336" cy="914400"/>
          </a:xfrm>
          <a:prstGeom prst="roundRect">
            <a:avLst>
              <a:gd name="adj" fmla="val 18182"/>
            </a:avLst>
          </a:prstGeom>
          <a:solidFill>
            <a:srgbClr val="134E4A"/>
          </a:solidFill>
          <a:ln w="12700">
            <a:solidFill>
              <a:srgbClr val="134E4A"/>
            </a:solidFill>
            <a:prstDash val="solid"/>
          </a:ln>
        </p:spPr>
      </p:sp>
      <p:sp>
        <p:nvSpPr>
          <p:cNvPr id="26" name="shape-22"/>
          <p:cNvSpPr/>
          <p:nvPr/>
        </p:nvSpPr>
        <p:spPr>
          <a:xfrm>
            <a:off x="877824" y="2432304"/>
            <a:ext cx="73152" cy="914400"/>
          </a:xfrm>
          <a:prstGeom prst="rect">
            <a:avLst/>
          </a:prstGeom>
          <a:solidFill>
            <a:srgbClr val="134E4A"/>
          </a:solidFill>
          <a:ln w="12700">
            <a:solidFill>
              <a:srgbClr val="134E4A"/>
            </a:solidFill>
            <a:prstDash val="solid"/>
          </a:ln>
        </p:spPr>
      </p:sp>
      <p:sp>
        <p:nvSpPr>
          <p:cNvPr id="27" name="text-23"/>
          <p:cNvSpPr txBox="1"/>
          <p:nvPr/>
        </p:nvSpPr>
        <p:spPr>
          <a:xfrm>
            <a:off x="548640" y="2432304"/>
            <a:ext cx="402336" cy="914400"/>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A</a:t>
            </a:r>
            <a:endParaRPr lang="en-US" sz="1750" dirty="0"/>
          </a:p>
        </p:txBody>
      </p:sp>
      <p:sp>
        <p:nvSpPr>
          <p:cNvPr id="28" name="text-24"/>
          <p:cNvSpPr txBox="1"/>
          <p:nvPr/>
        </p:nvSpPr>
        <p:spPr>
          <a:xfrm>
            <a:off x="1042416" y="2432304"/>
            <a:ext cx="2157984" cy="914400"/>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1100" dirty="0"/>
          </a:p>
        </p:txBody>
      </p:sp>
      <p:sp>
        <p:nvSpPr>
          <p:cNvPr id="29" name="shape-25"/>
          <p:cNvSpPr/>
          <p:nvPr/>
        </p:nvSpPr>
        <p:spPr>
          <a:xfrm>
            <a:off x="3493008" y="2432304"/>
            <a:ext cx="1874520" cy="914400"/>
          </a:xfrm>
          <a:prstGeom prst="roundRect">
            <a:avLst>
              <a:gd name="adj" fmla="val 8000"/>
            </a:avLst>
          </a:prstGeom>
          <a:solidFill>
            <a:srgbClr val="FFFFFF"/>
          </a:solidFill>
          <a:ln w="15875">
            <a:solidFill>
              <a:srgbClr val="D4DBE0"/>
            </a:solidFill>
            <a:prstDash val="solid"/>
          </a:ln>
        </p:spPr>
      </p:sp>
      <p:sp>
        <p:nvSpPr>
          <p:cNvPr id="30" name="text-26"/>
          <p:cNvSpPr txBox="1"/>
          <p:nvPr/>
        </p:nvSpPr>
        <p:spPr>
          <a:xfrm>
            <a:off x="3566160" y="243230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Commercials, opportunity, strategy</a:t>
            </a:r>
            <a:endParaRPr lang="en-US" sz="1100" dirty="0"/>
          </a:p>
        </p:txBody>
      </p:sp>
      <p:sp>
        <p:nvSpPr>
          <p:cNvPr id="31" name="shape-27"/>
          <p:cNvSpPr/>
          <p:nvPr/>
        </p:nvSpPr>
        <p:spPr>
          <a:xfrm>
            <a:off x="5568696" y="2432304"/>
            <a:ext cx="1874520" cy="914400"/>
          </a:xfrm>
          <a:prstGeom prst="roundRect">
            <a:avLst>
              <a:gd name="adj" fmla="val 8000"/>
            </a:avLst>
          </a:prstGeom>
          <a:solidFill>
            <a:srgbClr val="FFFFFF"/>
          </a:solidFill>
          <a:ln w="15875">
            <a:solidFill>
              <a:srgbClr val="D4DBE0"/>
            </a:solidFill>
            <a:prstDash val="solid"/>
          </a:ln>
        </p:spPr>
      </p:sp>
      <p:sp>
        <p:nvSpPr>
          <p:cNvPr id="32" name="text-28"/>
          <p:cNvSpPr txBox="1"/>
          <p:nvPr/>
        </p:nvSpPr>
        <p:spPr>
          <a:xfrm>
            <a:off x="5641848" y="243230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Bullet-proof: life-critical content</a:t>
            </a:r>
            <a:endParaRPr lang="en-US" sz="1100" dirty="0"/>
          </a:p>
        </p:txBody>
      </p:sp>
      <p:sp>
        <p:nvSpPr>
          <p:cNvPr id="33" name="shape-29"/>
          <p:cNvSpPr/>
          <p:nvPr/>
        </p:nvSpPr>
        <p:spPr>
          <a:xfrm>
            <a:off x="7644384" y="2432304"/>
            <a:ext cx="2194560" cy="914400"/>
          </a:xfrm>
          <a:prstGeom prst="roundRect">
            <a:avLst>
              <a:gd name="adj" fmla="val 8000"/>
            </a:avLst>
          </a:prstGeom>
          <a:solidFill>
            <a:srgbClr val="D6ECE9"/>
          </a:solidFill>
          <a:ln w="15875">
            <a:solidFill>
              <a:srgbClr val="D6ECE9"/>
            </a:solidFill>
            <a:prstDash val="solid"/>
          </a:ln>
        </p:spPr>
      </p:sp>
      <p:sp>
        <p:nvSpPr>
          <p:cNvPr id="34" name="text-30"/>
          <p:cNvSpPr txBox="1"/>
          <p:nvPr/>
        </p:nvSpPr>
        <p:spPr>
          <a:xfrm>
            <a:off x="7717536" y="2432304"/>
            <a:ext cx="204825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Build: strong appetite to wrap our own technical solutions</a:t>
            </a:r>
            <a:endParaRPr lang="en-US" sz="1100" dirty="0"/>
          </a:p>
        </p:txBody>
      </p:sp>
      <p:sp>
        <p:nvSpPr>
          <p:cNvPr id="35" name="tri-31"/>
          <p:cNvSpPr/>
          <p:nvPr/>
        </p:nvSpPr>
        <p:spPr>
          <a:xfrm rot="5400000">
            <a:off x="3337560" y="2834640"/>
            <a:ext cx="109728" cy="109728"/>
          </a:xfrm>
          <a:prstGeom prst="triangle">
            <a:avLst/>
          </a:prstGeom>
          <a:solidFill>
            <a:srgbClr val="D4DBE0"/>
          </a:solidFill>
          <a:ln w="12700">
            <a:solidFill>
              <a:srgbClr val="D4DBE0"/>
            </a:solidFill>
            <a:prstDash val="solid"/>
          </a:ln>
        </p:spPr>
      </p:sp>
      <p:sp>
        <p:nvSpPr>
          <p:cNvPr id="36" name="tri-32"/>
          <p:cNvSpPr/>
          <p:nvPr/>
        </p:nvSpPr>
        <p:spPr>
          <a:xfrm rot="5400000">
            <a:off x="5413248" y="2834640"/>
            <a:ext cx="109728" cy="109728"/>
          </a:xfrm>
          <a:prstGeom prst="triangle">
            <a:avLst/>
          </a:prstGeom>
          <a:solidFill>
            <a:srgbClr val="D4DBE0"/>
          </a:solidFill>
          <a:ln w="12700">
            <a:solidFill>
              <a:srgbClr val="D4DBE0"/>
            </a:solidFill>
            <a:prstDash val="solid"/>
          </a:ln>
        </p:spPr>
      </p:sp>
      <p:sp>
        <p:nvSpPr>
          <p:cNvPr id="37" name="tri-33"/>
          <p:cNvSpPr/>
          <p:nvPr/>
        </p:nvSpPr>
        <p:spPr>
          <a:xfrm rot="5400000">
            <a:off x="7488936" y="2834640"/>
            <a:ext cx="109728" cy="109728"/>
          </a:xfrm>
          <a:prstGeom prst="triangle">
            <a:avLst/>
          </a:prstGeom>
          <a:solidFill>
            <a:srgbClr val="D4DBE0"/>
          </a:solidFill>
          <a:ln w="12700">
            <a:solidFill>
              <a:srgbClr val="D4DBE0"/>
            </a:solidFill>
            <a:prstDash val="solid"/>
          </a:ln>
        </p:spPr>
      </p:sp>
      <p:sp>
        <p:nvSpPr>
          <p:cNvPr id="38" name="shape-34"/>
          <p:cNvSpPr/>
          <p:nvPr/>
        </p:nvSpPr>
        <p:spPr>
          <a:xfrm>
            <a:off x="10076688" y="2432304"/>
            <a:ext cx="1737360" cy="914400"/>
          </a:xfrm>
          <a:prstGeom prst="roundRect">
            <a:avLst>
              <a:gd name="adj" fmla="val 8000"/>
            </a:avLst>
          </a:prstGeom>
          <a:solidFill>
            <a:srgbClr val="D6ECE9"/>
          </a:solidFill>
          <a:ln w="15875">
            <a:solidFill>
              <a:srgbClr val="0F766E"/>
            </a:solidFill>
            <a:prstDash val="sysDash"/>
          </a:ln>
        </p:spPr>
      </p:sp>
      <p:sp>
        <p:nvSpPr>
          <p:cNvPr id="39" name="oval-35"/>
          <p:cNvSpPr/>
          <p:nvPr/>
        </p:nvSpPr>
        <p:spPr>
          <a:xfrm>
            <a:off x="10149840" y="2798064"/>
            <a:ext cx="182880" cy="182880"/>
          </a:xfrm>
          <a:prstGeom prst="ellipse">
            <a:avLst/>
          </a:prstGeom>
          <a:solidFill>
            <a:srgbClr val="0F766E"/>
          </a:solidFill>
          <a:ln w="12700">
            <a:solidFill>
              <a:srgbClr val="0F766E"/>
            </a:solidFill>
            <a:prstDash val="solid"/>
          </a:ln>
        </p:spPr>
      </p:sp>
      <p:sp>
        <p:nvSpPr>
          <p:cNvPr id="40" name="text-36"/>
          <p:cNvSpPr txBox="1"/>
          <p:nvPr/>
        </p:nvSpPr>
        <p:spPr>
          <a:xfrm>
            <a:off x="10149840" y="2798064"/>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1" name="text-37"/>
          <p:cNvSpPr txBox="1"/>
          <p:nvPr/>
        </p:nvSpPr>
        <p:spPr>
          <a:xfrm>
            <a:off x="10405872" y="2432304"/>
            <a:ext cx="1335024" cy="914400"/>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Accelerate and de-risk product work</a:t>
            </a:r>
            <a:endParaRPr lang="en-US" sz="1100" dirty="0"/>
          </a:p>
        </p:txBody>
      </p:sp>
      <p:sp>
        <p:nvSpPr>
          <p:cNvPr id="42" name="shape-38"/>
          <p:cNvSpPr/>
          <p:nvPr/>
        </p:nvSpPr>
        <p:spPr>
          <a:xfrm>
            <a:off x="548640" y="3438144"/>
            <a:ext cx="2743200" cy="914400"/>
          </a:xfrm>
          <a:prstGeom prst="roundRect">
            <a:avLst>
              <a:gd name="adj" fmla="val 8000"/>
            </a:avLst>
          </a:prstGeom>
          <a:solidFill>
            <a:srgbClr val="EEF2F4"/>
          </a:solidFill>
          <a:ln w="12700">
            <a:solidFill>
              <a:srgbClr val="EEF2F4"/>
            </a:solidFill>
            <a:prstDash val="solid"/>
          </a:ln>
        </p:spPr>
      </p:sp>
      <p:sp>
        <p:nvSpPr>
          <p:cNvPr id="43" name="shape-39"/>
          <p:cNvSpPr/>
          <p:nvPr/>
        </p:nvSpPr>
        <p:spPr>
          <a:xfrm>
            <a:off x="548640" y="3438144"/>
            <a:ext cx="402336" cy="914400"/>
          </a:xfrm>
          <a:prstGeom prst="roundRect">
            <a:avLst>
              <a:gd name="adj" fmla="val 18182"/>
            </a:avLst>
          </a:prstGeom>
          <a:solidFill>
            <a:srgbClr val="0F766E"/>
          </a:solidFill>
          <a:ln w="12700">
            <a:solidFill>
              <a:srgbClr val="0F766E"/>
            </a:solidFill>
            <a:prstDash val="solid"/>
          </a:ln>
        </p:spPr>
      </p:sp>
      <p:sp>
        <p:nvSpPr>
          <p:cNvPr id="44" name="shape-40"/>
          <p:cNvSpPr/>
          <p:nvPr/>
        </p:nvSpPr>
        <p:spPr>
          <a:xfrm>
            <a:off x="877824" y="3438144"/>
            <a:ext cx="73152" cy="914400"/>
          </a:xfrm>
          <a:prstGeom prst="rect">
            <a:avLst/>
          </a:prstGeom>
          <a:solidFill>
            <a:srgbClr val="0F766E"/>
          </a:solidFill>
          <a:ln w="12700">
            <a:solidFill>
              <a:srgbClr val="0F766E"/>
            </a:solidFill>
            <a:prstDash val="solid"/>
          </a:ln>
        </p:spPr>
      </p:sp>
      <p:sp>
        <p:nvSpPr>
          <p:cNvPr id="45" name="text-41"/>
          <p:cNvSpPr txBox="1"/>
          <p:nvPr/>
        </p:nvSpPr>
        <p:spPr>
          <a:xfrm>
            <a:off x="548640" y="3438144"/>
            <a:ext cx="402336" cy="914400"/>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B</a:t>
            </a:r>
            <a:endParaRPr lang="en-US" sz="1750" dirty="0"/>
          </a:p>
        </p:txBody>
      </p:sp>
      <p:sp>
        <p:nvSpPr>
          <p:cNvPr id="46" name="text-42"/>
          <p:cNvSpPr txBox="1"/>
          <p:nvPr/>
        </p:nvSpPr>
        <p:spPr>
          <a:xfrm>
            <a:off x="1042416" y="3438144"/>
            <a:ext cx="2157984" cy="914400"/>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Quark Content and PriXM — authoring and publishing</a:t>
            </a:r>
            <a:endParaRPr lang="en-US" sz="1100" dirty="0"/>
          </a:p>
        </p:txBody>
      </p:sp>
      <p:sp>
        <p:nvSpPr>
          <p:cNvPr id="47" name="shape-43"/>
          <p:cNvSpPr/>
          <p:nvPr/>
        </p:nvSpPr>
        <p:spPr>
          <a:xfrm>
            <a:off x="3493008" y="3438144"/>
            <a:ext cx="1874520" cy="914400"/>
          </a:xfrm>
          <a:prstGeom prst="roundRect">
            <a:avLst>
              <a:gd name="adj" fmla="val 8000"/>
            </a:avLst>
          </a:prstGeom>
          <a:solidFill>
            <a:srgbClr val="FFFFFF"/>
          </a:solidFill>
          <a:ln w="15875">
            <a:solidFill>
              <a:srgbClr val="D4DBE0"/>
            </a:solidFill>
            <a:prstDash val="solid"/>
          </a:ln>
        </p:spPr>
      </p:sp>
      <p:sp>
        <p:nvSpPr>
          <p:cNvPr id="48" name="text-44"/>
          <p:cNvSpPr txBox="1"/>
          <p:nvPr/>
        </p:nvSpPr>
        <p:spPr>
          <a:xfrm>
            <a:off x="3566160" y="343814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for authors, portability, cost</a:t>
            </a:r>
            <a:endParaRPr lang="en-US" sz="1100" dirty="0"/>
          </a:p>
        </p:txBody>
      </p:sp>
      <p:sp>
        <p:nvSpPr>
          <p:cNvPr id="49" name="shape-45"/>
          <p:cNvSpPr/>
          <p:nvPr/>
        </p:nvSpPr>
        <p:spPr>
          <a:xfrm>
            <a:off x="5568696" y="3438144"/>
            <a:ext cx="1874520" cy="914400"/>
          </a:xfrm>
          <a:prstGeom prst="roundRect">
            <a:avLst>
              <a:gd name="adj" fmla="val 8000"/>
            </a:avLst>
          </a:prstGeom>
          <a:solidFill>
            <a:srgbClr val="FFFFFF"/>
          </a:solidFill>
          <a:ln w="15875">
            <a:solidFill>
              <a:srgbClr val="D4DBE0"/>
            </a:solidFill>
            <a:prstDash val="solid"/>
          </a:ln>
        </p:spPr>
      </p:sp>
      <p:sp>
        <p:nvSpPr>
          <p:cNvPr id="50" name="text-46"/>
          <p:cNvSpPr txBox="1"/>
          <p:nvPr/>
        </p:nvSpPr>
        <p:spPr>
          <a:xfrm>
            <a:off x="5641848" y="343814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Business hours; never the only copy</a:t>
            </a:r>
            <a:endParaRPr lang="en-US" sz="1100" dirty="0"/>
          </a:p>
        </p:txBody>
      </p:sp>
      <p:sp>
        <p:nvSpPr>
          <p:cNvPr id="51" name="shape-47"/>
          <p:cNvSpPr/>
          <p:nvPr/>
        </p:nvSpPr>
        <p:spPr>
          <a:xfrm>
            <a:off x="7644384" y="3438144"/>
            <a:ext cx="2194560" cy="914400"/>
          </a:xfrm>
          <a:prstGeom prst="roundRect">
            <a:avLst>
              <a:gd name="adj" fmla="val 8000"/>
            </a:avLst>
          </a:prstGeom>
          <a:solidFill>
            <a:srgbClr val="FFFFFF"/>
          </a:solidFill>
          <a:ln w="15875">
            <a:solidFill>
              <a:srgbClr val="D4DBE0"/>
            </a:solidFill>
            <a:prstDash val="solid"/>
          </a:ln>
        </p:spPr>
      </p:sp>
      <p:sp>
        <p:nvSpPr>
          <p:cNvPr id="52" name="text-48"/>
          <p:cNvSpPr txBox="1"/>
          <p:nvPr/>
        </p:nvSpPr>
        <p:spPr>
          <a:xfrm>
            <a:off x="7717536" y="3438144"/>
            <a:ext cx="204825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and configure: plugins, paid features, small code where it pays</a:t>
            </a:r>
            <a:endParaRPr lang="en-US" sz="1100" dirty="0"/>
          </a:p>
        </p:txBody>
      </p:sp>
      <p:sp>
        <p:nvSpPr>
          <p:cNvPr id="53" name="tri-49"/>
          <p:cNvSpPr/>
          <p:nvPr/>
        </p:nvSpPr>
        <p:spPr>
          <a:xfrm rot="5400000">
            <a:off x="3337560" y="3840480"/>
            <a:ext cx="109728" cy="109728"/>
          </a:xfrm>
          <a:prstGeom prst="triangle">
            <a:avLst/>
          </a:prstGeom>
          <a:solidFill>
            <a:srgbClr val="D4DBE0"/>
          </a:solidFill>
          <a:ln w="12700">
            <a:solidFill>
              <a:srgbClr val="D4DBE0"/>
            </a:solidFill>
            <a:prstDash val="solid"/>
          </a:ln>
        </p:spPr>
      </p:sp>
      <p:sp>
        <p:nvSpPr>
          <p:cNvPr id="54" name="tri-50"/>
          <p:cNvSpPr/>
          <p:nvPr/>
        </p:nvSpPr>
        <p:spPr>
          <a:xfrm rot="5400000">
            <a:off x="5413248" y="3840480"/>
            <a:ext cx="109728" cy="109728"/>
          </a:xfrm>
          <a:prstGeom prst="triangle">
            <a:avLst/>
          </a:prstGeom>
          <a:solidFill>
            <a:srgbClr val="D4DBE0"/>
          </a:solidFill>
          <a:ln w="12700">
            <a:solidFill>
              <a:srgbClr val="D4DBE0"/>
            </a:solidFill>
            <a:prstDash val="solid"/>
          </a:ln>
        </p:spPr>
      </p:sp>
      <p:sp>
        <p:nvSpPr>
          <p:cNvPr id="55" name="tri-51"/>
          <p:cNvSpPr/>
          <p:nvPr/>
        </p:nvSpPr>
        <p:spPr>
          <a:xfrm rot="5400000">
            <a:off x="7488936" y="3840480"/>
            <a:ext cx="109728" cy="109728"/>
          </a:xfrm>
          <a:prstGeom prst="triangle">
            <a:avLst/>
          </a:prstGeom>
          <a:solidFill>
            <a:srgbClr val="D4DBE0"/>
          </a:solidFill>
          <a:ln w="12700">
            <a:solidFill>
              <a:srgbClr val="D4DBE0"/>
            </a:solidFill>
            <a:prstDash val="solid"/>
          </a:ln>
        </p:spPr>
      </p:sp>
      <p:sp>
        <p:nvSpPr>
          <p:cNvPr id="56" name="shape-52"/>
          <p:cNvSpPr/>
          <p:nvPr/>
        </p:nvSpPr>
        <p:spPr>
          <a:xfrm>
            <a:off x="10076688" y="3438144"/>
            <a:ext cx="1737360" cy="914400"/>
          </a:xfrm>
          <a:prstGeom prst="roundRect">
            <a:avLst>
              <a:gd name="adj" fmla="val 8000"/>
            </a:avLst>
          </a:prstGeom>
          <a:solidFill>
            <a:srgbClr val="D6ECE9"/>
          </a:solidFill>
          <a:ln w="15875">
            <a:solidFill>
              <a:srgbClr val="0F766E"/>
            </a:solidFill>
            <a:prstDash val="sysDash"/>
          </a:ln>
        </p:spPr>
      </p:sp>
      <p:sp>
        <p:nvSpPr>
          <p:cNvPr id="57" name="oval-53"/>
          <p:cNvSpPr/>
          <p:nvPr/>
        </p:nvSpPr>
        <p:spPr>
          <a:xfrm>
            <a:off x="10149840" y="3803904"/>
            <a:ext cx="182880" cy="182880"/>
          </a:xfrm>
          <a:prstGeom prst="ellipse">
            <a:avLst/>
          </a:prstGeom>
          <a:solidFill>
            <a:srgbClr val="0F766E"/>
          </a:solidFill>
          <a:ln w="12700">
            <a:solidFill>
              <a:srgbClr val="0F766E"/>
            </a:solidFill>
            <a:prstDash val="solid"/>
          </a:ln>
        </p:spPr>
      </p:sp>
      <p:sp>
        <p:nvSpPr>
          <p:cNvPr id="58" name="text-54"/>
          <p:cNvSpPr txBox="1"/>
          <p:nvPr/>
        </p:nvSpPr>
        <p:spPr>
          <a:xfrm>
            <a:off x="10149840" y="3803904"/>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9" name="text-55"/>
          <p:cNvSpPr txBox="1"/>
          <p:nvPr/>
        </p:nvSpPr>
        <p:spPr>
          <a:xfrm>
            <a:off x="10405872" y="3438144"/>
            <a:ext cx="1335024" cy="914400"/>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Author assistance; human sign-off</a:t>
            </a:r>
            <a:endParaRPr lang="en-US" sz="1100" dirty="0"/>
          </a:p>
        </p:txBody>
      </p:sp>
      <p:sp>
        <p:nvSpPr>
          <p:cNvPr id="60" name="shape-56"/>
          <p:cNvSpPr/>
          <p:nvPr/>
        </p:nvSpPr>
        <p:spPr>
          <a:xfrm>
            <a:off x="548640" y="4443984"/>
            <a:ext cx="2743200" cy="914400"/>
          </a:xfrm>
          <a:prstGeom prst="roundRect">
            <a:avLst>
              <a:gd name="adj" fmla="val 8000"/>
            </a:avLst>
          </a:prstGeom>
          <a:solidFill>
            <a:srgbClr val="EEF2F4"/>
          </a:solidFill>
          <a:ln w="12700">
            <a:solidFill>
              <a:srgbClr val="EEF2F4"/>
            </a:solidFill>
            <a:prstDash val="solid"/>
          </a:ln>
        </p:spPr>
      </p:sp>
      <p:sp>
        <p:nvSpPr>
          <p:cNvPr id="61" name="shape-57"/>
          <p:cNvSpPr/>
          <p:nvPr/>
        </p:nvSpPr>
        <p:spPr>
          <a:xfrm>
            <a:off x="548640" y="4443984"/>
            <a:ext cx="402336" cy="914400"/>
          </a:xfrm>
          <a:prstGeom prst="roundRect">
            <a:avLst>
              <a:gd name="adj" fmla="val 18182"/>
            </a:avLst>
          </a:prstGeom>
          <a:solidFill>
            <a:srgbClr val="8A99A3"/>
          </a:solidFill>
          <a:ln w="12700">
            <a:solidFill>
              <a:srgbClr val="8A99A3"/>
            </a:solidFill>
            <a:prstDash val="solid"/>
          </a:ln>
        </p:spPr>
      </p:sp>
      <p:sp>
        <p:nvSpPr>
          <p:cNvPr id="62" name="shape-58"/>
          <p:cNvSpPr/>
          <p:nvPr/>
        </p:nvSpPr>
        <p:spPr>
          <a:xfrm>
            <a:off x="877824" y="4443984"/>
            <a:ext cx="73152" cy="914400"/>
          </a:xfrm>
          <a:prstGeom prst="rect">
            <a:avLst/>
          </a:prstGeom>
          <a:solidFill>
            <a:srgbClr val="8A99A3"/>
          </a:solidFill>
          <a:ln w="12700">
            <a:solidFill>
              <a:srgbClr val="8A99A3"/>
            </a:solidFill>
            <a:prstDash val="solid"/>
          </a:ln>
        </p:spPr>
      </p:sp>
      <p:sp>
        <p:nvSpPr>
          <p:cNvPr id="63" name="text-59"/>
          <p:cNvSpPr txBox="1"/>
          <p:nvPr/>
        </p:nvSpPr>
        <p:spPr>
          <a:xfrm>
            <a:off x="548640" y="4443984"/>
            <a:ext cx="402336" cy="914400"/>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C</a:t>
            </a:r>
            <a:endParaRPr lang="en-US" sz="1750" dirty="0"/>
          </a:p>
        </p:txBody>
      </p:sp>
      <p:sp>
        <p:nvSpPr>
          <p:cNvPr id="64" name="text-60"/>
          <p:cNvSpPr txBox="1"/>
          <p:nvPr/>
        </p:nvSpPr>
        <p:spPr>
          <a:xfrm>
            <a:off x="1042416" y="4443984"/>
            <a:ext cx="2157984" cy="914400"/>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1100" dirty="0"/>
          </a:p>
        </p:txBody>
      </p:sp>
      <p:sp>
        <p:nvSpPr>
          <p:cNvPr id="65" name="shape-61"/>
          <p:cNvSpPr/>
          <p:nvPr/>
        </p:nvSpPr>
        <p:spPr>
          <a:xfrm>
            <a:off x="3493008" y="4443984"/>
            <a:ext cx="1874520" cy="914400"/>
          </a:xfrm>
          <a:prstGeom prst="roundRect">
            <a:avLst>
              <a:gd name="adj" fmla="val 8000"/>
            </a:avLst>
          </a:prstGeom>
          <a:solidFill>
            <a:srgbClr val="FFFFFF"/>
          </a:solidFill>
          <a:ln w="15875">
            <a:solidFill>
              <a:srgbClr val="D4DBE0"/>
            </a:solidFill>
            <a:prstDash val="solid"/>
          </a:ln>
        </p:spPr>
      </p:sp>
      <p:sp>
        <p:nvSpPr>
          <p:cNvPr id="66" name="text-62"/>
          <p:cNvSpPr txBox="1"/>
          <p:nvPr/>
        </p:nvSpPr>
        <p:spPr>
          <a:xfrm>
            <a:off x="3566160" y="444398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Cost and effort vs efficiency gained</a:t>
            </a:r>
            <a:endParaRPr lang="en-US" sz="1100" dirty="0"/>
          </a:p>
        </p:txBody>
      </p:sp>
      <p:sp>
        <p:nvSpPr>
          <p:cNvPr id="67" name="shape-63"/>
          <p:cNvSpPr/>
          <p:nvPr/>
        </p:nvSpPr>
        <p:spPr>
          <a:xfrm>
            <a:off x="5568696" y="4443984"/>
            <a:ext cx="1874520" cy="914400"/>
          </a:xfrm>
          <a:prstGeom prst="roundRect">
            <a:avLst>
              <a:gd name="adj" fmla="val 8000"/>
            </a:avLst>
          </a:prstGeom>
          <a:solidFill>
            <a:srgbClr val="FFFFFF"/>
          </a:solidFill>
          <a:ln w="15875">
            <a:solidFill>
              <a:srgbClr val="D4DBE0"/>
            </a:solidFill>
            <a:prstDash val="solid"/>
          </a:ln>
        </p:spPr>
      </p:sp>
      <p:sp>
        <p:nvSpPr>
          <p:cNvPr id="68" name="text-64"/>
          <p:cNvSpPr txBox="1"/>
          <p:nvPr/>
        </p:nvSpPr>
        <p:spPr>
          <a:xfrm>
            <a:off x="5641848" y="444398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Standard; no shared fate with A</a:t>
            </a:r>
            <a:endParaRPr lang="en-US" sz="1100" dirty="0"/>
          </a:p>
        </p:txBody>
      </p:sp>
      <p:sp>
        <p:nvSpPr>
          <p:cNvPr id="69" name="shape-65"/>
          <p:cNvSpPr/>
          <p:nvPr/>
        </p:nvSpPr>
        <p:spPr>
          <a:xfrm>
            <a:off x="7644384" y="4443984"/>
            <a:ext cx="2194560" cy="914400"/>
          </a:xfrm>
          <a:prstGeom prst="roundRect">
            <a:avLst>
              <a:gd name="adj" fmla="val 8000"/>
            </a:avLst>
          </a:prstGeom>
          <a:solidFill>
            <a:srgbClr val="FFFFFF"/>
          </a:solidFill>
          <a:ln w="15875">
            <a:solidFill>
              <a:srgbClr val="D4DBE0"/>
            </a:solidFill>
            <a:prstDash val="solid"/>
          </a:ln>
        </p:spPr>
      </p:sp>
      <p:sp>
        <p:nvSpPr>
          <p:cNvPr id="70" name="text-66"/>
          <p:cNvSpPr txBox="1"/>
          <p:nvPr/>
        </p:nvSpPr>
        <p:spPr>
          <a:xfrm>
            <a:off x="7717536" y="4443984"/>
            <a:ext cx="204825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standard set-up; deviate by exception only</a:t>
            </a:r>
            <a:endParaRPr lang="en-US" sz="1100" dirty="0"/>
          </a:p>
        </p:txBody>
      </p:sp>
      <p:sp>
        <p:nvSpPr>
          <p:cNvPr id="71" name="tri-67"/>
          <p:cNvSpPr/>
          <p:nvPr/>
        </p:nvSpPr>
        <p:spPr>
          <a:xfrm rot="5400000">
            <a:off x="3337560" y="4846320"/>
            <a:ext cx="109728" cy="109728"/>
          </a:xfrm>
          <a:prstGeom prst="triangle">
            <a:avLst/>
          </a:prstGeom>
          <a:solidFill>
            <a:srgbClr val="D4DBE0"/>
          </a:solidFill>
          <a:ln w="12700">
            <a:solidFill>
              <a:srgbClr val="D4DBE0"/>
            </a:solidFill>
            <a:prstDash val="solid"/>
          </a:ln>
        </p:spPr>
      </p:sp>
      <p:sp>
        <p:nvSpPr>
          <p:cNvPr id="72" name="tri-68"/>
          <p:cNvSpPr/>
          <p:nvPr/>
        </p:nvSpPr>
        <p:spPr>
          <a:xfrm rot="5400000">
            <a:off x="5413248" y="4846320"/>
            <a:ext cx="109728" cy="109728"/>
          </a:xfrm>
          <a:prstGeom prst="triangle">
            <a:avLst/>
          </a:prstGeom>
          <a:solidFill>
            <a:srgbClr val="D4DBE0"/>
          </a:solidFill>
          <a:ln w="12700">
            <a:solidFill>
              <a:srgbClr val="D4DBE0"/>
            </a:solidFill>
            <a:prstDash val="solid"/>
          </a:ln>
        </p:spPr>
      </p:sp>
      <p:sp>
        <p:nvSpPr>
          <p:cNvPr id="73" name="tri-69"/>
          <p:cNvSpPr/>
          <p:nvPr/>
        </p:nvSpPr>
        <p:spPr>
          <a:xfrm rot="5400000">
            <a:off x="7488936" y="4846320"/>
            <a:ext cx="109728" cy="109728"/>
          </a:xfrm>
          <a:prstGeom prst="triangle">
            <a:avLst/>
          </a:prstGeom>
          <a:solidFill>
            <a:srgbClr val="D4DBE0"/>
          </a:solidFill>
          <a:ln w="12700">
            <a:solidFill>
              <a:srgbClr val="D4DBE0"/>
            </a:solidFill>
            <a:prstDash val="solid"/>
          </a:ln>
        </p:spPr>
      </p:sp>
      <p:sp>
        <p:nvSpPr>
          <p:cNvPr id="74" name="shape-70"/>
          <p:cNvSpPr/>
          <p:nvPr/>
        </p:nvSpPr>
        <p:spPr>
          <a:xfrm>
            <a:off x="10076688" y="4443984"/>
            <a:ext cx="1737360" cy="914400"/>
          </a:xfrm>
          <a:prstGeom prst="roundRect">
            <a:avLst>
              <a:gd name="adj" fmla="val 8000"/>
            </a:avLst>
          </a:prstGeom>
          <a:solidFill>
            <a:srgbClr val="D6ECE9"/>
          </a:solidFill>
          <a:ln w="15875">
            <a:solidFill>
              <a:srgbClr val="0F766E"/>
            </a:solidFill>
            <a:prstDash val="sysDash"/>
          </a:ln>
        </p:spPr>
      </p:sp>
      <p:sp>
        <p:nvSpPr>
          <p:cNvPr id="75" name="oval-71"/>
          <p:cNvSpPr/>
          <p:nvPr/>
        </p:nvSpPr>
        <p:spPr>
          <a:xfrm>
            <a:off x="10149840" y="4809744"/>
            <a:ext cx="182880" cy="182880"/>
          </a:xfrm>
          <a:prstGeom prst="ellipse">
            <a:avLst/>
          </a:prstGeom>
          <a:solidFill>
            <a:srgbClr val="0F766E"/>
          </a:solidFill>
          <a:ln w="12700">
            <a:solidFill>
              <a:srgbClr val="0F766E"/>
            </a:solidFill>
            <a:prstDash val="solid"/>
          </a:ln>
        </p:spPr>
      </p:sp>
      <p:sp>
        <p:nvSpPr>
          <p:cNvPr id="76" name="text-72"/>
          <p:cNvSpPr txBox="1"/>
          <p:nvPr/>
        </p:nvSpPr>
        <p:spPr>
          <a:xfrm>
            <a:off x="10149840" y="4809744"/>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7" name="text-73"/>
          <p:cNvSpPr txBox="1"/>
          <p:nvPr/>
        </p:nvSpPr>
        <p:spPr>
          <a:xfrm>
            <a:off x="10405872" y="4443984"/>
            <a:ext cx="1335024" cy="914400"/>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Woven into process; must-haves shrink</a:t>
            </a:r>
            <a:endParaRPr lang="en-US" sz="1100" dirty="0"/>
          </a:p>
        </p:txBody>
      </p:sp>
      <p:sp>
        <p:nvSpPr>
          <p:cNvPr id="78" name="shape-74"/>
          <p:cNvSpPr/>
          <p:nvPr/>
        </p:nvSpPr>
        <p:spPr>
          <a:xfrm>
            <a:off x="548640" y="5449824"/>
            <a:ext cx="2743200" cy="914400"/>
          </a:xfrm>
          <a:prstGeom prst="roundRect">
            <a:avLst>
              <a:gd name="adj" fmla="val 8000"/>
            </a:avLst>
          </a:prstGeom>
          <a:solidFill>
            <a:srgbClr val="FDF1E3"/>
          </a:solidFill>
          <a:ln w="12700">
            <a:solidFill>
              <a:srgbClr val="FDF1E3"/>
            </a:solidFill>
            <a:prstDash val="solid"/>
          </a:ln>
        </p:spPr>
      </p:sp>
      <p:sp>
        <p:nvSpPr>
          <p:cNvPr id="79" name="shape-75"/>
          <p:cNvSpPr/>
          <p:nvPr/>
        </p:nvSpPr>
        <p:spPr>
          <a:xfrm>
            <a:off x="548640" y="5449824"/>
            <a:ext cx="402336" cy="914400"/>
          </a:xfrm>
          <a:prstGeom prst="roundRect">
            <a:avLst>
              <a:gd name="adj" fmla="val 18182"/>
            </a:avLst>
          </a:prstGeom>
          <a:solidFill>
            <a:srgbClr val="B45309"/>
          </a:solidFill>
          <a:ln w="12700">
            <a:solidFill>
              <a:srgbClr val="B45309"/>
            </a:solidFill>
            <a:prstDash val="solid"/>
          </a:ln>
        </p:spPr>
      </p:sp>
      <p:sp>
        <p:nvSpPr>
          <p:cNvPr id="80" name="shape-76"/>
          <p:cNvSpPr/>
          <p:nvPr/>
        </p:nvSpPr>
        <p:spPr>
          <a:xfrm>
            <a:off x="877824" y="5449824"/>
            <a:ext cx="73152" cy="914400"/>
          </a:xfrm>
          <a:prstGeom prst="rect">
            <a:avLst/>
          </a:prstGeom>
          <a:solidFill>
            <a:srgbClr val="B45309"/>
          </a:solidFill>
          <a:ln w="12700">
            <a:solidFill>
              <a:srgbClr val="B45309"/>
            </a:solidFill>
            <a:prstDash val="solid"/>
          </a:ln>
        </p:spPr>
      </p:sp>
      <p:sp>
        <p:nvSpPr>
          <p:cNvPr id="81" name="text-77"/>
          <p:cNvSpPr txBox="1"/>
          <p:nvPr/>
        </p:nvSpPr>
        <p:spPr>
          <a:xfrm>
            <a:off x="548640" y="5449824"/>
            <a:ext cx="402336" cy="914400"/>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X</a:t>
            </a:r>
            <a:endParaRPr lang="en-US" sz="1750" dirty="0"/>
          </a:p>
        </p:txBody>
      </p:sp>
      <p:sp>
        <p:nvSpPr>
          <p:cNvPr id="82" name="text-78"/>
          <p:cNvSpPr txBox="1"/>
          <p:nvPr/>
        </p:nvSpPr>
        <p:spPr>
          <a:xfrm>
            <a:off x="1042416" y="5449824"/>
            <a:ext cx="2157984" cy="914400"/>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Azure identity and access plane, API gateway / service bus, monitoring, ISMS and standards</a:t>
            </a:r>
            <a:endParaRPr lang="en-US" sz="1100" dirty="0"/>
          </a:p>
        </p:txBody>
      </p:sp>
      <p:sp>
        <p:nvSpPr>
          <p:cNvPr id="83" name="shape-79"/>
          <p:cNvSpPr/>
          <p:nvPr/>
        </p:nvSpPr>
        <p:spPr>
          <a:xfrm>
            <a:off x="3493008" y="5449824"/>
            <a:ext cx="1874520" cy="914400"/>
          </a:xfrm>
          <a:prstGeom prst="roundRect">
            <a:avLst>
              <a:gd name="adj" fmla="val 8000"/>
            </a:avLst>
          </a:prstGeom>
          <a:solidFill>
            <a:srgbClr val="FFFFFF"/>
          </a:solidFill>
          <a:ln w="15875">
            <a:solidFill>
              <a:srgbClr val="D4DBE0"/>
            </a:solidFill>
            <a:prstDash val="solid"/>
          </a:ln>
        </p:spPr>
      </p:sp>
      <p:sp>
        <p:nvSpPr>
          <p:cNvPr id="84" name="text-80"/>
          <p:cNvSpPr txBox="1"/>
          <p:nvPr/>
        </p:nvSpPr>
        <p:spPr>
          <a:xfrm>
            <a:off x="3566160" y="544982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Inherits, plus risk and reputation</a:t>
            </a:r>
            <a:endParaRPr lang="en-US" sz="1100" dirty="0"/>
          </a:p>
        </p:txBody>
      </p:sp>
      <p:sp>
        <p:nvSpPr>
          <p:cNvPr id="85" name="shape-81"/>
          <p:cNvSpPr/>
          <p:nvPr/>
        </p:nvSpPr>
        <p:spPr>
          <a:xfrm>
            <a:off x="5568696" y="5449824"/>
            <a:ext cx="1874520" cy="914400"/>
          </a:xfrm>
          <a:prstGeom prst="roundRect">
            <a:avLst>
              <a:gd name="adj" fmla="val 8000"/>
            </a:avLst>
          </a:prstGeom>
          <a:solidFill>
            <a:srgbClr val="FFFFFF"/>
          </a:solidFill>
          <a:ln w="15875">
            <a:solidFill>
              <a:srgbClr val="D4DBE0"/>
            </a:solidFill>
            <a:prstDash val="solid"/>
          </a:ln>
        </p:spPr>
      </p:sp>
      <p:sp>
        <p:nvSpPr>
          <p:cNvPr id="86" name="text-82"/>
          <p:cNvSpPr txBox="1"/>
          <p:nvPr/>
        </p:nvSpPr>
        <p:spPr>
          <a:xfrm>
            <a:off x="5641848" y="5449824"/>
            <a:ext cx="172821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Inherits A wherever it sits in A’s path</a:t>
            </a:r>
            <a:endParaRPr lang="en-US" sz="1100" dirty="0"/>
          </a:p>
        </p:txBody>
      </p:sp>
      <p:sp>
        <p:nvSpPr>
          <p:cNvPr id="87" name="shape-83"/>
          <p:cNvSpPr/>
          <p:nvPr/>
        </p:nvSpPr>
        <p:spPr>
          <a:xfrm>
            <a:off x="7644384" y="5449824"/>
            <a:ext cx="2194560" cy="914400"/>
          </a:xfrm>
          <a:prstGeom prst="roundRect">
            <a:avLst>
              <a:gd name="adj" fmla="val 8000"/>
            </a:avLst>
          </a:prstGeom>
          <a:solidFill>
            <a:srgbClr val="FFFFFF"/>
          </a:solidFill>
          <a:ln w="15875">
            <a:solidFill>
              <a:srgbClr val="D4DBE0"/>
            </a:solidFill>
            <a:prstDash val="solid"/>
          </a:ln>
        </p:spPr>
      </p:sp>
      <p:sp>
        <p:nvSpPr>
          <p:cNvPr id="88" name="text-84"/>
          <p:cNvSpPr txBox="1"/>
          <p:nvPr/>
        </p:nvSpPr>
        <p:spPr>
          <a:xfrm>
            <a:off x="7717536" y="5449824"/>
            <a:ext cx="2048256" cy="91440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but bend to accommodate A and third parties</a:t>
            </a:r>
            <a:endParaRPr lang="en-US" sz="1100" dirty="0"/>
          </a:p>
        </p:txBody>
      </p:sp>
      <p:sp>
        <p:nvSpPr>
          <p:cNvPr id="89" name="tri-85"/>
          <p:cNvSpPr/>
          <p:nvPr/>
        </p:nvSpPr>
        <p:spPr>
          <a:xfrm rot="5400000">
            <a:off x="3337560" y="5852160"/>
            <a:ext cx="109728" cy="109728"/>
          </a:xfrm>
          <a:prstGeom prst="triangle">
            <a:avLst/>
          </a:prstGeom>
          <a:solidFill>
            <a:srgbClr val="D4DBE0"/>
          </a:solidFill>
          <a:ln w="12700">
            <a:solidFill>
              <a:srgbClr val="D4DBE0"/>
            </a:solidFill>
            <a:prstDash val="solid"/>
          </a:ln>
        </p:spPr>
      </p:sp>
      <p:sp>
        <p:nvSpPr>
          <p:cNvPr id="90" name="tri-86"/>
          <p:cNvSpPr/>
          <p:nvPr/>
        </p:nvSpPr>
        <p:spPr>
          <a:xfrm rot="5400000">
            <a:off x="5413248" y="5852160"/>
            <a:ext cx="109728" cy="109728"/>
          </a:xfrm>
          <a:prstGeom prst="triangle">
            <a:avLst/>
          </a:prstGeom>
          <a:solidFill>
            <a:srgbClr val="D4DBE0"/>
          </a:solidFill>
          <a:ln w="12700">
            <a:solidFill>
              <a:srgbClr val="D4DBE0"/>
            </a:solidFill>
            <a:prstDash val="solid"/>
          </a:ln>
        </p:spPr>
      </p:sp>
      <p:sp>
        <p:nvSpPr>
          <p:cNvPr id="91" name="tri-87"/>
          <p:cNvSpPr/>
          <p:nvPr/>
        </p:nvSpPr>
        <p:spPr>
          <a:xfrm rot="5400000">
            <a:off x="7488936" y="5852160"/>
            <a:ext cx="109728" cy="109728"/>
          </a:xfrm>
          <a:prstGeom prst="triangle">
            <a:avLst/>
          </a:prstGeom>
          <a:solidFill>
            <a:srgbClr val="D4DBE0"/>
          </a:solidFill>
          <a:ln w="12700">
            <a:solidFill>
              <a:srgbClr val="D4DBE0"/>
            </a:solidFill>
            <a:prstDash val="solid"/>
          </a:ln>
        </p:spPr>
      </p:sp>
      <p:sp>
        <p:nvSpPr>
          <p:cNvPr id="92" name="shape-88"/>
          <p:cNvSpPr/>
          <p:nvPr/>
        </p:nvSpPr>
        <p:spPr>
          <a:xfrm>
            <a:off x="10076688" y="5449824"/>
            <a:ext cx="1737360" cy="914400"/>
          </a:xfrm>
          <a:prstGeom prst="roundRect">
            <a:avLst>
              <a:gd name="adj" fmla="val 8000"/>
            </a:avLst>
          </a:prstGeom>
          <a:solidFill>
            <a:srgbClr val="D6ECE9"/>
          </a:solidFill>
          <a:ln w="15875">
            <a:solidFill>
              <a:srgbClr val="0F766E"/>
            </a:solidFill>
            <a:prstDash val="sysDash"/>
          </a:ln>
        </p:spPr>
      </p:sp>
      <p:sp>
        <p:nvSpPr>
          <p:cNvPr id="93" name="oval-89"/>
          <p:cNvSpPr/>
          <p:nvPr/>
        </p:nvSpPr>
        <p:spPr>
          <a:xfrm>
            <a:off x="10149840" y="5815584"/>
            <a:ext cx="182880" cy="182880"/>
          </a:xfrm>
          <a:prstGeom prst="ellipse">
            <a:avLst/>
          </a:prstGeom>
          <a:solidFill>
            <a:srgbClr val="0F766E"/>
          </a:solidFill>
          <a:ln w="12700">
            <a:solidFill>
              <a:srgbClr val="0F766E"/>
            </a:solidFill>
            <a:prstDash val="solid"/>
          </a:ln>
        </p:spPr>
      </p:sp>
      <p:sp>
        <p:nvSpPr>
          <p:cNvPr id="94" name="text-90"/>
          <p:cNvSpPr txBox="1"/>
          <p:nvPr/>
        </p:nvSpPr>
        <p:spPr>
          <a:xfrm>
            <a:off x="10149840" y="5815584"/>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95" name="text-91"/>
          <p:cNvSpPr txBox="1"/>
          <p:nvPr/>
        </p:nvSpPr>
        <p:spPr>
          <a:xfrm>
            <a:off x="10405872" y="5449824"/>
            <a:ext cx="1335024" cy="914400"/>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Review, triage, runbooks</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4  ·  THE RESILIENCE TOOLKIT FOR THE PRODUCT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Five kinds of protection for a five-nines product on the way to an intelligent digital platform</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1463040"/>
            <a:ext cx="2125066" cy="384048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1 · Isolate</a:t>
            </a:r>
            <a:endParaRPr lang="en-US" sz="130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no shared fate</a:t>
            </a:r>
            <a:endParaRPr lang="en-US" sz="1100" dirty="0"/>
          </a:p>
        </p:txBody>
      </p:sp>
      <p:sp>
        <p:nvSpPr>
          <p:cNvPr id="10" name="shape-6"/>
          <p:cNvSpPr/>
          <p:nvPr/>
        </p:nvSpPr>
        <p:spPr>
          <a:xfrm>
            <a:off x="658368" y="2286000"/>
            <a:ext cx="1905610" cy="493776"/>
          </a:xfrm>
          <a:prstGeom prst="roundRect">
            <a:avLst>
              <a:gd name="adj" fmla="val 9259"/>
            </a:avLst>
          </a:prstGeom>
          <a:solidFill>
            <a:srgbClr val="2A6660"/>
          </a:solidFill>
          <a:ln w="12700">
            <a:solidFill>
              <a:srgbClr val="2A6660"/>
            </a:solidFill>
            <a:prstDash val="solid"/>
          </a:ln>
        </p:spPr>
      </p:sp>
      <p:sp>
        <p:nvSpPr>
          <p:cNvPr id="11" name="text-7"/>
          <p:cNvSpPr txBox="1"/>
          <p:nvPr/>
        </p:nvSpPr>
        <p:spPr>
          <a:xfrm>
            <a:off x="731520" y="2304288"/>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Hub and spoke; commodity behind the bus</a:t>
            </a:r>
            <a:endParaRPr lang="en-US" sz="1100" dirty="0"/>
          </a:p>
        </p:txBody>
      </p:sp>
      <p:sp>
        <p:nvSpPr>
          <p:cNvPr id="12" name="shape-8"/>
          <p:cNvSpPr/>
          <p:nvPr/>
        </p:nvSpPr>
        <p:spPr>
          <a:xfrm>
            <a:off x="1960474" y="2615184"/>
            <a:ext cx="164592" cy="128016"/>
          </a:xfrm>
          <a:prstGeom prst="roundRect">
            <a:avLst>
              <a:gd name="adj" fmla="val 50000"/>
            </a:avLst>
          </a:prstGeom>
          <a:solidFill>
            <a:srgbClr val="134E4A"/>
          </a:solidFill>
          <a:ln w="12700">
            <a:solidFill>
              <a:srgbClr val="134E4A"/>
            </a:solidFill>
            <a:prstDash val="solid"/>
          </a:ln>
        </p:spPr>
      </p:sp>
      <p:sp>
        <p:nvSpPr>
          <p:cNvPr id="13" name="text-9"/>
          <p:cNvSpPr txBox="1"/>
          <p:nvPr/>
        </p:nvSpPr>
        <p:spPr>
          <a:xfrm>
            <a:off x="1960474"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4" name="shape-10"/>
          <p:cNvSpPr/>
          <p:nvPr/>
        </p:nvSpPr>
        <p:spPr>
          <a:xfrm>
            <a:off x="2161642" y="2615184"/>
            <a:ext cx="164592" cy="128016"/>
          </a:xfrm>
          <a:prstGeom prst="roundRect">
            <a:avLst>
              <a:gd name="adj" fmla="val 50000"/>
            </a:avLst>
          </a:prstGeom>
          <a:solidFill>
            <a:srgbClr val="B45309"/>
          </a:solidFill>
          <a:ln w="12700">
            <a:solidFill>
              <a:srgbClr val="B45309"/>
            </a:solidFill>
            <a:prstDash val="solid"/>
          </a:ln>
        </p:spPr>
      </p:sp>
      <p:sp>
        <p:nvSpPr>
          <p:cNvPr id="15" name="text-11"/>
          <p:cNvSpPr txBox="1"/>
          <p:nvPr/>
        </p:nvSpPr>
        <p:spPr>
          <a:xfrm>
            <a:off x="2161642"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6" name="shape-12"/>
          <p:cNvSpPr/>
          <p:nvPr/>
        </p:nvSpPr>
        <p:spPr>
          <a:xfrm>
            <a:off x="2362810" y="2615184"/>
            <a:ext cx="164592" cy="128016"/>
          </a:xfrm>
          <a:prstGeom prst="roundRect">
            <a:avLst>
              <a:gd name="adj" fmla="val 50000"/>
            </a:avLst>
          </a:prstGeom>
          <a:solidFill>
            <a:srgbClr val="8A99A3"/>
          </a:solidFill>
          <a:ln w="12700">
            <a:solidFill>
              <a:srgbClr val="8A99A3"/>
            </a:solidFill>
            <a:prstDash val="solid"/>
          </a:ln>
        </p:spPr>
      </p:sp>
      <p:sp>
        <p:nvSpPr>
          <p:cNvPr id="17" name="text-13"/>
          <p:cNvSpPr txBox="1"/>
          <p:nvPr/>
        </p:nvSpPr>
        <p:spPr>
          <a:xfrm>
            <a:off x="2362810"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8" name="shape-14"/>
          <p:cNvSpPr/>
          <p:nvPr/>
        </p:nvSpPr>
        <p:spPr>
          <a:xfrm>
            <a:off x="658368" y="2871216"/>
            <a:ext cx="1905610" cy="493776"/>
          </a:xfrm>
          <a:prstGeom prst="roundRect">
            <a:avLst>
              <a:gd name="adj" fmla="val 9259"/>
            </a:avLst>
          </a:prstGeom>
          <a:solidFill>
            <a:srgbClr val="2A6660"/>
          </a:solidFill>
          <a:ln w="12700">
            <a:solidFill>
              <a:srgbClr val="2A6660"/>
            </a:solidFill>
            <a:prstDash val="solid"/>
          </a:ln>
        </p:spPr>
      </p:sp>
      <p:sp>
        <p:nvSpPr>
          <p:cNvPr id="19" name="text-15"/>
          <p:cNvSpPr txBox="1"/>
          <p:nvPr/>
        </p:nvSpPr>
        <p:spPr>
          <a:xfrm>
            <a:off x="731520" y="2889504"/>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Published content at the edge (CDN)</a:t>
            </a:r>
            <a:endParaRPr lang="en-US" sz="1100" dirty="0"/>
          </a:p>
        </p:txBody>
      </p:sp>
      <p:sp>
        <p:nvSpPr>
          <p:cNvPr id="20" name="shape-16"/>
          <p:cNvSpPr/>
          <p:nvPr/>
        </p:nvSpPr>
        <p:spPr>
          <a:xfrm>
            <a:off x="2362810" y="3200400"/>
            <a:ext cx="164592" cy="128016"/>
          </a:xfrm>
          <a:prstGeom prst="roundRect">
            <a:avLst>
              <a:gd name="adj" fmla="val 50000"/>
            </a:avLst>
          </a:prstGeom>
          <a:solidFill>
            <a:srgbClr val="134E4A"/>
          </a:solidFill>
          <a:ln w="12700">
            <a:solidFill>
              <a:srgbClr val="134E4A"/>
            </a:solidFill>
            <a:prstDash val="solid"/>
          </a:ln>
        </p:spPr>
      </p:sp>
      <p:sp>
        <p:nvSpPr>
          <p:cNvPr id="21" name="text-17"/>
          <p:cNvSpPr txBox="1"/>
          <p:nvPr/>
        </p:nvSpPr>
        <p:spPr>
          <a:xfrm>
            <a:off x="2362810"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2" name="shape-18"/>
          <p:cNvSpPr/>
          <p:nvPr/>
        </p:nvSpPr>
        <p:spPr>
          <a:xfrm>
            <a:off x="658368" y="3456432"/>
            <a:ext cx="1905610" cy="493776"/>
          </a:xfrm>
          <a:prstGeom prst="roundRect">
            <a:avLst>
              <a:gd name="adj" fmla="val 9259"/>
            </a:avLst>
          </a:prstGeom>
          <a:solidFill>
            <a:srgbClr val="2A6660"/>
          </a:solidFill>
          <a:ln w="12700">
            <a:solidFill>
              <a:srgbClr val="2A6660"/>
            </a:solidFill>
            <a:prstDash val="solid"/>
          </a:ln>
        </p:spPr>
      </p:sp>
      <p:sp>
        <p:nvSpPr>
          <p:cNvPr id="23" name="text-19"/>
          <p:cNvSpPr txBox="1"/>
          <p:nvPr/>
        </p:nvSpPr>
        <p:spPr>
          <a:xfrm>
            <a:off x="731520" y="3474720"/>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Entitlements cached, with grace</a:t>
            </a:r>
            <a:endParaRPr lang="en-US" sz="1100" dirty="0"/>
          </a:p>
        </p:txBody>
      </p:sp>
      <p:sp>
        <p:nvSpPr>
          <p:cNvPr id="24" name="shape-20"/>
          <p:cNvSpPr/>
          <p:nvPr/>
        </p:nvSpPr>
        <p:spPr>
          <a:xfrm>
            <a:off x="2161642" y="3785616"/>
            <a:ext cx="164592" cy="128016"/>
          </a:xfrm>
          <a:prstGeom prst="roundRect">
            <a:avLst>
              <a:gd name="adj" fmla="val 50000"/>
            </a:avLst>
          </a:prstGeom>
          <a:solidFill>
            <a:srgbClr val="134E4A"/>
          </a:solidFill>
          <a:ln w="12700">
            <a:solidFill>
              <a:srgbClr val="134E4A"/>
            </a:solidFill>
            <a:prstDash val="solid"/>
          </a:ln>
        </p:spPr>
      </p:sp>
      <p:sp>
        <p:nvSpPr>
          <p:cNvPr id="25" name="text-21"/>
          <p:cNvSpPr txBox="1"/>
          <p:nvPr/>
        </p:nvSpPr>
        <p:spPr>
          <a:xfrm>
            <a:off x="2161642"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6" name="shape-22"/>
          <p:cNvSpPr/>
          <p:nvPr/>
        </p:nvSpPr>
        <p:spPr>
          <a:xfrm>
            <a:off x="2362810" y="3785616"/>
            <a:ext cx="164592" cy="128016"/>
          </a:xfrm>
          <a:prstGeom prst="roundRect">
            <a:avLst>
              <a:gd name="adj" fmla="val 50000"/>
            </a:avLst>
          </a:prstGeom>
          <a:solidFill>
            <a:srgbClr val="B45309"/>
          </a:solidFill>
          <a:ln w="12700">
            <a:solidFill>
              <a:srgbClr val="B45309"/>
            </a:solidFill>
            <a:prstDash val="solid"/>
          </a:ln>
        </p:spPr>
      </p:sp>
      <p:sp>
        <p:nvSpPr>
          <p:cNvPr id="27" name="text-23"/>
          <p:cNvSpPr txBox="1"/>
          <p:nvPr/>
        </p:nvSpPr>
        <p:spPr>
          <a:xfrm>
            <a:off x="2362810"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8" name="shape-24"/>
          <p:cNvSpPr/>
          <p:nvPr/>
        </p:nvSpPr>
        <p:spPr>
          <a:xfrm>
            <a:off x="658368" y="4041648"/>
            <a:ext cx="1905610" cy="493776"/>
          </a:xfrm>
          <a:prstGeom prst="roundRect">
            <a:avLst>
              <a:gd name="adj" fmla="val 9259"/>
            </a:avLst>
          </a:prstGeom>
          <a:solidFill>
            <a:srgbClr val="2A6660"/>
          </a:solidFill>
          <a:ln w="12700">
            <a:solidFill>
              <a:srgbClr val="2A6660"/>
            </a:solidFill>
            <a:prstDash val="solid"/>
          </a:ln>
        </p:spPr>
      </p:sp>
      <p:sp>
        <p:nvSpPr>
          <p:cNvPr id="29" name="text-25"/>
          <p:cNvSpPr txBox="1"/>
          <p:nvPr/>
        </p:nvSpPr>
        <p:spPr>
          <a:xfrm>
            <a:off x="731520" y="4059936"/>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Read-only degraded mode</a:t>
            </a:r>
            <a:endParaRPr lang="en-US" sz="1100" dirty="0"/>
          </a:p>
        </p:txBody>
      </p:sp>
      <p:sp>
        <p:nvSpPr>
          <p:cNvPr id="30" name="shape-26"/>
          <p:cNvSpPr/>
          <p:nvPr/>
        </p:nvSpPr>
        <p:spPr>
          <a:xfrm>
            <a:off x="2362810" y="4370832"/>
            <a:ext cx="164592" cy="128016"/>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2362810"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2" name="shape-28"/>
          <p:cNvSpPr/>
          <p:nvPr/>
        </p:nvSpPr>
        <p:spPr>
          <a:xfrm>
            <a:off x="658368" y="4626864"/>
            <a:ext cx="1905610" cy="493776"/>
          </a:xfrm>
          <a:prstGeom prst="roundRect">
            <a:avLst>
              <a:gd name="adj" fmla="val 9259"/>
            </a:avLst>
          </a:prstGeom>
          <a:solidFill>
            <a:srgbClr val="2A6660"/>
          </a:solidFill>
          <a:ln w="12700">
            <a:solidFill>
              <a:srgbClr val="2A6660"/>
            </a:solidFill>
            <a:prstDash val="solid"/>
          </a:ln>
        </p:spPr>
      </p:sp>
      <p:sp>
        <p:nvSpPr>
          <p:cNvPr id="33" name="text-29"/>
          <p:cNvSpPr txBox="1"/>
          <p:nvPr/>
        </p:nvSpPr>
        <p:spPr>
          <a:xfrm>
            <a:off x="731520" y="4645152"/>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Bulkheads, circuit breakers, back-pressure</a:t>
            </a:r>
            <a:endParaRPr lang="en-US" sz="1100" dirty="0"/>
          </a:p>
        </p:txBody>
      </p:sp>
      <p:sp>
        <p:nvSpPr>
          <p:cNvPr id="34" name="shape-30"/>
          <p:cNvSpPr/>
          <p:nvPr/>
        </p:nvSpPr>
        <p:spPr>
          <a:xfrm>
            <a:off x="2161642" y="4956048"/>
            <a:ext cx="164592" cy="128016"/>
          </a:xfrm>
          <a:prstGeom prst="roundRect">
            <a:avLst>
              <a:gd name="adj" fmla="val 50000"/>
            </a:avLst>
          </a:prstGeom>
          <a:solidFill>
            <a:srgbClr val="134E4A"/>
          </a:solidFill>
          <a:ln w="12700">
            <a:solidFill>
              <a:srgbClr val="134E4A"/>
            </a:solidFill>
            <a:prstDash val="solid"/>
          </a:ln>
        </p:spPr>
      </p:sp>
      <p:sp>
        <p:nvSpPr>
          <p:cNvPr id="35" name="text-31"/>
          <p:cNvSpPr txBox="1"/>
          <p:nvPr/>
        </p:nvSpPr>
        <p:spPr>
          <a:xfrm>
            <a:off x="2161642"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6" name="shape-32"/>
          <p:cNvSpPr/>
          <p:nvPr/>
        </p:nvSpPr>
        <p:spPr>
          <a:xfrm>
            <a:off x="2362810" y="4956048"/>
            <a:ext cx="164592" cy="128016"/>
          </a:xfrm>
          <a:prstGeom prst="roundRect">
            <a:avLst>
              <a:gd name="adj" fmla="val 50000"/>
            </a:avLst>
          </a:prstGeom>
          <a:solidFill>
            <a:srgbClr val="B45309"/>
          </a:solidFill>
          <a:ln w="12700">
            <a:solidFill>
              <a:srgbClr val="B45309"/>
            </a:solidFill>
            <a:prstDash val="solid"/>
          </a:ln>
        </p:spPr>
      </p:sp>
      <p:sp>
        <p:nvSpPr>
          <p:cNvPr id="37" name="text-33"/>
          <p:cNvSpPr txBox="1"/>
          <p:nvPr/>
        </p:nvSpPr>
        <p:spPr>
          <a:xfrm>
            <a:off x="2362810"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8" name="shape-34"/>
          <p:cNvSpPr/>
          <p:nvPr/>
        </p:nvSpPr>
        <p:spPr>
          <a:xfrm>
            <a:off x="2783434" y="1463040"/>
            <a:ext cx="2125066" cy="3840480"/>
          </a:xfrm>
          <a:prstGeom prst="roundRect">
            <a:avLst>
              <a:gd name="adj" fmla="val 3442"/>
            </a:avLst>
          </a:prstGeom>
          <a:solidFill>
            <a:srgbClr val="EEF2F4"/>
          </a:solidFill>
          <a:ln w="12700">
            <a:solidFill>
              <a:srgbClr val="EEF2F4"/>
            </a:solidFill>
            <a:prstDash val="solid"/>
          </a:ln>
        </p:spPr>
      </p:sp>
      <p:pic>
        <p:nvPicPr>
          <p:cNvPr id="39" name="icon-35"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40" name="text-36"/>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2 · Replicate</a:t>
            </a:r>
            <a:endParaRPr lang="en-US" sz="1300" dirty="0"/>
          </a:p>
        </p:txBody>
      </p:sp>
      <p:sp>
        <p:nvSpPr>
          <p:cNvPr id="41" name="text-37"/>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 single point</a:t>
            </a:r>
            <a:endParaRPr lang="en-US" sz="1100" dirty="0"/>
          </a:p>
        </p:txBody>
      </p:sp>
      <p:sp>
        <p:nvSpPr>
          <p:cNvPr id="42" name="shape-38"/>
          <p:cNvSpPr/>
          <p:nvPr/>
        </p:nvSpPr>
        <p:spPr>
          <a:xfrm>
            <a:off x="2893162" y="2286000"/>
            <a:ext cx="1905610" cy="493776"/>
          </a:xfrm>
          <a:prstGeom prst="roundRect">
            <a:avLst>
              <a:gd name="adj" fmla="val 9259"/>
            </a:avLst>
          </a:prstGeom>
          <a:solidFill>
            <a:srgbClr val="FFFFFF"/>
          </a:solidFill>
          <a:ln w="12700">
            <a:solidFill>
              <a:srgbClr val="FFFFFF"/>
            </a:solidFill>
            <a:prstDash val="solid"/>
          </a:ln>
        </p:spPr>
      </p:sp>
      <p:sp>
        <p:nvSpPr>
          <p:cNvPr id="43" name="text-39"/>
          <p:cNvSpPr txBox="1"/>
          <p:nvPr/>
        </p:nvSpPr>
        <p:spPr>
          <a:xfrm>
            <a:off x="2966314" y="2304288"/>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Active-active across regions</a:t>
            </a:r>
            <a:endParaRPr lang="en-US" sz="1100" dirty="0"/>
          </a:p>
        </p:txBody>
      </p:sp>
      <p:sp>
        <p:nvSpPr>
          <p:cNvPr id="44" name="shape-40"/>
          <p:cNvSpPr/>
          <p:nvPr/>
        </p:nvSpPr>
        <p:spPr>
          <a:xfrm>
            <a:off x="4396435" y="2615184"/>
            <a:ext cx="164592" cy="128016"/>
          </a:xfrm>
          <a:prstGeom prst="roundRect">
            <a:avLst>
              <a:gd name="adj" fmla="val 50000"/>
            </a:avLst>
          </a:prstGeom>
          <a:solidFill>
            <a:srgbClr val="134E4A"/>
          </a:solidFill>
          <a:ln w="12700">
            <a:solidFill>
              <a:srgbClr val="134E4A"/>
            </a:solidFill>
            <a:prstDash val="solid"/>
          </a:ln>
        </p:spPr>
      </p:sp>
      <p:sp>
        <p:nvSpPr>
          <p:cNvPr id="45" name="text-41"/>
          <p:cNvSpPr txBox="1"/>
          <p:nvPr/>
        </p:nvSpPr>
        <p:spPr>
          <a:xfrm>
            <a:off x="4396435"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6" name="shape-42"/>
          <p:cNvSpPr/>
          <p:nvPr/>
        </p:nvSpPr>
        <p:spPr>
          <a:xfrm>
            <a:off x="4597603" y="2615184"/>
            <a:ext cx="164592" cy="128016"/>
          </a:xfrm>
          <a:prstGeom prst="roundRect">
            <a:avLst>
              <a:gd name="adj" fmla="val 50000"/>
            </a:avLst>
          </a:prstGeom>
          <a:solidFill>
            <a:srgbClr val="B45309"/>
          </a:solidFill>
          <a:ln w="12700">
            <a:solidFill>
              <a:srgbClr val="B45309"/>
            </a:solidFill>
            <a:prstDash val="solid"/>
          </a:ln>
        </p:spPr>
      </p:sp>
      <p:sp>
        <p:nvSpPr>
          <p:cNvPr id="47" name="text-43"/>
          <p:cNvSpPr txBox="1"/>
          <p:nvPr/>
        </p:nvSpPr>
        <p:spPr>
          <a:xfrm>
            <a:off x="4597603"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48" name="shape-44"/>
          <p:cNvSpPr/>
          <p:nvPr/>
        </p:nvSpPr>
        <p:spPr>
          <a:xfrm>
            <a:off x="2893162" y="2871216"/>
            <a:ext cx="1905610" cy="493776"/>
          </a:xfrm>
          <a:prstGeom prst="roundRect">
            <a:avLst>
              <a:gd name="adj" fmla="val 9259"/>
            </a:avLst>
          </a:prstGeom>
          <a:solidFill>
            <a:srgbClr val="FFFFFF"/>
          </a:solidFill>
          <a:ln w="12700">
            <a:solidFill>
              <a:srgbClr val="FFFFFF"/>
            </a:solidFill>
            <a:prstDash val="solid"/>
          </a:ln>
        </p:spPr>
      </p:sp>
      <p:sp>
        <p:nvSpPr>
          <p:cNvPr id="49" name="text-45"/>
          <p:cNvSpPr txBox="1"/>
          <p:nvPr/>
        </p:nvSpPr>
        <p:spPr>
          <a:xfrm>
            <a:off x="2966314" y="2889504"/>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Stateless services, replicated data</a:t>
            </a:r>
            <a:endParaRPr lang="en-US" sz="1100" dirty="0"/>
          </a:p>
        </p:txBody>
      </p:sp>
      <p:sp>
        <p:nvSpPr>
          <p:cNvPr id="50" name="shape-46"/>
          <p:cNvSpPr/>
          <p:nvPr/>
        </p:nvSpPr>
        <p:spPr>
          <a:xfrm>
            <a:off x="4396435" y="3200400"/>
            <a:ext cx="164592" cy="128016"/>
          </a:xfrm>
          <a:prstGeom prst="roundRect">
            <a:avLst>
              <a:gd name="adj" fmla="val 50000"/>
            </a:avLst>
          </a:prstGeom>
          <a:solidFill>
            <a:srgbClr val="134E4A"/>
          </a:solidFill>
          <a:ln w="12700">
            <a:solidFill>
              <a:srgbClr val="134E4A"/>
            </a:solidFill>
            <a:prstDash val="solid"/>
          </a:ln>
        </p:spPr>
      </p:sp>
      <p:sp>
        <p:nvSpPr>
          <p:cNvPr id="51" name="text-47"/>
          <p:cNvSpPr txBox="1"/>
          <p:nvPr/>
        </p:nvSpPr>
        <p:spPr>
          <a:xfrm>
            <a:off x="4396435"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shape-48"/>
          <p:cNvSpPr/>
          <p:nvPr/>
        </p:nvSpPr>
        <p:spPr>
          <a:xfrm>
            <a:off x="4597603" y="3200400"/>
            <a:ext cx="164592" cy="128016"/>
          </a:xfrm>
          <a:prstGeom prst="roundRect">
            <a:avLst>
              <a:gd name="adj" fmla="val 50000"/>
            </a:avLst>
          </a:prstGeom>
          <a:solidFill>
            <a:srgbClr val="B45309"/>
          </a:solidFill>
          <a:ln w="12700">
            <a:solidFill>
              <a:srgbClr val="B45309"/>
            </a:solidFill>
            <a:prstDash val="solid"/>
          </a:ln>
        </p:spPr>
      </p:sp>
      <p:sp>
        <p:nvSpPr>
          <p:cNvPr id="53" name="text-49"/>
          <p:cNvSpPr txBox="1"/>
          <p:nvPr/>
        </p:nvSpPr>
        <p:spPr>
          <a:xfrm>
            <a:off x="4597603"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54" name="shape-50"/>
          <p:cNvSpPr/>
          <p:nvPr/>
        </p:nvSpPr>
        <p:spPr>
          <a:xfrm>
            <a:off x="2893162" y="3456432"/>
            <a:ext cx="1905610" cy="493776"/>
          </a:xfrm>
          <a:prstGeom prst="roundRect">
            <a:avLst>
              <a:gd name="adj" fmla="val 9259"/>
            </a:avLst>
          </a:prstGeom>
          <a:solidFill>
            <a:srgbClr val="FFFFFF"/>
          </a:solidFill>
          <a:ln w="12700">
            <a:solidFill>
              <a:srgbClr val="FFFFFF"/>
            </a:solidFill>
            <a:prstDash val="solid"/>
          </a:ln>
        </p:spPr>
      </p:sp>
      <p:sp>
        <p:nvSpPr>
          <p:cNvPr id="55" name="text-51"/>
          <p:cNvSpPr txBox="1"/>
          <p:nvPr/>
        </p:nvSpPr>
        <p:spPr>
          <a:xfrm>
            <a:off x="2966314" y="3474720"/>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Identity-provider outage plan</a:t>
            </a:r>
            <a:endParaRPr lang="en-US" sz="1100" dirty="0"/>
          </a:p>
        </p:txBody>
      </p:sp>
      <p:sp>
        <p:nvSpPr>
          <p:cNvPr id="56" name="shape-52"/>
          <p:cNvSpPr/>
          <p:nvPr/>
        </p:nvSpPr>
        <p:spPr>
          <a:xfrm>
            <a:off x="4396435" y="3785616"/>
            <a:ext cx="164592" cy="128016"/>
          </a:xfrm>
          <a:prstGeom prst="roundRect">
            <a:avLst>
              <a:gd name="adj" fmla="val 50000"/>
            </a:avLst>
          </a:prstGeom>
          <a:solidFill>
            <a:srgbClr val="134E4A"/>
          </a:solidFill>
          <a:ln w="12700">
            <a:solidFill>
              <a:srgbClr val="134E4A"/>
            </a:solidFill>
            <a:prstDash val="solid"/>
          </a:ln>
        </p:spPr>
      </p:sp>
      <p:sp>
        <p:nvSpPr>
          <p:cNvPr id="57" name="text-53"/>
          <p:cNvSpPr txBox="1"/>
          <p:nvPr/>
        </p:nvSpPr>
        <p:spPr>
          <a:xfrm>
            <a:off x="4396435"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8" name="shape-54"/>
          <p:cNvSpPr/>
          <p:nvPr/>
        </p:nvSpPr>
        <p:spPr>
          <a:xfrm>
            <a:off x="4597603" y="3785616"/>
            <a:ext cx="164592" cy="128016"/>
          </a:xfrm>
          <a:prstGeom prst="roundRect">
            <a:avLst>
              <a:gd name="adj" fmla="val 50000"/>
            </a:avLst>
          </a:prstGeom>
          <a:solidFill>
            <a:srgbClr val="B45309"/>
          </a:solidFill>
          <a:ln w="12700">
            <a:solidFill>
              <a:srgbClr val="B45309"/>
            </a:solidFill>
            <a:prstDash val="solid"/>
          </a:ln>
        </p:spPr>
      </p:sp>
      <p:sp>
        <p:nvSpPr>
          <p:cNvPr id="59" name="text-55"/>
          <p:cNvSpPr txBox="1"/>
          <p:nvPr/>
        </p:nvSpPr>
        <p:spPr>
          <a:xfrm>
            <a:off x="4597603"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60" name="shape-56"/>
          <p:cNvSpPr/>
          <p:nvPr/>
        </p:nvSpPr>
        <p:spPr>
          <a:xfrm>
            <a:off x="2893162" y="4041648"/>
            <a:ext cx="1905610" cy="493776"/>
          </a:xfrm>
          <a:prstGeom prst="roundRect">
            <a:avLst>
              <a:gd name="adj" fmla="val 9259"/>
            </a:avLst>
          </a:prstGeom>
          <a:solidFill>
            <a:srgbClr val="FFFFFF"/>
          </a:solidFill>
          <a:ln w="12700">
            <a:solidFill>
              <a:srgbClr val="FFFFFF"/>
            </a:solidFill>
            <a:prstDash val="solid"/>
          </a:ln>
        </p:spPr>
      </p:sp>
      <p:sp>
        <p:nvSpPr>
          <p:cNvPr id="61" name="text-57"/>
          <p:cNvSpPr txBox="1"/>
          <p:nvPr/>
        </p:nvSpPr>
        <p:spPr>
          <a:xfrm>
            <a:off x="2966314" y="4059936"/>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SaaS and vendor failover plans</a:t>
            </a:r>
            <a:endParaRPr lang="en-US" sz="1100" dirty="0"/>
          </a:p>
        </p:txBody>
      </p:sp>
      <p:sp>
        <p:nvSpPr>
          <p:cNvPr id="62" name="shape-58"/>
          <p:cNvSpPr/>
          <p:nvPr/>
        </p:nvSpPr>
        <p:spPr>
          <a:xfrm>
            <a:off x="4195267" y="4370832"/>
            <a:ext cx="164592" cy="128016"/>
          </a:xfrm>
          <a:prstGeom prst="roundRect">
            <a:avLst>
              <a:gd name="adj" fmla="val 50000"/>
            </a:avLst>
          </a:prstGeom>
          <a:solidFill>
            <a:srgbClr val="134E4A"/>
          </a:solidFill>
          <a:ln w="12700">
            <a:solidFill>
              <a:srgbClr val="134E4A"/>
            </a:solidFill>
            <a:prstDash val="solid"/>
          </a:ln>
        </p:spPr>
      </p:sp>
      <p:sp>
        <p:nvSpPr>
          <p:cNvPr id="63" name="text-59"/>
          <p:cNvSpPr txBox="1"/>
          <p:nvPr/>
        </p:nvSpPr>
        <p:spPr>
          <a:xfrm>
            <a:off x="4195267"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64" name="shape-60"/>
          <p:cNvSpPr/>
          <p:nvPr/>
        </p:nvSpPr>
        <p:spPr>
          <a:xfrm>
            <a:off x="4396435" y="4370832"/>
            <a:ext cx="164592" cy="128016"/>
          </a:xfrm>
          <a:prstGeom prst="roundRect">
            <a:avLst>
              <a:gd name="adj" fmla="val 50000"/>
            </a:avLst>
          </a:prstGeom>
          <a:solidFill>
            <a:srgbClr val="0F766E"/>
          </a:solidFill>
          <a:ln w="12700">
            <a:solidFill>
              <a:srgbClr val="0F766E"/>
            </a:solidFill>
            <a:prstDash val="solid"/>
          </a:ln>
        </p:spPr>
      </p:sp>
      <p:sp>
        <p:nvSpPr>
          <p:cNvPr id="65" name="text-61"/>
          <p:cNvSpPr txBox="1"/>
          <p:nvPr/>
        </p:nvSpPr>
        <p:spPr>
          <a:xfrm>
            <a:off x="4396435"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66" name="shape-62"/>
          <p:cNvSpPr/>
          <p:nvPr/>
        </p:nvSpPr>
        <p:spPr>
          <a:xfrm>
            <a:off x="4597603" y="4370832"/>
            <a:ext cx="164592" cy="128016"/>
          </a:xfrm>
          <a:prstGeom prst="roundRect">
            <a:avLst>
              <a:gd name="adj" fmla="val 50000"/>
            </a:avLst>
          </a:prstGeom>
          <a:solidFill>
            <a:srgbClr val="8A99A3"/>
          </a:solidFill>
          <a:ln w="12700">
            <a:solidFill>
              <a:srgbClr val="8A99A3"/>
            </a:solidFill>
            <a:prstDash val="solid"/>
          </a:ln>
        </p:spPr>
      </p:sp>
      <p:sp>
        <p:nvSpPr>
          <p:cNvPr id="67" name="text-63"/>
          <p:cNvSpPr txBox="1"/>
          <p:nvPr/>
        </p:nvSpPr>
        <p:spPr>
          <a:xfrm>
            <a:off x="4597603"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68" name="shape-64"/>
          <p:cNvSpPr/>
          <p:nvPr/>
        </p:nvSpPr>
        <p:spPr>
          <a:xfrm>
            <a:off x="2893162" y="4626864"/>
            <a:ext cx="1905610" cy="493776"/>
          </a:xfrm>
          <a:prstGeom prst="roundRect">
            <a:avLst>
              <a:gd name="adj" fmla="val 9259"/>
            </a:avLst>
          </a:prstGeom>
          <a:solidFill>
            <a:srgbClr val="FFFFFF"/>
          </a:solidFill>
          <a:ln w="12700">
            <a:solidFill>
              <a:srgbClr val="FFFFFF"/>
            </a:solidFill>
            <a:prstDash val="solid"/>
          </a:ln>
        </p:spPr>
      </p:sp>
      <p:sp>
        <p:nvSpPr>
          <p:cNvPr id="69" name="text-65"/>
          <p:cNvSpPr txBox="1"/>
          <p:nvPr/>
        </p:nvSpPr>
        <p:spPr>
          <a:xfrm>
            <a:off x="2966314" y="4645152"/>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Capacity headroom and load testing</a:t>
            </a:r>
            <a:endParaRPr lang="en-US" sz="1100" dirty="0"/>
          </a:p>
        </p:txBody>
      </p:sp>
      <p:sp>
        <p:nvSpPr>
          <p:cNvPr id="70" name="shape-66"/>
          <p:cNvSpPr/>
          <p:nvPr/>
        </p:nvSpPr>
        <p:spPr>
          <a:xfrm>
            <a:off x="4396435" y="4956048"/>
            <a:ext cx="164592" cy="128016"/>
          </a:xfrm>
          <a:prstGeom prst="roundRect">
            <a:avLst>
              <a:gd name="adj" fmla="val 50000"/>
            </a:avLst>
          </a:prstGeom>
          <a:solidFill>
            <a:srgbClr val="134E4A"/>
          </a:solidFill>
          <a:ln w="12700">
            <a:solidFill>
              <a:srgbClr val="134E4A"/>
            </a:solidFill>
            <a:prstDash val="solid"/>
          </a:ln>
        </p:spPr>
      </p:sp>
      <p:sp>
        <p:nvSpPr>
          <p:cNvPr id="71" name="text-67"/>
          <p:cNvSpPr txBox="1"/>
          <p:nvPr/>
        </p:nvSpPr>
        <p:spPr>
          <a:xfrm>
            <a:off x="4396435"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2" name="shape-68"/>
          <p:cNvSpPr/>
          <p:nvPr/>
        </p:nvSpPr>
        <p:spPr>
          <a:xfrm>
            <a:off x="4597603" y="4956048"/>
            <a:ext cx="164592" cy="128016"/>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4597603"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74" name="shape-70"/>
          <p:cNvSpPr/>
          <p:nvPr/>
        </p:nvSpPr>
        <p:spPr>
          <a:xfrm>
            <a:off x="5018227" y="1463040"/>
            <a:ext cx="2125066" cy="3840480"/>
          </a:xfrm>
          <a:prstGeom prst="roundRect">
            <a:avLst>
              <a:gd name="adj" fmla="val 3442"/>
            </a:avLst>
          </a:prstGeom>
          <a:solidFill>
            <a:srgbClr val="EEF2F4"/>
          </a:solidFill>
          <a:ln w="12700">
            <a:solidFill>
              <a:srgbClr val="EEF2F4"/>
            </a:solidFill>
            <a:prstDash val="solid"/>
          </a:ln>
        </p:spPr>
      </p:sp>
      <p:pic>
        <p:nvPicPr>
          <p:cNvPr id="75" name="icon-7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76" name="text-7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3 · Release safely</a:t>
            </a:r>
            <a:endParaRPr lang="en-US" sz="1300" dirty="0"/>
          </a:p>
        </p:txBody>
      </p:sp>
      <p:sp>
        <p:nvSpPr>
          <p:cNvPr id="77" name="text-7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 big-bang change</a:t>
            </a:r>
            <a:endParaRPr lang="en-US" sz="1100" dirty="0"/>
          </a:p>
        </p:txBody>
      </p:sp>
      <p:sp>
        <p:nvSpPr>
          <p:cNvPr id="78" name="shape-74"/>
          <p:cNvSpPr/>
          <p:nvPr/>
        </p:nvSpPr>
        <p:spPr>
          <a:xfrm>
            <a:off x="5127955" y="2286000"/>
            <a:ext cx="1905610" cy="493776"/>
          </a:xfrm>
          <a:prstGeom prst="roundRect">
            <a:avLst>
              <a:gd name="adj" fmla="val 9259"/>
            </a:avLst>
          </a:prstGeom>
          <a:solidFill>
            <a:srgbClr val="FFFFFF"/>
          </a:solidFill>
          <a:ln w="12700">
            <a:solidFill>
              <a:srgbClr val="FFFFFF"/>
            </a:solidFill>
            <a:prstDash val="solid"/>
          </a:ln>
        </p:spPr>
      </p:sp>
      <p:sp>
        <p:nvSpPr>
          <p:cNvPr id="79" name="text-75"/>
          <p:cNvSpPr txBox="1"/>
          <p:nvPr/>
        </p:nvSpPr>
        <p:spPr>
          <a:xfrm>
            <a:off x="5201107" y="2304288"/>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Feature switches — ship dark, release deliberately</a:t>
            </a:r>
            <a:endParaRPr lang="en-US" sz="1100" dirty="0"/>
          </a:p>
        </p:txBody>
      </p:sp>
      <p:sp>
        <p:nvSpPr>
          <p:cNvPr id="80" name="shape-76"/>
          <p:cNvSpPr/>
          <p:nvPr/>
        </p:nvSpPr>
        <p:spPr>
          <a:xfrm>
            <a:off x="6832397" y="2615184"/>
            <a:ext cx="164592" cy="128016"/>
          </a:xfrm>
          <a:prstGeom prst="roundRect">
            <a:avLst>
              <a:gd name="adj" fmla="val 50000"/>
            </a:avLst>
          </a:prstGeom>
          <a:solidFill>
            <a:srgbClr val="134E4A"/>
          </a:solidFill>
          <a:ln w="12700">
            <a:solidFill>
              <a:srgbClr val="134E4A"/>
            </a:solidFill>
            <a:prstDash val="solid"/>
          </a:ln>
        </p:spPr>
      </p:sp>
      <p:sp>
        <p:nvSpPr>
          <p:cNvPr id="81" name="text-77"/>
          <p:cNvSpPr txBox="1"/>
          <p:nvPr/>
        </p:nvSpPr>
        <p:spPr>
          <a:xfrm>
            <a:off x="6832397"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2" name="shape-78"/>
          <p:cNvSpPr/>
          <p:nvPr/>
        </p:nvSpPr>
        <p:spPr>
          <a:xfrm>
            <a:off x="5127955" y="2871216"/>
            <a:ext cx="1905610" cy="493776"/>
          </a:xfrm>
          <a:prstGeom prst="roundRect">
            <a:avLst>
              <a:gd name="adj" fmla="val 9259"/>
            </a:avLst>
          </a:prstGeom>
          <a:solidFill>
            <a:srgbClr val="FFFFFF"/>
          </a:solidFill>
          <a:ln w="12700">
            <a:solidFill>
              <a:srgbClr val="FFFFFF"/>
            </a:solidFill>
            <a:prstDash val="solid"/>
          </a:ln>
        </p:spPr>
      </p:sp>
      <p:sp>
        <p:nvSpPr>
          <p:cNvPr id="83" name="text-79"/>
          <p:cNvSpPr txBox="1"/>
          <p:nvPr/>
        </p:nvSpPr>
        <p:spPr>
          <a:xfrm>
            <a:off x="5201107" y="2889504"/>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Blue/green deployment</a:t>
            </a:r>
            <a:endParaRPr lang="en-US" sz="1100" dirty="0"/>
          </a:p>
        </p:txBody>
      </p:sp>
      <p:sp>
        <p:nvSpPr>
          <p:cNvPr id="84" name="shape-80"/>
          <p:cNvSpPr/>
          <p:nvPr/>
        </p:nvSpPr>
        <p:spPr>
          <a:xfrm>
            <a:off x="6832397" y="3200400"/>
            <a:ext cx="164592" cy="128016"/>
          </a:xfrm>
          <a:prstGeom prst="roundRect">
            <a:avLst>
              <a:gd name="adj" fmla="val 50000"/>
            </a:avLst>
          </a:prstGeom>
          <a:solidFill>
            <a:srgbClr val="134E4A"/>
          </a:solidFill>
          <a:ln w="12700">
            <a:solidFill>
              <a:srgbClr val="134E4A"/>
            </a:solidFill>
            <a:prstDash val="solid"/>
          </a:ln>
        </p:spPr>
      </p:sp>
      <p:sp>
        <p:nvSpPr>
          <p:cNvPr id="85" name="text-81"/>
          <p:cNvSpPr txBox="1"/>
          <p:nvPr/>
        </p:nvSpPr>
        <p:spPr>
          <a:xfrm>
            <a:off x="6832397"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6" name="shape-82"/>
          <p:cNvSpPr/>
          <p:nvPr/>
        </p:nvSpPr>
        <p:spPr>
          <a:xfrm>
            <a:off x="5127955" y="3456432"/>
            <a:ext cx="1905610" cy="493776"/>
          </a:xfrm>
          <a:prstGeom prst="roundRect">
            <a:avLst>
              <a:gd name="adj" fmla="val 9259"/>
            </a:avLst>
          </a:prstGeom>
          <a:solidFill>
            <a:srgbClr val="FFFFFF"/>
          </a:solidFill>
          <a:ln w="12700">
            <a:solidFill>
              <a:srgbClr val="FFFFFF"/>
            </a:solidFill>
            <a:prstDash val="solid"/>
          </a:ln>
        </p:spPr>
      </p:sp>
      <p:sp>
        <p:nvSpPr>
          <p:cNvPr id="87" name="text-83"/>
          <p:cNvSpPr txBox="1"/>
          <p:nvPr/>
        </p:nvSpPr>
        <p:spPr>
          <a:xfrm>
            <a:off x="5201107" y="3474720"/>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Canary by cohort, automated rollback</a:t>
            </a:r>
            <a:endParaRPr lang="en-US" sz="1100" dirty="0"/>
          </a:p>
        </p:txBody>
      </p:sp>
      <p:sp>
        <p:nvSpPr>
          <p:cNvPr id="88" name="shape-84"/>
          <p:cNvSpPr/>
          <p:nvPr/>
        </p:nvSpPr>
        <p:spPr>
          <a:xfrm>
            <a:off x="6832397" y="3785616"/>
            <a:ext cx="164592" cy="128016"/>
          </a:xfrm>
          <a:prstGeom prst="roundRect">
            <a:avLst>
              <a:gd name="adj" fmla="val 50000"/>
            </a:avLst>
          </a:prstGeom>
          <a:solidFill>
            <a:srgbClr val="134E4A"/>
          </a:solidFill>
          <a:ln w="12700">
            <a:solidFill>
              <a:srgbClr val="134E4A"/>
            </a:solidFill>
            <a:prstDash val="solid"/>
          </a:ln>
        </p:spPr>
      </p:sp>
      <p:sp>
        <p:nvSpPr>
          <p:cNvPr id="89" name="text-85"/>
          <p:cNvSpPr txBox="1"/>
          <p:nvPr/>
        </p:nvSpPr>
        <p:spPr>
          <a:xfrm>
            <a:off x="6832397"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90" name="shape-86"/>
          <p:cNvSpPr/>
          <p:nvPr/>
        </p:nvSpPr>
        <p:spPr>
          <a:xfrm>
            <a:off x="5127955" y="4041648"/>
            <a:ext cx="1905610" cy="493776"/>
          </a:xfrm>
          <a:prstGeom prst="roundRect">
            <a:avLst>
              <a:gd name="adj" fmla="val 9259"/>
            </a:avLst>
          </a:prstGeom>
          <a:solidFill>
            <a:srgbClr val="FFFFFF"/>
          </a:solidFill>
          <a:ln w="12700">
            <a:solidFill>
              <a:srgbClr val="FFFFFF"/>
            </a:solidFill>
            <a:prstDash val="solid"/>
          </a:ln>
        </p:spPr>
      </p:sp>
      <p:sp>
        <p:nvSpPr>
          <p:cNvPr id="91" name="text-87"/>
          <p:cNvSpPr txBox="1"/>
          <p:nvPr/>
        </p:nvSpPr>
        <p:spPr>
          <a:xfrm>
            <a:off x="5201107" y="4059936"/>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Configuration changes versioned and staged</a:t>
            </a:r>
            <a:endParaRPr lang="en-US" sz="1100" dirty="0"/>
          </a:p>
        </p:txBody>
      </p:sp>
      <p:sp>
        <p:nvSpPr>
          <p:cNvPr id="92" name="shape-88"/>
          <p:cNvSpPr/>
          <p:nvPr/>
        </p:nvSpPr>
        <p:spPr>
          <a:xfrm>
            <a:off x="6430061" y="4370832"/>
            <a:ext cx="164592" cy="128016"/>
          </a:xfrm>
          <a:prstGeom prst="roundRect">
            <a:avLst>
              <a:gd name="adj" fmla="val 50000"/>
            </a:avLst>
          </a:prstGeom>
          <a:solidFill>
            <a:srgbClr val="134E4A"/>
          </a:solidFill>
          <a:ln w="12700">
            <a:solidFill>
              <a:srgbClr val="134E4A"/>
            </a:solidFill>
            <a:prstDash val="solid"/>
          </a:ln>
        </p:spPr>
      </p:sp>
      <p:sp>
        <p:nvSpPr>
          <p:cNvPr id="93" name="text-89"/>
          <p:cNvSpPr txBox="1"/>
          <p:nvPr/>
        </p:nvSpPr>
        <p:spPr>
          <a:xfrm>
            <a:off x="6430061"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94" name="shape-90"/>
          <p:cNvSpPr/>
          <p:nvPr/>
        </p:nvSpPr>
        <p:spPr>
          <a:xfrm>
            <a:off x="6631229" y="4370832"/>
            <a:ext cx="164592" cy="128016"/>
          </a:xfrm>
          <a:prstGeom prst="roundRect">
            <a:avLst>
              <a:gd name="adj" fmla="val 50000"/>
            </a:avLst>
          </a:prstGeom>
          <a:solidFill>
            <a:srgbClr val="0F766E"/>
          </a:solidFill>
          <a:ln w="12700">
            <a:solidFill>
              <a:srgbClr val="0F766E"/>
            </a:solidFill>
            <a:prstDash val="solid"/>
          </a:ln>
        </p:spPr>
      </p:sp>
      <p:sp>
        <p:nvSpPr>
          <p:cNvPr id="95" name="text-91"/>
          <p:cNvSpPr txBox="1"/>
          <p:nvPr/>
        </p:nvSpPr>
        <p:spPr>
          <a:xfrm>
            <a:off x="6631229"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96" name="shape-92"/>
          <p:cNvSpPr/>
          <p:nvPr/>
        </p:nvSpPr>
        <p:spPr>
          <a:xfrm>
            <a:off x="6832397" y="4370832"/>
            <a:ext cx="164592" cy="128016"/>
          </a:xfrm>
          <a:prstGeom prst="roundRect">
            <a:avLst>
              <a:gd name="adj" fmla="val 50000"/>
            </a:avLst>
          </a:prstGeom>
          <a:solidFill>
            <a:srgbClr val="8A99A3"/>
          </a:solidFill>
          <a:ln w="12700">
            <a:solidFill>
              <a:srgbClr val="8A99A3"/>
            </a:solidFill>
            <a:prstDash val="solid"/>
          </a:ln>
        </p:spPr>
      </p:sp>
      <p:sp>
        <p:nvSpPr>
          <p:cNvPr id="97" name="text-93"/>
          <p:cNvSpPr txBox="1"/>
          <p:nvPr/>
        </p:nvSpPr>
        <p:spPr>
          <a:xfrm>
            <a:off x="6832397"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98" name="shape-94"/>
          <p:cNvSpPr/>
          <p:nvPr/>
        </p:nvSpPr>
        <p:spPr>
          <a:xfrm>
            <a:off x="5127955" y="4626864"/>
            <a:ext cx="1905610" cy="493776"/>
          </a:xfrm>
          <a:prstGeom prst="roundRect">
            <a:avLst>
              <a:gd name="adj" fmla="val 9259"/>
            </a:avLst>
          </a:prstGeom>
          <a:solidFill>
            <a:srgbClr val="FFFFFF"/>
          </a:solidFill>
          <a:ln w="12700">
            <a:solidFill>
              <a:srgbClr val="FFFFFF"/>
            </a:solidFill>
            <a:prstDash val="solid"/>
          </a:ln>
        </p:spPr>
      </p:sp>
      <p:sp>
        <p:nvSpPr>
          <p:cNvPr id="99" name="text-95"/>
          <p:cNvSpPr txBox="1"/>
          <p:nvPr/>
        </p:nvSpPr>
        <p:spPr>
          <a:xfrm>
            <a:off x="5201107" y="4645152"/>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Immutable, versioned content releases</a:t>
            </a:r>
            <a:endParaRPr lang="en-US" sz="1100" dirty="0"/>
          </a:p>
        </p:txBody>
      </p:sp>
      <p:sp>
        <p:nvSpPr>
          <p:cNvPr id="100" name="shape-96"/>
          <p:cNvSpPr/>
          <p:nvPr/>
        </p:nvSpPr>
        <p:spPr>
          <a:xfrm>
            <a:off x="6631229" y="4956048"/>
            <a:ext cx="164592" cy="128016"/>
          </a:xfrm>
          <a:prstGeom prst="roundRect">
            <a:avLst>
              <a:gd name="adj" fmla="val 50000"/>
            </a:avLst>
          </a:prstGeom>
          <a:solidFill>
            <a:srgbClr val="134E4A"/>
          </a:solidFill>
          <a:ln w="12700">
            <a:solidFill>
              <a:srgbClr val="134E4A"/>
            </a:solidFill>
            <a:prstDash val="solid"/>
          </a:ln>
        </p:spPr>
      </p:sp>
      <p:sp>
        <p:nvSpPr>
          <p:cNvPr id="101" name="text-97"/>
          <p:cNvSpPr txBox="1"/>
          <p:nvPr/>
        </p:nvSpPr>
        <p:spPr>
          <a:xfrm>
            <a:off x="6631229"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02" name="shape-98"/>
          <p:cNvSpPr/>
          <p:nvPr/>
        </p:nvSpPr>
        <p:spPr>
          <a:xfrm>
            <a:off x="6832397" y="4956048"/>
            <a:ext cx="164592" cy="128016"/>
          </a:xfrm>
          <a:prstGeom prst="roundRect">
            <a:avLst>
              <a:gd name="adj" fmla="val 50000"/>
            </a:avLst>
          </a:prstGeom>
          <a:solidFill>
            <a:srgbClr val="0F766E"/>
          </a:solidFill>
          <a:ln w="12700">
            <a:solidFill>
              <a:srgbClr val="0F766E"/>
            </a:solidFill>
            <a:prstDash val="solid"/>
          </a:ln>
        </p:spPr>
      </p:sp>
      <p:sp>
        <p:nvSpPr>
          <p:cNvPr id="103" name="text-99"/>
          <p:cNvSpPr txBox="1"/>
          <p:nvPr/>
        </p:nvSpPr>
        <p:spPr>
          <a:xfrm>
            <a:off x="6832397"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04" name="shape-100"/>
          <p:cNvSpPr/>
          <p:nvPr/>
        </p:nvSpPr>
        <p:spPr>
          <a:xfrm>
            <a:off x="7253021" y="1463040"/>
            <a:ext cx="2125066" cy="3840480"/>
          </a:xfrm>
          <a:prstGeom prst="roundRect">
            <a:avLst>
              <a:gd name="adj" fmla="val 3442"/>
            </a:avLst>
          </a:prstGeom>
          <a:solidFill>
            <a:srgbClr val="EEF2F4"/>
          </a:solidFill>
          <a:ln w="12700">
            <a:solidFill>
              <a:srgbClr val="EEF2F4"/>
            </a:solidFill>
            <a:prstDash val="solid"/>
          </a:ln>
        </p:spPr>
      </p:sp>
      <p:pic>
        <p:nvPicPr>
          <p:cNvPr id="105" name="icon-101"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106" name="text-102"/>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4 · Detect and respond</a:t>
            </a:r>
            <a:endParaRPr lang="en-US" sz="1300" dirty="0"/>
          </a:p>
        </p:txBody>
      </p:sp>
      <p:sp>
        <p:nvSpPr>
          <p:cNvPr id="107" name="text-103"/>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minutes, not hours</a:t>
            </a:r>
            <a:endParaRPr lang="en-US" sz="1100" dirty="0"/>
          </a:p>
        </p:txBody>
      </p:sp>
      <p:sp>
        <p:nvSpPr>
          <p:cNvPr id="108" name="shape-104"/>
          <p:cNvSpPr/>
          <p:nvPr/>
        </p:nvSpPr>
        <p:spPr>
          <a:xfrm>
            <a:off x="7362749" y="2286000"/>
            <a:ext cx="1905610" cy="493776"/>
          </a:xfrm>
          <a:prstGeom prst="roundRect">
            <a:avLst>
              <a:gd name="adj" fmla="val 9259"/>
            </a:avLst>
          </a:prstGeom>
          <a:solidFill>
            <a:srgbClr val="FFFFFF"/>
          </a:solidFill>
          <a:ln w="12700">
            <a:solidFill>
              <a:srgbClr val="FFFFFF"/>
            </a:solidFill>
            <a:prstDash val="solid"/>
          </a:ln>
        </p:spPr>
      </p:sp>
      <p:sp>
        <p:nvSpPr>
          <p:cNvPr id="109" name="text-105"/>
          <p:cNvSpPr txBox="1"/>
          <p:nvPr/>
        </p:nvSpPr>
        <p:spPr>
          <a:xfrm>
            <a:off x="7435901" y="2304288"/>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SLOs and error budgets</a:t>
            </a:r>
            <a:endParaRPr lang="en-US" sz="1100" dirty="0"/>
          </a:p>
        </p:txBody>
      </p:sp>
      <p:sp>
        <p:nvSpPr>
          <p:cNvPr id="110" name="shape-106"/>
          <p:cNvSpPr/>
          <p:nvPr/>
        </p:nvSpPr>
        <p:spPr>
          <a:xfrm>
            <a:off x="9067190" y="2615184"/>
            <a:ext cx="164592" cy="128016"/>
          </a:xfrm>
          <a:prstGeom prst="roundRect">
            <a:avLst>
              <a:gd name="adj" fmla="val 50000"/>
            </a:avLst>
          </a:prstGeom>
          <a:solidFill>
            <a:srgbClr val="134E4A"/>
          </a:solidFill>
          <a:ln w="12700">
            <a:solidFill>
              <a:srgbClr val="134E4A"/>
            </a:solidFill>
            <a:prstDash val="solid"/>
          </a:ln>
        </p:spPr>
      </p:sp>
      <p:sp>
        <p:nvSpPr>
          <p:cNvPr id="111" name="text-107"/>
          <p:cNvSpPr txBox="1"/>
          <p:nvPr/>
        </p:nvSpPr>
        <p:spPr>
          <a:xfrm>
            <a:off x="9067190"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12" name="shape-108"/>
          <p:cNvSpPr/>
          <p:nvPr/>
        </p:nvSpPr>
        <p:spPr>
          <a:xfrm>
            <a:off x="7362749" y="2871216"/>
            <a:ext cx="1905610" cy="493776"/>
          </a:xfrm>
          <a:prstGeom prst="roundRect">
            <a:avLst>
              <a:gd name="adj" fmla="val 9259"/>
            </a:avLst>
          </a:prstGeom>
          <a:solidFill>
            <a:srgbClr val="FFFFFF"/>
          </a:solidFill>
          <a:ln w="12700">
            <a:solidFill>
              <a:srgbClr val="FFFFFF"/>
            </a:solidFill>
            <a:prstDash val="solid"/>
          </a:ln>
        </p:spPr>
      </p:sp>
      <p:sp>
        <p:nvSpPr>
          <p:cNvPr id="113" name="text-109"/>
          <p:cNvSpPr txBox="1"/>
          <p:nvPr/>
        </p:nvSpPr>
        <p:spPr>
          <a:xfrm>
            <a:off x="7435901" y="2889504"/>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Synthetic checks from customer locations</a:t>
            </a:r>
            <a:endParaRPr lang="en-US" sz="1100" dirty="0"/>
          </a:p>
        </p:txBody>
      </p:sp>
      <p:sp>
        <p:nvSpPr>
          <p:cNvPr id="114" name="shape-110"/>
          <p:cNvSpPr/>
          <p:nvPr/>
        </p:nvSpPr>
        <p:spPr>
          <a:xfrm>
            <a:off x="8866022" y="3200400"/>
            <a:ext cx="164592" cy="128016"/>
          </a:xfrm>
          <a:prstGeom prst="roundRect">
            <a:avLst>
              <a:gd name="adj" fmla="val 50000"/>
            </a:avLst>
          </a:prstGeom>
          <a:solidFill>
            <a:srgbClr val="134E4A"/>
          </a:solidFill>
          <a:ln w="12700">
            <a:solidFill>
              <a:srgbClr val="134E4A"/>
            </a:solidFill>
            <a:prstDash val="solid"/>
          </a:ln>
        </p:spPr>
      </p:sp>
      <p:sp>
        <p:nvSpPr>
          <p:cNvPr id="115" name="text-111"/>
          <p:cNvSpPr txBox="1"/>
          <p:nvPr/>
        </p:nvSpPr>
        <p:spPr>
          <a:xfrm>
            <a:off x="8866022"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16" name="shape-112"/>
          <p:cNvSpPr/>
          <p:nvPr/>
        </p:nvSpPr>
        <p:spPr>
          <a:xfrm>
            <a:off x="9067190" y="3200400"/>
            <a:ext cx="164592" cy="128016"/>
          </a:xfrm>
          <a:prstGeom prst="roundRect">
            <a:avLst>
              <a:gd name="adj" fmla="val 50000"/>
            </a:avLst>
          </a:prstGeom>
          <a:solidFill>
            <a:srgbClr val="B45309"/>
          </a:solidFill>
          <a:ln w="12700">
            <a:solidFill>
              <a:srgbClr val="B45309"/>
            </a:solidFill>
            <a:prstDash val="solid"/>
          </a:ln>
        </p:spPr>
      </p:sp>
      <p:sp>
        <p:nvSpPr>
          <p:cNvPr id="117" name="text-113"/>
          <p:cNvSpPr txBox="1"/>
          <p:nvPr/>
        </p:nvSpPr>
        <p:spPr>
          <a:xfrm>
            <a:off x="9067190"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18" name="shape-114"/>
          <p:cNvSpPr/>
          <p:nvPr/>
        </p:nvSpPr>
        <p:spPr>
          <a:xfrm>
            <a:off x="7362749" y="3456432"/>
            <a:ext cx="1905610" cy="493776"/>
          </a:xfrm>
          <a:prstGeom prst="roundRect">
            <a:avLst>
              <a:gd name="adj" fmla="val 9259"/>
            </a:avLst>
          </a:prstGeom>
          <a:solidFill>
            <a:srgbClr val="FFFFFF"/>
          </a:solidFill>
          <a:ln w="12700">
            <a:solidFill>
              <a:srgbClr val="FFFFFF"/>
            </a:solidFill>
            <a:prstDash val="solid"/>
          </a:ln>
        </p:spPr>
      </p:sp>
      <p:sp>
        <p:nvSpPr>
          <p:cNvPr id="119" name="text-115"/>
          <p:cNvSpPr txBox="1"/>
          <p:nvPr/>
        </p:nvSpPr>
        <p:spPr>
          <a:xfrm>
            <a:off x="7435901" y="3474720"/>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Runbooks; 24×7 on-call via MSP</a:t>
            </a:r>
            <a:endParaRPr lang="en-US" sz="1100" dirty="0"/>
          </a:p>
        </p:txBody>
      </p:sp>
      <p:sp>
        <p:nvSpPr>
          <p:cNvPr id="120" name="shape-116"/>
          <p:cNvSpPr/>
          <p:nvPr/>
        </p:nvSpPr>
        <p:spPr>
          <a:xfrm>
            <a:off x="8664854" y="3785616"/>
            <a:ext cx="164592" cy="128016"/>
          </a:xfrm>
          <a:prstGeom prst="roundRect">
            <a:avLst>
              <a:gd name="adj" fmla="val 50000"/>
            </a:avLst>
          </a:prstGeom>
          <a:solidFill>
            <a:srgbClr val="134E4A"/>
          </a:solidFill>
          <a:ln w="12700">
            <a:solidFill>
              <a:srgbClr val="134E4A"/>
            </a:solidFill>
            <a:prstDash val="solid"/>
          </a:ln>
        </p:spPr>
      </p:sp>
      <p:sp>
        <p:nvSpPr>
          <p:cNvPr id="121" name="text-117"/>
          <p:cNvSpPr txBox="1"/>
          <p:nvPr/>
        </p:nvSpPr>
        <p:spPr>
          <a:xfrm>
            <a:off x="8664854"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2" name="shape-118"/>
          <p:cNvSpPr/>
          <p:nvPr/>
        </p:nvSpPr>
        <p:spPr>
          <a:xfrm>
            <a:off x="8866022" y="3785616"/>
            <a:ext cx="164592" cy="128016"/>
          </a:xfrm>
          <a:prstGeom prst="roundRect">
            <a:avLst>
              <a:gd name="adj" fmla="val 50000"/>
            </a:avLst>
          </a:prstGeom>
          <a:solidFill>
            <a:srgbClr val="B45309"/>
          </a:solidFill>
          <a:ln w="12700">
            <a:solidFill>
              <a:srgbClr val="B45309"/>
            </a:solidFill>
            <a:prstDash val="solid"/>
          </a:ln>
        </p:spPr>
      </p:sp>
      <p:sp>
        <p:nvSpPr>
          <p:cNvPr id="123" name="text-119"/>
          <p:cNvSpPr txBox="1"/>
          <p:nvPr/>
        </p:nvSpPr>
        <p:spPr>
          <a:xfrm>
            <a:off x="8866022"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24" name="shape-120"/>
          <p:cNvSpPr/>
          <p:nvPr/>
        </p:nvSpPr>
        <p:spPr>
          <a:xfrm>
            <a:off x="9067190" y="3785616"/>
            <a:ext cx="164592" cy="128016"/>
          </a:xfrm>
          <a:prstGeom prst="roundRect">
            <a:avLst>
              <a:gd name="adj" fmla="val 50000"/>
            </a:avLst>
          </a:prstGeom>
          <a:solidFill>
            <a:srgbClr val="8A99A3"/>
          </a:solidFill>
          <a:ln w="12700">
            <a:solidFill>
              <a:srgbClr val="8A99A3"/>
            </a:solidFill>
            <a:prstDash val="solid"/>
          </a:ln>
        </p:spPr>
      </p:sp>
      <p:sp>
        <p:nvSpPr>
          <p:cNvPr id="125" name="text-121"/>
          <p:cNvSpPr txBox="1"/>
          <p:nvPr/>
        </p:nvSpPr>
        <p:spPr>
          <a:xfrm>
            <a:off x="9067190"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26" name="shape-122"/>
          <p:cNvSpPr/>
          <p:nvPr/>
        </p:nvSpPr>
        <p:spPr>
          <a:xfrm>
            <a:off x="7362749" y="4041648"/>
            <a:ext cx="1905610" cy="493776"/>
          </a:xfrm>
          <a:prstGeom prst="roundRect">
            <a:avLst>
              <a:gd name="adj" fmla="val 9259"/>
            </a:avLst>
          </a:prstGeom>
          <a:solidFill>
            <a:srgbClr val="FFFFFF"/>
          </a:solidFill>
          <a:ln w="12700">
            <a:solidFill>
              <a:srgbClr val="FFFFFF"/>
            </a:solidFill>
            <a:prstDash val="solid"/>
          </a:ln>
        </p:spPr>
      </p:sp>
      <p:sp>
        <p:nvSpPr>
          <p:cNvPr id="127" name="text-123"/>
          <p:cNvSpPr txBox="1"/>
          <p:nvPr/>
        </p:nvSpPr>
        <p:spPr>
          <a:xfrm>
            <a:off x="7435901" y="4059936"/>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Status page and incident comms</a:t>
            </a:r>
            <a:endParaRPr lang="en-US" sz="1100" dirty="0"/>
          </a:p>
        </p:txBody>
      </p:sp>
      <p:sp>
        <p:nvSpPr>
          <p:cNvPr id="128" name="shape-124"/>
          <p:cNvSpPr/>
          <p:nvPr/>
        </p:nvSpPr>
        <p:spPr>
          <a:xfrm>
            <a:off x="8463686" y="4370832"/>
            <a:ext cx="164592" cy="128016"/>
          </a:xfrm>
          <a:prstGeom prst="roundRect">
            <a:avLst>
              <a:gd name="adj" fmla="val 50000"/>
            </a:avLst>
          </a:prstGeom>
          <a:solidFill>
            <a:srgbClr val="134E4A"/>
          </a:solidFill>
          <a:ln w="12700">
            <a:solidFill>
              <a:srgbClr val="134E4A"/>
            </a:solidFill>
            <a:prstDash val="solid"/>
          </a:ln>
        </p:spPr>
      </p:sp>
      <p:sp>
        <p:nvSpPr>
          <p:cNvPr id="129" name="text-125"/>
          <p:cNvSpPr txBox="1"/>
          <p:nvPr/>
        </p:nvSpPr>
        <p:spPr>
          <a:xfrm>
            <a:off x="8463686"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30" name="shape-126"/>
          <p:cNvSpPr/>
          <p:nvPr/>
        </p:nvSpPr>
        <p:spPr>
          <a:xfrm>
            <a:off x="8664854" y="4370832"/>
            <a:ext cx="164592" cy="128016"/>
          </a:xfrm>
          <a:prstGeom prst="roundRect">
            <a:avLst>
              <a:gd name="adj" fmla="val 50000"/>
            </a:avLst>
          </a:prstGeom>
          <a:solidFill>
            <a:srgbClr val="B45309"/>
          </a:solidFill>
          <a:ln w="12700">
            <a:solidFill>
              <a:srgbClr val="B45309"/>
            </a:solidFill>
            <a:prstDash val="solid"/>
          </a:ln>
        </p:spPr>
      </p:sp>
      <p:sp>
        <p:nvSpPr>
          <p:cNvPr id="131" name="text-127"/>
          <p:cNvSpPr txBox="1"/>
          <p:nvPr/>
        </p:nvSpPr>
        <p:spPr>
          <a:xfrm>
            <a:off x="8664854"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32" name="shape-128"/>
          <p:cNvSpPr/>
          <p:nvPr/>
        </p:nvSpPr>
        <p:spPr>
          <a:xfrm>
            <a:off x="8866022" y="4370832"/>
            <a:ext cx="164592" cy="128016"/>
          </a:xfrm>
          <a:prstGeom prst="roundRect">
            <a:avLst>
              <a:gd name="adj" fmla="val 50000"/>
            </a:avLst>
          </a:prstGeom>
          <a:solidFill>
            <a:srgbClr val="0F766E"/>
          </a:solidFill>
          <a:ln w="12700">
            <a:solidFill>
              <a:srgbClr val="0F766E"/>
            </a:solidFill>
            <a:prstDash val="solid"/>
          </a:ln>
        </p:spPr>
      </p:sp>
      <p:sp>
        <p:nvSpPr>
          <p:cNvPr id="133" name="text-129"/>
          <p:cNvSpPr txBox="1"/>
          <p:nvPr/>
        </p:nvSpPr>
        <p:spPr>
          <a:xfrm>
            <a:off x="8866022"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34" name="shape-130"/>
          <p:cNvSpPr/>
          <p:nvPr/>
        </p:nvSpPr>
        <p:spPr>
          <a:xfrm>
            <a:off x="9067190" y="4370832"/>
            <a:ext cx="164592" cy="128016"/>
          </a:xfrm>
          <a:prstGeom prst="roundRect">
            <a:avLst>
              <a:gd name="adj" fmla="val 50000"/>
            </a:avLst>
          </a:prstGeom>
          <a:solidFill>
            <a:srgbClr val="8A99A3"/>
          </a:solidFill>
          <a:ln w="12700">
            <a:solidFill>
              <a:srgbClr val="8A99A3"/>
            </a:solidFill>
            <a:prstDash val="solid"/>
          </a:ln>
        </p:spPr>
      </p:sp>
      <p:sp>
        <p:nvSpPr>
          <p:cNvPr id="135" name="text-131"/>
          <p:cNvSpPr txBox="1"/>
          <p:nvPr/>
        </p:nvSpPr>
        <p:spPr>
          <a:xfrm>
            <a:off x="9067190"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36" name="shape-132"/>
          <p:cNvSpPr/>
          <p:nvPr/>
        </p:nvSpPr>
        <p:spPr>
          <a:xfrm>
            <a:off x="7362749" y="4626864"/>
            <a:ext cx="1905610" cy="493776"/>
          </a:xfrm>
          <a:prstGeom prst="roundRect">
            <a:avLst>
              <a:gd name="adj" fmla="val 9259"/>
            </a:avLst>
          </a:prstGeom>
          <a:solidFill>
            <a:srgbClr val="FFFFFF"/>
          </a:solidFill>
          <a:ln w="12700">
            <a:solidFill>
              <a:srgbClr val="FFFFFF"/>
            </a:solidFill>
            <a:prstDash val="solid"/>
          </a:ln>
        </p:spPr>
      </p:sp>
      <p:sp>
        <p:nvSpPr>
          <p:cNvPr id="137" name="text-133"/>
          <p:cNvSpPr txBox="1"/>
          <p:nvPr/>
        </p:nvSpPr>
        <p:spPr>
          <a:xfrm>
            <a:off x="7435901" y="4645152"/>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Game days and DR drills (RTO/RPO)</a:t>
            </a:r>
            <a:endParaRPr lang="en-US" sz="1100" dirty="0"/>
          </a:p>
        </p:txBody>
      </p:sp>
      <p:sp>
        <p:nvSpPr>
          <p:cNvPr id="138" name="shape-134"/>
          <p:cNvSpPr/>
          <p:nvPr/>
        </p:nvSpPr>
        <p:spPr>
          <a:xfrm>
            <a:off x="8664854" y="4956048"/>
            <a:ext cx="164592" cy="128016"/>
          </a:xfrm>
          <a:prstGeom prst="roundRect">
            <a:avLst>
              <a:gd name="adj" fmla="val 50000"/>
            </a:avLst>
          </a:prstGeom>
          <a:solidFill>
            <a:srgbClr val="134E4A"/>
          </a:solidFill>
          <a:ln w="12700">
            <a:solidFill>
              <a:srgbClr val="134E4A"/>
            </a:solidFill>
            <a:prstDash val="solid"/>
          </a:ln>
        </p:spPr>
      </p:sp>
      <p:sp>
        <p:nvSpPr>
          <p:cNvPr id="139" name="text-135"/>
          <p:cNvSpPr txBox="1"/>
          <p:nvPr/>
        </p:nvSpPr>
        <p:spPr>
          <a:xfrm>
            <a:off x="8664854"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40" name="shape-136"/>
          <p:cNvSpPr/>
          <p:nvPr/>
        </p:nvSpPr>
        <p:spPr>
          <a:xfrm>
            <a:off x="8866022" y="4956048"/>
            <a:ext cx="164592" cy="128016"/>
          </a:xfrm>
          <a:prstGeom prst="roundRect">
            <a:avLst>
              <a:gd name="adj" fmla="val 50000"/>
            </a:avLst>
          </a:prstGeom>
          <a:solidFill>
            <a:srgbClr val="B45309"/>
          </a:solidFill>
          <a:ln w="12700">
            <a:solidFill>
              <a:srgbClr val="B45309"/>
            </a:solidFill>
            <a:prstDash val="solid"/>
          </a:ln>
        </p:spPr>
      </p:sp>
      <p:sp>
        <p:nvSpPr>
          <p:cNvPr id="141" name="text-137"/>
          <p:cNvSpPr txBox="1"/>
          <p:nvPr/>
        </p:nvSpPr>
        <p:spPr>
          <a:xfrm>
            <a:off x="8866022"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42" name="shape-138"/>
          <p:cNvSpPr/>
          <p:nvPr/>
        </p:nvSpPr>
        <p:spPr>
          <a:xfrm>
            <a:off x="9067190" y="4956048"/>
            <a:ext cx="164592" cy="128016"/>
          </a:xfrm>
          <a:prstGeom prst="roundRect">
            <a:avLst>
              <a:gd name="adj" fmla="val 50000"/>
            </a:avLst>
          </a:prstGeom>
          <a:solidFill>
            <a:srgbClr val="8A99A3"/>
          </a:solidFill>
          <a:ln w="12700">
            <a:solidFill>
              <a:srgbClr val="8A99A3"/>
            </a:solidFill>
            <a:prstDash val="solid"/>
          </a:ln>
        </p:spPr>
      </p:sp>
      <p:sp>
        <p:nvSpPr>
          <p:cNvPr id="143" name="text-139"/>
          <p:cNvSpPr txBox="1"/>
          <p:nvPr/>
        </p:nvSpPr>
        <p:spPr>
          <a:xfrm>
            <a:off x="9067190"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44" name="shape-140"/>
          <p:cNvSpPr/>
          <p:nvPr/>
        </p:nvSpPr>
        <p:spPr>
          <a:xfrm>
            <a:off x="9487814" y="1463040"/>
            <a:ext cx="2125066" cy="3840480"/>
          </a:xfrm>
          <a:prstGeom prst="roundRect">
            <a:avLst>
              <a:gd name="adj" fmla="val 3442"/>
            </a:avLst>
          </a:prstGeom>
          <a:solidFill>
            <a:srgbClr val="EEF2F4"/>
          </a:solidFill>
          <a:ln w="12700">
            <a:solidFill>
              <a:srgbClr val="EEF2F4"/>
            </a:solidFill>
            <a:prstDash val="solid"/>
          </a:ln>
        </p:spPr>
      </p:sp>
      <p:pic>
        <p:nvPicPr>
          <p:cNvPr id="145" name="icon-141"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146" name="text-142"/>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5 · Protect content</a:t>
            </a:r>
            <a:endParaRPr lang="en-US" sz="1300" dirty="0"/>
          </a:p>
        </p:txBody>
      </p:sp>
      <p:sp>
        <p:nvSpPr>
          <p:cNvPr id="147" name="text-143"/>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integrity above all</a:t>
            </a:r>
            <a:endParaRPr lang="en-US" sz="1100" dirty="0"/>
          </a:p>
        </p:txBody>
      </p:sp>
      <p:sp>
        <p:nvSpPr>
          <p:cNvPr id="148" name="shape-144"/>
          <p:cNvSpPr/>
          <p:nvPr/>
        </p:nvSpPr>
        <p:spPr>
          <a:xfrm>
            <a:off x="9597542" y="2286000"/>
            <a:ext cx="1905610" cy="493776"/>
          </a:xfrm>
          <a:prstGeom prst="roundRect">
            <a:avLst>
              <a:gd name="adj" fmla="val 9259"/>
            </a:avLst>
          </a:prstGeom>
          <a:solidFill>
            <a:srgbClr val="FFFFFF"/>
          </a:solidFill>
          <a:ln w="12700">
            <a:solidFill>
              <a:srgbClr val="FFFFFF"/>
            </a:solidFill>
            <a:prstDash val="solid"/>
          </a:ln>
        </p:spPr>
      </p:sp>
      <p:sp>
        <p:nvSpPr>
          <p:cNvPr id="149" name="text-145"/>
          <p:cNvSpPr txBox="1"/>
          <p:nvPr/>
        </p:nvSpPr>
        <p:spPr>
          <a:xfrm>
            <a:off x="9670694" y="2304288"/>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checksums and integrity checks</a:t>
            </a:r>
            <a:endParaRPr lang="en-US" sz="1100" dirty="0"/>
          </a:p>
        </p:txBody>
      </p:sp>
      <p:sp>
        <p:nvSpPr>
          <p:cNvPr id="150" name="shape-146"/>
          <p:cNvSpPr/>
          <p:nvPr/>
        </p:nvSpPr>
        <p:spPr>
          <a:xfrm>
            <a:off x="11100816" y="2615184"/>
            <a:ext cx="164592" cy="128016"/>
          </a:xfrm>
          <a:prstGeom prst="roundRect">
            <a:avLst>
              <a:gd name="adj" fmla="val 50000"/>
            </a:avLst>
          </a:prstGeom>
          <a:solidFill>
            <a:srgbClr val="134E4A"/>
          </a:solidFill>
          <a:ln w="12700">
            <a:solidFill>
              <a:srgbClr val="134E4A"/>
            </a:solidFill>
            <a:prstDash val="solid"/>
          </a:ln>
        </p:spPr>
      </p:sp>
      <p:sp>
        <p:nvSpPr>
          <p:cNvPr id="151" name="text-147"/>
          <p:cNvSpPr txBox="1"/>
          <p:nvPr/>
        </p:nvSpPr>
        <p:spPr>
          <a:xfrm>
            <a:off x="11100816"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52" name="shape-148"/>
          <p:cNvSpPr/>
          <p:nvPr/>
        </p:nvSpPr>
        <p:spPr>
          <a:xfrm>
            <a:off x="11301984" y="2615184"/>
            <a:ext cx="164592" cy="128016"/>
          </a:xfrm>
          <a:prstGeom prst="roundRect">
            <a:avLst>
              <a:gd name="adj" fmla="val 50000"/>
            </a:avLst>
          </a:prstGeom>
          <a:solidFill>
            <a:srgbClr val="0F766E"/>
          </a:solidFill>
          <a:ln w="12700">
            <a:solidFill>
              <a:srgbClr val="0F766E"/>
            </a:solidFill>
            <a:prstDash val="solid"/>
          </a:ln>
        </p:spPr>
      </p:sp>
      <p:sp>
        <p:nvSpPr>
          <p:cNvPr id="153" name="text-149"/>
          <p:cNvSpPr txBox="1"/>
          <p:nvPr/>
        </p:nvSpPr>
        <p:spPr>
          <a:xfrm>
            <a:off x="11301984" y="2615184"/>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4" name="shape-150"/>
          <p:cNvSpPr/>
          <p:nvPr/>
        </p:nvSpPr>
        <p:spPr>
          <a:xfrm>
            <a:off x="9597542" y="2871216"/>
            <a:ext cx="1905610" cy="493776"/>
          </a:xfrm>
          <a:prstGeom prst="roundRect">
            <a:avLst>
              <a:gd name="adj" fmla="val 9259"/>
            </a:avLst>
          </a:prstGeom>
          <a:solidFill>
            <a:srgbClr val="FFFFFF"/>
          </a:solidFill>
          <a:ln w="12700">
            <a:solidFill>
              <a:srgbClr val="FFFFFF"/>
            </a:solidFill>
            <a:prstDash val="solid"/>
          </a:ln>
        </p:spPr>
      </p:sp>
      <p:sp>
        <p:nvSpPr>
          <p:cNvPr id="155" name="text-151"/>
          <p:cNvSpPr txBox="1"/>
          <p:nvPr/>
        </p:nvSpPr>
        <p:spPr>
          <a:xfrm>
            <a:off x="9670694" y="2889504"/>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Copies held outside the authoring tool</a:t>
            </a:r>
            <a:endParaRPr lang="en-US" sz="1100" dirty="0"/>
          </a:p>
        </p:txBody>
      </p:sp>
      <p:sp>
        <p:nvSpPr>
          <p:cNvPr id="156" name="shape-152"/>
          <p:cNvSpPr/>
          <p:nvPr/>
        </p:nvSpPr>
        <p:spPr>
          <a:xfrm>
            <a:off x="11100816" y="3200400"/>
            <a:ext cx="164592" cy="128016"/>
          </a:xfrm>
          <a:prstGeom prst="roundRect">
            <a:avLst>
              <a:gd name="adj" fmla="val 50000"/>
            </a:avLst>
          </a:prstGeom>
          <a:solidFill>
            <a:srgbClr val="134E4A"/>
          </a:solidFill>
          <a:ln w="12700">
            <a:solidFill>
              <a:srgbClr val="134E4A"/>
            </a:solidFill>
            <a:prstDash val="solid"/>
          </a:ln>
        </p:spPr>
      </p:sp>
      <p:sp>
        <p:nvSpPr>
          <p:cNvPr id="157" name="text-153"/>
          <p:cNvSpPr txBox="1"/>
          <p:nvPr/>
        </p:nvSpPr>
        <p:spPr>
          <a:xfrm>
            <a:off x="11100816"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58" name="shape-154"/>
          <p:cNvSpPr/>
          <p:nvPr/>
        </p:nvSpPr>
        <p:spPr>
          <a:xfrm>
            <a:off x="11301984" y="3200400"/>
            <a:ext cx="164592" cy="128016"/>
          </a:xfrm>
          <a:prstGeom prst="roundRect">
            <a:avLst>
              <a:gd name="adj" fmla="val 50000"/>
            </a:avLst>
          </a:prstGeom>
          <a:solidFill>
            <a:srgbClr val="0F766E"/>
          </a:solidFill>
          <a:ln w="12700">
            <a:solidFill>
              <a:srgbClr val="0F766E"/>
            </a:solidFill>
            <a:prstDash val="solid"/>
          </a:ln>
        </p:spPr>
      </p:sp>
      <p:sp>
        <p:nvSpPr>
          <p:cNvPr id="159" name="text-155"/>
          <p:cNvSpPr txBox="1"/>
          <p:nvPr/>
        </p:nvSpPr>
        <p:spPr>
          <a:xfrm>
            <a:off x="11301984" y="3200400"/>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60" name="shape-156"/>
          <p:cNvSpPr/>
          <p:nvPr/>
        </p:nvSpPr>
        <p:spPr>
          <a:xfrm>
            <a:off x="9597542" y="3456432"/>
            <a:ext cx="1905610" cy="493776"/>
          </a:xfrm>
          <a:prstGeom prst="roundRect">
            <a:avLst>
              <a:gd name="adj" fmla="val 9259"/>
            </a:avLst>
          </a:prstGeom>
          <a:solidFill>
            <a:srgbClr val="FFFFFF"/>
          </a:solidFill>
          <a:ln w="12700">
            <a:solidFill>
              <a:srgbClr val="FFFFFF"/>
            </a:solidFill>
            <a:prstDash val="solid"/>
          </a:ln>
        </p:spPr>
      </p:sp>
      <p:sp>
        <p:nvSpPr>
          <p:cNvPr id="161" name="text-157"/>
          <p:cNvSpPr txBox="1"/>
          <p:nvPr/>
        </p:nvSpPr>
        <p:spPr>
          <a:xfrm>
            <a:off x="9670694" y="3474720"/>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Replay from the bus after outages</a:t>
            </a:r>
            <a:endParaRPr lang="en-US" sz="1100" dirty="0"/>
          </a:p>
        </p:txBody>
      </p:sp>
      <p:sp>
        <p:nvSpPr>
          <p:cNvPr id="162" name="shape-158"/>
          <p:cNvSpPr/>
          <p:nvPr/>
        </p:nvSpPr>
        <p:spPr>
          <a:xfrm>
            <a:off x="11100816" y="3785616"/>
            <a:ext cx="164592" cy="128016"/>
          </a:xfrm>
          <a:prstGeom prst="roundRect">
            <a:avLst>
              <a:gd name="adj" fmla="val 50000"/>
            </a:avLst>
          </a:prstGeom>
          <a:solidFill>
            <a:srgbClr val="134E4A"/>
          </a:solidFill>
          <a:ln w="12700">
            <a:solidFill>
              <a:srgbClr val="134E4A"/>
            </a:solidFill>
            <a:prstDash val="solid"/>
          </a:ln>
        </p:spPr>
      </p:sp>
      <p:sp>
        <p:nvSpPr>
          <p:cNvPr id="163" name="text-159"/>
          <p:cNvSpPr txBox="1"/>
          <p:nvPr/>
        </p:nvSpPr>
        <p:spPr>
          <a:xfrm>
            <a:off x="11100816"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64" name="shape-160"/>
          <p:cNvSpPr/>
          <p:nvPr/>
        </p:nvSpPr>
        <p:spPr>
          <a:xfrm>
            <a:off x="11301984" y="3785616"/>
            <a:ext cx="164592" cy="128016"/>
          </a:xfrm>
          <a:prstGeom prst="roundRect">
            <a:avLst>
              <a:gd name="adj" fmla="val 50000"/>
            </a:avLst>
          </a:prstGeom>
          <a:solidFill>
            <a:srgbClr val="8A99A3"/>
          </a:solidFill>
          <a:ln w="12700">
            <a:solidFill>
              <a:srgbClr val="8A99A3"/>
            </a:solidFill>
            <a:prstDash val="solid"/>
          </a:ln>
        </p:spPr>
      </p:sp>
      <p:sp>
        <p:nvSpPr>
          <p:cNvPr id="165" name="text-161"/>
          <p:cNvSpPr txBox="1"/>
          <p:nvPr/>
        </p:nvSpPr>
        <p:spPr>
          <a:xfrm>
            <a:off x="11301984" y="3785616"/>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6" name="shape-162"/>
          <p:cNvSpPr/>
          <p:nvPr/>
        </p:nvSpPr>
        <p:spPr>
          <a:xfrm>
            <a:off x="9597542" y="4041648"/>
            <a:ext cx="1905610" cy="493776"/>
          </a:xfrm>
          <a:prstGeom prst="roundRect">
            <a:avLst>
              <a:gd name="adj" fmla="val 9259"/>
            </a:avLst>
          </a:prstGeom>
          <a:solidFill>
            <a:srgbClr val="FFFFFF"/>
          </a:solidFill>
          <a:ln w="12700">
            <a:solidFill>
              <a:srgbClr val="FFFFFF"/>
            </a:solidFill>
            <a:prstDash val="solid"/>
          </a:ln>
        </p:spPr>
      </p:sp>
      <p:sp>
        <p:nvSpPr>
          <p:cNvPr id="167" name="text-163"/>
          <p:cNvSpPr txBox="1"/>
          <p:nvPr/>
        </p:nvSpPr>
        <p:spPr>
          <a:xfrm>
            <a:off x="9670694" y="4059936"/>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Backups and restore drills for CRM, shop, finance</a:t>
            </a:r>
            <a:endParaRPr lang="en-US" sz="1100" dirty="0"/>
          </a:p>
        </p:txBody>
      </p:sp>
      <p:sp>
        <p:nvSpPr>
          <p:cNvPr id="168" name="shape-164"/>
          <p:cNvSpPr/>
          <p:nvPr/>
        </p:nvSpPr>
        <p:spPr>
          <a:xfrm>
            <a:off x="11100816" y="4370832"/>
            <a:ext cx="164592" cy="128016"/>
          </a:xfrm>
          <a:prstGeom prst="roundRect">
            <a:avLst>
              <a:gd name="adj" fmla="val 50000"/>
            </a:avLst>
          </a:prstGeom>
          <a:solidFill>
            <a:srgbClr val="134E4A"/>
          </a:solidFill>
          <a:ln w="12700">
            <a:solidFill>
              <a:srgbClr val="134E4A"/>
            </a:solidFill>
            <a:prstDash val="solid"/>
          </a:ln>
        </p:spPr>
      </p:sp>
      <p:sp>
        <p:nvSpPr>
          <p:cNvPr id="169" name="text-165"/>
          <p:cNvSpPr txBox="1"/>
          <p:nvPr/>
        </p:nvSpPr>
        <p:spPr>
          <a:xfrm>
            <a:off x="11100816"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70" name="shape-166"/>
          <p:cNvSpPr/>
          <p:nvPr/>
        </p:nvSpPr>
        <p:spPr>
          <a:xfrm>
            <a:off x="11301984" y="4370832"/>
            <a:ext cx="164592" cy="128016"/>
          </a:xfrm>
          <a:prstGeom prst="roundRect">
            <a:avLst>
              <a:gd name="adj" fmla="val 50000"/>
            </a:avLst>
          </a:prstGeom>
          <a:solidFill>
            <a:srgbClr val="8A99A3"/>
          </a:solidFill>
          <a:ln w="12700">
            <a:solidFill>
              <a:srgbClr val="8A99A3"/>
            </a:solidFill>
            <a:prstDash val="solid"/>
          </a:ln>
        </p:spPr>
      </p:sp>
      <p:sp>
        <p:nvSpPr>
          <p:cNvPr id="171" name="text-167"/>
          <p:cNvSpPr txBox="1"/>
          <p:nvPr/>
        </p:nvSpPr>
        <p:spPr>
          <a:xfrm>
            <a:off x="11301984" y="4370832"/>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72" name="shape-168"/>
          <p:cNvSpPr/>
          <p:nvPr/>
        </p:nvSpPr>
        <p:spPr>
          <a:xfrm>
            <a:off x="9597542" y="4626864"/>
            <a:ext cx="1905610" cy="493776"/>
          </a:xfrm>
          <a:prstGeom prst="roundRect">
            <a:avLst>
              <a:gd name="adj" fmla="val 9259"/>
            </a:avLst>
          </a:prstGeom>
          <a:solidFill>
            <a:srgbClr val="FFFFFF"/>
          </a:solidFill>
          <a:ln w="12700">
            <a:solidFill>
              <a:srgbClr val="FFFFFF"/>
            </a:solidFill>
            <a:prstDash val="solid"/>
          </a:ln>
        </p:spPr>
      </p:sp>
      <p:sp>
        <p:nvSpPr>
          <p:cNvPr id="173" name="text-169"/>
          <p:cNvSpPr txBox="1"/>
          <p:nvPr/>
        </p:nvSpPr>
        <p:spPr>
          <a:xfrm>
            <a:off x="9670694" y="4645152"/>
            <a:ext cx="1722730" cy="329184"/>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Audit trail: what changed, when, who</a:t>
            </a:r>
            <a:endParaRPr lang="en-US" sz="1100" dirty="0"/>
          </a:p>
        </p:txBody>
      </p:sp>
      <p:sp>
        <p:nvSpPr>
          <p:cNvPr id="174" name="shape-170"/>
          <p:cNvSpPr/>
          <p:nvPr/>
        </p:nvSpPr>
        <p:spPr>
          <a:xfrm>
            <a:off x="10899648" y="4956048"/>
            <a:ext cx="164592" cy="128016"/>
          </a:xfrm>
          <a:prstGeom prst="roundRect">
            <a:avLst>
              <a:gd name="adj" fmla="val 50000"/>
            </a:avLst>
          </a:prstGeom>
          <a:solidFill>
            <a:srgbClr val="134E4A"/>
          </a:solidFill>
          <a:ln w="12700">
            <a:solidFill>
              <a:srgbClr val="134E4A"/>
            </a:solidFill>
            <a:prstDash val="solid"/>
          </a:ln>
        </p:spPr>
      </p:sp>
      <p:sp>
        <p:nvSpPr>
          <p:cNvPr id="175" name="text-171"/>
          <p:cNvSpPr txBox="1"/>
          <p:nvPr/>
        </p:nvSpPr>
        <p:spPr>
          <a:xfrm>
            <a:off x="10899648"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76" name="shape-172"/>
          <p:cNvSpPr/>
          <p:nvPr/>
        </p:nvSpPr>
        <p:spPr>
          <a:xfrm>
            <a:off x="11100816" y="4956048"/>
            <a:ext cx="164592" cy="128016"/>
          </a:xfrm>
          <a:prstGeom prst="roundRect">
            <a:avLst>
              <a:gd name="adj" fmla="val 50000"/>
            </a:avLst>
          </a:prstGeom>
          <a:solidFill>
            <a:srgbClr val="0F766E"/>
          </a:solidFill>
          <a:ln w="12700">
            <a:solidFill>
              <a:srgbClr val="0F766E"/>
            </a:solidFill>
            <a:prstDash val="solid"/>
          </a:ln>
        </p:spPr>
      </p:sp>
      <p:sp>
        <p:nvSpPr>
          <p:cNvPr id="177" name="text-173"/>
          <p:cNvSpPr txBox="1"/>
          <p:nvPr/>
        </p:nvSpPr>
        <p:spPr>
          <a:xfrm>
            <a:off x="11100816"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78" name="shape-174"/>
          <p:cNvSpPr/>
          <p:nvPr/>
        </p:nvSpPr>
        <p:spPr>
          <a:xfrm>
            <a:off x="11301984" y="4956048"/>
            <a:ext cx="164592" cy="128016"/>
          </a:xfrm>
          <a:prstGeom prst="roundRect">
            <a:avLst>
              <a:gd name="adj" fmla="val 50000"/>
            </a:avLst>
          </a:prstGeom>
          <a:solidFill>
            <a:srgbClr val="8A99A3"/>
          </a:solidFill>
          <a:ln w="12700">
            <a:solidFill>
              <a:srgbClr val="8A99A3"/>
            </a:solidFill>
            <a:prstDash val="solid"/>
          </a:ln>
        </p:spPr>
      </p:sp>
      <p:sp>
        <p:nvSpPr>
          <p:cNvPr id="179" name="text-175"/>
          <p:cNvSpPr txBox="1"/>
          <p:nvPr/>
        </p:nvSpPr>
        <p:spPr>
          <a:xfrm>
            <a:off x="11301984" y="4956048"/>
            <a:ext cx="164592" cy="128016"/>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80" name="text-176"/>
          <p:cNvSpPr txBox="1"/>
          <p:nvPr/>
        </p:nvSpPr>
        <p:spPr>
          <a:xfrm>
            <a:off x="548640" y="5431536"/>
            <a:ext cx="11064240" cy="365760"/>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Badges show which tiers each mechanism applies to. The product (A) gets all of them; B and C get the proportionate set that avoids a slow week, not a lost minute; X carries the product’s mechanisms where it sits in the product’s path.</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5  ·  PUBLISHING AND ROLLBACK INSIDE THE PRODUCT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One publishing hub, regional nodes that serve alone, rollback by re-pointing</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2286000"/>
            <a:ext cx="2011680" cy="1371600"/>
          </a:xfrm>
          <a:prstGeom prst="roundRect">
            <a:avLst>
              <a:gd name="adj" fmla="val 6667"/>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713232" y="2432304"/>
            <a:ext cx="256032" cy="256032"/>
          </a:xfrm>
          <a:prstGeom prst="rect">
            <a:avLst/>
          </a:prstGeom>
        </p:spPr>
      </p:pic>
      <p:sp>
        <p:nvSpPr>
          <p:cNvPr id="8" name="text-4"/>
          <p:cNvSpPr txBox="1"/>
          <p:nvPr/>
        </p:nvSpPr>
        <p:spPr>
          <a:xfrm>
            <a:off x="1060704" y="2414016"/>
            <a:ext cx="1463040" cy="27432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Publishing hub</a:t>
            </a:r>
            <a:endParaRPr lang="en-US" sz="1500" dirty="0"/>
          </a:p>
        </p:txBody>
      </p:sp>
      <p:sp>
        <p:nvSpPr>
          <p:cNvPr id="9" name="text-5"/>
          <p:cNvSpPr txBox="1"/>
          <p:nvPr/>
        </p:nvSpPr>
        <p:spPr>
          <a:xfrm>
            <a:off x="713232" y="2798064"/>
            <a:ext cx="1828800" cy="182880"/>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authoring → review → approve</a:t>
            </a:r>
            <a:endParaRPr lang="en-US" sz="1100" dirty="0"/>
          </a:p>
        </p:txBody>
      </p:sp>
      <p:sp>
        <p:nvSpPr>
          <p:cNvPr id="10" name="text-6"/>
          <p:cNvSpPr txBox="1"/>
          <p:nvPr/>
        </p:nvSpPr>
        <p:spPr>
          <a:xfrm>
            <a:off x="713232" y="2980944"/>
            <a:ext cx="1828800" cy="182880"/>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build → test evidence → sign</a:t>
            </a:r>
            <a:endParaRPr lang="en-US" sz="1100" dirty="0"/>
          </a:p>
        </p:txBody>
      </p:sp>
      <p:sp>
        <p:nvSpPr>
          <p:cNvPr id="11" name="shape-7"/>
          <p:cNvSpPr/>
          <p:nvPr/>
        </p:nvSpPr>
        <p:spPr>
          <a:xfrm>
            <a:off x="713232" y="3255264"/>
            <a:ext cx="1682496" cy="237744"/>
          </a:xfrm>
          <a:prstGeom prst="roundRect">
            <a:avLst>
              <a:gd name="adj" fmla="val 15385"/>
            </a:avLst>
          </a:prstGeom>
          <a:solidFill>
            <a:srgbClr val="0F766E"/>
          </a:solidFill>
          <a:ln w="12700">
            <a:solidFill>
              <a:srgbClr val="0F766E"/>
            </a:solidFill>
            <a:prstDash val="solid"/>
          </a:ln>
        </p:spPr>
      </p:sp>
      <p:sp>
        <p:nvSpPr>
          <p:cNvPr id="12" name="text-8"/>
          <p:cNvSpPr txBox="1"/>
          <p:nvPr/>
        </p:nvSpPr>
        <p:spPr>
          <a:xfrm>
            <a:off x="713232" y="3255264"/>
            <a:ext cx="1682496" cy="23774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release manifest {content vN, code vN}</a:t>
            </a:r>
            <a:endParaRPr lang="en-US" sz="1100" dirty="0"/>
          </a:p>
        </p:txBody>
      </p:sp>
      <p:sp>
        <p:nvSpPr>
          <p:cNvPr id="13" name="shape-9"/>
          <p:cNvSpPr/>
          <p:nvPr/>
        </p:nvSpPr>
        <p:spPr>
          <a:xfrm>
            <a:off x="3383280" y="2286000"/>
            <a:ext cx="1554480" cy="1371600"/>
          </a:xfrm>
          <a:prstGeom prst="roundRect">
            <a:avLst>
              <a:gd name="adj" fmla="val 6667"/>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547872" y="2450592"/>
            <a:ext cx="237744" cy="237744"/>
          </a:xfrm>
          <a:prstGeom prst="rect">
            <a:avLst/>
          </a:prstGeom>
        </p:spPr>
      </p:pic>
      <p:sp>
        <p:nvSpPr>
          <p:cNvPr id="15" name="text-11"/>
          <p:cNvSpPr txBox="1"/>
          <p:nvPr/>
        </p:nvSpPr>
        <p:spPr>
          <a:xfrm>
            <a:off x="3858768" y="2432304"/>
            <a:ext cx="1005840" cy="27432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Event log</a:t>
            </a:r>
            <a:endParaRPr lang="en-US" sz="1350" dirty="0"/>
          </a:p>
        </p:txBody>
      </p:sp>
      <p:sp>
        <p:nvSpPr>
          <p:cNvPr id="16" name="text-12"/>
          <p:cNvSpPr txBox="1"/>
          <p:nvPr/>
        </p:nvSpPr>
        <p:spPr>
          <a:xfrm>
            <a:off x="3511296" y="279806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as proposed: the bus</a:t>
            </a:r>
            <a:endParaRPr lang="en-US" sz="1100" dirty="0"/>
          </a:p>
        </p:txBody>
      </p:sp>
      <p:sp>
        <p:nvSpPr>
          <p:cNvPr id="17" name="text-13"/>
          <p:cNvSpPr txBox="1"/>
          <p:nvPr/>
        </p:nvSpPr>
        <p:spPr>
          <a:xfrm>
            <a:off x="3511296" y="298094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immutable, ordered,</a:t>
            </a:r>
            <a:endParaRPr lang="en-US" sz="1100" dirty="0"/>
          </a:p>
        </p:txBody>
      </p:sp>
      <p:sp>
        <p:nvSpPr>
          <p:cNvPr id="18" name="text-14"/>
          <p:cNvSpPr txBox="1"/>
          <p:nvPr/>
        </p:nvSpPr>
        <p:spPr>
          <a:xfrm>
            <a:off x="3511296" y="316382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retained, replayable</a:t>
            </a:r>
            <a:endParaRPr lang="en-US" sz="1100" dirty="0"/>
          </a:p>
        </p:txBody>
      </p:sp>
      <p:sp>
        <p:nvSpPr>
          <p:cNvPr id="19" name="text-15"/>
          <p:cNvSpPr txBox="1"/>
          <p:nvPr/>
        </p:nvSpPr>
        <p:spPr>
          <a:xfrm>
            <a:off x="3511296" y="334670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fan-out to every node</a:t>
            </a:r>
            <a:endParaRPr lang="en-US" sz="1100" dirty="0"/>
          </a:p>
        </p:txBody>
      </p:sp>
      <p:sp>
        <p:nvSpPr>
          <p:cNvPr id="20" name="line-16"/>
          <p:cNvSpPr/>
          <p:nvPr/>
        </p:nvSpPr>
        <p:spPr>
          <a:xfrm>
            <a:off x="2560320" y="2971800"/>
            <a:ext cx="768096" cy="0"/>
          </a:xfrm>
          <a:prstGeom prst="line">
            <a:avLst/>
          </a:prstGeom>
          <a:noFill/>
          <a:ln w="31750">
            <a:solidFill>
              <a:srgbClr val="134E4A"/>
            </a:solidFill>
            <a:prstDash val="solid"/>
            <a:tailEnd type="triangle"/>
          </a:ln>
        </p:spPr>
      </p:sp>
      <p:sp>
        <p:nvSpPr>
          <p:cNvPr id="21" name="text-17"/>
          <p:cNvSpPr txBox="1"/>
          <p:nvPr/>
        </p:nvSpPr>
        <p:spPr>
          <a:xfrm>
            <a:off x="2560320" y="2743200"/>
            <a:ext cx="822960" cy="164592"/>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publish</a:t>
            </a:r>
            <a:endParaRPr lang="en-US" sz="1100" dirty="0"/>
          </a:p>
        </p:txBody>
      </p:sp>
      <p:sp>
        <p:nvSpPr>
          <p:cNvPr id="22" name="shape-18"/>
          <p:cNvSpPr/>
          <p:nvPr/>
        </p:nvSpPr>
        <p:spPr>
          <a:xfrm>
            <a:off x="5303520" y="1408176"/>
            <a:ext cx="2286000" cy="950976"/>
          </a:xfrm>
          <a:prstGeom prst="roundRect">
            <a:avLst>
              <a:gd name="adj" fmla="val 9615"/>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449824" y="1536192"/>
            <a:ext cx="237744" cy="237744"/>
          </a:xfrm>
          <a:prstGeom prst="rect">
            <a:avLst/>
          </a:prstGeom>
        </p:spPr>
      </p:pic>
      <p:sp>
        <p:nvSpPr>
          <p:cNvPr id="24" name="text-20"/>
          <p:cNvSpPr txBox="1"/>
          <p:nvPr/>
        </p:nvSpPr>
        <p:spPr>
          <a:xfrm>
            <a:off x="5760720" y="1517904"/>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Region 1</a:t>
            </a:r>
            <a:endParaRPr lang="en-US" sz="1350" dirty="0"/>
          </a:p>
        </p:txBody>
      </p:sp>
      <p:sp>
        <p:nvSpPr>
          <p:cNvPr id="25" name="text-21"/>
          <p:cNvSpPr txBox="1"/>
          <p:nvPr/>
        </p:nvSpPr>
        <p:spPr>
          <a:xfrm>
            <a:off x="5449824" y="1810512"/>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primary for its users</a:t>
            </a:r>
            <a:endParaRPr lang="en-US" sz="1100" dirty="0"/>
          </a:p>
        </p:txBody>
      </p:sp>
      <p:sp>
        <p:nvSpPr>
          <p:cNvPr id="26" name="text-22"/>
          <p:cNvSpPr txBox="1"/>
          <p:nvPr/>
        </p:nvSpPr>
        <p:spPr>
          <a:xfrm>
            <a:off x="5449824" y="1993392"/>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content vN · app · entitlement cache</a:t>
            </a:r>
            <a:endParaRPr lang="en-US" sz="1100" dirty="0"/>
          </a:p>
        </p:txBody>
      </p:sp>
      <p:sp>
        <p:nvSpPr>
          <p:cNvPr id="27" name="text-23"/>
          <p:cNvSpPr txBox="1"/>
          <p:nvPr/>
        </p:nvSpPr>
        <p:spPr>
          <a:xfrm>
            <a:off x="5449824" y="2157984"/>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serves alone if the hub is down</a:t>
            </a:r>
            <a:endParaRPr lang="en-US" sz="1100" dirty="0"/>
          </a:p>
        </p:txBody>
      </p:sp>
      <p:sp>
        <p:nvSpPr>
          <p:cNvPr id="28" name="line-24"/>
          <p:cNvSpPr/>
          <p:nvPr/>
        </p:nvSpPr>
        <p:spPr>
          <a:xfrm flipV="1">
            <a:off x="4937760" y="1883664"/>
            <a:ext cx="310896" cy="676656"/>
          </a:xfrm>
          <a:prstGeom prst="line">
            <a:avLst/>
          </a:prstGeom>
          <a:noFill/>
          <a:ln w="19050">
            <a:solidFill>
              <a:srgbClr val="B45309"/>
            </a:solidFill>
            <a:prstDash val="sysDash"/>
            <a:tailEnd type="triangle"/>
          </a:ln>
        </p:spPr>
      </p:sp>
      <p:sp>
        <p:nvSpPr>
          <p:cNvPr id="29" name="shape-25"/>
          <p:cNvSpPr/>
          <p:nvPr/>
        </p:nvSpPr>
        <p:spPr>
          <a:xfrm>
            <a:off x="5303520" y="2487168"/>
            <a:ext cx="2286000" cy="950976"/>
          </a:xfrm>
          <a:prstGeom prst="roundRect">
            <a:avLst>
              <a:gd name="adj" fmla="val 9615"/>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449824" y="2615184"/>
            <a:ext cx="237744" cy="237744"/>
          </a:xfrm>
          <a:prstGeom prst="rect">
            <a:avLst/>
          </a:prstGeom>
        </p:spPr>
      </p:pic>
      <p:sp>
        <p:nvSpPr>
          <p:cNvPr id="31" name="text-27"/>
          <p:cNvSpPr txBox="1"/>
          <p:nvPr/>
        </p:nvSpPr>
        <p:spPr>
          <a:xfrm>
            <a:off x="5760720" y="2596896"/>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Region 2</a:t>
            </a:r>
            <a:endParaRPr lang="en-US" sz="1350" dirty="0"/>
          </a:p>
        </p:txBody>
      </p:sp>
      <p:sp>
        <p:nvSpPr>
          <p:cNvPr id="32" name="text-28"/>
          <p:cNvSpPr txBox="1"/>
          <p:nvPr/>
        </p:nvSpPr>
        <p:spPr>
          <a:xfrm>
            <a:off x="5449824" y="2889504"/>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primary for its users</a:t>
            </a:r>
            <a:endParaRPr lang="en-US" sz="1100" dirty="0"/>
          </a:p>
        </p:txBody>
      </p:sp>
      <p:sp>
        <p:nvSpPr>
          <p:cNvPr id="33" name="text-29"/>
          <p:cNvSpPr txBox="1"/>
          <p:nvPr/>
        </p:nvSpPr>
        <p:spPr>
          <a:xfrm>
            <a:off x="5449824" y="3072384"/>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content vN · app · entitlement cache</a:t>
            </a:r>
            <a:endParaRPr lang="en-US" sz="1100" dirty="0"/>
          </a:p>
        </p:txBody>
      </p:sp>
      <p:sp>
        <p:nvSpPr>
          <p:cNvPr id="34" name="text-30"/>
          <p:cNvSpPr txBox="1"/>
          <p:nvPr/>
        </p:nvSpPr>
        <p:spPr>
          <a:xfrm>
            <a:off x="5449824" y="3236976"/>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serves alone if the hub is down</a:t>
            </a:r>
            <a:endParaRPr lang="en-US" sz="1100" dirty="0"/>
          </a:p>
        </p:txBody>
      </p:sp>
      <p:sp>
        <p:nvSpPr>
          <p:cNvPr id="35" name="line-31"/>
          <p:cNvSpPr/>
          <p:nvPr/>
        </p:nvSpPr>
        <p:spPr>
          <a:xfrm flipV="1">
            <a:off x="4937760" y="2962656"/>
            <a:ext cx="310896" cy="9144"/>
          </a:xfrm>
          <a:prstGeom prst="line">
            <a:avLst/>
          </a:prstGeom>
          <a:noFill/>
          <a:ln w="19050">
            <a:solidFill>
              <a:srgbClr val="B45309"/>
            </a:solidFill>
            <a:prstDash val="sysDash"/>
            <a:tailEnd type="triangle"/>
          </a:ln>
        </p:spPr>
      </p:sp>
      <p:sp>
        <p:nvSpPr>
          <p:cNvPr id="36" name="shape-32"/>
          <p:cNvSpPr/>
          <p:nvPr/>
        </p:nvSpPr>
        <p:spPr>
          <a:xfrm>
            <a:off x="5303520" y="3566160"/>
            <a:ext cx="2286000" cy="950976"/>
          </a:xfrm>
          <a:prstGeom prst="roundRect">
            <a:avLst>
              <a:gd name="adj" fmla="val 9615"/>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449824" y="3694176"/>
            <a:ext cx="237744" cy="237744"/>
          </a:xfrm>
          <a:prstGeom prst="rect">
            <a:avLst/>
          </a:prstGeom>
        </p:spPr>
      </p:pic>
      <p:sp>
        <p:nvSpPr>
          <p:cNvPr id="38" name="text-34"/>
          <p:cNvSpPr txBox="1"/>
          <p:nvPr/>
        </p:nvSpPr>
        <p:spPr>
          <a:xfrm>
            <a:off x="5760720" y="3675888"/>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Region 3</a:t>
            </a:r>
            <a:endParaRPr lang="en-US" sz="1350" dirty="0"/>
          </a:p>
        </p:txBody>
      </p:sp>
      <p:sp>
        <p:nvSpPr>
          <p:cNvPr id="39" name="text-35"/>
          <p:cNvSpPr txBox="1"/>
          <p:nvPr/>
        </p:nvSpPr>
        <p:spPr>
          <a:xfrm>
            <a:off x="5449824" y="3968496"/>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standby; rebuilt from the log</a:t>
            </a:r>
            <a:endParaRPr lang="en-US" sz="1100" dirty="0"/>
          </a:p>
        </p:txBody>
      </p:sp>
      <p:sp>
        <p:nvSpPr>
          <p:cNvPr id="40" name="text-36"/>
          <p:cNvSpPr txBox="1"/>
          <p:nvPr/>
        </p:nvSpPr>
        <p:spPr>
          <a:xfrm>
            <a:off x="5449824" y="4151376"/>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vN · app · entitlement cache</a:t>
            </a:r>
            <a:endParaRPr lang="en-US" sz="1100" dirty="0"/>
          </a:p>
        </p:txBody>
      </p:sp>
      <p:sp>
        <p:nvSpPr>
          <p:cNvPr id="41" name="text-37"/>
          <p:cNvSpPr txBox="1"/>
          <p:nvPr/>
        </p:nvSpPr>
        <p:spPr>
          <a:xfrm>
            <a:off x="5449824" y="4315968"/>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serves alone if the hub is down</a:t>
            </a:r>
            <a:endParaRPr lang="en-US" sz="1100" dirty="0"/>
          </a:p>
        </p:txBody>
      </p:sp>
      <p:sp>
        <p:nvSpPr>
          <p:cNvPr id="42" name="line-38"/>
          <p:cNvSpPr/>
          <p:nvPr/>
        </p:nvSpPr>
        <p:spPr>
          <a:xfrm>
            <a:off x="4937760" y="3383280"/>
            <a:ext cx="310896" cy="658368"/>
          </a:xfrm>
          <a:prstGeom prst="line">
            <a:avLst/>
          </a:prstGeom>
          <a:noFill/>
          <a:ln w="19050">
            <a:solidFill>
              <a:srgbClr val="B45309"/>
            </a:solidFill>
            <a:prstDash val="sysDash"/>
            <a:tailEnd type="triangle"/>
          </a:ln>
        </p:spPr>
      </p:sp>
      <p:sp>
        <p:nvSpPr>
          <p:cNvPr id="43" name="text-39"/>
          <p:cNvSpPr txBox="1"/>
          <p:nvPr/>
        </p:nvSpPr>
        <p:spPr>
          <a:xfrm>
            <a:off x="5303520" y="4572000"/>
            <a:ext cx="2286000" cy="164592"/>
          </a:xfrm>
          <a:prstGeom prst="rect">
            <a:avLst/>
          </a:prstGeom>
          <a:noFill/>
          <a:ln/>
        </p:spPr>
        <p:txBody>
          <a:bodyPr wrap="square" lIns="0" tIns="0" rIns="0" bIns="0" rtlCol="0" anchor="ctr"/>
          <a:lstStyle/>
          <a:p>
            <a:pPr algn="ctr"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nodes are backups for each other</a:t>
            </a:r>
            <a:endParaRPr lang="en-US" sz="1100" dirty="0"/>
          </a:p>
        </p:txBody>
      </p:sp>
      <p:sp>
        <p:nvSpPr>
          <p:cNvPr id="44" name="shape-40"/>
          <p:cNvSpPr/>
          <p:nvPr/>
        </p:nvSpPr>
        <p:spPr>
          <a:xfrm>
            <a:off x="8595360" y="1645920"/>
            <a:ext cx="1280160" cy="2651760"/>
          </a:xfrm>
          <a:prstGeom prst="roundRect">
            <a:avLst>
              <a:gd name="adj" fmla="val 7143"/>
            </a:avLst>
          </a:prstGeom>
          <a:solidFill>
            <a:srgbClr val="EEF2F4"/>
          </a:solidFill>
          <a:ln w="12700">
            <a:solidFill>
              <a:srgbClr val="EEF2F4"/>
            </a:solidFill>
            <a:prstDash val="solid"/>
          </a:ln>
        </p:spPr>
      </p:sp>
      <p:sp>
        <p:nvSpPr>
          <p:cNvPr id="45" name="text-41"/>
          <p:cNvSpPr txBox="1"/>
          <p:nvPr/>
        </p:nvSpPr>
        <p:spPr>
          <a:xfrm>
            <a:off x="8595360" y="1810512"/>
            <a:ext cx="1280160" cy="201168"/>
          </a:xfrm>
          <a:prstGeom prst="rect">
            <a:avLst/>
          </a:prstGeom>
          <a:noFill/>
          <a:ln/>
        </p:spPr>
        <p:txBody>
          <a:bodyPr wrap="square" lIns="0" tIns="0" rIns="0" bIns="0" rtlCol="0" anchor="ctr"/>
          <a:lstStyle/>
          <a:p>
            <a:pPr algn="ctr" indent="0" marL="0">
              <a:lnSpc>
                <a:spcPct val="100000"/>
              </a:lnSpc>
              <a:buNone/>
            </a:pPr>
            <a:r>
              <a:rPr lang="en-US" sz="1150" b="1" dirty="0">
                <a:solidFill>
                  <a:srgbClr val="1C2B33"/>
                </a:solidFill>
                <a:latin typeface="Calibri" pitchFamily="34" charset="0"/>
                <a:ea typeface="Calibri" pitchFamily="34" charset="-122"/>
                <a:cs typeface="Calibri" pitchFamily="34" charset="-120"/>
              </a:rPr>
              <a:t>Multi-CDN edge</a:t>
            </a:r>
            <a:endParaRPr lang="en-US" sz="1150" dirty="0"/>
          </a:p>
        </p:txBody>
      </p:sp>
      <p:sp>
        <p:nvSpPr>
          <p:cNvPr id="46" name="text-42"/>
          <p:cNvSpPr txBox="1"/>
          <p:nvPr/>
        </p:nvSpPr>
        <p:spPr>
          <a:xfrm>
            <a:off x="8686800" y="2084832"/>
            <a:ext cx="1097280" cy="1371600"/>
          </a:xfrm>
          <a:prstGeom prst="rect">
            <a:avLst/>
          </a:prstGeom>
          <a:noFill/>
          <a:ln/>
        </p:spPr>
        <p:txBody>
          <a:bodyPr wrap="square" lIns="0" tIns="0" rIns="0" bIns="0" rtlCol="0" anchor="t"/>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published content cached at the edge</a:t>
            </a:r>
            <a:endParaRPr lang="en-US" sz="1100" dirty="0"/>
          </a:p>
          <a:p>
            <a:pPr algn="ctr" indent="0" marL="0">
              <a:lnSpc>
                <a:spcPct val="100000"/>
              </a:lnSpc>
              <a:buNone/>
            </a:pPr>
            <a:endParaRPr lang="en-US" sz="1100" dirty="0"/>
          </a:p>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1100" dirty="0"/>
          </a:p>
        </p:txBody>
      </p:sp>
      <p:pic>
        <p:nvPicPr>
          <p:cNvPr id="47" name="icon-43" descr="preencoded.png">    </p:cNvPr>
          <p:cNvPicPr>
            <a:picLocks noChangeAspect="1"/>
          </p:cNvPicPr>
          <p:nvPr/>
        </p:nvPicPr>
        <p:blipFill>
          <a:blip r:embed="rId6"/>
          <a:stretch>
            <a:fillRect/>
          </a:stretch>
        </p:blipFill>
        <p:spPr>
          <a:xfrm>
            <a:off x="9107424" y="3767328"/>
            <a:ext cx="256032" cy="256032"/>
          </a:xfrm>
          <a:prstGeom prst="rect">
            <a:avLst/>
          </a:prstGeom>
        </p:spPr>
      </p:pic>
      <p:sp>
        <p:nvSpPr>
          <p:cNvPr id="48" name="line-44"/>
          <p:cNvSpPr/>
          <p:nvPr/>
        </p:nvSpPr>
        <p:spPr>
          <a:xfrm>
            <a:off x="7589520" y="1883664"/>
            <a:ext cx="1005840" cy="1088136"/>
          </a:xfrm>
          <a:prstGeom prst="line">
            <a:avLst/>
          </a:prstGeom>
          <a:noFill/>
          <a:ln w="25400">
            <a:solidFill>
              <a:srgbClr val="0F766E"/>
            </a:solidFill>
            <a:prstDash val="solid"/>
          </a:ln>
        </p:spPr>
      </p:sp>
      <p:sp>
        <p:nvSpPr>
          <p:cNvPr id="49" name="line-45"/>
          <p:cNvSpPr/>
          <p:nvPr/>
        </p:nvSpPr>
        <p:spPr>
          <a:xfrm>
            <a:off x="7589520" y="2962656"/>
            <a:ext cx="1005840" cy="9144"/>
          </a:xfrm>
          <a:prstGeom prst="line">
            <a:avLst/>
          </a:prstGeom>
          <a:noFill/>
          <a:ln w="25400">
            <a:solidFill>
              <a:srgbClr val="0F766E"/>
            </a:solidFill>
            <a:prstDash val="solid"/>
          </a:ln>
        </p:spPr>
      </p:sp>
      <p:sp>
        <p:nvSpPr>
          <p:cNvPr id="50" name="line-46"/>
          <p:cNvSpPr/>
          <p:nvPr/>
        </p:nvSpPr>
        <p:spPr>
          <a:xfrm flipV="1">
            <a:off x="7589520" y="2971800"/>
            <a:ext cx="1005840" cy="1069848"/>
          </a:xfrm>
          <a:prstGeom prst="line">
            <a:avLst/>
          </a:prstGeom>
          <a:noFill/>
          <a:ln w="25400">
            <a:solidFill>
              <a:srgbClr val="0F766E"/>
            </a:solidFill>
            <a:prstDash val="solid"/>
          </a:ln>
        </p:spPr>
      </p:sp>
      <p:sp>
        <p:nvSpPr>
          <p:cNvPr id="51" name="oval-47"/>
          <p:cNvSpPr/>
          <p:nvPr/>
        </p:nvSpPr>
        <p:spPr>
          <a:xfrm>
            <a:off x="10195560" y="2606040"/>
            <a:ext cx="731520" cy="731520"/>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415016" y="2825496"/>
            <a:ext cx="292608" cy="292608"/>
          </a:xfrm>
          <a:prstGeom prst="rect">
            <a:avLst/>
          </a:prstGeom>
        </p:spPr>
      </p:pic>
      <p:sp>
        <p:nvSpPr>
          <p:cNvPr id="53" name="text-49"/>
          <p:cNvSpPr txBox="1"/>
          <p:nvPr/>
        </p:nvSpPr>
        <p:spPr>
          <a:xfrm>
            <a:off x="9464040" y="3419856"/>
            <a:ext cx="2194560" cy="402336"/>
          </a:xfrm>
          <a:prstGeom prst="rect">
            <a:avLst/>
          </a:prstGeom>
          <a:noFill/>
          <a:ln/>
        </p:spPr>
        <p:txBody>
          <a:bodyPr wrap="square" lIns="0" tIns="0" rIns="0" bIns="0" rtlCol="0" anchor="t"/>
          <a:lstStyle/>
          <a:p>
            <a:pPr algn="ctr" indent="0" marL="0">
              <a:lnSpc>
                <a:spcPct val="100000"/>
              </a:lnSpc>
              <a:buNone/>
            </a:pPr>
            <a:r>
              <a:rPr lang="en-US" sz="1100" dirty="0">
                <a:solidFill>
                  <a:srgbClr val="1C2B33"/>
                </a:solidFill>
                <a:latin typeface="Calibri" pitchFamily="34" charset="0"/>
                <a:ea typeface="Calibri" pitchFamily="34" charset="-122"/>
                <a:cs typeface="Calibri" pitchFamily="34" charset="-120"/>
              </a:rPr>
              <a:t>clinicians, institutions,</a:t>
            </a:r>
            <a:endParaRPr lang="en-US" sz="1100" dirty="0"/>
          </a:p>
          <a:p>
            <a:pPr algn="ctr" indent="0" marL="0">
              <a:lnSpc>
                <a:spcPct val="100000"/>
              </a:lnSpc>
              <a:buNone/>
            </a:pPr>
            <a:r>
              <a:rPr lang="en-US" sz="1100" dirty="0">
                <a:solidFill>
                  <a:srgbClr val="1C2B33"/>
                </a:solidFill>
                <a:latin typeface="Calibri" pitchFamily="34" charset="0"/>
                <a:ea typeface="Calibri" pitchFamily="34" charset="-122"/>
                <a:cs typeface="Calibri" pitchFamily="34" charset="-120"/>
              </a:rPr>
              <a:t>third-party systems</a:t>
            </a:r>
            <a:endParaRPr lang="en-US" sz="1100" dirty="0"/>
          </a:p>
        </p:txBody>
      </p:sp>
      <p:sp>
        <p:nvSpPr>
          <p:cNvPr id="54" name="line-50"/>
          <p:cNvSpPr/>
          <p:nvPr/>
        </p:nvSpPr>
        <p:spPr>
          <a:xfrm>
            <a:off x="9875520" y="2971800"/>
            <a:ext cx="301752" cy="0"/>
          </a:xfrm>
          <a:prstGeom prst="line">
            <a:avLst/>
          </a:prstGeom>
          <a:noFill/>
          <a:ln w="31750">
            <a:solidFill>
              <a:srgbClr val="134E4A"/>
            </a:solidFill>
            <a:prstDash val="solid"/>
          </a:ln>
        </p:spPr>
      </p:sp>
      <p:sp>
        <p:nvSpPr>
          <p:cNvPr id="55" name="shape-51"/>
          <p:cNvSpPr/>
          <p:nvPr/>
        </p:nvSpPr>
        <p:spPr>
          <a:xfrm>
            <a:off x="548640" y="4718304"/>
            <a:ext cx="5394960" cy="1755648"/>
          </a:xfrm>
          <a:prstGeom prst="roundRect">
            <a:avLst>
              <a:gd name="adj" fmla="val 4167"/>
            </a:avLst>
          </a:prstGeom>
          <a:solidFill>
            <a:srgbClr val="EEF2F4"/>
          </a:solidFill>
          <a:ln w="12700">
            <a:solidFill>
              <a:srgbClr val="EEF2F4"/>
            </a:solidFill>
            <a:prstDash val="solid"/>
          </a:ln>
        </p:spPr>
      </p:sp>
      <p:sp>
        <p:nvSpPr>
          <p:cNvPr id="56" name="text-52"/>
          <p:cNvSpPr txBox="1"/>
          <p:nvPr/>
        </p:nvSpPr>
        <p:spPr>
          <a:xfrm>
            <a:off x="749808" y="4864608"/>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ROLLBACK IN THIS WORLD</a:t>
            </a:r>
            <a:endParaRPr lang="en-US" sz="1100" dirty="0"/>
          </a:p>
        </p:txBody>
      </p:sp>
      <p:sp>
        <p:nvSpPr>
          <p:cNvPr id="57" name="oval-53"/>
          <p:cNvSpPr/>
          <p:nvPr/>
        </p:nvSpPr>
        <p:spPr>
          <a:xfrm>
            <a:off x="768096" y="5285232"/>
            <a:ext cx="73152" cy="73152"/>
          </a:xfrm>
          <a:prstGeom prst="ellipse">
            <a:avLst/>
          </a:prstGeom>
          <a:solidFill>
            <a:srgbClr val="0F766E"/>
          </a:solidFill>
          <a:ln w="12700">
            <a:solidFill>
              <a:srgbClr val="0F766E"/>
            </a:solidFill>
            <a:prstDash val="solid"/>
          </a:ln>
        </p:spPr>
      </p:sp>
      <p:sp>
        <p:nvSpPr>
          <p:cNvPr id="58" name="text-54"/>
          <p:cNvSpPr txBox="1"/>
          <p:nvPr/>
        </p:nvSpPr>
        <p:spPr>
          <a:xfrm>
            <a:off x="932688" y="5193792"/>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Rolling back is re-pointing to vN-1 — seconds, no redeploy</a:t>
            </a:r>
            <a:endParaRPr lang="en-US" sz="1150" dirty="0"/>
          </a:p>
        </p:txBody>
      </p:sp>
      <p:sp>
        <p:nvSpPr>
          <p:cNvPr id="59" name="oval-55"/>
          <p:cNvSpPr/>
          <p:nvPr/>
        </p:nvSpPr>
        <p:spPr>
          <a:xfrm>
            <a:off x="768096" y="5559552"/>
            <a:ext cx="73152" cy="73152"/>
          </a:xfrm>
          <a:prstGeom prst="ellipse">
            <a:avLst/>
          </a:prstGeom>
          <a:solidFill>
            <a:srgbClr val="0F766E"/>
          </a:solidFill>
          <a:ln w="12700">
            <a:solidFill>
              <a:srgbClr val="0F766E"/>
            </a:solidFill>
            <a:prstDash val="solid"/>
          </a:ln>
        </p:spPr>
      </p:sp>
      <p:sp>
        <p:nvSpPr>
          <p:cNvPr id="60" name="text-56"/>
          <p:cNvSpPr txBox="1"/>
          <p:nvPr/>
        </p:nvSpPr>
        <p:spPr>
          <a:xfrm>
            <a:off x="932688" y="5468112"/>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Content and code roll back together: the manifest binds them</a:t>
            </a:r>
            <a:endParaRPr lang="en-US" sz="1150" dirty="0"/>
          </a:p>
        </p:txBody>
      </p:sp>
      <p:sp>
        <p:nvSpPr>
          <p:cNvPr id="61" name="oval-57"/>
          <p:cNvSpPr/>
          <p:nvPr/>
        </p:nvSpPr>
        <p:spPr>
          <a:xfrm>
            <a:off x="768096" y="5833872"/>
            <a:ext cx="73152" cy="73152"/>
          </a:xfrm>
          <a:prstGeom prst="ellipse">
            <a:avLst/>
          </a:prstGeom>
          <a:solidFill>
            <a:srgbClr val="0F766E"/>
          </a:solidFill>
          <a:ln w="12700">
            <a:solidFill>
              <a:srgbClr val="0F766E"/>
            </a:solidFill>
            <a:prstDash val="solid"/>
          </a:ln>
        </p:spPr>
      </p:sp>
      <p:sp>
        <p:nvSpPr>
          <p:cNvPr id="62" name="text-58"/>
          <p:cNvSpPr txBox="1"/>
          <p:nvPr/>
        </p:nvSpPr>
        <p:spPr>
          <a:xfrm>
            <a:off x="932688" y="5742432"/>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A lost node is rebuilt by replaying the log — no restore from backup</a:t>
            </a:r>
            <a:endParaRPr lang="en-US" sz="1150" dirty="0"/>
          </a:p>
        </p:txBody>
      </p:sp>
      <p:sp>
        <p:nvSpPr>
          <p:cNvPr id="63" name="oval-59"/>
          <p:cNvSpPr/>
          <p:nvPr/>
        </p:nvSpPr>
        <p:spPr>
          <a:xfrm>
            <a:off x="768096" y="6108192"/>
            <a:ext cx="73152" cy="73152"/>
          </a:xfrm>
          <a:prstGeom prst="ellipse">
            <a:avLst/>
          </a:prstGeom>
          <a:solidFill>
            <a:srgbClr val="0F766E"/>
          </a:solidFill>
          <a:ln w="12700">
            <a:solidFill>
              <a:srgbClr val="0F766E"/>
            </a:solidFill>
            <a:prstDash val="solid"/>
          </a:ln>
        </p:spPr>
      </p:sp>
      <p:sp>
        <p:nvSpPr>
          <p:cNvPr id="64" name="text-60"/>
          <p:cNvSpPr txBox="1"/>
          <p:nvPr/>
        </p:nvSpPr>
        <p:spPr>
          <a:xfrm>
            <a:off x="932688" y="6016752"/>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Canary: publish to one node or cohort, watch the SLO, then fan out</a:t>
            </a:r>
            <a:endParaRPr lang="en-US" sz="1150" dirty="0"/>
          </a:p>
        </p:txBody>
      </p:sp>
      <p:sp>
        <p:nvSpPr>
          <p:cNvPr id="65" name="shape-61"/>
          <p:cNvSpPr/>
          <p:nvPr/>
        </p:nvSpPr>
        <p:spPr>
          <a:xfrm>
            <a:off x="6126480" y="4718304"/>
            <a:ext cx="5486400" cy="1755648"/>
          </a:xfrm>
          <a:prstGeom prst="roundRect">
            <a:avLst>
              <a:gd name="adj" fmla="val 4167"/>
            </a:avLst>
          </a:prstGeom>
          <a:solidFill>
            <a:srgbClr val="FDF1E3"/>
          </a:solidFill>
          <a:ln w="12700">
            <a:solidFill>
              <a:srgbClr val="FDF1E3"/>
            </a:solidFill>
            <a:prstDash val="solid"/>
          </a:ln>
        </p:spPr>
      </p:sp>
      <p:sp>
        <p:nvSpPr>
          <p:cNvPr id="66" name="text-62"/>
          <p:cNvSpPr txBox="1"/>
          <p:nvPr/>
        </p:nvSpPr>
        <p:spPr>
          <a:xfrm>
            <a:off x="6327648" y="4864608"/>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OTHER CONSIDERATIONS — TO EVALUATE, NOT CHANGES</a:t>
            </a:r>
            <a:endParaRPr lang="en-US" sz="1100" dirty="0"/>
          </a:p>
        </p:txBody>
      </p:sp>
      <p:sp>
        <p:nvSpPr>
          <p:cNvPr id="67" name="text-63"/>
          <p:cNvSpPr txBox="1"/>
          <p:nvPr/>
        </p:nvSpPr>
        <p:spPr>
          <a:xfrm>
            <a:off x="6327648" y="51572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backbone: replay and ordering</a:t>
            </a:r>
            <a:endParaRPr lang="en-US" sz="1100" dirty="0"/>
          </a:p>
        </p:txBody>
      </p:sp>
      <p:sp>
        <p:nvSpPr>
          <p:cNvPr id="68" name="shape-64"/>
          <p:cNvSpPr/>
          <p:nvPr/>
        </p:nvSpPr>
        <p:spPr>
          <a:xfrm>
            <a:off x="10058400" y="5175504"/>
            <a:ext cx="1371600" cy="182880"/>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10058400" y="51755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Kafka-class log</a:t>
            </a:r>
            <a:endParaRPr lang="en-US" sz="1100" dirty="0"/>
          </a:p>
        </p:txBody>
      </p:sp>
      <p:sp>
        <p:nvSpPr>
          <p:cNvPr id="70" name="text-66"/>
          <p:cNvSpPr txBox="1"/>
          <p:nvPr/>
        </p:nvSpPr>
        <p:spPr>
          <a:xfrm>
            <a:off x="6327648" y="53858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Institutional single sign-on</a:t>
            </a:r>
            <a:endParaRPr lang="en-US" sz="1100" dirty="0"/>
          </a:p>
        </p:txBody>
      </p:sp>
      <p:sp>
        <p:nvSpPr>
          <p:cNvPr id="71" name="shape-67"/>
          <p:cNvSpPr/>
          <p:nvPr/>
        </p:nvSpPr>
        <p:spPr>
          <a:xfrm>
            <a:off x="10058400" y="5404104"/>
            <a:ext cx="1371600" cy="182880"/>
          </a:xfrm>
          <a:prstGeom prst="roundRect">
            <a:avLst>
              <a:gd name="adj" fmla="val 50000"/>
            </a:avLst>
          </a:prstGeom>
          <a:solidFill>
            <a:srgbClr val="B45309"/>
          </a:solidFill>
          <a:ln w="12700">
            <a:solidFill>
              <a:srgbClr val="B45309"/>
            </a:solidFill>
            <a:prstDash val="solid"/>
          </a:ln>
        </p:spPr>
      </p:sp>
      <p:sp>
        <p:nvSpPr>
          <p:cNvPr id="72" name="text-68"/>
          <p:cNvSpPr txBox="1"/>
          <p:nvPr/>
        </p:nvSpPr>
        <p:spPr>
          <a:xfrm>
            <a:off x="10058400" y="54041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Shibboleth / SAML</a:t>
            </a:r>
            <a:endParaRPr lang="en-US" sz="1100" dirty="0"/>
          </a:p>
        </p:txBody>
      </p:sp>
      <p:sp>
        <p:nvSpPr>
          <p:cNvPr id="73" name="text-69"/>
          <p:cNvSpPr txBox="1"/>
          <p:nvPr/>
        </p:nvSpPr>
        <p:spPr>
          <a:xfrm>
            <a:off x="6327648" y="56144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Learning-platform integration</a:t>
            </a:r>
            <a:endParaRPr lang="en-US" sz="1100" dirty="0"/>
          </a:p>
        </p:txBody>
      </p:sp>
      <p:sp>
        <p:nvSpPr>
          <p:cNvPr id="74" name="shape-70"/>
          <p:cNvSpPr/>
          <p:nvPr/>
        </p:nvSpPr>
        <p:spPr>
          <a:xfrm>
            <a:off x="10058400" y="5632704"/>
            <a:ext cx="1371600" cy="182880"/>
          </a:xfrm>
          <a:prstGeom prst="roundRect">
            <a:avLst>
              <a:gd name="adj" fmla="val 50000"/>
            </a:avLst>
          </a:prstGeom>
          <a:solidFill>
            <a:srgbClr val="B45309"/>
          </a:solidFill>
          <a:ln w="12700">
            <a:solidFill>
              <a:srgbClr val="B45309"/>
            </a:solidFill>
            <a:prstDash val="solid"/>
          </a:ln>
        </p:spPr>
      </p:sp>
      <p:sp>
        <p:nvSpPr>
          <p:cNvPr id="75" name="text-71"/>
          <p:cNvSpPr txBox="1"/>
          <p:nvPr/>
        </p:nvSpPr>
        <p:spPr>
          <a:xfrm>
            <a:off x="10058400" y="56327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LTI / LIS</a:t>
            </a:r>
            <a:endParaRPr lang="en-US" sz="1100" dirty="0"/>
          </a:p>
        </p:txBody>
      </p:sp>
      <p:sp>
        <p:nvSpPr>
          <p:cNvPr id="76" name="text-72"/>
          <p:cNvSpPr txBox="1"/>
          <p:nvPr/>
        </p:nvSpPr>
        <p:spPr>
          <a:xfrm>
            <a:off x="6327648" y="58430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Clinical and prescribing systems</a:t>
            </a:r>
            <a:endParaRPr lang="en-US" sz="1100" dirty="0"/>
          </a:p>
        </p:txBody>
      </p:sp>
      <p:sp>
        <p:nvSpPr>
          <p:cNvPr id="77" name="shape-73"/>
          <p:cNvSpPr/>
          <p:nvPr/>
        </p:nvSpPr>
        <p:spPr>
          <a:xfrm>
            <a:off x="10058400" y="5861304"/>
            <a:ext cx="1371600" cy="182880"/>
          </a:xfrm>
          <a:prstGeom prst="roundRect">
            <a:avLst>
              <a:gd name="adj" fmla="val 50000"/>
            </a:avLst>
          </a:prstGeom>
          <a:solidFill>
            <a:srgbClr val="B45309"/>
          </a:solidFill>
          <a:ln w="12700">
            <a:solidFill>
              <a:srgbClr val="B45309"/>
            </a:solidFill>
            <a:prstDash val="solid"/>
          </a:ln>
        </p:spPr>
      </p:sp>
      <p:sp>
        <p:nvSpPr>
          <p:cNvPr id="78" name="text-74"/>
          <p:cNvSpPr txBox="1"/>
          <p:nvPr/>
        </p:nvSpPr>
        <p:spPr>
          <a:xfrm>
            <a:off x="10058400" y="58613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clinical standards</a:t>
            </a:r>
            <a:endParaRPr lang="en-US" sz="1100" dirty="0"/>
          </a:p>
        </p:txBody>
      </p:sp>
      <p:sp>
        <p:nvSpPr>
          <p:cNvPr id="79" name="text-75"/>
          <p:cNvSpPr txBox="1"/>
          <p:nvPr/>
        </p:nvSpPr>
        <p:spPr>
          <a:xfrm>
            <a:off x="6327648" y="60716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Information security management</a:t>
            </a:r>
            <a:endParaRPr lang="en-US" sz="1100" dirty="0"/>
          </a:p>
        </p:txBody>
      </p:sp>
      <p:sp>
        <p:nvSpPr>
          <p:cNvPr id="80" name="shape-76"/>
          <p:cNvSpPr/>
          <p:nvPr/>
        </p:nvSpPr>
        <p:spPr>
          <a:xfrm>
            <a:off x="10058400" y="6089904"/>
            <a:ext cx="1371600" cy="182880"/>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10058400" y="60899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ISMS / ISO 27001</a:t>
            </a:r>
            <a:endParaRPr lang="en-US" sz="1100" dirty="0"/>
          </a:p>
        </p:txBody>
      </p:sp>
      <p:sp>
        <p:nvSpPr>
          <p:cNvPr id="82" name="text-78"/>
          <p:cNvSpPr txBox="1"/>
          <p:nvPr/>
        </p:nvSpPr>
        <p:spPr>
          <a:xfrm>
            <a:off x="6327648" y="6300216"/>
            <a:ext cx="3657600" cy="201168"/>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Clinical publishing governance</a:t>
            </a:r>
            <a:endParaRPr lang="en-US" sz="1100" dirty="0"/>
          </a:p>
        </p:txBody>
      </p:sp>
      <p:sp>
        <p:nvSpPr>
          <p:cNvPr id="83" name="shape-79"/>
          <p:cNvSpPr/>
          <p:nvPr/>
        </p:nvSpPr>
        <p:spPr>
          <a:xfrm>
            <a:off x="10058400" y="6318504"/>
            <a:ext cx="1371600" cy="182880"/>
          </a:xfrm>
          <a:prstGeom prst="roundRect">
            <a:avLst>
              <a:gd name="adj" fmla="val 50000"/>
            </a:avLst>
          </a:prstGeom>
          <a:solidFill>
            <a:srgbClr val="B45309"/>
          </a:solidFill>
          <a:ln w="12700">
            <a:solidFill>
              <a:srgbClr val="B45309"/>
            </a:solidFill>
            <a:prstDash val="solid"/>
          </a:ln>
        </p:spPr>
      </p:sp>
      <p:sp>
        <p:nvSpPr>
          <p:cNvPr id="84" name="text-80"/>
          <p:cNvSpPr txBox="1"/>
          <p:nvPr/>
        </p:nvSpPr>
        <p:spPr>
          <a:xfrm>
            <a:off x="10058400" y="6318504"/>
            <a:ext cx="1371600" cy="182880"/>
          </a:xfrm>
          <a:prstGeom prst="rect">
            <a:avLst/>
          </a:prstGeom>
          <a:noFill/>
          <a:ln/>
        </p:spPr>
        <p:txBody>
          <a:bodyPr wrap="non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provenance, errata</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6  ·  THE TEAM THE NEXT STAGE NEEDS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text-2"/>
          <p:cNvSpPr txBox="1"/>
          <p:nvPr/>
        </p:nvSpPr>
        <p:spPr>
          <a:xfrm>
            <a:off x="54864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MINIMUM VIABLE TEAM — WHO OWNS WHAT</a:t>
            </a:r>
            <a:endParaRPr lang="en-US" sz="1100" dirty="0"/>
          </a:p>
        </p:txBody>
      </p:sp>
      <p:sp>
        <p:nvSpPr>
          <p:cNvPr id="7" name="shape-3"/>
          <p:cNvSpPr/>
          <p:nvPr/>
        </p:nvSpPr>
        <p:spPr>
          <a:xfrm>
            <a:off x="548640" y="1773936"/>
            <a:ext cx="6949440" cy="676656"/>
          </a:xfrm>
          <a:prstGeom prst="roundRect">
            <a:avLst>
              <a:gd name="adj" fmla="val 10811"/>
            </a:avLst>
          </a:prstGeom>
          <a:solidFill>
            <a:srgbClr val="134E4A"/>
          </a:solidFill>
          <a:ln w="12700">
            <a:solidFill>
              <a:srgbClr val="134E4A"/>
            </a:solidFill>
            <a:prstDash val="solid"/>
          </a:ln>
        </p:spPr>
      </p:sp>
      <p:sp>
        <p:nvSpPr>
          <p:cNvPr id="8" name="text-4"/>
          <p:cNvSpPr txBox="1"/>
          <p:nvPr/>
        </p:nvSpPr>
        <p:spPr>
          <a:xfrm>
            <a:off x="731520" y="177393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CTO</a:t>
            </a:r>
            <a:endParaRPr lang="en-US" sz="1750" dirty="0"/>
          </a:p>
        </p:txBody>
      </p:sp>
      <p:sp>
        <p:nvSpPr>
          <p:cNvPr id="9" name="text-5"/>
          <p:cNvSpPr txBox="1"/>
          <p:nvPr/>
        </p:nvSpPr>
        <p:spPr>
          <a:xfrm>
            <a:off x="3383280" y="1773936"/>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CFE8E5"/>
                </a:solidFill>
                <a:latin typeface="Calibri" pitchFamily="34" charset="0"/>
                <a:ea typeface="Calibri" pitchFamily="34" charset="-122"/>
                <a:cs typeface="Calibri" pitchFamily="34" charset="-120"/>
              </a:rPr>
              <a:t>Strategy, architecture, transformation, PM, roadmap</a:t>
            </a:r>
            <a:endParaRPr lang="en-US" sz="1300" dirty="0"/>
          </a:p>
        </p:txBody>
      </p:sp>
      <p:sp>
        <p:nvSpPr>
          <p:cNvPr id="10" name="shape-6"/>
          <p:cNvSpPr/>
          <p:nvPr/>
        </p:nvSpPr>
        <p:spPr>
          <a:xfrm>
            <a:off x="6364224" y="2048256"/>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636422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shape-8"/>
          <p:cNvSpPr/>
          <p:nvPr/>
        </p:nvSpPr>
        <p:spPr>
          <a:xfrm>
            <a:off x="6638544" y="2048256"/>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63854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4" name="shape-10"/>
          <p:cNvSpPr/>
          <p:nvPr/>
        </p:nvSpPr>
        <p:spPr>
          <a:xfrm>
            <a:off x="6912864" y="2048256"/>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91286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shape-12"/>
          <p:cNvSpPr/>
          <p:nvPr/>
        </p:nvSpPr>
        <p:spPr>
          <a:xfrm>
            <a:off x="7187184" y="2048256"/>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718718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8" name="shape-14"/>
          <p:cNvSpPr/>
          <p:nvPr/>
        </p:nvSpPr>
        <p:spPr>
          <a:xfrm>
            <a:off x="548640" y="2542032"/>
            <a:ext cx="6949440" cy="676656"/>
          </a:xfrm>
          <a:prstGeom prst="roundRect">
            <a:avLst>
              <a:gd name="adj" fmla="val 10811"/>
            </a:avLst>
          </a:prstGeom>
          <a:solidFill>
            <a:srgbClr val="EEF2F4"/>
          </a:solidFill>
          <a:ln w="12700">
            <a:solidFill>
              <a:srgbClr val="EEF2F4"/>
            </a:solidFill>
            <a:prstDash val="solid"/>
          </a:ln>
        </p:spPr>
      </p:sp>
      <p:sp>
        <p:nvSpPr>
          <p:cNvPr id="19" name="text-15"/>
          <p:cNvSpPr txBox="1"/>
          <p:nvPr/>
        </p:nvSpPr>
        <p:spPr>
          <a:xfrm>
            <a:off x="731520" y="2542032"/>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Lead Engineer</a:t>
            </a:r>
            <a:endParaRPr lang="en-US" sz="1750" dirty="0"/>
          </a:p>
        </p:txBody>
      </p:sp>
      <p:sp>
        <p:nvSpPr>
          <p:cNvPr id="20" name="text-16"/>
          <p:cNvSpPr txBox="1"/>
          <p:nvPr/>
        </p:nvSpPr>
        <p:spPr>
          <a:xfrm>
            <a:off x="3383280" y="2542032"/>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Standards, build, maintain, technical QA</a:t>
            </a:r>
            <a:endParaRPr lang="en-US" sz="1300" dirty="0"/>
          </a:p>
        </p:txBody>
      </p:sp>
      <p:sp>
        <p:nvSpPr>
          <p:cNvPr id="21" name="shape-17"/>
          <p:cNvSpPr/>
          <p:nvPr/>
        </p:nvSpPr>
        <p:spPr>
          <a:xfrm>
            <a:off x="6638544" y="2816352"/>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663854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3" name="shape-19"/>
          <p:cNvSpPr/>
          <p:nvPr/>
        </p:nvSpPr>
        <p:spPr>
          <a:xfrm>
            <a:off x="6912864" y="2816352"/>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1286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5" name="shape-21"/>
          <p:cNvSpPr/>
          <p:nvPr/>
        </p:nvSpPr>
        <p:spPr>
          <a:xfrm>
            <a:off x="7187184" y="2816352"/>
            <a:ext cx="201168" cy="146304"/>
          </a:xfrm>
          <a:prstGeom prst="roundRect">
            <a:avLst>
              <a:gd name="adj" fmla="val 50000"/>
            </a:avLst>
          </a:prstGeom>
          <a:solidFill>
            <a:srgbClr val="0F766E"/>
          </a:solidFill>
          <a:ln w="12700">
            <a:solidFill>
              <a:srgbClr val="0F766E"/>
            </a:solidFill>
            <a:prstDash val="solid"/>
          </a:ln>
        </p:spPr>
      </p:sp>
      <p:sp>
        <p:nvSpPr>
          <p:cNvPr id="26" name="text-22"/>
          <p:cNvSpPr txBox="1"/>
          <p:nvPr/>
        </p:nvSpPr>
        <p:spPr>
          <a:xfrm>
            <a:off x="718718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7" name="shape-23"/>
          <p:cNvSpPr/>
          <p:nvPr/>
        </p:nvSpPr>
        <p:spPr>
          <a:xfrm>
            <a:off x="548640" y="3310128"/>
            <a:ext cx="6949440" cy="676656"/>
          </a:xfrm>
          <a:prstGeom prst="roundRect">
            <a:avLst>
              <a:gd name="adj" fmla="val 10811"/>
            </a:avLst>
          </a:prstGeom>
          <a:solidFill>
            <a:srgbClr val="EEF2F4"/>
          </a:solidFill>
          <a:ln w="12700">
            <a:solidFill>
              <a:srgbClr val="EEF2F4"/>
            </a:solidFill>
            <a:prstDash val="solid"/>
          </a:ln>
        </p:spPr>
      </p:sp>
      <p:sp>
        <p:nvSpPr>
          <p:cNvPr id="28" name="text-24"/>
          <p:cNvSpPr txBox="1"/>
          <p:nvPr/>
        </p:nvSpPr>
        <p:spPr>
          <a:xfrm>
            <a:off x="731520" y="3310128"/>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Developer</a:t>
            </a:r>
            <a:endParaRPr lang="en-US" sz="1750" dirty="0"/>
          </a:p>
        </p:txBody>
      </p:sp>
      <p:sp>
        <p:nvSpPr>
          <p:cNvPr id="29" name="text-25"/>
          <p:cNvSpPr txBox="1"/>
          <p:nvPr/>
        </p:nvSpPr>
        <p:spPr>
          <a:xfrm>
            <a:off x="3383280" y="3310128"/>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Build, maintain, technical QA</a:t>
            </a:r>
            <a:endParaRPr lang="en-US" sz="1300" dirty="0"/>
          </a:p>
        </p:txBody>
      </p:sp>
      <p:sp>
        <p:nvSpPr>
          <p:cNvPr id="30" name="shape-26"/>
          <p:cNvSpPr/>
          <p:nvPr/>
        </p:nvSpPr>
        <p:spPr>
          <a:xfrm>
            <a:off x="6912864" y="3584448"/>
            <a:ext cx="201168" cy="146304"/>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691286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2" name="shape-28"/>
          <p:cNvSpPr/>
          <p:nvPr/>
        </p:nvSpPr>
        <p:spPr>
          <a:xfrm>
            <a:off x="7187184" y="3584448"/>
            <a:ext cx="201168" cy="146304"/>
          </a:xfrm>
          <a:prstGeom prst="roundRect">
            <a:avLst>
              <a:gd name="adj" fmla="val 50000"/>
            </a:avLst>
          </a:prstGeom>
          <a:solidFill>
            <a:srgbClr val="B45309"/>
          </a:solidFill>
          <a:ln w="12700">
            <a:solidFill>
              <a:srgbClr val="B45309"/>
            </a:solidFill>
            <a:prstDash val="solid"/>
          </a:ln>
        </p:spPr>
      </p:sp>
      <p:sp>
        <p:nvSpPr>
          <p:cNvPr id="33" name="text-29"/>
          <p:cNvSpPr txBox="1"/>
          <p:nvPr/>
        </p:nvSpPr>
        <p:spPr>
          <a:xfrm>
            <a:off x="718718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4" name="shape-30"/>
          <p:cNvSpPr/>
          <p:nvPr/>
        </p:nvSpPr>
        <p:spPr>
          <a:xfrm>
            <a:off x="548640" y="4078224"/>
            <a:ext cx="6949440" cy="676656"/>
          </a:xfrm>
          <a:prstGeom prst="roundRect">
            <a:avLst>
              <a:gd name="adj" fmla="val 10811"/>
            </a:avLst>
          </a:prstGeom>
          <a:solidFill>
            <a:srgbClr val="EEF2F4"/>
          </a:solidFill>
          <a:ln w="12700">
            <a:solidFill>
              <a:srgbClr val="EEF2F4"/>
            </a:solidFill>
            <a:prstDash val="solid"/>
          </a:ln>
        </p:spPr>
      </p:sp>
      <p:sp>
        <p:nvSpPr>
          <p:cNvPr id="35" name="text-31"/>
          <p:cNvSpPr txBox="1"/>
          <p:nvPr/>
        </p:nvSpPr>
        <p:spPr>
          <a:xfrm>
            <a:off x="731520" y="4078224"/>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DevSecOps Platform Engineer</a:t>
            </a:r>
            <a:endParaRPr lang="en-US" sz="1750" dirty="0"/>
          </a:p>
        </p:txBody>
      </p:sp>
      <p:sp>
        <p:nvSpPr>
          <p:cNvPr id="36" name="text-32"/>
          <p:cNvSpPr txBox="1"/>
          <p:nvPr/>
        </p:nvSpPr>
        <p:spPr>
          <a:xfrm>
            <a:off x="3383280" y="4078224"/>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ISMS, platform, pipeline</a:t>
            </a:r>
            <a:endParaRPr lang="en-US" sz="1300" dirty="0"/>
          </a:p>
        </p:txBody>
      </p:sp>
      <p:sp>
        <p:nvSpPr>
          <p:cNvPr id="37" name="shape-33"/>
          <p:cNvSpPr/>
          <p:nvPr/>
        </p:nvSpPr>
        <p:spPr>
          <a:xfrm>
            <a:off x="6638544" y="4352544"/>
            <a:ext cx="201168" cy="146304"/>
          </a:xfrm>
          <a:prstGeom prst="roundRect">
            <a:avLst>
              <a:gd name="adj" fmla="val 50000"/>
            </a:avLst>
          </a:prstGeom>
          <a:solidFill>
            <a:srgbClr val="B45309"/>
          </a:solidFill>
          <a:ln w="12700">
            <a:solidFill>
              <a:srgbClr val="B45309"/>
            </a:solidFill>
            <a:prstDash val="solid"/>
          </a:ln>
        </p:spPr>
      </p:sp>
      <p:sp>
        <p:nvSpPr>
          <p:cNvPr id="38" name="text-34"/>
          <p:cNvSpPr txBox="1"/>
          <p:nvPr/>
        </p:nvSpPr>
        <p:spPr>
          <a:xfrm>
            <a:off x="663854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9" name="shape-35"/>
          <p:cNvSpPr/>
          <p:nvPr/>
        </p:nvSpPr>
        <p:spPr>
          <a:xfrm>
            <a:off x="6912864" y="4352544"/>
            <a:ext cx="201168" cy="146304"/>
          </a:xfrm>
          <a:prstGeom prst="roundRect">
            <a:avLst>
              <a:gd name="adj" fmla="val 50000"/>
            </a:avLst>
          </a:prstGeom>
          <a:solidFill>
            <a:srgbClr val="134E4A"/>
          </a:solidFill>
          <a:ln w="12700">
            <a:solidFill>
              <a:srgbClr val="134E4A"/>
            </a:solidFill>
            <a:prstDash val="solid"/>
          </a:ln>
        </p:spPr>
      </p:sp>
      <p:sp>
        <p:nvSpPr>
          <p:cNvPr id="40" name="text-36"/>
          <p:cNvSpPr txBox="1"/>
          <p:nvPr/>
        </p:nvSpPr>
        <p:spPr>
          <a:xfrm>
            <a:off x="691286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shape-37"/>
          <p:cNvSpPr/>
          <p:nvPr/>
        </p:nvSpPr>
        <p:spPr>
          <a:xfrm>
            <a:off x="7187184" y="4352544"/>
            <a:ext cx="201168" cy="146304"/>
          </a:xfrm>
          <a:prstGeom prst="roundRect">
            <a:avLst>
              <a:gd name="adj" fmla="val 50000"/>
            </a:avLst>
          </a:prstGeom>
          <a:solidFill>
            <a:srgbClr val="0F766E"/>
          </a:solidFill>
          <a:ln w="12700">
            <a:solidFill>
              <a:srgbClr val="0F766E"/>
            </a:solidFill>
            <a:prstDash val="solid"/>
          </a:ln>
        </p:spPr>
      </p:sp>
      <p:sp>
        <p:nvSpPr>
          <p:cNvPr id="42" name="text-38"/>
          <p:cNvSpPr txBox="1"/>
          <p:nvPr/>
        </p:nvSpPr>
        <p:spPr>
          <a:xfrm>
            <a:off x="718718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3" name="shape-39"/>
          <p:cNvSpPr/>
          <p:nvPr/>
        </p:nvSpPr>
        <p:spPr>
          <a:xfrm>
            <a:off x="548640" y="4846320"/>
            <a:ext cx="6949440" cy="676656"/>
          </a:xfrm>
          <a:prstGeom prst="roundRect">
            <a:avLst>
              <a:gd name="adj" fmla="val 10811"/>
            </a:avLst>
          </a:prstGeom>
          <a:solidFill>
            <a:srgbClr val="EEF2F4"/>
          </a:solidFill>
          <a:ln w="12700">
            <a:solidFill>
              <a:srgbClr val="EEF2F4"/>
            </a:solidFill>
            <a:prstDash val="solid"/>
          </a:ln>
        </p:spPr>
      </p:sp>
      <p:sp>
        <p:nvSpPr>
          <p:cNvPr id="44" name="text-40"/>
          <p:cNvSpPr txBox="1"/>
          <p:nvPr/>
        </p:nvSpPr>
        <p:spPr>
          <a:xfrm>
            <a:off x="731520" y="4846320"/>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Product</a:t>
            </a:r>
            <a:endParaRPr lang="en-US" sz="1750" dirty="0"/>
          </a:p>
        </p:txBody>
      </p:sp>
      <p:sp>
        <p:nvSpPr>
          <p:cNvPr id="45" name="text-41"/>
          <p:cNvSpPr txBox="1"/>
          <p:nvPr/>
        </p:nvSpPr>
        <p:spPr>
          <a:xfrm>
            <a:off x="3383280" y="4846320"/>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Project, research, design</a:t>
            </a:r>
            <a:endParaRPr lang="en-US" sz="1300" dirty="0"/>
          </a:p>
        </p:txBody>
      </p:sp>
      <p:sp>
        <p:nvSpPr>
          <p:cNvPr id="46" name="shape-42"/>
          <p:cNvSpPr/>
          <p:nvPr/>
        </p:nvSpPr>
        <p:spPr>
          <a:xfrm>
            <a:off x="6638544" y="5120640"/>
            <a:ext cx="201168" cy="146304"/>
          </a:xfrm>
          <a:prstGeom prst="roundRect">
            <a:avLst>
              <a:gd name="adj" fmla="val 50000"/>
            </a:avLst>
          </a:prstGeom>
          <a:solidFill>
            <a:srgbClr val="134E4A"/>
          </a:solidFill>
          <a:ln w="12700">
            <a:solidFill>
              <a:srgbClr val="134E4A"/>
            </a:solidFill>
            <a:prstDash val="solid"/>
          </a:ln>
        </p:spPr>
      </p:sp>
      <p:sp>
        <p:nvSpPr>
          <p:cNvPr id="47" name="text-43"/>
          <p:cNvSpPr txBox="1"/>
          <p:nvPr/>
        </p:nvSpPr>
        <p:spPr>
          <a:xfrm>
            <a:off x="663854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8" name="shape-44"/>
          <p:cNvSpPr/>
          <p:nvPr/>
        </p:nvSpPr>
        <p:spPr>
          <a:xfrm>
            <a:off x="6912864" y="5120640"/>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691286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0" name="shape-46"/>
          <p:cNvSpPr/>
          <p:nvPr/>
        </p:nvSpPr>
        <p:spPr>
          <a:xfrm>
            <a:off x="7187184" y="5120640"/>
            <a:ext cx="201168" cy="146304"/>
          </a:xfrm>
          <a:prstGeom prst="roundRect">
            <a:avLst>
              <a:gd name="adj" fmla="val 50000"/>
            </a:avLst>
          </a:prstGeom>
          <a:solidFill>
            <a:srgbClr val="8A99A3"/>
          </a:solidFill>
          <a:ln w="12700">
            <a:solidFill>
              <a:srgbClr val="8A99A3"/>
            </a:solidFill>
            <a:prstDash val="solid"/>
          </a:ln>
        </p:spPr>
      </p:sp>
      <p:sp>
        <p:nvSpPr>
          <p:cNvPr id="51" name="text-47"/>
          <p:cNvSpPr txBox="1"/>
          <p:nvPr/>
        </p:nvSpPr>
        <p:spPr>
          <a:xfrm>
            <a:off x="718718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2" name="shape-48"/>
          <p:cNvSpPr/>
          <p:nvPr/>
        </p:nvSpPr>
        <p:spPr>
          <a:xfrm>
            <a:off x="548640" y="5614416"/>
            <a:ext cx="6949440" cy="676656"/>
          </a:xfrm>
          <a:prstGeom prst="roundRect">
            <a:avLst>
              <a:gd name="adj" fmla="val 10811"/>
            </a:avLst>
          </a:prstGeom>
          <a:solidFill>
            <a:srgbClr val="EEF2F4"/>
          </a:solidFill>
          <a:ln w="12700">
            <a:solidFill>
              <a:srgbClr val="EEF2F4"/>
            </a:solidFill>
            <a:prstDash val="solid"/>
          </a:ln>
        </p:spPr>
      </p:sp>
      <p:sp>
        <p:nvSpPr>
          <p:cNvPr id="53" name="text-49"/>
          <p:cNvSpPr txBox="1"/>
          <p:nvPr/>
        </p:nvSpPr>
        <p:spPr>
          <a:xfrm>
            <a:off x="731520" y="561441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BA / QA</a:t>
            </a:r>
            <a:endParaRPr lang="en-US" sz="1750" dirty="0"/>
          </a:p>
        </p:txBody>
      </p:sp>
      <p:sp>
        <p:nvSpPr>
          <p:cNvPr id="54" name="text-50"/>
          <p:cNvSpPr txBox="1"/>
          <p:nvPr/>
        </p:nvSpPr>
        <p:spPr>
          <a:xfrm>
            <a:off x="3383280" y="5614416"/>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User testing, QA, product assistance</a:t>
            </a:r>
            <a:endParaRPr lang="en-US" sz="1300" dirty="0"/>
          </a:p>
        </p:txBody>
      </p:sp>
      <p:sp>
        <p:nvSpPr>
          <p:cNvPr id="55" name="shape-51"/>
          <p:cNvSpPr/>
          <p:nvPr/>
        </p:nvSpPr>
        <p:spPr>
          <a:xfrm>
            <a:off x="6912864" y="5888736"/>
            <a:ext cx="201168" cy="146304"/>
          </a:xfrm>
          <a:prstGeom prst="roundRect">
            <a:avLst>
              <a:gd name="adj" fmla="val 50000"/>
            </a:avLst>
          </a:prstGeom>
          <a:solidFill>
            <a:srgbClr val="134E4A"/>
          </a:solidFill>
          <a:ln w="12700">
            <a:solidFill>
              <a:srgbClr val="134E4A"/>
            </a:solidFill>
            <a:prstDash val="solid"/>
          </a:ln>
        </p:spPr>
      </p:sp>
      <p:sp>
        <p:nvSpPr>
          <p:cNvPr id="56" name="text-52"/>
          <p:cNvSpPr txBox="1"/>
          <p:nvPr/>
        </p:nvSpPr>
        <p:spPr>
          <a:xfrm>
            <a:off x="691286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7" name="shape-53"/>
          <p:cNvSpPr/>
          <p:nvPr/>
        </p:nvSpPr>
        <p:spPr>
          <a:xfrm>
            <a:off x="7187184" y="5888736"/>
            <a:ext cx="201168" cy="146304"/>
          </a:xfrm>
          <a:prstGeom prst="roundRect">
            <a:avLst>
              <a:gd name="adj" fmla="val 50000"/>
            </a:avLst>
          </a:prstGeom>
          <a:solidFill>
            <a:srgbClr val="8A99A3"/>
          </a:solidFill>
          <a:ln w="12700">
            <a:solidFill>
              <a:srgbClr val="8A99A3"/>
            </a:solidFill>
            <a:prstDash val="solid"/>
          </a:ln>
        </p:spPr>
      </p:sp>
      <p:sp>
        <p:nvSpPr>
          <p:cNvPr id="58" name="text-54"/>
          <p:cNvSpPr txBox="1"/>
          <p:nvPr/>
        </p:nvSpPr>
        <p:spPr>
          <a:xfrm>
            <a:off x="718718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9" name="text-55"/>
          <p:cNvSpPr txBox="1"/>
          <p:nvPr/>
        </p:nvSpPr>
        <p:spPr>
          <a:xfrm>
            <a:off x="777240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OPTIONS GATE 2 WOULD CHOOSE BETWEEN</a:t>
            </a:r>
            <a:endParaRPr lang="en-US" sz="1100" dirty="0"/>
          </a:p>
        </p:txBody>
      </p:sp>
      <p:sp>
        <p:nvSpPr>
          <p:cNvPr id="60" name="shape-56"/>
          <p:cNvSpPr/>
          <p:nvPr/>
        </p:nvSpPr>
        <p:spPr>
          <a:xfrm>
            <a:off x="7772400" y="1773936"/>
            <a:ext cx="3840480" cy="969264"/>
          </a:xfrm>
          <a:prstGeom prst="roundRect">
            <a:avLst>
              <a:gd name="adj" fmla="val 7547"/>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1"/>
          <a:stretch>
            <a:fillRect/>
          </a:stretch>
        </p:blipFill>
        <p:spPr>
          <a:xfrm>
            <a:off x="7918704" y="1956816"/>
            <a:ext cx="219456" cy="219456"/>
          </a:xfrm>
          <a:prstGeom prst="rect">
            <a:avLst/>
          </a:prstGeom>
        </p:spPr>
      </p:pic>
      <p:sp>
        <p:nvSpPr>
          <p:cNvPr id="62" name="text-58"/>
          <p:cNvSpPr txBox="1"/>
          <p:nvPr/>
        </p:nvSpPr>
        <p:spPr>
          <a:xfrm>
            <a:off x="8247888" y="1883664"/>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Second engineer, or the vendor’s 0.6 PM</a:t>
            </a:r>
            <a:endParaRPr lang="en-US" sz="1350" dirty="0"/>
          </a:p>
        </p:txBody>
      </p:sp>
      <p:sp>
        <p:nvSpPr>
          <p:cNvPr id="63" name="text-59"/>
          <p:cNvSpPr txBox="1"/>
          <p:nvPr/>
        </p:nvSpPr>
        <p:spPr>
          <a:xfrm>
            <a:off x="7918704" y="2395728"/>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how much of the product is built in-house</a:t>
            </a:r>
            <a:endParaRPr lang="en-US" sz="1150" dirty="0"/>
          </a:p>
        </p:txBody>
      </p:sp>
      <p:sp>
        <p:nvSpPr>
          <p:cNvPr id="64" name="shape-60"/>
          <p:cNvSpPr/>
          <p:nvPr/>
        </p:nvSpPr>
        <p:spPr>
          <a:xfrm>
            <a:off x="7772400" y="2852928"/>
            <a:ext cx="3840480" cy="969264"/>
          </a:xfrm>
          <a:prstGeom prst="roundRect">
            <a:avLst>
              <a:gd name="adj" fmla="val 7547"/>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2"/>
          <a:stretch>
            <a:fillRect/>
          </a:stretch>
        </p:blipFill>
        <p:spPr>
          <a:xfrm>
            <a:off x="7918704" y="3035808"/>
            <a:ext cx="219456" cy="219456"/>
          </a:xfrm>
          <a:prstGeom prst="rect">
            <a:avLst/>
          </a:prstGeom>
        </p:spPr>
      </p:pic>
      <p:sp>
        <p:nvSpPr>
          <p:cNvPr id="66" name="text-62"/>
          <p:cNvSpPr txBox="1"/>
          <p:nvPr/>
        </p:nvSpPr>
        <p:spPr>
          <a:xfrm>
            <a:off x="8247888" y="2962656"/>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350" dirty="0"/>
          </a:p>
        </p:txBody>
      </p:sp>
      <p:sp>
        <p:nvSpPr>
          <p:cNvPr id="67" name="text-63"/>
          <p:cNvSpPr txBox="1"/>
          <p:nvPr/>
        </p:nvSpPr>
        <p:spPr>
          <a:xfrm>
            <a:off x="7918704" y="3474720"/>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assist, accelerate and de-risk product work</a:t>
            </a:r>
            <a:endParaRPr lang="en-US" sz="1150" dirty="0"/>
          </a:p>
        </p:txBody>
      </p:sp>
      <p:sp>
        <p:nvSpPr>
          <p:cNvPr id="68" name="shape-64"/>
          <p:cNvSpPr/>
          <p:nvPr/>
        </p:nvSpPr>
        <p:spPr>
          <a:xfrm>
            <a:off x="7772400" y="3931920"/>
            <a:ext cx="3840480" cy="969264"/>
          </a:xfrm>
          <a:prstGeom prst="roundRect">
            <a:avLst>
              <a:gd name="adj" fmla="val 7547"/>
            </a:avLst>
          </a:prstGeom>
          <a:solidFill>
            <a:srgbClr val="FFFFFF"/>
          </a:solidFill>
          <a:ln w="15875">
            <a:solidFill>
              <a:srgbClr val="D4DBE0"/>
            </a:solidFill>
            <a:prstDash val="solid"/>
          </a:ln>
        </p:spPr>
      </p:sp>
      <p:pic>
        <p:nvPicPr>
          <p:cNvPr id="69" name="icon-65" descr="preencoded.png">    </p:cNvPr>
          <p:cNvPicPr>
            <a:picLocks noChangeAspect="1"/>
          </p:cNvPicPr>
          <p:nvPr/>
        </p:nvPicPr>
        <p:blipFill>
          <a:blip r:embed="rId3"/>
          <a:stretch>
            <a:fillRect/>
          </a:stretch>
        </p:blipFill>
        <p:spPr>
          <a:xfrm>
            <a:off x="7918704" y="4114800"/>
            <a:ext cx="219456" cy="219456"/>
          </a:xfrm>
          <a:prstGeom prst="rect">
            <a:avLst/>
          </a:prstGeom>
        </p:spPr>
      </p:pic>
      <p:sp>
        <p:nvSpPr>
          <p:cNvPr id="70" name="text-66"/>
          <p:cNvSpPr txBox="1"/>
          <p:nvPr/>
        </p:nvSpPr>
        <p:spPr>
          <a:xfrm>
            <a:off x="8247888" y="4041648"/>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Research and design in-house, or partner</a:t>
            </a:r>
            <a:endParaRPr lang="en-US" sz="1350" dirty="0"/>
          </a:p>
        </p:txBody>
      </p:sp>
      <p:sp>
        <p:nvSpPr>
          <p:cNvPr id="71" name="text-67"/>
          <p:cNvSpPr txBox="1"/>
          <p:nvPr/>
        </p:nvSpPr>
        <p:spPr>
          <a:xfrm>
            <a:off x="7918704" y="4553712"/>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depends on the licence model found at Gate 1</a:t>
            </a:r>
            <a:endParaRPr lang="en-US" sz="1150" dirty="0"/>
          </a:p>
        </p:txBody>
      </p:sp>
      <p:sp>
        <p:nvSpPr>
          <p:cNvPr id="72" name="shape-68"/>
          <p:cNvSpPr/>
          <p:nvPr/>
        </p:nvSpPr>
        <p:spPr>
          <a:xfrm>
            <a:off x="7772400" y="5010912"/>
            <a:ext cx="3840480" cy="1353312"/>
          </a:xfrm>
          <a:prstGeom prst="roundRect">
            <a:avLst>
              <a:gd name="adj" fmla="val 5405"/>
            </a:avLst>
          </a:prstGeom>
          <a:solidFill>
            <a:srgbClr val="FDF1E3"/>
          </a:solidFill>
          <a:ln w="12700">
            <a:solidFill>
              <a:srgbClr val="FDF1E3"/>
            </a:solidFill>
            <a:prstDash val="solid"/>
          </a:ln>
        </p:spPr>
      </p:sp>
      <p:sp>
        <p:nvSpPr>
          <p:cNvPr id="73" name="text-69"/>
          <p:cNvSpPr txBox="1"/>
          <p:nvPr/>
        </p:nvSpPr>
        <p:spPr>
          <a:xfrm>
            <a:off x="7918704" y="5138928"/>
            <a:ext cx="3547872"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NOT IN THE TEAM — PARTNER OR MSP</a:t>
            </a:r>
            <a:endParaRPr lang="en-US" sz="1100" dirty="0"/>
          </a:p>
        </p:txBody>
      </p:sp>
      <p:sp>
        <p:nvSpPr>
          <p:cNvPr id="74" name="oval-70"/>
          <p:cNvSpPr/>
          <p:nvPr/>
        </p:nvSpPr>
        <p:spPr>
          <a:xfrm>
            <a:off x="7941564" y="5472684"/>
            <a:ext cx="64008" cy="64008"/>
          </a:xfrm>
          <a:prstGeom prst="ellipse">
            <a:avLst/>
          </a:prstGeom>
          <a:solidFill>
            <a:srgbClr val="B45309"/>
          </a:solidFill>
          <a:ln w="12700">
            <a:solidFill>
              <a:srgbClr val="B45309"/>
            </a:solidFill>
            <a:prstDash val="solid"/>
          </a:ln>
        </p:spPr>
      </p:sp>
      <p:sp>
        <p:nvSpPr>
          <p:cNvPr id="75" name="text-71"/>
          <p:cNvSpPr txBox="1"/>
          <p:nvPr/>
        </p:nvSpPr>
        <p:spPr>
          <a:xfrm>
            <a:off x="8101584" y="5394960"/>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24×7 operations and on-call</a:t>
            </a:r>
            <a:endParaRPr lang="en-US" sz="1300" dirty="0"/>
          </a:p>
        </p:txBody>
      </p:sp>
      <p:sp>
        <p:nvSpPr>
          <p:cNvPr id="76" name="oval-72"/>
          <p:cNvSpPr/>
          <p:nvPr/>
        </p:nvSpPr>
        <p:spPr>
          <a:xfrm>
            <a:off x="7941564" y="5710428"/>
            <a:ext cx="64008" cy="64008"/>
          </a:xfrm>
          <a:prstGeom prst="ellipse">
            <a:avLst/>
          </a:prstGeom>
          <a:solidFill>
            <a:srgbClr val="B45309"/>
          </a:solidFill>
          <a:ln w="12700">
            <a:solidFill>
              <a:srgbClr val="B45309"/>
            </a:solidFill>
            <a:prstDash val="solid"/>
          </a:ln>
        </p:spPr>
      </p:sp>
      <p:sp>
        <p:nvSpPr>
          <p:cNvPr id="77" name="text-73"/>
          <p:cNvSpPr txBox="1"/>
          <p:nvPr/>
        </p:nvSpPr>
        <p:spPr>
          <a:xfrm>
            <a:off x="8101584" y="5632704"/>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operations</a:t>
            </a:r>
            <a:endParaRPr lang="en-US" sz="1300" dirty="0"/>
          </a:p>
        </p:txBody>
      </p:sp>
      <p:sp>
        <p:nvSpPr>
          <p:cNvPr id="78" name="oval-74"/>
          <p:cNvSpPr/>
          <p:nvPr/>
        </p:nvSpPr>
        <p:spPr>
          <a:xfrm>
            <a:off x="7941564" y="5948172"/>
            <a:ext cx="64008" cy="64008"/>
          </a:xfrm>
          <a:prstGeom prst="ellipse">
            <a:avLst/>
          </a:prstGeom>
          <a:solidFill>
            <a:srgbClr val="B45309"/>
          </a:solidFill>
          <a:ln w="12700">
            <a:solidFill>
              <a:srgbClr val="B45309"/>
            </a:solidFill>
            <a:prstDash val="solid"/>
          </a:ln>
        </p:spPr>
      </p:sp>
      <p:sp>
        <p:nvSpPr>
          <p:cNvPr id="79" name="text-75"/>
          <p:cNvSpPr txBox="1"/>
          <p:nvPr/>
        </p:nvSpPr>
        <p:spPr>
          <a:xfrm>
            <a:off x="8101584" y="5870448"/>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Commodity configuration</a:t>
            </a:r>
            <a:endParaRPr lang="en-US" sz="1300" dirty="0"/>
          </a:p>
        </p:txBody>
      </p:sp>
      <p:sp>
        <p:nvSpPr>
          <p:cNvPr id="80" name="oval-76"/>
          <p:cNvSpPr/>
          <p:nvPr/>
        </p:nvSpPr>
        <p:spPr>
          <a:xfrm>
            <a:off x="7941564" y="6185916"/>
            <a:ext cx="64008" cy="64008"/>
          </a:xfrm>
          <a:prstGeom prst="ellipse">
            <a:avLst/>
          </a:prstGeom>
          <a:solidFill>
            <a:srgbClr val="B45309"/>
          </a:solidFill>
          <a:ln w="12700">
            <a:solidFill>
              <a:srgbClr val="B45309"/>
            </a:solidFill>
            <a:prstDash val="solid"/>
          </a:ln>
        </p:spPr>
      </p:sp>
      <p:sp>
        <p:nvSpPr>
          <p:cNvPr id="81" name="text-77"/>
          <p:cNvSpPr txBox="1"/>
          <p:nvPr/>
        </p:nvSpPr>
        <p:spPr>
          <a:xfrm>
            <a:off x="8101584" y="6108192"/>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Content operations (outside remit)</a:t>
            </a:r>
            <a:endParaRPr lang="en-US" sz="1300" dirty="0"/>
          </a:p>
        </p:txBody>
      </p:sp>
      <p:sp>
        <p:nvSpPr>
          <p:cNvPr id="82" name="text-78"/>
          <p:cNvSpPr txBox="1"/>
          <p:nvPr/>
        </p:nvSpPr>
        <p:spPr>
          <a:xfrm>
            <a:off x="548640" y="6419088"/>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Responsibilities, not an approved hiring plan.</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7  ·  GOVERNANCE, ASSURANCE GATES AND THE NEXT SIX MONTHS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One operating rhythm, gates sized to the tier, judged on outcomes rather than AI activity</a:t>
            </a:r>
            <a:endParaRPr lang="en-US" sz="225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OPERATING RHYTHM — WHO SEES WHAT</a:t>
            </a:r>
            <a:endParaRPr lang="en-US" sz="1100" dirty="0"/>
          </a:p>
        </p:txBody>
      </p:sp>
      <p:sp>
        <p:nvSpPr>
          <p:cNvPr id="5" name="shape-1"/>
          <p:cNvSpPr/>
          <p:nvPr/>
        </p:nvSpPr>
        <p:spPr>
          <a:xfrm>
            <a:off x="548640" y="1664208"/>
            <a:ext cx="4206240" cy="786384"/>
          </a:xfrm>
          <a:prstGeom prst="roundRect">
            <a:avLst>
              <a:gd name="adj" fmla="val 9302"/>
            </a:avLst>
          </a:prstGeom>
          <a:solidFill>
            <a:srgbClr val="134E4A"/>
          </a:solidFill>
          <a:ln w="12700">
            <a:solidFill>
              <a:srgbClr val="134E4A"/>
            </a:solidFill>
            <a:prstDash val="solid"/>
          </a:ln>
        </p:spPr>
      </p:sp>
      <p:sp>
        <p:nvSpPr>
          <p:cNvPr id="6" name="text-2"/>
          <p:cNvSpPr txBox="1"/>
          <p:nvPr/>
        </p:nvSpPr>
        <p:spPr>
          <a:xfrm>
            <a:off x="694944" y="1755648"/>
            <a:ext cx="3931920" cy="237744"/>
          </a:xfrm>
          <a:prstGeom prst="rect">
            <a:avLst/>
          </a:prstGeom>
          <a:noFill/>
          <a:ln/>
        </p:spPr>
        <p:txBody>
          <a:bodyPr wrap="square" lIns="0" tIns="0" rIns="0" bIns="0" rtlCol="0" anchor="ctr"/>
          <a:lstStyle/>
          <a:p>
            <a:pPr algn="l" indent="0" marL="0">
              <a:lnSpc>
                <a:spcPct val="100000"/>
              </a:lnSpc>
              <a:buNone/>
            </a:pPr>
            <a:r>
              <a:rPr lang="en-US" sz="1450" b="1" dirty="0">
                <a:solidFill>
                  <a:srgbClr val="FFFFFF"/>
                </a:solidFill>
                <a:latin typeface="Calibri" pitchFamily="34" charset="0"/>
                <a:ea typeface="Calibri" pitchFamily="34" charset="-122"/>
                <a:cs typeface="Calibri" pitchFamily="34" charset="-120"/>
              </a:rPr>
              <a:t>Board / Risk Committee</a:t>
            </a:r>
            <a:endParaRPr lang="en-US" sz="1450" dirty="0"/>
          </a:p>
        </p:txBody>
      </p:sp>
      <p:sp>
        <p:nvSpPr>
          <p:cNvPr id="7" name="text-3"/>
          <p:cNvSpPr txBox="1"/>
          <p:nvPr/>
        </p:nvSpPr>
        <p:spPr>
          <a:xfrm>
            <a:off x="694944" y="2029968"/>
            <a:ext cx="3931920" cy="384048"/>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quarterly, with a monthly review pack · date confidence, gate sign-off, risks, spend</a:t>
            </a:r>
            <a:endParaRPr lang="en-US" sz="1100" dirty="0"/>
          </a:p>
        </p:txBody>
      </p:sp>
      <p:sp>
        <p:nvSpPr>
          <p:cNvPr id="8" name="shape-4"/>
          <p:cNvSpPr/>
          <p:nvPr/>
        </p:nvSpPr>
        <p:spPr>
          <a:xfrm>
            <a:off x="548640" y="2578608"/>
            <a:ext cx="3931920" cy="786384"/>
          </a:xfrm>
          <a:prstGeom prst="roundRect">
            <a:avLst>
              <a:gd name="adj" fmla="val 9302"/>
            </a:avLst>
          </a:prstGeom>
          <a:solidFill>
            <a:srgbClr val="0F766E"/>
          </a:solidFill>
          <a:ln w="12700">
            <a:solidFill>
              <a:srgbClr val="0F766E"/>
            </a:solidFill>
            <a:prstDash val="solid"/>
          </a:ln>
        </p:spPr>
      </p:sp>
      <p:sp>
        <p:nvSpPr>
          <p:cNvPr id="9" name="text-5"/>
          <p:cNvSpPr txBox="1"/>
          <p:nvPr/>
        </p:nvSpPr>
        <p:spPr>
          <a:xfrm>
            <a:off x="694944" y="2670048"/>
            <a:ext cx="3657600" cy="237744"/>
          </a:xfrm>
          <a:prstGeom prst="rect">
            <a:avLst/>
          </a:prstGeom>
          <a:noFill/>
          <a:ln/>
        </p:spPr>
        <p:txBody>
          <a:bodyPr wrap="square" lIns="0" tIns="0" rIns="0" bIns="0" rtlCol="0" anchor="ctr"/>
          <a:lstStyle/>
          <a:p>
            <a:pPr algn="l" indent="0" marL="0">
              <a:lnSpc>
                <a:spcPct val="100000"/>
              </a:lnSpc>
              <a:buNone/>
            </a:pPr>
            <a:r>
              <a:rPr lang="en-US" sz="1450" b="1" dirty="0">
                <a:solidFill>
                  <a:srgbClr val="FFFFFF"/>
                </a:solidFill>
                <a:latin typeface="Calibri" pitchFamily="34" charset="0"/>
                <a:ea typeface="Calibri" pitchFamily="34" charset="-122"/>
                <a:cs typeface="Calibri" pitchFamily="34" charset="-120"/>
              </a:rPr>
              <a:t>Delivery and Partner Review</a:t>
            </a:r>
            <a:endParaRPr lang="en-US" sz="1450" dirty="0"/>
          </a:p>
        </p:txBody>
      </p:sp>
      <p:sp>
        <p:nvSpPr>
          <p:cNvPr id="10" name="text-6"/>
          <p:cNvSpPr txBox="1"/>
          <p:nvPr/>
        </p:nvSpPr>
        <p:spPr>
          <a:xfrm>
            <a:off x="694944" y="2944368"/>
            <a:ext cx="3657600" cy="384048"/>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weekly, CEO invited · cycle time, change failure, blockers, decisions pending</a:t>
            </a:r>
            <a:endParaRPr lang="en-US" sz="1100" dirty="0"/>
          </a:p>
        </p:txBody>
      </p:sp>
      <p:sp>
        <p:nvSpPr>
          <p:cNvPr id="11" name="shape-7"/>
          <p:cNvSpPr/>
          <p:nvPr/>
        </p:nvSpPr>
        <p:spPr>
          <a:xfrm>
            <a:off x="548640" y="3493008"/>
            <a:ext cx="3657600" cy="786384"/>
          </a:xfrm>
          <a:prstGeom prst="roundRect">
            <a:avLst>
              <a:gd name="adj" fmla="val 9302"/>
            </a:avLst>
          </a:prstGeom>
          <a:solidFill>
            <a:srgbClr val="D6ECE9"/>
          </a:solidFill>
          <a:ln w="12700">
            <a:solidFill>
              <a:srgbClr val="D6ECE9"/>
            </a:solidFill>
            <a:prstDash val="solid"/>
          </a:ln>
        </p:spPr>
      </p:sp>
      <p:sp>
        <p:nvSpPr>
          <p:cNvPr id="12" name="text-8"/>
          <p:cNvSpPr txBox="1"/>
          <p:nvPr/>
        </p:nvSpPr>
        <p:spPr>
          <a:xfrm>
            <a:off x="694944" y="3584448"/>
            <a:ext cx="3383280" cy="237744"/>
          </a:xfrm>
          <a:prstGeom prst="rect">
            <a:avLst/>
          </a:prstGeom>
          <a:noFill/>
          <a:ln/>
        </p:spPr>
        <p:txBody>
          <a:bodyPr wrap="square" lIns="0" tIns="0" rIns="0" bIns="0" rtlCol="0" anchor="ctr"/>
          <a:lstStyle/>
          <a:p>
            <a:pPr algn="l" indent="0" marL="0">
              <a:lnSpc>
                <a:spcPct val="100000"/>
              </a:lnSpc>
              <a:buNone/>
            </a:pPr>
            <a:r>
              <a:rPr lang="en-US" sz="1450" b="1" dirty="0">
                <a:solidFill>
                  <a:srgbClr val="1C2B33"/>
                </a:solidFill>
                <a:latin typeface="Calibri" pitchFamily="34" charset="0"/>
                <a:ea typeface="Calibri" pitchFamily="34" charset="-122"/>
                <a:cs typeface="Calibri" pitchFamily="34" charset="-120"/>
              </a:rPr>
              <a:t>Architecture decisions</a:t>
            </a:r>
            <a:endParaRPr lang="en-US" sz="1450" dirty="0"/>
          </a:p>
        </p:txBody>
      </p:sp>
      <p:sp>
        <p:nvSpPr>
          <p:cNvPr id="13" name="text-9"/>
          <p:cNvSpPr txBox="1"/>
          <p:nvPr/>
        </p:nvSpPr>
        <p:spPr>
          <a:xfrm>
            <a:off x="694944" y="3858768"/>
            <a:ext cx="3383280" cy="384048"/>
          </a:xfrm>
          <a:prstGeom prst="rect">
            <a:avLst/>
          </a:prstGeom>
          <a:noFill/>
          <a:ln/>
        </p:spPr>
        <p:txBody>
          <a:bodyPr wrap="square" lIns="0" tIns="0" rIns="0" bIns="0" rtlCol="0" anchor="t"/>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written down, visible to all</a:t>
            </a:r>
            <a:endParaRPr lang="en-US" sz="1100" dirty="0"/>
          </a:p>
        </p:txBody>
      </p:sp>
      <p:sp>
        <p:nvSpPr>
          <p:cNvPr id="14" name="text-10"/>
          <p:cNvSpPr txBox="1"/>
          <p:nvPr/>
        </p:nvSpPr>
        <p:spPr>
          <a:xfrm>
            <a:off x="4937760" y="133502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ASSURANCE GATES BY TIER — EVERY INCREMENT, EVIDENCE NOT MEETINGS</a:t>
            </a:r>
            <a:endParaRPr lang="en-US" sz="1100" dirty="0"/>
          </a:p>
        </p:txBody>
      </p:sp>
      <p:sp>
        <p:nvSpPr>
          <p:cNvPr id="15" name="shape-11"/>
          <p:cNvSpPr/>
          <p:nvPr/>
        </p:nvSpPr>
        <p:spPr>
          <a:xfrm>
            <a:off x="8595360" y="1581912"/>
            <a:ext cx="201168" cy="146304"/>
          </a:xfrm>
          <a:prstGeom prst="roundRect">
            <a:avLst>
              <a:gd name="adj" fmla="val 50000"/>
            </a:avLst>
          </a:prstGeom>
          <a:solidFill>
            <a:srgbClr val="134E4A"/>
          </a:solidFill>
          <a:ln w="12700">
            <a:solidFill>
              <a:srgbClr val="134E4A"/>
            </a:solidFill>
            <a:prstDash val="solid"/>
          </a:ln>
        </p:spPr>
      </p:sp>
      <p:sp>
        <p:nvSpPr>
          <p:cNvPr id="16" name="text-12"/>
          <p:cNvSpPr txBox="1"/>
          <p:nvPr/>
        </p:nvSpPr>
        <p:spPr>
          <a:xfrm>
            <a:off x="859536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7" name="shape-13"/>
          <p:cNvSpPr/>
          <p:nvPr/>
        </p:nvSpPr>
        <p:spPr>
          <a:xfrm>
            <a:off x="9326880" y="1581912"/>
            <a:ext cx="201168" cy="146304"/>
          </a:xfrm>
          <a:prstGeom prst="roundRect">
            <a:avLst>
              <a:gd name="adj" fmla="val 50000"/>
            </a:avLst>
          </a:prstGeom>
          <a:solidFill>
            <a:srgbClr val="0F766E"/>
          </a:solidFill>
          <a:ln w="12700">
            <a:solidFill>
              <a:srgbClr val="0F766E"/>
            </a:solidFill>
            <a:prstDash val="solid"/>
          </a:ln>
        </p:spPr>
      </p:sp>
      <p:sp>
        <p:nvSpPr>
          <p:cNvPr id="18" name="text-14"/>
          <p:cNvSpPr txBox="1"/>
          <p:nvPr/>
        </p:nvSpPr>
        <p:spPr>
          <a:xfrm>
            <a:off x="932688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9" name="shape-15"/>
          <p:cNvSpPr/>
          <p:nvPr/>
        </p:nvSpPr>
        <p:spPr>
          <a:xfrm>
            <a:off x="10058400" y="1581912"/>
            <a:ext cx="201168" cy="146304"/>
          </a:xfrm>
          <a:prstGeom prst="roundRect">
            <a:avLst>
              <a:gd name="adj" fmla="val 50000"/>
            </a:avLst>
          </a:prstGeom>
          <a:solidFill>
            <a:srgbClr val="8A99A3"/>
          </a:solidFill>
          <a:ln w="12700">
            <a:solidFill>
              <a:srgbClr val="8A99A3"/>
            </a:solidFill>
            <a:prstDash val="solid"/>
          </a:ln>
        </p:spPr>
      </p:sp>
      <p:sp>
        <p:nvSpPr>
          <p:cNvPr id="20" name="text-16"/>
          <p:cNvSpPr txBox="1"/>
          <p:nvPr/>
        </p:nvSpPr>
        <p:spPr>
          <a:xfrm>
            <a:off x="1005840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1" name="shape-17"/>
          <p:cNvSpPr/>
          <p:nvPr/>
        </p:nvSpPr>
        <p:spPr>
          <a:xfrm>
            <a:off x="10789920" y="1581912"/>
            <a:ext cx="201168" cy="146304"/>
          </a:xfrm>
          <a:prstGeom prst="roundRect">
            <a:avLst>
              <a:gd name="adj" fmla="val 50000"/>
            </a:avLst>
          </a:prstGeom>
          <a:solidFill>
            <a:srgbClr val="B45309"/>
          </a:solidFill>
          <a:ln w="12700">
            <a:solidFill>
              <a:srgbClr val="B45309"/>
            </a:solidFill>
            <a:prstDash val="solid"/>
          </a:ln>
        </p:spPr>
      </p:sp>
      <p:sp>
        <p:nvSpPr>
          <p:cNvPr id="22" name="text-18"/>
          <p:cNvSpPr txBox="1"/>
          <p:nvPr/>
        </p:nvSpPr>
        <p:spPr>
          <a:xfrm>
            <a:off x="1078992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3" name="shape-19"/>
          <p:cNvSpPr/>
          <p:nvPr/>
        </p:nvSpPr>
        <p:spPr>
          <a:xfrm>
            <a:off x="4937760" y="1773936"/>
            <a:ext cx="6675120" cy="402336"/>
          </a:xfrm>
          <a:prstGeom prst="roundRect">
            <a:avLst>
              <a:gd name="adj" fmla="val 9091"/>
            </a:avLst>
          </a:prstGeom>
          <a:solidFill>
            <a:srgbClr val="EEF2F4"/>
          </a:solidFill>
          <a:ln w="12700">
            <a:solidFill>
              <a:srgbClr val="EEF2F4"/>
            </a:solidFill>
            <a:prstDash val="solid"/>
          </a:ln>
        </p:spPr>
      </p:sp>
      <p:sp>
        <p:nvSpPr>
          <p:cNvPr id="24" name="text-20"/>
          <p:cNvSpPr txBox="1"/>
          <p:nvPr/>
        </p:nvSpPr>
        <p:spPr>
          <a:xfrm>
            <a:off x="5029200" y="1847088"/>
            <a:ext cx="3474720" cy="256032"/>
          </a:xfrm>
          <a:prstGeom prst="rect">
            <a:avLst/>
          </a:prstGeom>
          <a:noFill/>
          <a:ln/>
        </p:spPr>
        <p:txBody>
          <a:bodyPr wrap="non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Security, payments and ISMS</a:t>
            </a:r>
            <a:endParaRPr lang="en-US" sz="1250" dirty="0"/>
          </a:p>
        </p:txBody>
      </p:sp>
      <p:sp>
        <p:nvSpPr>
          <p:cNvPr id="25" name="oval-21"/>
          <p:cNvSpPr/>
          <p:nvPr/>
        </p:nvSpPr>
        <p:spPr>
          <a:xfrm>
            <a:off x="8613648" y="1892808"/>
            <a:ext cx="164592" cy="164592"/>
          </a:xfrm>
          <a:prstGeom prst="ellipse">
            <a:avLst/>
          </a:prstGeom>
          <a:solidFill>
            <a:srgbClr val="134E4A"/>
          </a:solidFill>
          <a:ln w="12700">
            <a:solidFill>
              <a:srgbClr val="134E4A"/>
            </a:solidFill>
            <a:prstDash val="solid"/>
          </a:ln>
        </p:spPr>
      </p:sp>
      <p:sp>
        <p:nvSpPr>
          <p:cNvPr id="26" name="oval-22"/>
          <p:cNvSpPr/>
          <p:nvPr/>
        </p:nvSpPr>
        <p:spPr>
          <a:xfrm>
            <a:off x="10076688" y="1892808"/>
            <a:ext cx="164592" cy="164592"/>
          </a:xfrm>
          <a:prstGeom prst="ellipse">
            <a:avLst/>
          </a:prstGeom>
          <a:solidFill>
            <a:srgbClr val="8A99A3"/>
          </a:solidFill>
          <a:ln w="12700">
            <a:solidFill>
              <a:srgbClr val="8A99A3"/>
            </a:solidFill>
            <a:prstDash val="solid"/>
          </a:ln>
        </p:spPr>
      </p:sp>
      <p:sp>
        <p:nvSpPr>
          <p:cNvPr id="27" name="oval-23"/>
          <p:cNvSpPr/>
          <p:nvPr/>
        </p:nvSpPr>
        <p:spPr>
          <a:xfrm>
            <a:off x="10808208" y="1892808"/>
            <a:ext cx="164592" cy="164592"/>
          </a:xfrm>
          <a:prstGeom prst="ellipse">
            <a:avLst/>
          </a:prstGeom>
          <a:solidFill>
            <a:srgbClr val="B45309"/>
          </a:solidFill>
          <a:ln w="12700">
            <a:solidFill>
              <a:srgbClr val="B45309"/>
            </a:solidFill>
            <a:prstDash val="solid"/>
          </a:ln>
        </p:spPr>
      </p:sp>
      <p:sp>
        <p:nvSpPr>
          <p:cNvPr id="28" name="text-24"/>
          <p:cNvSpPr txBox="1"/>
          <p:nvPr/>
        </p:nvSpPr>
        <p:spPr>
          <a:xfrm>
            <a:off x="5029200" y="2304288"/>
            <a:ext cx="3474720" cy="256032"/>
          </a:xfrm>
          <a:prstGeom prst="rect">
            <a:avLst/>
          </a:prstGeom>
          <a:noFill/>
          <a:ln/>
        </p:spPr>
        <p:txBody>
          <a:bodyPr wrap="non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Data and privacy</a:t>
            </a:r>
            <a:endParaRPr lang="en-US" sz="1250" dirty="0"/>
          </a:p>
        </p:txBody>
      </p:sp>
      <p:sp>
        <p:nvSpPr>
          <p:cNvPr id="29" name="oval-25"/>
          <p:cNvSpPr/>
          <p:nvPr/>
        </p:nvSpPr>
        <p:spPr>
          <a:xfrm>
            <a:off x="8613648" y="2350008"/>
            <a:ext cx="164592" cy="164592"/>
          </a:xfrm>
          <a:prstGeom prst="ellipse">
            <a:avLst/>
          </a:prstGeom>
          <a:solidFill>
            <a:srgbClr val="134E4A"/>
          </a:solidFill>
          <a:ln w="12700">
            <a:solidFill>
              <a:srgbClr val="134E4A"/>
            </a:solidFill>
            <a:prstDash val="solid"/>
          </a:ln>
        </p:spPr>
      </p:sp>
      <p:sp>
        <p:nvSpPr>
          <p:cNvPr id="30" name="oval-26"/>
          <p:cNvSpPr/>
          <p:nvPr/>
        </p:nvSpPr>
        <p:spPr>
          <a:xfrm>
            <a:off x="9345168" y="2350008"/>
            <a:ext cx="164592" cy="164592"/>
          </a:xfrm>
          <a:prstGeom prst="ellipse">
            <a:avLst/>
          </a:prstGeom>
          <a:solidFill>
            <a:srgbClr val="0F766E"/>
          </a:solidFill>
          <a:ln w="12700">
            <a:solidFill>
              <a:srgbClr val="0F766E"/>
            </a:solidFill>
            <a:prstDash val="solid"/>
          </a:ln>
        </p:spPr>
      </p:sp>
      <p:sp>
        <p:nvSpPr>
          <p:cNvPr id="31" name="oval-27"/>
          <p:cNvSpPr/>
          <p:nvPr/>
        </p:nvSpPr>
        <p:spPr>
          <a:xfrm>
            <a:off x="10076688" y="2350008"/>
            <a:ext cx="164592" cy="164592"/>
          </a:xfrm>
          <a:prstGeom prst="ellipse">
            <a:avLst/>
          </a:prstGeom>
          <a:solidFill>
            <a:srgbClr val="8A99A3"/>
          </a:solidFill>
          <a:ln w="12700">
            <a:solidFill>
              <a:srgbClr val="8A99A3"/>
            </a:solidFill>
            <a:prstDash val="solid"/>
          </a:ln>
        </p:spPr>
      </p:sp>
      <p:sp>
        <p:nvSpPr>
          <p:cNvPr id="32" name="shape-28"/>
          <p:cNvSpPr/>
          <p:nvPr/>
        </p:nvSpPr>
        <p:spPr>
          <a:xfrm>
            <a:off x="4937760" y="2688336"/>
            <a:ext cx="6675120" cy="402336"/>
          </a:xfrm>
          <a:prstGeom prst="roundRect">
            <a:avLst>
              <a:gd name="adj" fmla="val 9091"/>
            </a:avLst>
          </a:prstGeom>
          <a:solidFill>
            <a:srgbClr val="EEF2F4"/>
          </a:solidFill>
          <a:ln w="12700">
            <a:solidFill>
              <a:srgbClr val="EEF2F4"/>
            </a:solidFill>
            <a:prstDash val="solid"/>
          </a:ln>
        </p:spPr>
      </p:sp>
      <p:sp>
        <p:nvSpPr>
          <p:cNvPr id="33" name="text-29"/>
          <p:cNvSpPr txBox="1"/>
          <p:nvPr/>
        </p:nvSpPr>
        <p:spPr>
          <a:xfrm>
            <a:off x="5029200" y="2761488"/>
            <a:ext cx="3474720" cy="256032"/>
          </a:xfrm>
          <a:prstGeom prst="rect">
            <a:avLst/>
          </a:prstGeom>
          <a:noFill/>
          <a:ln/>
        </p:spPr>
        <p:txBody>
          <a:bodyPr wrap="non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Content integrity and clinical governance</a:t>
            </a:r>
            <a:endParaRPr lang="en-US" sz="1250" dirty="0"/>
          </a:p>
        </p:txBody>
      </p:sp>
      <p:sp>
        <p:nvSpPr>
          <p:cNvPr id="34" name="oval-30"/>
          <p:cNvSpPr/>
          <p:nvPr/>
        </p:nvSpPr>
        <p:spPr>
          <a:xfrm>
            <a:off x="8613648" y="2807208"/>
            <a:ext cx="164592" cy="164592"/>
          </a:xfrm>
          <a:prstGeom prst="ellipse">
            <a:avLst/>
          </a:prstGeom>
          <a:solidFill>
            <a:srgbClr val="134E4A"/>
          </a:solidFill>
          <a:ln w="12700">
            <a:solidFill>
              <a:srgbClr val="134E4A"/>
            </a:solidFill>
            <a:prstDash val="solid"/>
          </a:ln>
        </p:spPr>
      </p:sp>
      <p:sp>
        <p:nvSpPr>
          <p:cNvPr id="35" name="oval-31"/>
          <p:cNvSpPr/>
          <p:nvPr/>
        </p:nvSpPr>
        <p:spPr>
          <a:xfrm>
            <a:off x="9345168" y="2807208"/>
            <a:ext cx="164592" cy="164592"/>
          </a:xfrm>
          <a:prstGeom prst="ellipse">
            <a:avLst/>
          </a:prstGeom>
          <a:solidFill>
            <a:srgbClr val="0F766E"/>
          </a:solidFill>
          <a:ln w="12700">
            <a:solidFill>
              <a:srgbClr val="0F766E"/>
            </a:solidFill>
            <a:prstDash val="solid"/>
          </a:ln>
        </p:spPr>
      </p:sp>
      <p:sp>
        <p:nvSpPr>
          <p:cNvPr id="36" name="text-32"/>
          <p:cNvSpPr txBox="1"/>
          <p:nvPr/>
        </p:nvSpPr>
        <p:spPr>
          <a:xfrm>
            <a:off x="5029200" y="3218688"/>
            <a:ext cx="3474720" cy="256032"/>
          </a:xfrm>
          <a:prstGeom prst="rect">
            <a:avLst/>
          </a:prstGeom>
          <a:noFill/>
          <a:ln/>
        </p:spPr>
        <p:txBody>
          <a:bodyPr wrap="non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Integration and operability</a:t>
            </a:r>
            <a:endParaRPr lang="en-US" sz="1250" dirty="0"/>
          </a:p>
        </p:txBody>
      </p:sp>
      <p:sp>
        <p:nvSpPr>
          <p:cNvPr id="37" name="oval-33"/>
          <p:cNvSpPr/>
          <p:nvPr/>
        </p:nvSpPr>
        <p:spPr>
          <a:xfrm>
            <a:off x="8613648" y="3264408"/>
            <a:ext cx="164592" cy="164592"/>
          </a:xfrm>
          <a:prstGeom prst="ellipse">
            <a:avLst/>
          </a:prstGeom>
          <a:solidFill>
            <a:srgbClr val="134E4A"/>
          </a:solidFill>
          <a:ln w="12700">
            <a:solidFill>
              <a:srgbClr val="134E4A"/>
            </a:solidFill>
            <a:prstDash val="solid"/>
          </a:ln>
        </p:spPr>
      </p:sp>
      <p:sp>
        <p:nvSpPr>
          <p:cNvPr id="38" name="oval-34"/>
          <p:cNvSpPr/>
          <p:nvPr/>
        </p:nvSpPr>
        <p:spPr>
          <a:xfrm>
            <a:off x="10076688" y="3264408"/>
            <a:ext cx="164592" cy="164592"/>
          </a:xfrm>
          <a:prstGeom prst="ellipse">
            <a:avLst/>
          </a:prstGeom>
          <a:solidFill>
            <a:srgbClr val="8A99A3"/>
          </a:solidFill>
          <a:ln w="12700">
            <a:solidFill>
              <a:srgbClr val="8A99A3"/>
            </a:solidFill>
            <a:prstDash val="solid"/>
          </a:ln>
        </p:spPr>
      </p:sp>
      <p:sp>
        <p:nvSpPr>
          <p:cNvPr id="39" name="oval-35"/>
          <p:cNvSpPr/>
          <p:nvPr/>
        </p:nvSpPr>
        <p:spPr>
          <a:xfrm>
            <a:off x="10808208" y="3264408"/>
            <a:ext cx="164592" cy="164592"/>
          </a:xfrm>
          <a:prstGeom prst="ellipse">
            <a:avLst/>
          </a:prstGeom>
          <a:solidFill>
            <a:srgbClr val="B45309"/>
          </a:solidFill>
          <a:ln w="12700">
            <a:solidFill>
              <a:srgbClr val="B45309"/>
            </a:solidFill>
            <a:prstDash val="solid"/>
          </a:ln>
        </p:spPr>
      </p:sp>
      <p:sp>
        <p:nvSpPr>
          <p:cNvPr id="40" name="shape-36"/>
          <p:cNvSpPr/>
          <p:nvPr/>
        </p:nvSpPr>
        <p:spPr>
          <a:xfrm>
            <a:off x="4937760" y="3602736"/>
            <a:ext cx="6675120" cy="402336"/>
          </a:xfrm>
          <a:prstGeom prst="roundRect">
            <a:avLst>
              <a:gd name="adj" fmla="val 9091"/>
            </a:avLst>
          </a:prstGeom>
          <a:solidFill>
            <a:srgbClr val="EEF2F4"/>
          </a:solidFill>
          <a:ln w="12700">
            <a:solidFill>
              <a:srgbClr val="EEF2F4"/>
            </a:solidFill>
            <a:prstDash val="solid"/>
          </a:ln>
        </p:spPr>
      </p:sp>
      <p:sp>
        <p:nvSpPr>
          <p:cNvPr id="41" name="text-37"/>
          <p:cNvSpPr txBox="1"/>
          <p:nvPr/>
        </p:nvSpPr>
        <p:spPr>
          <a:xfrm>
            <a:off x="5029200" y="3675888"/>
            <a:ext cx="3474720" cy="256032"/>
          </a:xfrm>
          <a:prstGeom prst="rect">
            <a:avLst/>
          </a:prstGeom>
          <a:noFill/>
          <a:ln/>
        </p:spPr>
        <p:txBody>
          <a:bodyPr wrap="non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Release readiness</a:t>
            </a:r>
            <a:endParaRPr lang="en-US" sz="1250" dirty="0"/>
          </a:p>
        </p:txBody>
      </p:sp>
      <p:sp>
        <p:nvSpPr>
          <p:cNvPr id="42" name="oval-38"/>
          <p:cNvSpPr/>
          <p:nvPr/>
        </p:nvSpPr>
        <p:spPr>
          <a:xfrm>
            <a:off x="8613648" y="3721608"/>
            <a:ext cx="164592" cy="164592"/>
          </a:xfrm>
          <a:prstGeom prst="ellipse">
            <a:avLst/>
          </a:prstGeom>
          <a:solidFill>
            <a:srgbClr val="134E4A"/>
          </a:solidFill>
          <a:ln w="12700">
            <a:solidFill>
              <a:srgbClr val="134E4A"/>
            </a:solidFill>
            <a:prstDash val="solid"/>
          </a:ln>
        </p:spPr>
      </p:sp>
      <p:sp>
        <p:nvSpPr>
          <p:cNvPr id="43" name="oval-39"/>
          <p:cNvSpPr/>
          <p:nvPr/>
        </p:nvSpPr>
        <p:spPr>
          <a:xfrm>
            <a:off x="9345168" y="3721608"/>
            <a:ext cx="164592" cy="164592"/>
          </a:xfrm>
          <a:prstGeom prst="ellipse">
            <a:avLst/>
          </a:prstGeom>
          <a:solidFill>
            <a:srgbClr val="0F766E"/>
          </a:solidFill>
          <a:ln w="12700">
            <a:solidFill>
              <a:srgbClr val="0F766E"/>
            </a:solidFill>
            <a:prstDash val="solid"/>
          </a:ln>
        </p:spPr>
      </p:sp>
      <p:sp>
        <p:nvSpPr>
          <p:cNvPr id="44" name="oval-40"/>
          <p:cNvSpPr/>
          <p:nvPr/>
        </p:nvSpPr>
        <p:spPr>
          <a:xfrm>
            <a:off x="10808208" y="3721608"/>
            <a:ext cx="164592" cy="164592"/>
          </a:xfrm>
          <a:prstGeom prst="ellipse">
            <a:avLst/>
          </a:prstGeom>
          <a:solidFill>
            <a:srgbClr val="B45309"/>
          </a:solidFill>
          <a:ln w="12700">
            <a:solidFill>
              <a:srgbClr val="B45309"/>
            </a:solidFill>
            <a:prstDash val="solid"/>
          </a:ln>
        </p:spPr>
      </p:sp>
      <p:sp>
        <p:nvSpPr>
          <p:cNvPr id="45" name="text-41"/>
          <p:cNvSpPr txBox="1"/>
          <p:nvPr/>
        </p:nvSpPr>
        <p:spPr>
          <a:xfrm>
            <a:off x="4937760" y="4297680"/>
            <a:ext cx="6675120" cy="164592"/>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A product · B content tooling · C commodity · X cross-cutting</a:t>
            </a:r>
            <a:endParaRPr lang="en-US" sz="1100" dirty="0"/>
          </a:p>
        </p:txBody>
      </p:sp>
      <p:sp>
        <p:nvSpPr>
          <p:cNvPr id="46" name="text-42"/>
          <p:cNvSpPr txBox="1"/>
          <p:nvPr/>
        </p:nvSpPr>
        <p:spPr>
          <a:xfrm>
            <a:off x="548640" y="4846320"/>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THE NEXT SIX MONTHS</a:t>
            </a:r>
            <a:endParaRPr lang="en-US" sz="1100" dirty="0"/>
          </a:p>
        </p:txBody>
      </p:sp>
      <p:sp>
        <p:nvSpPr>
          <p:cNvPr id="47" name="shape-43"/>
          <p:cNvSpPr/>
          <p:nvPr/>
        </p:nvSpPr>
        <p:spPr>
          <a:xfrm>
            <a:off x="548640" y="5120640"/>
            <a:ext cx="3590544" cy="1005840"/>
          </a:xfrm>
          <a:prstGeom prst="roundRect">
            <a:avLst>
              <a:gd name="adj" fmla="val 7273"/>
            </a:avLst>
          </a:prstGeom>
          <a:solidFill>
            <a:srgbClr val="D6ECE9"/>
          </a:solidFill>
          <a:ln w="12700">
            <a:solidFill>
              <a:srgbClr val="D6ECE9"/>
            </a:solidFill>
            <a:prstDash val="solid"/>
          </a:ln>
        </p:spPr>
      </p:sp>
      <p:sp>
        <p:nvSpPr>
          <p:cNvPr id="48" name="text-44"/>
          <p:cNvSpPr txBox="1"/>
          <p:nvPr/>
        </p:nvSpPr>
        <p:spPr>
          <a:xfrm>
            <a:off x="731520" y="5248656"/>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Months 1–2</a:t>
            </a:r>
            <a:endParaRPr lang="en-US" sz="1750" dirty="0"/>
          </a:p>
        </p:txBody>
      </p:sp>
      <p:sp>
        <p:nvSpPr>
          <p:cNvPr id="49" name="text-45"/>
          <p:cNvSpPr txBox="1"/>
          <p:nvPr/>
        </p:nvSpPr>
        <p:spPr>
          <a:xfrm>
            <a:off x="731520" y="5596128"/>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5A6B75"/>
                </a:solidFill>
                <a:latin typeface="Calibri" pitchFamily="34" charset="0"/>
                <a:ea typeface="Calibri" pitchFamily="34" charset="-122"/>
                <a:cs typeface="Calibri" pitchFamily="34" charset="-120"/>
              </a:rPr>
              <a:t>two baselines, fit test, scope decisions to the board</a:t>
            </a:r>
            <a:endParaRPr lang="en-US" sz="1250" dirty="0"/>
          </a:p>
        </p:txBody>
      </p:sp>
      <p:sp>
        <p:nvSpPr>
          <p:cNvPr id="50" name="shape-46"/>
          <p:cNvSpPr/>
          <p:nvPr/>
        </p:nvSpPr>
        <p:spPr>
          <a:xfrm>
            <a:off x="4285488" y="5120640"/>
            <a:ext cx="3590544" cy="1005840"/>
          </a:xfrm>
          <a:prstGeom prst="roundRect">
            <a:avLst>
              <a:gd name="adj" fmla="val 7273"/>
            </a:avLst>
          </a:prstGeom>
          <a:solidFill>
            <a:srgbClr val="0F766E"/>
          </a:solidFill>
          <a:ln w="12700">
            <a:solidFill>
              <a:srgbClr val="0F766E"/>
            </a:solidFill>
            <a:prstDash val="solid"/>
          </a:ln>
        </p:spPr>
      </p:sp>
      <p:sp>
        <p:nvSpPr>
          <p:cNvPr id="51" name="text-47"/>
          <p:cNvSpPr txBox="1"/>
          <p:nvPr/>
        </p:nvSpPr>
        <p:spPr>
          <a:xfrm>
            <a:off x="4468368" y="5248656"/>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Months 3–4</a:t>
            </a:r>
            <a:endParaRPr lang="en-US" sz="1750" dirty="0"/>
          </a:p>
        </p:txBody>
      </p:sp>
      <p:sp>
        <p:nvSpPr>
          <p:cNvPr id="52" name="text-48"/>
          <p:cNvSpPr txBox="1"/>
          <p:nvPr/>
        </p:nvSpPr>
        <p:spPr>
          <a:xfrm>
            <a:off x="4468368" y="5596128"/>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CFE8E5"/>
                </a:solidFill>
                <a:latin typeface="Calibri" pitchFamily="34" charset="0"/>
                <a:ea typeface="Calibri" pitchFamily="34" charset="-122"/>
                <a:cs typeface="Calibri" pitchFamily="34" charset="-120"/>
              </a:rPr>
              <a:t>first assured delivery on the core; partners delivering</a:t>
            </a:r>
            <a:endParaRPr lang="en-US" sz="1250" dirty="0"/>
          </a:p>
        </p:txBody>
      </p:sp>
      <p:sp>
        <p:nvSpPr>
          <p:cNvPr id="53" name="shape-49"/>
          <p:cNvSpPr/>
          <p:nvPr/>
        </p:nvSpPr>
        <p:spPr>
          <a:xfrm>
            <a:off x="8022336" y="5120640"/>
            <a:ext cx="3590544" cy="1005840"/>
          </a:xfrm>
          <a:prstGeom prst="roundRect">
            <a:avLst>
              <a:gd name="adj" fmla="val 7273"/>
            </a:avLst>
          </a:prstGeom>
          <a:solidFill>
            <a:srgbClr val="134E4A"/>
          </a:solidFill>
          <a:ln w="12700">
            <a:solidFill>
              <a:srgbClr val="134E4A"/>
            </a:solidFill>
            <a:prstDash val="solid"/>
          </a:ln>
        </p:spPr>
      </p:sp>
      <p:sp>
        <p:nvSpPr>
          <p:cNvPr id="54" name="text-50"/>
          <p:cNvSpPr txBox="1"/>
          <p:nvPr/>
        </p:nvSpPr>
        <p:spPr>
          <a:xfrm>
            <a:off x="8205216" y="5248656"/>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Months 5–6</a:t>
            </a:r>
            <a:endParaRPr lang="en-US" sz="1750" dirty="0"/>
          </a:p>
        </p:txBody>
      </p:sp>
      <p:sp>
        <p:nvSpPr>
          <p:cNvPr id="55" name="text-51"/>
          <p:cNvSpPr txBox="1"/>
          <p:nvPr/>
        </p:nvSpPr>
        <p:spPr>
          <a:xfrm>
            <a:off x="8205216" y="5596128"/>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CFE8E5"/>
                </a:solidFill>
                <a:latin typeface="Calibri" pitchFamily="34" charset="0"/>
                <a:ea typeface="Calibri" pitchFamily="34" charset="-122"/>
                <a:cs typeface="Calibri" pitchFamily="34" charset="-120"/>
              </a:rPr>
              <a:t>build waves, cutover rehearsal, go-live against the date</a:t>
            </a:r>
            <a:endParaRPr lang="en-US" sz="12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8  ·  IDEAS BEYOND DAY 1</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Not commitments, not walked through today — parked until their time comes</a:t>
            </a:r>
            <a:endParaRPr lang="en-US" sz="225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11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Unified communications</a:t>
            </a:r>
            <a:endParaRPr lang="en-US" sz="130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Product analytics and behaviour</a:t>
            </a:r>
            <a:endParaRPr lang="en-US" sz="130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In-app guidance and onboarding</a:t>
            </a:r>
            <a:endParaRPr lang="en-US" sz="130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Inline surveys and sentiment</a:t>
            </a:r>
            <a:endParaRPr lang="en-US" sz="130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Feature switches, progressive delivery</a:t>
            </a:r>
            <a:endParaRPr lang="en-US" sz="130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Search as a product capability</a:t>
            </a:r>
            <a:endParaRPr lang="en-US" sz="130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Developer and API portal</a:t>
            </a:r>
            <a:endParaRPr lang="en-US" sz="130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Consent and preferences</a:t>
            </a:r>
            <a:endParaRPr lang="en-US" sz="130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Status page and incident comms</a:t>
            </a:r>
            <a:endParaRPr lang="en-US" sz="130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Integration standards: SSO, LTI/LIS, clinical</a:t>
            </a:r>
            <a:endParaRPr lang="en-US" sz="130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Content versioning visible to customers</a:t>
            </a:r>
            <a:endParaRPr lang="en-US" sz="130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Accessibility and offline mobile</a:t>
            </a:r>
            <a:endParaRPr lang="en-US" sz="130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134E4A"/>
                </a:solidFill>
                <a:latin typeface="Calibri" pitchFamily="34" charset="0"/>
                <a:ea typeface="Calibri" pitchFamily="34" charset="-122"/>
                <a:cs typeface="Calibri" pitchFamily="34" charset="-120"/>
              </a:rPr>
              <a:t>DAY 2 — ALREADY ON THE PATHWAY</a:t>
            </a:r>
            <a:endParaRPr lang="en-US" sz="11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2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2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Subscription and user-update integration</a:t>
            </a:r>
            <a:endParaRPr lang="en-US" sz="12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Yellow product · orange cross-cutting · green content tooling. Day 1.5 = after the agreed path is live, before Day 2.</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2026-10-15T07:53:01Z</dcterms:created>
  <dcterms:modified xsi:type="dcterms:W3CDTF">2026-10-15T07:53:01Z</dcterms:modified>
</cp:coreProperties>
</file>